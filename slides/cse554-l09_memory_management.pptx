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 id="2147483678" r:id="rId6"/>
    <p:sldMasterId id="214748367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y="5143500" cx="9144000"/>
  <p:notesSz cx="6858000" cy="9144000"/>
  <p:embeddedFontLst>
    <p:embeddedFont>
      <p:font typeface="Merriweather Sans"/>
      <p:regular r:id="rId52"/>
      <p:bold r:id="rId53"/>
      <p:italic r:id="rId54"/>
      <p:boldItalic r:id="rId55"/>
    </p:embeddedFont>
    <p:embeddedFont>
      <p:font typeface="Encode Sans"/>
      <p:regular r:id="rId56"/>
      <p:bold r:id="rId57"/>
    </p:embeddedFont>
    <p:embeddedFont>
      <p:font typeface="Encode Sans Black"/>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8AEC5B-AFCC-47DE-A650-B2815C0AB283}">
  <a:tblStyle styleId="{678AEC5B-AFCC-47DE-A650-B2815C0AB283}"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EE193DD2-6E87-43B2-945D-4C0B9107F9EB}" styleName="Table_1">
    <a:wholeTbl>
      <a:tcTxStyle b="off" i="off">
        <a:font>
          <a:latin typeface="Arial"/>
          <a:ea typeface="Arial"/>
          <a:cs typeface="Arial"/>
        </a:font>
        <a:schemeClr val="dk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chemeClr val="accent4"/>
              </a:solidFill>
              <a:prstDash val="solid"/>
              <a:round/>
              <a:headEnd len="sm" w="sm" type="none"/>
              <a:tailEnd len="sm" w="sm" type="none"/>
            </a:ln>
          </a:insideV>
        </a:tcBdr>
        <a:fill>
          <a:solidFill>
            <a:srgbClr val="FFFFFF">
              <a:alpha val="0"/>
            </a:srgbClr>
          </a:solidFill>
        </a:fill>
      </a:tcStyle>
    </a:wholeTbl>
    <a:band1H>
      <a:tcTxStyle/>
      <a:tcStyle>
        <a:fill>
          <a:solidFill>
            <a:schemeClr val="accent4">
              <a:alpha val="40000"/>
            </a:schemeClr>
          </a:solidFill>
        </a:fill>
      </a:tcStyle>
    </a:band1H>
    <a:band2H>
      <a:tcTxStyle/>
    </a:band2H>
    <a:band1V>
      <a:tcTxStyle/>
      <a:tcStyle>
        <a:tcBdr>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tcBdr>
        <a:fill>
          <a:solidFill>
            <a:schemeClr val="accent4">
              <a:alpha val="40000"/>
            </a:schemeClr>
          </a:solidFill>
        </a:fill>
      </a:tcStyle>
    </a:band1V>
    <a:band2V>
      <a:tcTxStyle/>
    </a:band2V>
    <a:la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4"/>
          </a:solidFill>
        </a:fill>
      </a:tcStyle>
    </a:firstRow>
    <a:neCell>
      <a:tcTxStyle/>
    </a:neCell>
    <a:nwCell>
      <a:tcTxStyle/>
    </a:nwCell>
  </a:tblStyle>
  <a:tblStyle styleId="{6D6CBB51-25CD-4269-8C0D-CE281DC38EA4}" styleName="Table_2">
    <a:wholeTbl>
      <a:tcTxStyle b="off" i="off">
        <a:font>
          <a:latin typeface="Arial"/>
          <a:ea typeface="Arial"/>
          <a:cs typeface="Arial"/>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40000"/>
            </a:schemeClr>
          </a:solidFill>
        </a:fill>
      </a:tcStyle>
    </a:band1H>
    <a:band2H>
      <a:tcTxStyle/>
    </a:band2H>
    <a:band1V>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fill>
          <a:solidFill>
            <a:schemeClr val="accent2">
              <a:alpha val="40000"/>
            </a:schemeClr>
          </a:solidFill>
        </a:fill>
      </a:tcStyle>
    </a:band1V>
    <a:band2V>
      <a:tcTxStyle/>
    </a:band2V>
    <a:la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2"/>
          </a:solidFill>
        </a:fill>
      </a:tcStyle>
    </a:firstRow>
    <a:neCell>
      <a:tcTxStyle/>
    </a:neCell>
    <a:nwCell>
      <a:tcTxStyle/>
    </a:nwCell>
  </a:tblStyle>
  <a:tblStyle styleId="{6475CB33-74FA-4E0B-A67E-5448B8DA8A8F}" styleName="Table_3">
    <a:wholeTbl>
      <a:tcTxStyle b="off" i="off">
        <a:font>
          <a:latin typeface="Arial"/>
          <a:ea typeface="Arial"/>
          <a:cs typeface="Arial"/>
        </a:font>
        <a:schemeClr val="dk1"/>
      </a:tcTxStyle>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insideH>
            <a:ln cap="flat" cmpd="sng" w="9525">
              <a:solidFill>
                <a:schemeClr val="accent6"/>
              </a:solidFill>
              <a:prstDash val="solid"/>
              <a:round/>
              <a:headEnd len="sm" w="sm" type="none"/>
              <a:tailEnd len="sm" w="sm" type="none"/>
            </a:ln>
          </a:insideH>
          <a:insideV>
            <a:ln cap="flat" cmpd="sng" w="9525">
              <a:solidFill>
                <a:schemeClr val="accent6"/>
              </a:solidFill>
              <a:prstDash val="solid"/>
              <a:round/>
              <a:headEnd len="sm" w="sm" type="none"/>
              <a:tailEnd len="sm" w="sm" type="none"/>
            </a:ln>
          </a:insideV>
        </a:tcBdr>
        <a:fill>
          <a:solidFill>
            <a:srgbClr val="FFFFFF">
              <a:alpha val="0"/>
            </a:srgbClr>
          </a:solidFill>
        </a:fill>
      </a:tcStyle>
    </a:wholeTbl>
    <a:band1H>
      <a:tcTxStyle/>
      <a:tcStyle>
        <a:fill>
          <a:solidFill>
            <a:schemeClr val="accent6">
              <a:alpha val="40000"/>
            </a:schemeClr>
          </a:solidFill>
        </a:fill>
      </a:tcStyle>
    </a:band1H>
    <a:band2H>
      <a:tcTxStyle/>
    </a:band2H>
    <a:band1V>
      <a:tcTxStyle/>
      <a:tcStyle>
        <a:tcBdr>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tcBdr>
        <a:fill>
          <a:solidFill>
            <a:schemeClr val="accent6">
              <a:alpha val="40000"/>
            </a:schemeClr>
          </a:solidFill>
        </a:fill>
      </a:tcStyle>
    </a:band1V>
    <a:band2V>
      <a:tcTxStyle/>
    </a:band2V>
    <a:lastCol>
      <a:tcTxStyle b="on" i="off"/>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insideH>
            <a:ln cap="flat" cmpd="sng" w="9525">
              <a:solidFill>
                <a:schemeClr val="accent6"/>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insideH>
            <a:ln cap="flat" cmpd="sng" w="9525">
              <a:solidFill>
                <a:schemeClr val="accent6"/>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6"/>
          </a:solidFill>
        </a:fill>
      </a:tcStyle>
    </a:firstRow>
    <a:neCell>
      <a:tcTxStyle/>
    </a:neCell>
    <a:nwCell>
      <a:tcTxStyle/>
    </a:nwCell>
  </a:tblStyle>
  <a:tblStyle styleId="{675C8497-C176-45A6-83B8-30CA08E94CDC}" styleName="Table_4">
    <a:wholeTbl>
      <a:tcTxStyle b="off" i="off">
        <a:font>
          <a:latin typeface="Arial"/>
          <a:ea typeface="Arial"/>
          <a:cs typeface="Arial"/>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40000"/>
            </a:schemeClr>
          </a:solidFill>
        </a:fill>
      </a:tcStyle>
    </a:band1H>
    <a:band2H>
      <a:tcTxStyle/>
    </a:band2H>
    <a:band1V>
      <a:tcTxStyle/>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a:neCell>
    <a:nwCell>
      <a:tcTxStyle/>
    </a:nwCell>
  </a:tblStyle>
  <a:tblStyle styleId="{785E4EA9-965B-4A0B-8EB9-9F30A4BD861F}" styleName="Table_5">
    <a:wholeTbl>
      <a:tcTxStyle b="off" i="off">
        <a:font>
          <a:latin typeface="Arial"/>
          <a:ea typeface="Arial"/>
          <a:cs typeface="Arial"/>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40000"/>
            </a:schemeClr>
          </a:solidFill>
        </a:fill>
      </a:tcStyle>
    </a:band1H>
    <a:band2H>
      <a:tcTxStyle/>
    </a:band2H>
    <a:band1V>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MerriweatherSans-bold.fntdata"/><Relationship Id="rId52" Type="http://schemas.openxmlformats.org/officeDocument/2006/relationships/font" Target="fonts/MerriweatherSans-regular.fntdata"/><Relationship Id="rId11" Type="http://schemas.openxmlformats.org/officeDocument/2006/relationships/slide" Target="slides/slide3.xml"/><Relationship Id="rId55" Type="http://schemas.openxmlformats.org/officeDocument/2006/relationships/font" Target="fonts/MerriweatherSans-boldItalic.fntdata"/><Relationship Id="rId10" Type="http://schemas.openxmlformats.org/officeDocument/2006/relationships/slide" Target="slides/slide2.xml"/><Relationship Id="rId54" Type="http://schemas.openxmlformats.org/officeDocument/2006/relationships/font" Target="fonts/MerriweatherSans-italic.fntdata"/><Relationship Id="rId13" Type="http://schemas.openxmlformats.org/officeDocument/2006/relationships/slide" Target="slides/slide5.xml"/><Relationship Id="rId57" Type="http://schemas.openxmlformats.org/officeDocument/2006/relationships/font" Target="fonts/EncodeSans-bold.fntdata"/><Relationship Id="rId12" Type="http://schemas.openxmlformats.org/officeDocument/2006/relationships/slide" Target="slides/slide4.xml"/><Relationship Id="rId56" Type="http://schemas.openxmlformats.org/officeDocument/2006/relationships/font" Target="fonts/EncodeSans-regular.fntdata"/><Relationship Id="rId15" Type="http://schemas.openxmlformats.org/officeDocument/2006/relationships/slide" Target="slides/slide7.xml"/><Relationship Id="rId14" Type="http://schemas.openxmlformats.org/officeDocument/2006/relationships/slide" Target="slides/slide6.xml"/><Relationship Id="rId58" Type="http://schemas.openxmlformats.org/officeDocument/2006/relationships/font" Target="fonts/EncodeSansBlack-bold.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b49788d46_0_34:notes"/>
          <p:cNvSpPr/>
          <p:nvPr>
            <p:ph idx="2" type="sldImg"/>
          </p:nvPr>
        </p:nvSpPr>
        <p:spPr>
          <a:xfrm>
            <a:off x="464456" y="1143179"/>
            <a:ext cx="59289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54" name="Google Shape;154;g3bb49788d46_0_34:notes"/>
          <p:cNvSpPr txBox="1"/>
          <p:nvPr>
            <p:ph idx="1" type="body"/>
          </p:nvPr>
        </p:nvSpPr>
        <p:spPr>
          <a:xfrm>
            <a:off x="685800" y="4400555"/>
            <a:ext cx="5486400" cy="3600600"/>
          </a:xfrm>
          <a:prstGeom prst="rect">
            <a:avLst/>
          </a:prstGeom>
          <a:noFill/>
          <a:ln>
            <a:noFill/>
          </a:ln>
        </p:spPr>
        <p:txBody>
          <a:bodyPr anchorCtr="0" anchor="t" bIns="46625" lIns="93250" spcFirstLastPara="1" rIns="93250" wrap="square" tIns="46625">
            <a:noAutofit/>
          </a:bodyPr>
          <a:lstStyle/>
          <a:p>
            <a:pPr indent="0" lvl="0" marL="0" rtl="0" algn="l">
              <a:spcBef>
                <a:spcPts val="0"/>
              </a:spcBef>
              <a:spcAft>
                <a:spcPts val="0"/>
              </a:spcAft>
              <a:buNone/>
            </a:pPr>
            <a:r>
              <a:t/>
            </a:r>
            <a:endParaRPr/>
          </a:p>
        </p:txBody>
      </p:sp>
      <p:sp>
        <p:nvSpPr>
          <p:cNvPr id="155" name="Google Shape;155;g3bb49788d46_0_34:notes"/>
          <p:cNvSpPr txBox="1"/>
          <p:nvPr>
            <p:ph idx="12" type="sldNum"/>
          </p:nvPr>
        </p:nvSpPr>
        <p:spPr>
          <a:xfrm>
            <a:off x="3884613" y="8685225"/>
            <a:ext cx="2971800" cy="459000"/>
          </a:xfrm>
          <a:prstGeom prst="rect">
            <a:avLst/>
          </a:prstGeom>
          <a:noFill/>
          <a:ln>
            <a:noFill/>
          </a:ln>
        </p:spPr>
        <p:txBody>
          <a:bodyPr anchorCtr="0" anchor="b" bIns="46625" lIns="93250" spcFirstLastPara="1" rIns="93250" wrap="square" tIns="46625">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c9e6a8e4d_6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bc9e6a8e4d_6_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c9e6a8e4d_6_8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bc9e6a8e4d_6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bc9e6a8e4d_6_9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average number of generated tokens present over the course of producing 1024 tokens is roughly 1024/2.</a:t>
            </a:r>
            <a:endParaRPr/>
          </a:p>
        </p:txBody>
      </p:sp>
      <p:sp>
        <p:nvSpPr>
          <p:cNvPr id="178" name="Google Shape;178;g3bc9e6a8e4d_6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c9e6a8e4d_6_10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bc9e6a8e4d_6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c9e6a8e4d_6_10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the user tells you the maximum seq length, that’s one option. For Llama 3-3B max context length is 128K</a:t>
            </a:r>
            <a:endParaRPr/>
          </a:p>
        </p:txBody>
      </p:sp>
      <p:sp>
        <p:nvSpPr>
          <p:cNvPr id="192" name="Google Shape;192;g3bc9e6a8e4d_6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c9e6a8e4d_6_14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bc9e6a8e4d_6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c9e6a8e4d_6_18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bc9e6a8e4d_6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c9e6a8e4d_6_22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bc9e6a8e4d_6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c9e6a8e4d_6_25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get good memory bandwidth utilization with a 64KB page. There is a tendency to reduce this for more flexibility.</a:t>
            </a:r>
            <a:endParaRPr/>
          </a:p>
        </p:txBody>
      </p:sp>
      <p:sp>
        <p:nvSpPr>
          <p:cNvPr id="347" name="Google Shape;347;g3bc9e6a8e4d_6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c9e6a8e4d_6_29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want a compact page table and don’t want this to be underutilized.</a:t>
            </a:r>
            <a:endParaRPr/>
          </a:p>
        </p:txBody>
      </p:sp>
      <p:sp>
        <p:nvSpPr>
          <p:cNvPr id="383" name="Google Shape;383;g3bc9e6a8e4d_6_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c9e6a8e4d_6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g3bc9e6a8e4d_6_2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Since </a:t>
            </a:r>
            <a:r>
              <a:rPr lang="en" sz="1400">
                <a:solidFill>
                  <a:schemeClr val="dk1"/>
                </a:solidFill>
              </a:rPr>
              <a:t>kv_indptr starts from 0, there are numreq+1 such entries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Kv_indices is a flattened representation of all pages.</a:t>
            </a:r>
            <a:endParaRPr sz="1400">
              <a:solidFill>
                <a:schemeClr val="dk1"/>
              </a:solidFill>
            </a:endParaRPr>
          </a:p>
        </p:txBody>
      </p:sp>
      <p:sp>
        <p:nvSpPr>
          <p:cNvPr id="392" name="Google Shape;392;g3bc9e6a8e4d_6_2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c9e6a8e4d_6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bc9e6a8e4d_6_3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If two pages have the same content, what do we do? Instead of doing two prefills, you can share the page in the KV cache.</a:t>
            </a:r>
            <a:endParaRPr/>
          </a:p>
        </p:txBody>
      </p:sp>
      <p:sp>
        <p:nvSpPr>
          <p:cNvPr id="463" name="Google Shape;463;g3bc9e6a8e4d_6_3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bc9e6a8e4d_6_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3bc9e6a8e4d_6_4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3bc9e6a8e4d_6_4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bc9e6a8e4d_6_4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bc9e6a8e4d_6_4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If the tree grows too much, you can decide to evict some entries.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sharing across users, the sharing of decode tokens is minimum, but you can share the system prompt. For a given user, in the case of multi-round conversations, you can share decode tokens.</a:t>
            </a:r>
            <a:endParaRPr/>
          </a:p>
        </p:txBody>
      </p:sp>
      <p:sp>
        <p:nvSpPr>
          <p:cNvPr id="538" name="Google Shape;538;g3bc9e6a8e4d_6_4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bc9e6a8e4d_6_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g3bc9e6a8e4d_6_4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g3bc9e6a8e4d_6_4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bc9e6a8e4d_6_46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Complexity is O(l)</a:t>
            </a:r>
            <a:endParaRPr/>
          </a:p>
        </p:txBody>
      </p:sp>
      <p:sp>
        <p:nvSpPr>
          <p:cNvPr id="558" name="Google Shape;558;g3bc9e6a8e4d_6_4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bc9e6a8e4d_6_4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bc9e6a8e4d_6_4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There are some works that reorder user requests to improve prefix sharing behavior.</a:t>
            </a:r>
            <a:endParaRPr/>
          </a:p>
        </p:txBody>
      </p:sp>
      <p:sp>
        <p:nvSpPr>
          <p:cNvPr id="594" name="Google Shape;594;g3bc9e6a8e4d_6_4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bc9e6a8e4d_6_5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bc9e6a8e4d_6_5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Reusing during prefill is rather trivial, but reusing during decoding is a bit harder.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are somehow batching decode requests. So in a way it was slightly misleading when we said decode attention cannot be batched well together, but there can be some partial batching, made especially effective with something like prefix sharing.</a:t>
            </a:r>
            <a:endParaRPr/>
          </a:p>
        </p:txBody>
      </p:sp>
      <p:sp>
        <p:nvSpPr>
          <p:cNvPr id="628" name="Google Shape;628;g3bc9e6a8e4d_6_5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bc9e6a8e4d_6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bc9e6a8e4d_6_5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g3bc9e6a8e4d_6_5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bc9e6a8e4d_6_5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3bc9e6a8e4d_6_5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g3bc9e6a8e4d_6_5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bc9e6a8e4d_6_55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Bandwidth</a:t>
            </a:r>
            <a:r>
              <a:rPr lang="en"/>
              <a:t> here is the pcie bandwidth that we need to move data from GPU to the host</a:t>
            </a:r>
            <a:endParaRPr/>
          </a:p>
          <a:p>
            <a:pPr indent="0" lvl="0" marL="0" rtl="0" algn="l">
              <a:spcBef>
                <a:spcPts val="0"/>
              </a:spcBef>
              <a:spcAft>
                <a:spcPts val="0"/>
              </a:spcAft>
              <a:buNone/>
            </a:pPr>
            <a:r>
              <a:rPr lang="en"/>
              <a:t>2 for K and V</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Dmodel/GQA is head_dim*number of kv heads</a:t>
            </a:r>
            <a:endParaRPr/>
          </a:p>
        </p:txBody>
      </p:sp>
      <p:sp>
        <p:nvSpPr>
          <p:cNvPr id="652" name="Google Shape;652;g3bc9e6a8e4d_6_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bc9e6a8e4d_6_55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g3bc9e6a8e4d_6_5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c9e6a8e4d_6_56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Seqlen can be 128K at its max and this matrix can be very large, that’s like 16 GB each. You don’t want to move it back and forth, compute the max of each row, compute softmax etc.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we really caare about the output matrix only. Theoretically if we can bypass these intermediate matrices, that’d bring huge savings.</a:t>
            </a:r>
            <a:endParaRPr/>
          </a:p>
        </p:txBody>
      </p:sp>
      <p:sp>
        <p:nvSpPr>
          <p:cNvPr id="669" name="Google Shape;669;g3bc9e6a8e4d_6_5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c9e6a8e4d_6_59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g3bc9e6a8e4d_6_5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bc9e6a8e4d_6_60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g3bc9e6a8e4d_6_6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bc9e6a8e4d_6_61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g3bc9e6a8e4d_6_6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bc9e6a8e4d_6_64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g3bc9e6a8e4d_6_6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bc9e6a8e4d_6_67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HEad dimension is 4</a:t>
            </a:r>
            <a:endParaRPr/>
          </a:p>
        </p:txBody>
      </p:sp>
      <p:sp>
        <p:nvSpPr>
          <p:cNvPr id="785" name="Google Shape;785;g3bc9e6a8e4d_6_6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bc9e6a8e4d_6_6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g3bc9e6a8e4d_6_6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 </a:t>
            </a:r>
            <a:endParaRPr/>
          </a:p>
        </p:txBody>
      </p:sp>
      <p:sp>
        <p:nvSpPr>
          <p:cNvPr id="809" name="Google Shape;809;g3bc9e6a8e4d_6_6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bc9e6a8e4d_6_72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g3bc9e6a8e4d_6_7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c9e6a8e4d_6_74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g3bc9e6a8e4d_6_7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c9e6a8e4d_6_77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g3bc9e6a8e4d_6_7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bc9e6a8e4d_6_8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g3bc9e6a8e4d_6_8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9" name="Google Shape;929;g3bc9e6a8e4d_6_8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bc9e6a8e4d_6_83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g3bc9e6a8e4d_6_8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bc9e6a8e4d_6_85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g3bc9e6a8e4d_6_8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bc9e6a8e4d_6_87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g3bc9e6a8e4d_6_8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bc9e6a8e4d_6_90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g3bc9e6a8e4d_6_9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bc9e6a8e4d_6_92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do rescaling if you need to, sort of in a streaming fashion.</a:t>
            </a:r>
            <a:endParaRPr/>
          </a:p>
        </p:txBody>
      </p:sp>
      <p:sp>
        <p:nvSpPr>
          <p:cNvPr id="1045" name="Google Shape;1045;g3bc9e6a8e4d_6_9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bc9e6a8e4d_6_96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g3bc9e6a8e4d_6_9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bc9e6a8e4d_6_100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g3bc9e6a8e4d_6_10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bc9e6a8e4d_6_102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need to of course maintain different rowmaex etc.</a:t>
            </a:r>
            <a:endParaRPr/>
          </a:p>
        </p:txBody>
      </p:sp>
      <p:sp>
        <p:nvSpPr>
          <p:cNvPr id="1150" name="Google Shape;1150;g3bc9e6a8e4d_6_10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bc9e6a8e4d_6_104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g3bc9e6a8e4d_6_10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2"/>
        </a:solidFill>
      </p:bgPr>
    </p:bg>
    <p:spTree>
      <p:nvGrpSpPr>
        <p:cNvPr id="51" name="Shape 51"/>
        <p:cNvGrpSpPr/>
        <p:nvPr/>
      </p:nvGrpSpPr>
      <p:grpSpPr>
        <a:xfrm>
          <a:off x="0" y="0"/>
          <a:ext cx="0" cy="0"/>
          <a:chOff x="0" y="0"/>
          <a:chExt cx="0" cy="0"/>
        </a:xfrm>
      </p:grpSpPr>
      <p:sp>
        <p:nvSpPr>
          <p:cNvPr id="52" name="Google Shape;52;p14"/>
          <p:cNvSpPr txBox="1"/>
          <p:nvPr>
            <p:ph type="title"/>
          </p:nvPr>
        </p:nvSpPr>
        <p:spPr>
          <a:xfrm>
            <a:off x="1085850" y="655385"/>
            <a:ext cx="6972300" cy="2641800"/>
          </a:xfrm>
          <a:prstGeom prst="rect">
            <a:avLst/>
          </a:prstGeom>
          <a:noFill/>
          <a:ln>
            <a:noFill/>
          </a:ln>
        </p:spPr>
        <p:txBody>
          <a:bodyPr anchorCtr="0" anchor="b" bIns="34275" lIns="68575" spcFirstLastPara="1" rIns="68575" wrap="square" tIns="34275">
            <a:noAutofit/>
          </a:bodyPr>
          <a:lstStyle>
            <a:lvl1pPr lvl="0" marR="0" algn="ctr">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pic>
        <p:nvPicPr>
          <p:cNvPr id="53" name="Google Shape;53;p14"/>
          <p:cNvPicPr preferRelativeResize="0"/>
          <p:nvPr/>
        </p:nvPicPr>
        <p:blipFill rotWithShape="1">
          <a:blip r:embed="rId2">
            <a:alphaModFix/>
          </a:blip>
          <a:srcRect b="0" l="0" r="0" t="0"/>
          <a:stretch/>
        </p:blipFill>
        <p:spPr>
          <a:xfrm>
            <a:off x="568082" y="4598607"/>
            <a:ext cx="2416272" cy="213486"/>
          </a:xfrm>
          <a:prstGeom prst="rect">
            <a:avLst/>
          </a:prstGeom>
          <a:noFill/>
          <a:ln>
            <a:noFill/>
          </a:ln>
        </p:spPr>
      </p:pic>
      <p:pic>
        <p:nvPicPr>
          <p:cNvPr id="54" name="Google Shape;54;p14"/>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15"/>
          <p:cNvSpPr txBox="1"/>
          <p:nvPr>
            <p:ph type="title"/>
          </p:nvPr>
        </p:nvSpPr>
        <p:spPr>
          <a:xfrm>
            <a:off x="311700" y="2150850"/>
            <a:ext cx="8520600" cy="841800"/>
          </a:xfrm>
          <a:prstGeom prst="rect">
            <a:avLst/>
          </a:prstGeom>
          <a:noFill/>
          <a:ln>
            <a:noFill/>
          </a:ln>
        </p:spPr>
        <p:txBody>
          <a:bodyPr anchorCtr="0" anchor="ctr" bIns="68575" lIns="68575" spcFirstLastPara="1" rIns="68575" wrap="square" tIns="68575">
            <a:normAutofit/>
          </a:bodyPr>
          <a:lstStyle>
            <a:lvl1pPr lvl="0" marR="0" algn="ctr">
              <a:spcBef>
                <a:spcPts val="0"/>
              </a:spcBef>
              <a:spcAft>
                <a:spcPts val="0"/>
              </a:spcAft>
              <a:buClr>
                <a:schemeClr val="dk1"/>
              </a:buClr>
              <a:buSzPts val="2700"/>
              <a:buFont typeface="Arial"/>
              <a:buNone/>
              <a:defRPr b="0" i="0" sz="3600" u="none" cap="none" strike="noStrike">
                <a:solidFill>
                  <a:schemeClr val="dk1"/>
                </a:solidFill>
                <a:latin typeface="Arial"/>
                <a:ea typeface="Arial"/>
                <a:cs typeface="Arial"/>
                <a:sym typeface="Arial"/>
              </a:defRPr>
            </a:lvl1pPr>
            <a:lvl2pPr lvl="1" algn="ctr">
              <a:spcBef>
                <a:spcPts val="0"/>
              </a:spcBef>
              <a:spcAft>
                <a:spcPts val="0"/>
              </a:spcAft>
              <a:buSzPts val="2700"/>
              <a:buFont typeface="Arial"/>
              <a:buNone/>
              <a:defRPr sz="3600"/>
            </a:lvl2pPr>
            <a:lvl3pPr lvl="2" algn="ctr">
              <a:spcBef>
                <a:spcPts val="0"/>
              </a:spcBef>
              <a:spcAft>
                <a:spcPts val="0"/>
              </a:spcAft>
              <a:buSzPts val="2700"/>
              <a:buFont typeface="Arial"/>
              <a:buNone/>
              <a:defRPr sz="3600"/>
            </a:lvl3pPr>
            <a:lvl4pPr lvl="3" algn="ctr">
              <a:spcBef>
                <a:spcPts val="0"/>
              </a:spcBef>
              <a:spcAft>
                <a:spcPts val="0"/>
              </a:spcAft>
              <a:buSzPts val="2700"/>
              <a:buFont typeface="Arial"/>
              <a:buNone/>
              <a:defRPr sz="3600"/>
            </a:lvl4pPr>
            <a:lvl5pPr lvl="4" algn="ctr">
              <a:spcBef>
                <a:spcPts val="0"/>
              </a:spcBef>
              <a:spcAft>
                <a:spcPts val="0"/>
              </a:spcAft>
              <a:buSzPts val="2700"/>
              <a:buFont typeface="Arial"/>
              <a:buNone/>
              <a:defRPr sz="3600"/>
            </a:lvl5pPr>
            <a:lvl6pPr lvl="5" algn="ctr">
              <a:spcBef>
                <a:spcPts val="0"/>
              </a:spcBef>
              <a:spcAft>
                <a:spcPts val="0"/>
              </a:spcAft>
              <a:buSzPts val="2700"/>
              <a:buFont typeface="Arial"/>
              <a:buNone/>
              <a:defRPr sz="3600"/>
            </a:lvl6pPr>
            <a:lvl7pPr lvl="6" algn="ctr">
              <a:spcBef>
                <a:spcPts val="0"/>
              </a:spcBef>
              <a:spcAft>
                <a:spcPts val="0"/>
              </a:spcAft>
              <a:buSzPts val="2700"/>
              <a:buFont typeface="Arial"/>
              <a:buNone/>
              <a:defRPr sz="3600"/>
            </a:lvl7pPr>
            <a:lvl8pPr lvl="7" algn="ctr">
              <a:spcBef>
                <a:spcPts val="0"/>
              </a:spcBef>
              <a:spcAft>
                <a:spcPts val="0"/>
              </a:spcAft>
              <a:buSzPts val="2700"/>
              <a:buFont typeface="Arial"/>
              <a:buNone/>
              <a:defRPr sz="3600"/>
            </a:lvl8pPr>
            <a:lvl9pPr lvl="8" algn="ctr">
              <a:spcBef>
                <a:spcPts val="0"/>
              </a:spcBef>
              <a:spcAft>
                <a:spcPts val="0"/>
              </a:spcAft>
              <a:buSzPts val="2700"/>
              <a:buFont typeface="Arial"/>
              <a:buNone/>
              <a:defRPr sz="3600"/>
            </a:lvl9pPr>
          </a:lstStyle>
          <a:p/>
        </p:txBody>
      </p:sp>
      <p:sp>
        <p:nvSpPr>
          <p:cNvPr id="57" name="Google Shape;57;p15"/>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ctr">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60" name="Google Shape;60;p16"/>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lt1"/>
              </a:buClr>
              <a:buSzPts val="1100"/>
              <a:buFont typeface="Arial"/>
              <a:buChar char="○"/>
              <a:defRPr b="0" i="0" sz="2100" u="none" cap="none" strike="noStrike">
                <a:solidFill>
                  <a:schemeClr val="lt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
        <p:nvSpPr>
          <p:cNvPr id="61" name="Google Shape;61;p16"/>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62" name="Shape 62"/>
        <p:cNvGrpSpPr/>
        <p:nvPr/>
      </p:nvGrpSpPr>
      <p:grpSpPr>
        <a:xfrm>
          <a:off x="0" y="0"/>
          <a:ext cx="0" cy="0"/>
          <a:chOff x="0" y="0"/>
          <a:chExt cx="0" cy="0"/>
        </a:xfrm>
      </p:grpSpPr>
      <p:sp>
        <p:nvSpPr>
          <p:cNvPr id="63" name="Google Shape;63;p1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l">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64" name="Google Shape;64;p17"/>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lt1"/>
              </a:buClr>
              <a:buSzPts val="1100"/>
              <a:buFont typeface="Arial"/>
              <a:buChar char="○"/>
              <a:defRPr b="0" i="0" sz="2100" u="none" cap="none" strike="noStrike">
                <a:solidFill>
                  <a:schemeClr val="lt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 Subheader + Content">
  <p:cSld name="1_Header + Subheader + Content">
    <p:bg>
      <p:bgPr>
        <a:solidFill>
          <a:schemeClr val="lt2"/>
        </a:solidFill>
      </p:bgPr>
    </p:bg>
    <p:spTree>
      <p:nvGrpSpPr>
        <p:cNvPr id="65" name="Shape 65"/>
        <p:cNvGrpSpPr/>
        <p:nvPr/>
      </p:nvGrpSpPr>
      <p:grpSpPr>
        <a:xfrm>
          <a:off x="0" y="0"/>
          <a:ext cx="0" cy="0"/>
          <a:chOff x="0" y="0"/>
          <a:chExt cx="0" cy="0"/>
        </a:xfrm>
      </p:grpSpPr>
      <p:pic>
        <p:nvPicPr>
          <p:cNvPr id="66" name="Google Shape;66;p18"/>
          <p:cNvPicPr preferRelativeResize="0"/>
          <p:nvPr/>
        </p:nvPicPr>
        <p:blipFill rotWithShape="1">
          <a:blip r:embed="rId2">
            <a:alphaModFix/>
          </a:blip>
          <a:srcRect b="0" l="0" r="0" t="0"/>
          <a:stretch/>
        </p:blipFill>
        <p:spPr>
          <a:xfrm>
            <a:off x="8639469" y="4681862"/>
            <a:ext cx="482876" cy="326388"/>
          </a:xfrm>
          <a:prstGeom prst="rect">
            <a:avLst/>
          </a:prstGeom>
          <a:noFill/>
          <a:ln>
            <a:noFill/>
          </a:ln>
        </p:spPr>
      </p:pic>
      <p:sp>
        <p:nvSpPr>
          <p:cNvPr id="67" name="Google Shape;67;p1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ctr">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68" name="Google Shape;68;p18"/>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dk1"/>
              </a:buClr>
              <a:buSzPts val="1100"/>
              <a:buFont typeface="Arial"/>
              <a:buChar char="○"/>
              <a:defRPr b="0" i="0" sz="2100" u="none" cap="none" strike="noStrike">
                <a:solidFill>
                  <a:schemeClr val="dk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
        <p:nvSpPr>
          <p:cNvPr id="69" name="Google Shape;69;p18"/>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dk1"/>
              </a:buClr>
              <a:buSzPts val="1400"/>
              <a:buFont typeface="Arial"/>
              <a:buNone/>
              <a:defRPr sz="1400">
                <a:solidFill>
                  <a:schemeClr val="dk1"/>
                </a:solidFill>
                <a:latin typeface="Arial"/>
                <a:ea typeface="Arial"/>
                <a:cs typeface="Arial"/>
                <a:sym typeface="Arial"/>
              </a:defRPr>
            </a:lvl1pPr>
            <a:lvl2pPr indent="0" lvl="1" marL="0" marR="0" algn="r">
              <a:buClr>
                <a:schemeClr val="dk1"/>
              </a:buClr>
              <a:buSzPts val="1400"/>
              <a:buFont typeface="Arial"/>
              <a:buNone/>
              <a:defRPr sz="1400">
                <a:solidFill>
                  <a:schemeClr val="dk1"/>
                </a:solidFill>
                <a:latin typeface="Arial"/>
                <a:ea typeface="Arial"/>
                <a:cs typeface="Arial"/>
                <a:sym typeface="Arial"/>
              </a:defRPr>
            </a:lvl2pPr>
            <a:lvl3pPr indent="0" lvl="2" marL="0" marR="0" algn="r">
              <a:buClr>
                <a:schemeClr val="dk1"/>
              </a:buClr>
              <a:buSzPts val="1400"/>
              <a:buFont typeface="Arial"/>
              <a:buNone/>
              <a:defRPr sz="1400">
                <a:solidFill>
                  <a:schemeClr val="dk1"/>
                </a:solidFill>
                <a:latin typeface="Arial"/>
                <a:ea typeface="Arial"/>
                <a:cs typeface="Arial"/>
                <a:sym typeface="Arial"/>
              </a:defRPr>
            </a:lvl3pPr>
            <a:lvl4pPr indent="0" lvl="3" marL="0" marR="0" algn="r">
              <a:buClr>
                <a:schemeClr val="dk1"/>
              </a:buClr>
              <a:buSzPts val="1400"/>
              <a:buFont typeface="Arial"/>
              <a:buNone/>
              <a:defRPr sz="1400">
                <a:solidFill>
                  <a:schemeClr val="dk1"/>
                </a:solidFill>
                <a:latin typeface="Arial"/>
                <a:ea typeface="Arial"/>
                <a:cs typeface="Arial"/>
                <a:sym typeface="Arial"/>
              </a:defRPr>
            </a:lvl4pPr>
            <a:lvl5pPr indent="0" lvl="4" marL="0" marR="0" algn="r">
              <a:buClr>
                <a:schemeClr val="dk1"/>
              </a:buClr>
              <a:buSzPts val="1400"/>
              <a:buFont typeface="Arial"/>
              <a:buNone/>
              <a:defRPr sz="1400">
                <a:solidFill>
                  <a:schemeClr val="dk1"/>
                </a:solidFill>
                <a:latin typeface="Arial"/>
                <a:ea typeface="Arial"/>
                <a:cs typeface="Arial"/>
                <a:sym typeface="Arial"/>
              </a:defRPr>
            </a:lvl5pPr>
            <a:lvl6pPr indent="0" lvl="5" marL="0" marR="0" algn="r">
              <a:buClr>
                <a:schemeClr val="dk1"/>
              </a:buClr>
              <a:buSzPts val="1400"/>
              <a:buFont typeface="Arial"/>
              <a:buNone/>
              <a:defRPr sz="1400">
                <a:solidFill>
                  <a:schemeClr val="dk1"/>
                </a:solidFill>
                <a:latin typeface="Arial"/>
                <a:ea typeface="Arial"/>
                <a:cs typeface="Arial"/>
                <a:sym typeface="Arial"/>
              </a:defRPr>
            </a:lvl6pPr>
            <a:lvl7pPr indent="0" lvl="6" marL="0" marR="0" algn="r">
              <a:buClr>
                <a:schemeClr val="dk1"/>
              </a:buClr>
              <a:buSzPts val="1400"/>
              <a:buFont typeface="Arial"/>
              <a:buNone/>
              <a:defRPr sz="1400">
                <a:solidFill>
                  <a:schemeClr val="dk1"/>
                </a:solidFill>
                <a:latin typeface="Arial"/>
                <a:ea typeface="Arial"/>
                <a:cs typeface="Arial"/>
                <a:sym typeface="Arial"/>
              </a:defRPr>
            </a:lvl7pPr>
            <a:lvl8pPr indent="0" lvl="7" marL="0" marR="0" algn="r">
              <a:buClr>
                <a:schemeClr val="dk1"/>
              </a:buClr>
              <a:buSzPts val="1400"/>
              <a:buFont typeface="Arial"/>
              <a:buNone/>
              <a:defRPr sz="1400">
                <a:solidFill>
                  <a:schemeClr val="dk1"/>
                </a:solidFill>
                <a:latin typeface="Arial"/>
                <a:ea typeface="Arial"/>
                <a:cs typeface="Arial"/>
                <a:sym typeface="Arial"/>
              </a:defRPr>
            </a:lvl8pPr>
            <a:lvl9pPr indent="0" lvl="8" marL="0" marR="0" algn="r">
              <a:buClr>
                <a:schemeClr val="dk1"/>
              </a:buClr>
              <a:buSzPts val="1400"/>
              <a:buFont typeface="Arial"/>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6" name="Shape 76"/>
        <p:cNvGrpSpPr/>
        <p:nvPr/>
      </p:nvGrpSpPr>
      <p:grpSpPr>
        <a:xfrm>
          <a:off x="0" y="0"/>
          <a:ext cx="0" cy="0"/>
          <a:chOff x="0" y="0"/>
          <a:chExt cx="0" cy="0"/>
        </a:xfrm>
      </p:grpSpPr>
      <p:sp>
        <p:nvSpPr>
          <p:cNvPr id="77" name="Google Shape;77;p20"/>
          <p:cNvSpPr txBox="1"/>
          <p:nvPr>
            <p:ph type="title"/>
          </p:nvPr>
        </p:nvSpPr>
        <p:spPr>
          <a:xfrm>
            <a:off x="311700" y="2150850"/>
            <a:ext cx="8520600" cy="841800"/>
          </a:xfrm>
          <a:prstGeom prst="rect">
            <a:avLst/>
          </a:prstGeom>
          <a:noFill/>
          <a:ln>
            <a:noFill/>
          </a:ln>
        </p:spPr>
        <p:txBody>
          <a:bodyPr anchorCtr="0" anchor="ctr" bIns="68575" lIns="68575" spcFirstLastPara="1" rIns="68575" wrap="square" tIns="68575">
            <a:normAutofit/>
          </a:bodyPr>
          <a:lstStyle>
            <a:lvl1pPr lvl="0" algn="ctr">
              <a:lnSpc>
                <a:spcPct val="90000"/>
              </a:lnSpc>
              <a:spcBef>
                <a:spcPts val="0"/>
              </a:spcBef>
              <a:spcAft>
                <a:spcPts val="0"/>
              </a:spcAft>
              <a:buClr>
                <a:schemeClr val="dk1"/>
              </a:buClr>
              <a:buSzPts val="2700"/>
              <a:buFont typeface="Arial"/>
              <a:buNone/>
              <a:defRPr sz="3600"/>
            </a:lvl1pPr>
            <a:lvl2pPr lvl="1" algn="ctr">
              <a:spcBef>
                <a:spcPts val="0"/>
              </a:spcBef>
              <a:spcAft>
                <a:spcPts val="0"/>
              </a:spcAft>
              <a:buSzPts val="2700"/>
              <a:buNone/>
              <a:defRPr sz="3600"/>
            </a:lvl2pPr>
            <a:lvl3pPr lvl="2" algn="ctr">
              <a:spcBef>
                <a:spcPts val="0"/>
              </a:spcBef>
              <a:spcAft>
                <a:spcPts val="0"/>
              </a:spcAft>
              <a:buSzPts val="2700"/>
              <a:buNone/>
              <a:defRPr sz="3600"/>
            </a:lvl3pPr>
            <a:lvl4pPr lvl="3" algn="ctr">
              <a:spcBef>
                <a:spcPts val="0"/>
              </a:spcBef>
              <a:spcAft>
                <a:spcPts val="0"/>
              </a:spcAft>
              <a:buSzPts val="2700"/>
              <a:buNone/>
              <a:defRPr sz="3600"/>
            </a:lvl4pPr>
            <a:lvl5pPr lvl="4" algn="ctr">
              <a:spcBef>
                <a:spcPts val="0"/>
              </a:spcBef>
              <a:spcAft>
                <a:spcPts val="0"/>
              </a:spcAft>
              <a:buSzPts val="2700"/>
              <a:buNone/>
              <a:defRPr sz="3600"/>
            </a:lvl5pPr>
            <a:lvl6pPr lvl="5" algn="ctr">
              <a:spcBef>
                <a:spcPts val="0"/>
              </a:spcBef>
              <a:spcAft>
                <a:spcPts val="0"/>
              </a:spcAft>
              <a:buSzPts val="2700"/>
              <a:buNone/>
              <a:defRPr sz="3600"/>
            </a:lvl6pPr>
            <a:lvl7pPr lvl="6" algn="ctr">
              <a:spcBef>
                <a:spcPts val="0"/>
              </a:spcBef>
              <a:spcAft>
                <a:spcPts val="0"/>
              </a:spcAft>
              <a:buSzPts val="2700"/>
              <a:buNone/>
              <a:defRPr sz="3600"/>
            </a:lvl7pPr>
            <a:lvl8pPr lvl="7" algn="ctr">
              <a:spcBef>
                <a:spcPts val="0"/>
              </a:spcBef>
              <a:spcAft>
                <a:spcPts val="0"/>
              </a:spcAft>
              <a:buSzPts val="2700"/>
              <a:buNone/>
              <a:defRPr sz="3600"/>
            </a:lvl8pPr>
            <a:lvl9pPr lvl="8" algn="ctr">
              <a:spcBef>
                <a:spcPts val="0"/>
              </a:spcBef>
              <a:spcAft>
                <a:spcPts val="0"/>
              </a:spcAft>
              <a:buSzPts val="2700"/>
              <a:buNone/>
              <a:defRPr sz="3600"/>
            </a:lvl9pPr>
          </a:lstStyle>
          <a:p/>
        </p:txBody>
      </p:sp>
      <p:sp>
        <p:nvSpPr>
          <p:cNvPr id="78" name="Google Shape;78;p20"/>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rgbClr val="757575"/>
              </a:buClr>
              <a:buSzPts val="900"/>
              <a:buFont typeface="Arial"/>
              <a:buNone/>
              <a:defRPr b="0" i="0" sz="900" u="none" cap="none" strike="noStrike">
                <a:solidFill>
                  <a:srgbClr val="757575"/>
                </a:solidFill>
                <a:latin typeface="Arial"/>
                <a:ea typeface="Arial"/>
                <a:cs typeface="Arial"/>
                <a:sym typeface="Arial"/>
              </a:defRPr>
            </a:lvl1pPr>
            <a:lvl2pPr indent="0" lvl="1" marL="0" algn="r">
              <a:buClr>
                <a:srgbClr val="757575"/>
              </a:buClr>
              <a:buSzPts val="900"/>
              <a:buFont typeface="Arial"/>
              <a:buNone/>
              <a:defRPr b="0" i="0" sz="900" u="none" cap="none" strike="noStrike">
                <a:solidFill>
                  <a:srgbClr val="757575"/>
                </a:solidFill>
                <a:latin typeface="Arial"/>
                <a:ea typeface="Arial"/>
                <a:cs typeface="Arial"/>
                <a:sym typeface="Arial"/>
              </a:defRPr>
            </a:lvl2pPr>
            <a:lvl3pPr indent="0" lvl="2" marL="0" algn="r">
              <a:buClr>
                <a:srgbClr val="757575"/>
              </a:buClr>
              <a:buSzPts val="900"/>
              <a:buFont typeface="Arial"/>
              <a:buNone/>
              <a:defRPr b="0" i="0" sz="900" u="none" cap="none" strike="noStrike">
                <a:solidFill>
                  <a:srgbClr val="757575"/>
                </a:solidFill>
                <a:latin typeface="Arial"/>
                <a:ea typeface="Arial"/>
                <a:cs typeface="Arial"/>
                <a:sym typeface="Arial"/>
              </a:defRPr>
            </a:lvl3pPr>
            <a:lvl4pPr indent="0" lvl="3" marL="0" algn="r">
              <a:buClr>
                <a:srgbClr val="757575"/>
              </a:buClr>
              <a:buSzPts val="900"/>
              <a:buFont typeface="Arial"/>
              <a:buNone/>
              <a:defRPr b="0" i="0" sz="900" u="none" cap="none" strike="noStrike">
                <a:solidFill>
                  <a:srgbClr val="757575"/>
                </a:solidFill>
                <a:latin typeface="Arial"/>
                <a:ea typeface="Arial"/>
                <a:cs typeface="Arial"/>
                <a:sym typeface="Arial"/>
              </a:defRPr>
            </a:lvl4pPr>
            <a:lvl5pPr indent="0" lvl="4" marL="0" algn="r">
              <a:buClr>
                <a:srgbClr val="757575"/>
              </a:buClr>
              <a:buSzPts val="900"/>
              <a:buFont typeface="Arial"/>
              <a:buNone/>
              <a:defRPr b="0" i="0" sz="900" u="none" cap="none" strike="noStrike">
                <a:solidFill>
                  <a:srgbClr val="757575"/>
                </a:solidFill>
                <a:latin typeface="Arial"/>
                <a:ea typeface="Arial"/>
                <a:cs typeface="Arial"/>
                <a:sym typeface="Arial"/>
              </a:defRPr>
            </a:lvl5pPr>
            <a:lvl6pPr indent="0" lvl="5" marL="0" algn="r">
              <a:buClr>
                <a:srgbClr val="757575"/>
              </a:buClr>
              <a:buSzPts val="900"/>
              <a:buFont typeface="Arial"/>
              <a:buNone/>
              <a:defRPr b="0" i="0" sz="900" u="none" cap="none" strike="noStrike">
                <a:solidFill>
                  <a:srgbClr val="757575"/>
                </a:solidFill>
                <a:latin typeface="Arial"/>
                <a:ea typeface="Arial"/>
                <a:cs typeface="Arial"/>
                <a:sym typeface="Arial"/>
              </a:defRPr>
            </a:lvl6pPr>
            <a:lvl7pPr indent="0" lvl="6" marL="0" algn="r">
              <a:buClr>
                <a:srgbClr val="757575"/>
              </a:buClr>
              <a:buSzPts val="900"/>
              <a:buFont typeface="Arial"/>
              <a:buNone/>
              <a:defRPr b="0" i="0" sz="900" u="none" cap="none" strike="noStrike">
                <a:solidFill>
                  <a:srgbClr val="757575"/>
                </a:solidFill>
                <a:latin typeface="Arial"/>
                <a:ea typeface="Arial"/>
                <a:cs typeface="Arial"/>
                <a:sym typeface="Arial"/>
              </a:defRPr>
            </a:lvl7pPr>
            <a:lvl8pPr indent="0" lvl="7" marL="0" algn="r">
              <a:buClr>
                <a:srgbClr val="757575"/>
              </a:buClr>
              <a:buSzPts val="900"/>
              <a:buFont typeface="Arial"/>
              <a:buNone/>
              <a:defRPr b="0" i="0" sz="900" u="none" cap="none" strike="noStrike">
                <a:solidFill>
                  <a:srgbClr val="757575"/>
                </a:solidFill>
                <a:latin typeface="Arial"/>
                <a:ea typeface="Arial"/>
                <a:cs typeface="Arial"/>
                <a:sym typeface="Arial"/>
              </a:defRPr>
            </a:lvl8pPr>
            <a:lvl9pPr indent="0" lvl="8" marL="0" algn="r">
              <a:buClr>
                <a:srgbClr val="757575"/>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9" name="Shape 79"/>
        <p:cNvGrpSpPr/>
        <p:nvPr/>
      </p:nvGrpSpPr>
      <p:grpSpPr>
        <a:xfrm>
          <a:off x="0" y="0"/>
          <a:ext cx="0" cy="0"/>
          <a:chOff x="0" y="0"/>
          <a:chExt cx="0" cy="0"/>
        </a:xfrm>
      </p:grpSpPr>
      <p:sp>
        <p:nvSpPr>
          <p:cNvPr id="80" name="Google Shape;80;p2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Arial"/>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81" name="Google Shape;81;p21"/>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solidFill>
                  <a:schemeClr val="dk1"/>
                </a:solidFill>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82" name="Google Shape;82;p21"/>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rgbClr val="757575"/>
              </a:buClr>
              <a:buSzPts val="900"/>
              <a:buFont typeface="Arial"/>
              <a:buNone/>
              <a:defRPr b="0" i="0" sz="900" u="none" cap="none" strike="noStrike">
                <a:solidFill>
                  <a:srgbClr val="757575"/>
                </a:solidFill>
                <a:latin typeface="Arial"/>
                <a:ea typeface="Arial"/>
                <a:cs typeface="Arial"/>
                <a:sym typeface="Arial"/>
              </a:defRPr>
            </a:lvl1pPr>
            <a:lvl2pPr indent="0" lvl="1" marL="0" algn="r">
              <a:buClr>
                <a:srgbClr val="757575"/>
              </a:buClr>
              <a:buSzPts val="900"/>
              <a:buFont typeface="Arial"/>
              <a:buNone/>
              <a:defRPr b="0" i="0" sz="900" u="none" cap="none" strike="noStrike">
                <a:solidFill>
                  <a:srgbClr val="757575"/>
                </a:solidFill>
                <a:latin typeface="Arial"/>
                <a:ea typeface="Arial"/>
                <a:cs typeface="Arial"/>
                <a:sym typeface="Arial"/>
              </a:defRPr>
            </a:lvl2pPr>
            <a:lvl3pPr indent="0" lvl="2" marL="0" algn="r">
              <a:buClr>
                <a:srgbClr val="757575"/>
              </a:buClr>
              <a:buSzPts val="900"/>
              <a:buFont typeface="Arial"/>
              <a:buNone/>
              <a:defRPr b="0" i="0" sz="900" u="none" cap="none" strike="noStrike">
                <a:solidFill>
                  <a:srgbClr val="757575"/>
                </a:solidFill>
                <a:latin typeface="Arial"/>
                <a:ea typeface="Arial"/>
                <a:cs typeface="Arial"/>
                <a:sym typeface="Arial"/>
              </a:defRPr>
            </a:lvl3pPr>
            <a:lvl4pPr indent="0" lvl="3" marL="0" algn="r">
              <a:buClr>
                <a:srgbClr val="757575"/>
              </a:buClr>
              <a:buSzPts val="900"/>
              <a:buFont typeface="Arial"/>
              <a:buNone/>
              <a:defRPr b="0" i="0" sz="900" u="none" cap="none" strike="noStrike">
                <a:solidFill>
                  <a:srgbClr val="757575"/>
                </a:solidFill>
                <a:latin typeface="Arial"/>
                <a:ea typeface="Arial"/>
                <a:cs typeface="Arial"/>
                <a:sym typeface="Arial"/>
              </a:defRPr>
            </a:lvl4pPr>
            <a:lvl5pPr indent="0" lvl="4" marL="0" algn="r">
              <a:buClr>
                <a:srgbClr val="757575"/>
              </a:buClr>
              <a:buSzPts val="900"/>
              <a:buFont typeface="Arial"/>
              <a:buNone/>
              <a:defRPr b="0" i="0" sz="900" u="none" cap="none" strike="noStrike">
                <a:solidFill>
                  <a:srgbClr val="757575"/>
                </a:solidFill>
                <a:latin typeface="Arial"/>
                <a:ea typeface="Arial"/>
                <a:cs typeface="Arial"/>
                <a:sym typeface="Arial"/>
              </a:defRPr>
            </a:lvl5pPr>
            <a:lvl6pPr indent="0" lvl="5" marL="0" algn="r">
              <a:buClr>
                <a:srgbClr val="757575"/>
              </a:buClr>
              <a:buSzPts val="900"/>
              <a:buFont typeface="Arial"/>
              <a:buNone/>
              <a:defRPr b="0" i="0" sz="900" u="none" cap="none" strike="noStrike">
                <a:solidFill>
                  <a:srgbClr val="757575"/>
                </a:solidFill>
                <a:latin typeface="Arial"/>
                <a:ea typeface="Arial"/>
                <a:cs typeface="Arial"/>
                <a:sym typeface="Arial"/>
              </a:defRPr>
            </a:lvl6pPr>
            <a:lvl7pPr indent="0" lvl="6" marL="0" algn="r">
              <a:buClr>
                <a:srgbClr val="757575"/>
              </a:buClr>
              <a:buSzPts val="900"/>
              <a:buFont typeface="Arial"/>
              <a:buNone/>
              <a:defRPr b="0" i="0" sz="900" u="none" cap="none" strike="noStrike">
                <a:solidFill>
                  <a:srgbClr val="757575"/>
                </a:solidFill>
                <a:latin typeface="Arial"/>
                <a:ea typeface="Arial"/>
                <a:cs typeface="Arial"/>
                <a:sym typeface="Arial"/>
              </a:defRPr>
            </a:lvl7pPr>
            <a:lvl8pPr indent="0" lvl="7" marL="0" algn="r">
              <a:buClr>
                <a:srgbClr val="757575"/>
              </a:buClr>
              <a:buSzPts val="900"/>
              <a:buFont typeface="Arial"/>
              <a:buNone/>
              <a:defRPr b="0" i="0" sz="900" u="none" cap="none" strike="noStrike">
                <a:solidFill>
                  <a:srgbClr val="757575"/>
                </a:solidFill>
                <a:latin typeface="Arial"/>
                <a:ea typeface="Arial"/>
                <a:cs typeface="Arial"/>
                <a:sym typeface="Arial"/>
              </a:defRPr>
            </a:lvl8pPr>
            <a:lvl9pPr indent="0" lvl="8" marL="0" algn="r">
              <a:buClr>
                <a:srgbClr val="757575"/>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83" name="Shape 83"/>
        <p:cNvGrpSpPr/>
        <p:nvPr/>
      </p:nvGrpSpPr>
      <p:grpSpPr>
        <a:xfrm>
          <a:off x="0" y="0"/>
          <a:ext cx="0" cy="0"/>
          <a:chOff x="0" y="0"/>
          <a:chExt cx="0" cy="0"/>
        </a:xfrm>
      </p:grpSpPr>
      <p:sp>
        <p:nvSpPr>
          <p:cNvPr id="84" name="Google Shape;84;p2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22"/>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86" name="Google Shape;86;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89" name="Shape 89"/>
        <p:cNvGrpSpPr/>
        <p:nvPr/>
      </p:nvGrpSpPr>
      <p:grpSpPr>
        <a:xfrm>
          <a:off x="0" y="0"/>
          <a:ext cx="0" cy="0"/>
          <a:chOff x="0" y="0"/>
          <a:chExt cx="0" cy="0"/>
        </a:xfrm>
      </p:grpSpPr>
      <p:sp>
        <p:nvSpPr>
          <p:cNvPr id="90" name="Google Shape;90;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1" name="Google Shape;91;p2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p:cSld name="节标题">
    <p:spTree>
      <p:nvGrpSpPr>
        <p:cNvPr id="95" name="Shape 95"/>
        <p:cNvGrpSpPr/>
        <p:nvPr/>
      </p:nvGrpSpPr>
      <p:grpSpPr>
        <a:xfrm>
          <a:off x="0" y="0"/>
          <a:ext cx="0" cy="0"/>
          <a:chOff x="0" y="0"/>
          <a:chExt cx="0" cy="0"/>
        </a:xfrm>
      </p:grpSpPr>
      <p:sp>
        <p:nvSpPr>
          <p:cNvPr id="96" name="Google Shape;96;p24"/>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24"/>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98" name="Google Shape;98;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101" name="Shape 101"/>
        <p:cNvGrpSpPr/>
        <p:nvPr/>
      </p:nvGrpSpPr>
      <p:grpSpPr>
        <a:xfrm>
          <a:off x="0" y="0"/>
          <a:ext cx="0" cy="0"/>
          <a:chOff x="0" y="0"/>
          <a:chExt cx="0" cy="0"/>
        </a:xfrm>
      </p:grpSpPr>
      <p:sp>
        <p:nvSpPr>
          <p:cNvPr id="102" name="Google Shape;102;p2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3" name="Google Shape;103;p25"/>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4" name="Google Shape;104;p25"/>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 name="Google Shape;105;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108" name="Shape 108"/>
        <p:cNvGrpSpPr/>
        <p:nvPr/>
      </p:nvGrpSpPr>
      <p:grpSpPr>
        <a:xfrm>
          <a:off x="0" y="0"/>
          <a:ext cx="0" cy="0"/>
          <a:chOff x="0" y="0"/>
          <a:chExt cx="0" cy="0"/>
        </a:xfrm>
      </p:grpSpPr>
      <p:sp>
        <p:nvSpPr>
          <p:cNvPr id="109" name="Google Shape;109;p26"/>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0" name="Google Shape;110;p2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11" name="Google Shape;111;p26"/>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26"/>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13" name="Google Shape;113;p26"/>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4" name="Google Shape;114;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117" name="Shape 117"/>
        <p:cNvGrpSpPr/>
        <p:nvPr/>
      </p:nvGrpSpPr>
      <p:grpSpPr>
        <a:xfrm>
          <a:off x="0" y="0"/>
          <a:ext cx="0" cy="0"/>
          <a:chOff x="0" y="0"/>
          <a:chExt cx="0" cy="0"/>
        </a:xfrm>
      </p:grpSpPr>
      <p:sp>
        <p:nvSpPr>
          <p:cNvPr id="118" name="Google Shape;118;p2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22" name="Shape 122"/>
        <p:cNvGrpSpPr/>
        <p:nvPr/>
      </p:nvGrpSpPr>
      <p:grpSpPr>
        <a:xfrm>
          <a:off x="0" y="0"/>
          <a:ext cx="0" cy="0"/>
          <a:chOff x="0" y="0"/>
          <a:chExt cx="0" cy="0"/>
        </a:xfrm>
      </p:grpSpPr>
      <p:sp>
        <p:nvSpPr>
          <p:cNvPr id="123" name="Google Shape;123;p2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126" name="Shape 126"/>
        <p:cNvGrpSpPr/>
        <p:nvPr/>
      </p:nvGrpSpPr>
      <p:grpSpPr>
        <a:xfrm>
          <a:off x="0" y="0"/>
          <a:ext cx="0" cy="0"/>
          <a:chOff x="0" y="0"/>
          <a:chExt cx="0" cy="0"/>
        </a:xfrm>
      </p:grpSpPr>
      <p:sp>
        <p:nvSpPr>
          <p:cNvPr id="127" name="Google Shape;127;p29"/>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8" name="Google Shape;128;p29"/>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29" name="Google Shape;129;p29"/>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30" name="Google Shape;130;p2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2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133" name="Shape 133"/>
        <p:cNvGrpSpPr/>
        <p:nvPr/>
      </p:nvGrpSpPr>
      <p:grpSpPr>
        <a:xfrm>
          <a:off x="0" y="0"/>
          <a:ext cx="0" cy="0"/>
          <a:chOff x="0" y="0"/>
          <a:chExt cx="0" cy="0"/>
        </a:xfrm>
      </p:grpSpPr>
      <p:sp>
        <p:nvSpPr>
          <p:cNvPr id="134" name="Google Shape;134;p30"/>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5" name="Google Shape;135;p30"/>
          <p:cNvSpPr/>
          <p:nvPr>
            <p:ph idx="2" type="pic"/>
          </p:nvPr>
        </p:nvSpPr>
        <p:spPr>
          <a:xfrm>
            <a:off x="3887391" y="740569"/>
            <a:ext cx="4629150" cy="3655219"/>
          </a:xfrm>
          <a:prstGeom prst="rect">
            <a:avLst/>
          </a:prstGeom>
          <a:noFill/>
          <a:ln>
            <a:noFill/>
          </a:ln>
        </p:spPr>
      </p:sp>
      <p:sp>
        <p:nvSpPr>
          <p:cNvPr id="136" name="Google Shape;136;p30"/>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37" name="Google Shape;137;p3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8" name="Google Shape;138;p3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3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140" name="Shape 140"/>
        <p:cNvGrpSpPr/>
        <p:nvPr/>
      </p:nvGrpSpPr>
      <p:grpSpPr>
        <a:xfrm>
          <a:off x="0" y="0"/>
          <a:ext cx="0" cy="0"/>
          <a:chOff x="0" y="0"/>
          <a:chExt cx="0" cy="0"/>
        </a:xfrm>
      </p:grpSpPr>
      <p:sp>
        <p:nvSpPr>
          <p:cNvPr id="141" name="Google Shape;141;p3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2" name="Google Shape;142;p31"/>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3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 name="Google Shape;144;p3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5" name="Google Shape;145;p3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146" name="Shape 146"/>
        <p:cNvGrpSpPr/>
        <p:nvPr/>
      </p:nvGrpSpPr>
      <p:grpSpPr>
        <a:xfrm>
          <a:off x="0" y="0"/>
          <a:ext cx="0" cy="0"/>
          <a:chOff x="0" y="0"/>
          <a:chExt cx="0" cy="0"/>
        </a:xfrm>
      </p:grpSpPr>
      <p:sp>
        <p:nvSpPr>
          <p:cNvPr id="147" name="Google Shape;147;p32"/>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8" name="Google Shape;148;p32"/>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0" name="Google Shape;150;p3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1" name="Google Shape;151;p3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3.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2" name="Google Shape;72;p19"/>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3" name="Google Shape;73;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4" name="Google Shape;74;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5" name="Google Shape;75;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hyperlink" Target="https://arxiv.org/abs/2309.0618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3"/>
          <p:cNvSpPr txBox="1"/>
          <p:nvPr>
            <p:ph type="title"/>
          </p:nvPr>
        </p:nvSpPr>
        <p:spPr>
          <a:xfrm>
            <a:off x="240743" y="110049"/>
            <a:ext cx="8662500" cy="15813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4100"/>
              <a:buFont typeface="Arial"/>
              <a:buNone/>
            </a:pPr>
            <a:r>
              <a:rPr lang="en" sz="4100"/>
              <a:t>CSE 554 Machine Learning Systems</a:t>
            </a:r>
            <a:endParaRPr sz="4100"/>
          </a:p>
        </p:txBody>
      </p:sp>
      <p:sp>
        <p:nvSpPr>
          <p:cNvPr id="158" name="Google Shape;158;p33"/>
          <p:cNvSpPr txBox="1"/>
          <p:nvPr/>
        </p:nvSpPr>
        <p:spPr>
          <a:xfrm>
            <a:off x="477361" y="2400067"/>
            <a:ext cx="8232300" cy="7665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chemeClr val="lt2"/>
              </a:buClr>
              <a:buSzPts val="1800"/>
              <a:buFont typeface="Encode Sans Black"/>
              <a:buNone/>
            </a:pPr>
            <a:r>
              <a:t/>
            </a:r>
            <a:endParaRPr b="0" i="0" sz="1800" u="none" cap="none" strike="noStrike">
              <a:solidFill>
                <a:schemeClr val="lt2"/>
              </a:solidFill>
              <a:latin typeface="Encode Sans"/>
              <a:ea typeface="Encode Sans"/>
              <a:cs typeface="Encode Sans"/>
              <a:sym typeface="Encode Sans"/>
            </a:endParaRPr>
          </a:p>
        </p:txBody>
      </p:sp>
      <p:sp>
        <p:nvSpPr>
          <p:cNvPr id="159" name="Google Shape;159;p33"/>
          <p:cNvSpPr txBox="1"/>
          <p:nvPr/>
        </p:nvSpPr>
        <p:spPr>
          <a:xfrm>
            <a:off x="352304" y="1687546"/>
            <a:ext cx="8662500" cy="15813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chemeClr val="lt2"/>
              </a:buClr>
              <a:buSzPts val="2100"/>
              <a:buFont typeface="Encode Sans Black"/>
              <a:buNone/>
            </a:pPr>
            <a:r>
              <a:rPr b="0" i="0" lang="en" sz="2100" u="none" cap="none" strike="noStrike">
                <a:solidFill>
                  <a:schemeClr val="lt2"/>
                </a:solidFill>
                <a:latin typeface="Encode Sans Black"/>
                <a:ea typeface="Encode Sans Black"/>
                <a:cs typeface="Encode Sans Black"/>
                <a:sym typeface="Encode Sans Black"/>
              </a:rPr>
              <a:t>Week 1 Lecture 1 </a:t>
            </a:r>
            <a:endParaRPr sz="1100"/>
          </a:p>
        </p:txBody>
      </p:sp>
      <p:sp>
        <p:nvSpPr>
          <p:cNvPr id="160" name="Google Shape;160;p33"/>
          <p:cNvSpPr txBox="1"/>
          <p:nvPr/>
        </p:nvSpPr>
        <p:spPr>
          <a:xfrm>
            <a:off x="434340" y="1691356"/>
            <a:ext cx="8662500" cy="10902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2700"/>
              <a:buFont typeface="Encode Sans Black"/>
              <a:buNone/>
            </a:pPr>
            <a:r>
              <a:rPr lang="en" sz="2700">
                <a:solidFill>
                  <a:schemeClr val="dk1"/>
                </a:solidFill>
              </a:rPr>
              <a:t>Lecture 9 - Memory Management</a:t>
            </a:r>
            <a:endParaRPr sz="2700">
              <a:solidFill>
                <a:schemeClr val="dk1"/>
              </a:solidFill>
            </a:endParaRPr>
          </a:p>
        </p:txBody>
      </p:sp>
      <p:pic>
        <p:nvPicPr>
          <p:cNvPr id="161" name="Google Shape;161;p33"/>
          <p:cNvPicPr preferRelativeResize="0"/>
          <p:nvPr/>
        </p:nvPicPr>
        <p:blipFill rotWithShape="1">
          <a:blip r:embed="rId3">
            <a:alphaModFix/>
          </a:blip>
          <a:srcRect b="0" l="0" r="0" t="0"/>
          <a:stretch/>
        </p:blipFill>
        <p:spPr>
          <a:xfrm>
            <a:off x="4015262" y="3575257"/>
            <a:ext cx="1113465" cy="714082"/>
          </a:xfrm>
          <a:prstGeom prst="rect">
            <a:avLst/>
          </a:prstGeom>
          <a:noFill/>
          <a:ln>
            <a:noFill/>
          </a:ln>
        </p:spPr>
      </p:pic>
      <p:sp>
        <p:nvSpPr>
          <p:cNvPr id="162" name="Google Shape;162;p33"/>
          <p:cNvSpPr txBox="1"/>
          <p:nvPr/>
        </p:nvSpPr>
        <p:spPr>
          <a:xfrm>
            <a:off x="3504650" y="3039475"/>
            <a:ext cx="2177700" cy="4086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2700"/>
              <a:buFont typeface="Encode Sans Black"/>
              <a:buNone/>
            </a:pPr>
            <a:r>
              <a:rPr lang="en" sz="2000">
                <a:solidFill>
                  <a:schemeClr val="dk1"/>
                </a:solidFill>
              </a:rPr>
              <a:t>Baris Kasikci</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solidFill>
                  <a:schemeClr val="dk1"/>
                </a:solidFill>
              </a:rPr>
              <a:t>Class Overview</a:t>
            </a:r>
            <a:endParaRPr/>
          </a:p>
        </p:txBody>
      </p:sp>
      <p:sp>
        <p:nvSpPr>
          <p:cNvPr id="168" name="Google Shape;168;p34"/>
          <p:cNvSpPr txBox="1"/>
          <p:nvPr>
            <p:ph idx="1" type="body"/>
          </p:nvPr>
        </p:nvSpPr>
        <p:spPr>
          <a:xfrm>
            <a:off x="311700" y="1017726"/>
            <a:ext cx="8520600" cy="3904342"/>
          </a:xfrm>
          <a:prstGeom prst="rect">
            <a:avLst/>
          </a:prstGeom>
          <a:noFill/>
          <a:ln>
            <a:noFill/>
          </a:ln>
        </p:spPr>
        <p:txBody>
          <a:bodyPr anchorCtr="0" anchor="t" bIns="68575" lIns="68575" spcFirstLastPara="1" rIns="68575" wrap="square" tIns="68575">
            <a:normAutofit/>
          </a:bodyPr>
          <a:lstStyle/>
          <a:p>
            <a:pPr indent="-381000" lvl="0" marL="495300" rtl="0" algn="l">
              <a:lnSpc>
                <a:spcPct val="90000"/>
              </a:lnSpc>
              <a:spcBef>
                <a:spcPts val="0"/>
              </a:spcBef>
              <a:spcAft>
                <a:spcPts val="0"/>
              </a:spcAft>
              <a:buClr>
                <a:srgbClr val="BFBFBF"/>
              </a:buClr>
              <a:buSzPts val="1400"/>
              <a:buAutoNum type="arabicPeriod"/>
            </a:pPr>
            <a:r>
              <a:rPr lang="en">
                <a:solidFill>
                  <a:srgbClr val="BFBFBF"/>
                </a:solidFill>
              </a:rPr>
              <a:t>GPU Architecture and Programming</a:t>
            </a:r>
            <a:endParaRPr>
              <a:solidFill>
                <a:srgbClr val="BFBFBF"/>
              </a:solidFill>
            </a:endParaRPr>
          </a:p>
          <a:p>
            <a:pPr indent="-381000" lvl="0" marL="495300" rtl="0" algn="l">
              <a:lnSpc>
                <a:spcPct val="90000"/>
              </a:lnSpc>
              <a:spcBef>
                <a:spcPts val="0"/>
              </a:spcBef>
              <a:spcAft>
                <a:spcPts val="0"/>
              </a:spcAft>
              <a:buClr>
                <a:srgbClr val="BFBFBF"/>
              </a:buClr>
              <a:buSzPts val="1400"/>
              <a:buAutoNum type="arabicPeriod"/>
            </a:pPr>
            <a:r>
              <a:rPr lang="en">
                <a:solidFill>
                  <a:srgbClr val="BFBFBF"/>
                </a:solidFill>
              </a:rPr>
              <a:t>Transformers (Architecture and Implementation)  </a:t>
            </a:r>
            <a:endParaRPr>
              <a:solidFill>
                <a:srgbClr val="BFBFBF"/>
              </a:solidFill>
            </a:endParaRPr>
          </a:p>
          <a:p>
            <a:pPr indent="-381000" lvl="0" marL="495300" rtl="0" algn="l">
              <a:lnSpc>
                <a:spcPct val="90000"/>
              </a:lnSpc>
              <a:spcBef>
                <a:spcPts val="0"/>
              </a:spcBef>
              <a:spcAft>
                <a:spcPts val="0"/>
              </a:spcAft>
              <a:buClr>
                <a:srgbClr val="BFBFBF"/>
              </a:buClr>
              <a:buSzPts val="1400"/>
              <a:buAutoNum type="arabicPeriod"/>
            </a:pPr>
            <a:r>
              <a:rPr lang="en">
                <a:solidFill>
                  <a:srgbClr val="BFBFBF"/>
                </a:solidFill>
              </a:rPr>
              <a:t>Performance Modeling   </a:t>
            </a:r>
            <a:endParaRPr/>
          </a:p>
          <a:p>
            <a:pPr indent="-381000" lvl="0" marL="495300" rtl="0" algn="l">
              <a:lnSpc>
                <a:spcPct val="90000"/>
              </a:lnSpc>
              <a:spcBef>
                <a:spcPts val="0"/>
              </a:spcBef>
              <a:spcAft>
                <a:spcPts val="0"/>
              </a:spcAft>
              <a:buClr>
                <a:srgbClr val="BFBFBF"/>
              </a:buClr>
              <a:buSzPts val="1400"/>
              <a:buAutoNum type="arabicPeriod"/>
            </a:pPr>
            <a:r>
              <a:rPr lang="en">
                <a:solidFill>
                  <a:srgbClr val="BFBFBF"/>
                </a:solidFill>
              </a:rPr>
              <a:t>Quantization</a:t>
            </a:r>
            <a:endParaRPr/>
          </a:p>
          <a:p>
            <a:pPr indent="-381000" lvl="0" marL="495300" rtl="0" algn="l">
              <a:lnSpc>
                <a:spcPct val="90000"/>
              </a:lnSpc>
              <a:spcBef>
                <a:spcPts val="0"/>
              </a:spcBef>
              <a:spcAft>
                <a:spcPts val="0"/>
              </a:spcAft>
              <a:buClr>
                <a:schemeClr val="dk1"/>
              </a:buClr>
              <a:buSzPts val="1400"/>
              <a:buAutoNum type="arabicPeriod"/>
            </a:pPr>
            <a:r>
              <a:rPr b="1" lang="en"/>
              <a:t>Memory Management</a:t>
            </a:r>
            <a:endParaRPr b="1"/>
          </a:p>
          <a:p>
            <a:pPr indent="-381000" lvl="0" marL="495300" rtl="0" algn="l">
              <a:lnSpc>
                <a:spcPct val="90000"/>
              </a:lnSpc>
              <a:spcBef>
                <a:spcPts val="0"/>
              </a:spcBef>
              <a:spcAft>
                <a:spcPts val="0"/>
              </a:spcAft>
              <a:buSzPts val="1400"/>
              <a:buAutoNum type="arabicPeriod"/>
            </a:pPr>
            <a:r>
              <a:rPr lang="en"/>
              <a:t>NVIDIA Blackwell Architecture</a:t>
            </a:r>
            <a:endParaRPr/>
          </a:p>
          <a:p>
            <a:pPr indent="-381000" lvl="0" marL="495300" rtl="0" algn="l">
              <a:lnSpc>
                <a:spcPct val="90000"/>
              </a:lnSpc>
              <a:spcBef>
                <a:spcPts val="0"/>
              </a:spcBef>
              <a:spcAft>
                <a:spcPts val="0"/>
              </a:spcAft>
              <a:buClr>
                <a:schemeClr val="dk1"/>
              </a:buClr>
              <a:buSzPts val="1400"/>
              <a:buFont typeface="Arial"/>
              <a:buAutoNum type="arabicPeriod"/>
            </a:pPr>
            <a:r>
              <a:rPr lang="en"/>
              <a:t>Sparsity</a:t>
            </a:r>
            <a:endParaRPr/>
          </a:p>
          <a:p>
            <a:pPr indent="-381000" lvl="0" marL="495300" rtl="0" algn="l">
              <a:lnSpc>
                <a:spcPct val="90000"/>
              </a:lnSpc>
              <a:spcBef>
                <a:spcPts val="0"/>
              </a:spcBef>
              <a:spcAft>
                <a:spcPts val="0"/>
              </a:spcAft>
              <a:buClr>
                <a:schemeClr val="dk1"/>
              </a:buClr>
              <a:buSzPts val="1400"/>
              <a:buAutoNum type="arabicPeriod"/>
            </a:pPr>
            <a:r>
              <a:rPr lang="en"/>
              <a:t>Mixture of Experts (MoE)</a:t>
            </a:r>
            <a:endParaRPr/>
          </a:p>
          <a:p>
            <a:pPr indent="-381000" lvl="0" marL="495300" rtl="0" algn="l">
              <a:lnSpc>
                <a:spcPct val="90000"/>
              </a:lnSpc>
              <a:spcBef>
                <a:spcPts val="0"/>
              </a:spcBef>
              <a:spcAft>
                <a:spcPts val="0"/>
              </a:spcAft>
              <a:buClr>
                <a:schemeClr val="dk1"/>
              </a:buClr>
              <a:buSzPts val="1400"/>
              <a:buAutoNum type="arabicPeriod"/>
            </a:pPr>
            <a:r>
              <a:rPr lang="en"/>
              <a:t>Batching</a:t>
            </a:r>
            <a:endParaRPr/>
          </a:p>
          <a:p>
            <a:pPr indent="-381000" lvl="0" marL="495300" rtl="0" algn="l">
              <a:lnSpc>
                <a:spcPct val="90000"/>
              </a:lnSpc>
              <a:spcBef>
                <a:spcPts val="0"/>
              </a:spcBef>
              <a:spcAft>
                <a:spcPts val="0"/>
              </a:spcAft>
              <a:buClr>
                <a:schemeClr val="dk1"/>
              </a:buClr>
              <a:buSzPts val="1400"/>
              <a:buAutoNum type="arabicPeriod"/>
            </a:pPr>
            <a:r>
              <a:rPr lang="en"/>
              <a:t>Speculative decoding</a:t>
            </a:r>
            <a:endParaRPr/>
          </a:p>
          <a:p>
            <a:pPr indent="-381000" lvl="0" marL="495300" rtl="0" algn="l">
              <a:lnSpc>
                <a:spcPct val="90000"/>
              </a:lnSpc>
              <a:spcBef>
                <a:spcPts val="0"/>
              </a:spcBef>
              <a:spcAft>
                <a:spcPts val="0"/>
              </a:spcAft>
              <a:buClr>
                <a:schemeClr val="dk1"/>
              </a:buClr>
              <a:buSzPts val="1400"/>
              <a:buAutoNum type="arabicPeriod"/>
            </a:pPr>
            <a:r>
              <a:rPr lang="en"/>
              <a:t>Parallelism</a:t>
            </a:r>
            <a:endParaRPr/>
          </a:p>
          <a:p>
            <a:pPr indent="-381000" lvl="0" marL="495300" rtl="0" algn="l">
              <a:lnSpc>
                <a:spcPct val="90000"/>
              </a:lnSpc>
              <a:spcBef>
                <a:spcPts val="0"/>
              </a:spcBef>
              <a:spcAft>
                <a:spcPts val="0"/>
              </a:spcAft>
              <a:buClr>
                <a:schemeClr val="dk1"/>
              </a:buClr>
              <a:buSzPts val="1400"/>
              <a:buAutoNum type="arabicPeriod"/>
            </a:pPr>
            <a:r>
              <a:rPr lang="en"/>
              <a:t>End-to-end serving </a:t>
            </a:r>
            <a:endParaRPr/>
          </a:p>
          <a:p>
            <a:pPr indent="-381000" lvl="0" marL="495300" rtl="0" algn="l">
              <a:lnSpc>
                <a:spcPct val="90000"/>
              </a:lnSpc>
              <a:spcBef>
                <a:spcPts val="0"/>
              </a:spcBef>
              <a:spcAft>
                <a:spcPts val="0"/>
              </a:spcAft>
              <a:buClr>
                <a:schemeClr val="dk1"/>
              </a:buClr>
              <a:buSzPts val="1400"/>
              <a:buAutoNum type="arabicPeriod"/>
            </a:pPr>
            <a:r>
              <a:rPr lang="en"/>
              <a:t>Agentic systems</a:t>
            </a:r>
            <a:endParaRPr/>
          </a:p>
        </p:txBody>
      </p:sp>
      <p:sp>
        <p:nvSpPr>
          <p:cNvPr id="169" name="Google Shape;169;p34"/>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Calculating the KV cache size	</a:t>
            </a:r>
            <a:endParaRPr/>
          </a:p>
        </p:txBody>
      </p:sp>
      <p:sp>
        <p:nvSpPr>
          <p:cNvPr id="175" name="Google Shape;175;p35"/>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Num KV heads </a:t>
            </a:r>
            <a:endParaRPr/>
          </a:p>
          <a:p>
            <a:pPr indent="-342900" lvl="0" marL="457200" rtl="0" algn="l">
              <a:lnSpc>
                <a:spcPct val="90000"/>
              </a:lnSpc>
              <a:spcBef>
                <a:spcPts val="0"/>
              </a:spcBef>
              <a:spcAft>
                <a:spcPts val="0"/>
              </a:spcAft>
              <a:buClr>
                <a:schemeClr val="dk1"/>
              </a:buClr>
              <a:buSzPts val="1400"/>
              <a:buChar char="●"/>
            </a:pPr>
            <a:r>
              <a:rPr lang="en"/>
              <a:t>Head Dim</a:t>
            </a:r>
            <a:endParaRPr/>
          </a:p>
          <a:p>
            <a:pPr indent="-342900" lvl="0" marL="457200" rtl="0" algn="l">
              <a:lnSpc>
                <a:spcPct val="90000"/>
              </a:lnSpc>
              <a:spcBef>
                <a:spcPts val="0"/>
              </a:spcBef>
              <a:spcAft>
                <a:spcPts val="0"/>
              </a:spcAft>
              <a:buClr>
                <a:schemeClr val="dk1"/>
              </a:buClr>
              <a:buSzPts val="1400"/>
              <a:buChar char="●"/>
            </a:pPr>
            <a:r>
              <a:rPr lang="en"/>
              <a:t>2 (stores both K and V)</a:t>
            </a:r>
            <a:endParaRPr/>
          </a:p>
          <a:p>
            <a:pPr indent="-342900" lvl="0" marL="457200" rtl="0" algn="l">
              <a:lnSpc>
                <a:spcPct val="90000"/>
              </a:lnSpc>
              <a:spcBef>
                <a:spcPts val="0"/>
              </a:spcBef>
              <a:spcAft>
                <a:spcPts val="0"/>
              </a:spcAft>
              <a:buClr>
                <a:schemeClr val="dk1"/>
              </a:buClr>
              <a:buSzPts val="1400"/>
              <a:buChar char="●"/>
            </a:pPr>
            <a:r>
              <a:rPr lang="en"/>
              <a:t>Stype (2 Bytes)</a:t>
            </a:r>
            <a:endParaRPr/>
          </a:p>
          <a:p>
            <a:pPr indent="-342900" lvl="0" marL="457200" rtl="0" algn="l">
              <a:lnSpc>
                <a:spcPct val="90000"/>
              </a:lnSpc>
              <a:spcBef>
                <a:spcPts val="0"/>
              </a:spcBef>
              <a:spcAft>
                <a:spcPts val="0"/>
              </a:spcAft>
              <a:buClr>
                <a:schemeClr val="dk1"/>
              </a:buClr>
              <a:buSzPts val="1400"/>
              <a:buChar char="●"/>
            </a:pPr>
            <a:r>
              <a:rPr lang="en"/>
              <a:t>Seqlen</a:t>
            </a:r>
            <a:endParaRPr/>
          </a:p>
          <a:p>
            <a:pPr indent="-342900" lvl="0" marL="457200" rtl="0" algn="l">
              <a:lnSpc>
                <a:spcPct val="90000"/>
              </a:lnSpc>
              <a:spcBef>
                <a:spcPts val="0"/>
              </a:spcBef>
              <a:spcAft>
                <a:spcPts val="0"/>
              </a:spcAft>
              <a:buClr>
                <a:schemeClr val="dk1"/>
              </a:buClr>
              <a:buSzPts val="1400"/>
              <a:buChar char="●"/>
            </a:pPr>
            <a:r>
              <a:rPr lang="en"/>
              <a:t>Layer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Batch Size is limited by the KV Cache </a:t>
            </a:r>
            <a:endParaRPr/>
          </a:p>
        </p:txBody>
      </p:sp>
      <p:sp>
        <p:nvSpPr>
          <p:cNvPr id="181" name="Google Shape;181;p36"/>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Serving Llama3-8B model using H100 -&gt; 80GB in total</a:t>
            </a:r>
            <a:endParaRPr/>
          </a:p>
          <a:p>
            <a:pPr indent="-342900" lvl="0" marL="457200" rtl="0" algn="l">
              <a:lnSpc>
                <a:spcPct val="90000"/>
              </a:lnSpc>
              <a:spcBef>
                <a:spcPts val="0"/>
              </a:spcBef>
              <a:spcAft>
                <a:spcPts val="0"/>
              </a:spcAft>
              <a:buClr>
                <a:schemeClr val="dk1"/>
              </a:buClr>
              <a:buSzPts val="1400"/>
              <a:buChar char="●"/>
            </a:pPr>
            <a:r>
              <a:rPr lang="en"/>
              <a:t>Model weights 2*8=16GB</a:t>
            </a:r>
            <a:endParaRPr/>
          </a:p>
          <a:p>
            <a:pPr indent="-342900" lvl="0" marL="457200" rtl="0" algn="l">
              <a:lnSpc>
                <a:spcPct val="90000"/>
              </a:lnSpc>
              <a:spcBef>
                <a:spcPts val="0"/>
              </a:spcBef>
              <a:spcAft>
                <a:spcPts val="0"/>
              </a:spcAft>
              <a:buClr>
                <a:schemeClr val="dk1"/>
              </a:buClr>
              <a:buSzPts val="1400"/>
              <a:buChar char="●"/>
            </a:pPr>
            <a:r>
              <a:rPr lang="en"/>
              <a:t>Activations are negligible</a:t>
            </a:r>
            <a:endParaRPr/>
          </a:p>
          <a:p>
            <a:pPr indent="-342900" lvl="0" marL="457200" rtl="0" algn="l">
              <a:lnSpc>
                <a:spcPct val="90000"/>
              </a:lnSpc>
              <a:spcBef>
                <a:spcPts val="0"/>
              </a:spcBef>
              <a:spcAft>
                <a:spcPts val="0"/>
              </a:spcAft>
              <a:buClr>
                <a:schemeClr val="dk1"/>
              </a:buClr>
              <a:buSzPts val="1400"/>
              <a:buChar char="●"/>
            </a:pPr>
            <a:r>
              <a:rPr lang="en"/>
              <a:t>1024 input, 1024 output</a:t>
            </a:r>
            <a:endParaRPr/>
          </a:p>
          <a:p>
            <a:pPr indent="-342900" lvl="0" marL="457200" rtl="0" algn="l">
              <a:lnSpc>
                <a:spcPct val="90000"/>
              </a:lnSpc>
              <a:spcBef>
                <a:spcPts val="0"/>
              </a:spcBef>
              <a:spcAft>
                <a:spcPts val="0"/>
              </a:spcAft>
              <a:buClr>
                <a:schemeClr val="dk1"/>
              </a:buClr>
              <a:buSzPts val="1400"/>
              <a:buChar char="●"/>
            </a:pPr>
            <a:r>
              <a:rPr lang="en"/>
              <a:t>Each request’s KV cache</a:t>
            </a:r>
            <a:endParaRPr/>
          </a:p>
          <a:p>
            <a:pPr indent="-323850" lvl="1" marL="914400" rtl="0" algn="l">
              <a:lnSpc>
                <a:spcPct val="90000"/>
              </a:lnSpc>
              <a:spcBef>
                <a:spcPts val="0"/>
              </a:spcBef>
              <a:spcAft>
                <a:spcPts val="0"/>
              </a:spcAft>
              <a:buClr>
                <a:schemeClr val="dk1"/>
              </a:buClr>
              <a:buSzPts val="1100"/>
              <a:buChar char="○"/>
            </a:pPr>
            <a:r>
              <a:rPr lang="en"/>
              <a:t>(1024 + 1024 / 2) * 2 * 2 * 8 * 128 * 32 / 1024 / 1024 = 192 MB</a:t>
            </a:r>
            <a:endParaRPr/>
          </a:p>
          <a:p>
            <a:pPr indent="-342900" lvl="0" marL="457200" rtl="0" algn="l">
              <a:lnSpc>
                <a:spcPct val="90000"/>
              </a:lnSpc>
              <a:spcBef>
                <a:spcPts val="0"/>
              </a:spcBef>
              <a:spcAft>
                <a:spcPts val="0"/>
              </a:spcAft>
              <a:buClr>
                <a:schemeClr val="dk1"/>
              </a:buClr>
              <a:buSzPts val="1400"/>
              <a:buChar char="●"/>
            </a:pPr>
            <a:r>
              <a:rPr lang="en"/>
              <a:t>Max possible batch size</a:t>
            </a:r>
            <a:endParaRPr/>
          </a:p>
          <a:p>
            <a:pPr indent="-323850" lvl="1" marL="914400" rtl="0" algn="l">
              <a:lnSpc>
                <a:spcPct val="90000"/>
              </a:lnSpc>
              <a:spcBef>
                <a:spcPts val="0"/>
              </a:spcBef>
              <a:spcAft>
                <a:spcPts val="0"/>
              </a:spcAft>
              <a:buClr>
                <a:schemeClr val="dk1"/>
              </a:buClr>
              <a:buSzPts val="1100"/>
              <a:buChar char="○"/>
            </a:pPr>
            <a:r>
              <a:rPr lang="en"/>
              <a:t>(80 – 16 ) / (192 / 1024) = 341</a:t>
            </a:r>
            <a:endParaRPr/>
          </a:p>
          <a:p>
            <a:pPr indent="-323850" lvl="2" marL="1371600" rtl="0" algn="l">
              <a:lnSpc>
                <a:spcPct val="90000"/>
              </a:lnSpc>
              <a:spcBef>
                <a:spcPts val="0"/>
              </a:spcBef>
              <a:spcAft>
                <a:spcPts val="0"/>
              </a:spcAft>
              <a:buClr>
                <a:schemeClr val="dk1"/>
              </a:buClr>
              <a:buSzPts val="1100"/>
              <a:buChar char="■"/>
            </a:pPr>
            <a:r>
              <a:rPr lang="en"/>
              <a:t>Recall: batch size of 333 was needed to drive H100 to the compute-bound regime</a:t>
            </a:r>
            <a:endParaRPr/>
          </a:p>
          <a:p>
            <a:pPr indent="-254000" lvl="1" marL="914400" rtl="0" algn="l">
              <a:lnSpc>
                <a:spcPct val="90000"/>
              </a:lnSpc>
              <a:spcBef>
                <a:spcPts val="0"/>
              </a:spcBef>
              <a:spcAft>
                <a:spcPts val="0"/>
              </a:spcAft>
              <a:buClr>
                <a:schemeClr val="dk1"/>
              </a:buClr>
              <a:buSzPts val="1100"/>
              <a:buNone/>
            </a:pPr>
            <a:r>
              <a:t/>
            </a:r>
            <a:endParaRPr/>
          </a:p>
        </p:txBody>
      </p:sp>
      <p:sp>
        <p:nvSpPr>
          <p:cNvPr id="182" name="Google Shape;182;p36"/>
          <p:cNvSpPr txBox="1"/>
          <p:nvPr/>
        </p:nvSpPr>
        <p:spPr>
          <a:xfrm>
            <a:off x="922020" y="4065270"/>
            <a:ext cx="7227600" cy="807900"/>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2400" u="none" cap="none" strike="noStrike">
                <a:solidFill>
                  <a:srgbClr val="33006F"/>
                </a:solidFill>
                <a:latin typeface="Arial"/>
                <a:ea typeface="Arial"/>
                <a:cs typeface="Arial"/>
                <a:sym typeface="Arial"/>
              </a:rPr>
              <a:t>We should fully utilize the GPU memory capacity to enlarge the batch size</a:t>
            </a:r>
            <a:endParaRPr b="0" i="0" sz="2400" u="none" cap="none" strike="noStrike">
              <a:solidFill>
                <a:srgbClr val="33006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Requests with different lengths</a:t>
            </a:r>
            <a:endParaRPr/>
          </a:p>
        </p:txBody>
      </p:sp>
      <p:sp>
        <p:nvSpPr>
          <p:cNvPr id="188" name="Google Shape;188;p37"/>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Serving Llama3-8B model using H100 -&gt; 80GB in total</a:t>
            </a:r>
            <a:endParaRPr/>
          </a:p>
          <a:p>
            <a:pPr indent="-342900" lvl="0" marL="457200" rtl="0" algn="l">
              <a:lnSpc>
                <a:spcPct val="90000"/>
              </a:lnSpc>
              <a:spcBef>
                <a:spcPts val="0"/>
              </a:spcBef>
              <a:spcAft>
                <a:spcPts val="0"/>
              </a:spcAft>
              <a:buClr>
                <a:schemeClr val="dk1"/>
              </a:buClr>
              <a:buSzPts val="1400"/>
              <a:buChar char="●"/>
            </a:pPr>
            <a:r>
              <a:rPr lang="en"/>
              <a:t>Model weights 2*8=16GB</a:t>
            </a:r>
            <a:endParaRPr/>
          </a:p>
          <a:p>
            <a:pPr indent="-342900" lvl="0" marL="457200" rtl="0" algn="l">
              <a:lnSpc>
                <a:spcPct val="90000"/>
              </a:lnSpc>
              <a:spcBef>
                <a:spcPts val="0"/>
              </a:spcBef>
              <a:spcAft>
                <a:spcPts val="0"/>
              </a:spcAft>
              <a:buClr>
                <a:schemeClr val="dk1"/>
              </a:buClr>
              <a:buSzPts val="1400"/>
              <a:buChar char="●"/>
            </a:pPr>
            <a:r>
              <a:rPr lang="en"/>
              <a:t>1024 input, 50% 1024 output, 50% 4096 output</a:t>
            </a:r>
            <a:endParaRPr/>
          </a:p>
          <a:p>
            <a:pPr indent="-342900" lvl="0" marL="457200" rtl="0" algn="l">
              <a:lnSpc>
                <a:spcPct val="90000"/>
              </a:lnSpc>
              <a:spcBef>
                <a:spcPts val="0"/>
              </a:spcBef>
              <a:spcAft>
                <a:spcPts val="0"/>
              </a:spcAft>
              <a:buClr>
                <a:schemeClr val="dk1"/>
              </a:buClr>
              <a:buSzPts val="1400"/>
              <a:buChar char="●"/>
            </a:pPr>
            <a:r>
              <a:rPr lang="en"/>
              <a:t>Each request’s KV cache</a:t>
            </a:r>
            <a:endParaRPr/>
          </a:p>
          <a:p>
            <a:pPr indent="-323850" lvl="1" marL="914400" rtl="0" algn="l">
              <a:lnSpc>
                <a:spcPct val="90000"/>
              </a:lnSpc>
              <a:spcBef>
                <a:spcPts val="0"/>
              </a:spcBef>
              <a:spcAft>
                <a:spcPts val="0"/>
              </a:spcAft>
              <a:buClr>
                <a:schemeClr val="dk1"/>
              </a:buClr>
              <a:buSzPts val="1100"/>
              <a:buChar char="○"/>
            </a:pPr>
            <a:r>
              <a:rPr lang="en"/>
              <a:t>Min = (1024 + 1024 / 2) * 2 * 2 * 8 * 128 * 32 / 1024 / 1024 = 192 MB</a:t>
            </a:r>
            <a:endParaRPr/>
          </a:p>
          <a:p>
            <a:pPr indent="-323850" lvl="1" marL="914400" rtl="0" algn="l">
              <a:lnSpc>
                <a:spcPct val="90000"/>
              </a:lnSpc>
              <a:spcBef>
                <a:spcPts val="0"/>
              </a:spcBef>
              <a:spcAft>
                <a:spcPts val="0"/>
              </a:spcAft>
              <a:buClr>
                <a:schemeClr val="dk1"/>
              </a:buClr>
              <a:buSzPts val="1100"/>
              <a:buChar char="○"/>
            </a:pPr>
            <a:r>
              <a:rPr lang="en"/>
              <a:t>Max = (1024 + 4096 / 2) * 2 * 2 * 8 * 128 * 32 / 1024 / 1024 = 384 MB</a:t>
            </a:r>
            <a:endParaRPr/>
          </a:p>
          <a:p>
            <a:pPr indent="-254000" lvl="1" marL="914400" rtl="0" algn="l">
              <a:lnSpc>
                <a:spcPct val="90000"/>
              </a:lnSpc>
              <a:spcBef>
                <a:spcPts val="0"/>
              </a:spcBef>
              <a:spcAft>
                <a:spcPts val="0"/>
              </a:spcAft>
              <a:buClr>
                <a:schemeClr val="dk1"/>
              </a:buClr>
              <a:buSzPts val="1100"/>
              <a:buNone/>
            </a:pPr>
            <a:r>
              <a:t/>
            </a:r>
            <a:endParaRPr/>
          </a:p>
        </p:txBody>
      </p:sp>
      <p:sp>
        <p:nvSpPr>
          <p:cNvPr id="189" name="Google Shape;189;p37"/>
          <p:cNvSpPr txBox="1"/>
          <p:nvPr/>
        </p:nvSpPr>
        <p:spPr>
          <a:xfrm>
            <a:off x="-100" y="4023350"/>
            <a:ext cx="9144000" cy="1177500"/>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2400" u="none" cap="none" strike="noStrike">
                <a:solidFill>
                  <a:srgbClr val="33006F"/>
                </a:solidFill>
                <a:latin typeface="Arial"/>
                <a:ea typeface="Arial"/>
                <a:cs typeface="Arial"/>
                <a:sym typeface="Arial"/>
              </a:rPr>
              <a:t>How to allocate the KV cache for requests with different lengths? (Note that before you are done decoding, you don</a:t>
            </a:r>
            <a:r>
              <a:rPr lang="en" sz="2400">
                <a:solidFill>
                  <a:srgbClr val="33006F"/>
                </a:solidFill>
              </a:rPr>
              <a:t>’t know the decoding length</a:t>
            </a:r>
            <a:r>
              <a:rPr b="0" i="0" lang="en" sz="2400" u="none" cap="none" strike="noStrike">
                <a:solidFill>
                  <a:srgbClr val="33006F"/>
                </a:solidFill>
                <a:latin typeface="Arial"/>
                <a:ea typeface="Arial"/>
                <a:cs typeface="Arial"/>
                <a:sym typeface="Arial"/>
              </a:rPr>
              <a:t>)</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Allocation Method 1 – Fixed Max seq_len</a:t>
            </a:r>
            <a:endParaRPr/>
          </a:p>
        </p:txBody>
      </p:sp>
      <p:sp>
        <p:nvSpPr>
          <p:cNvPr id="195" name="Google Shape;195;p38"/>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Allocate the KV cache for each request using the max sequence length the model supports</a:t>
            </a:r>
            <a:endParaRPr/>
          </a:p>
        </p:txBody>
      </p:sp>
      <p:sp>
        <p:nvSpPr>
          <p:cNvPr id="196" name="Google Shape;196;p38"/>
          <p:cNvSpPr/>
          <p:nvPr/>
        </p:nvSpPr>
        <p:spPr>
          <a:xfrm>
            <a:off x="457200" y="2571750"/>
            <a:ext cx="8107680" cy="77343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7" name="Google Shape;197;p38"/>
          <p:cNvSpPr txBox="1"/>
          <p:nvPr/>
        </p:nvSpPr>
        <p:spPr>
          <a:xfrm>
            <a:off x="3387090" y="2186940"/>
            <a:ext cx="252603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GPU memory</a:t>
            </a:r>
            <a:endParaRPr b="0" i="0" sz="1400" u="none" cap="none" strike="noStrike">
              <a:solidFill>
                <a:schemeClr val="dk1"/>
              </a:solidFill>
              <a:latin typeface="Arial"/>
              <a:ea typeface="Arial"/>
              <a:cs typeface="Arial"/>
              <a:sym typeface="Arial"/>
            </a:endParaRPr>
          </a:p>
        </p:txBody>
      </p:sp>
      <p:sp>
        <p:nvSpPr>
          <p:cNvPr id="198" name="Google Shape;198;p38"/>
          <p:cNvSpPr/>
          <p:nvPr/>
        </p:nvSpPr>
        <p:spPr>
          <a:xfrm>
            <a:off x="45720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38"/>
          <p:cNvSpPr/>
          <p:nvPr/>
        </p:nvSpPr>
        <p:spPr>
          <a:xfrm>
            <a:off x="161544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0" name="Google Shape;200;p38"/>
          <p:cNvSpPr/>
          <p:nvPr/>
        </p:nvSpPr>
        <p:spPr>
          <a:xfrm>
            <a:off x="277368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1" name="Google Shape;201;p38"/>
          <p:cNvSpPr/>
          <p:nvPr/>
        </p:nvSpPr>
        <p:spPr>
          <a:xfrm>
            <a:off x="393192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2" name="Google Shape;202;p38"/>
          <p:cNvSpPr txBox="1"/>
          <p:nvPr/>
        </p:nvSpPr>
        <p:spPr>
          <a:xfrm>
            <a:off x="544830" y="334518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0</a:t>
            </a:r>
            <a:endParaRPr b="0" i="0" sz="1400" u="none" cap="none" strike="noStrike">
              <a:solidFill>
                <a:schemeClr val="dk1"/>
              </a:solidFill>
              <a:latin typeface="Arial"/>
              <a:ea typeface="Arial"/>
              <a:cs typeface="Arial"/>
              <a:sym typeface="Arial"/>
            </a:endParaRPr>
          </a:p>
        </p:txBody>
      </p:sp>
      <p:sp>
        <p:nvSpPr>
          <p:cNvPr id="203" name="Google Shape;203;p38"/>
          <p:cNvSpPr txBox="1"/>
          <p:nvPr/>
        </p:nvSpPr>
        <p:spPr>
          <a:xfrm>
            <a:off x="1752600" y="334143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1</a:t>
            </a:r>
            <a:endParaRPr b="0" i="0" sz="1400" u="none" cap="none" strike="noStrike">
              <a:solidFill>
                <a:schemeClr val="dk1"/>
              </a:solidFill>
              <a:latin typeface="Arial"/>
              <a:ea typeface="Arial"/>
              <a:cs typeface="Arial"/>
              <a:sym typeface="Arial"/>
            </a:endParaRPr>
          </a:p>
        </p:txBody>
      </p:sp>
      <p:sp>
        <p:nvSpPr>
          <p:cNvPr id="204" name="Google Shape;204;p38"/>
          <p:cNvSpPr txBox="1"/>
          <p:nvPr/>
        </p:nvSpPr>
        <p:spPr>
          <a:xfrm>
            <a:off x="2910840" y="334143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2</a:t>
            </a:r>
            <a:endParaRPr b="0" i="0" sz="1400" u="none" cap="none" strike="noStrike">
              <a:solidFill>
                <a:schemeClr val="dk1"/>
              </a:solidFill>
              <a:latin typeface="Arial"/>
              <a:ea typeface="Arial"/>
              <a:cs typeface="Arial"/>
              <a:sym typeface="Arial"/>
            </a:endParaRPr>
          </a:p>
        </p:txBody>
      </p:sp>
      <p:sp>
        <p:nvSpPr>
          <p:cNvPr id="205" name="Google Shape;205;p38"/>
          <p:cNvSpPr txBox="1"/>
          <p:nvPr/>
        </p:nvSpPr>
        <p:spPr>
          <a:xfrm>
            <a:off x="4069080" y="334143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3</a:t>
            </a:r>
            <a:endParaRPr b="0" i="0" sz="1400" u="none" cap="none" strike="noStrike">
              <a:solidFill>
                <a:schemeClr val="dk1"/>
              </a:solidFill>
              <a:latin typeface="Arial"/>
              <a:ea typeface="Arial"/>
              <a:cs typeface="Arial"/>
              <a:sym typeface="Arial"/>
            </a:endParaRPr>
          </a:p>
        </p:txBody>
      </p:sp>
      <p:sp>
        <p:nvSpPr>
          <p:cNvPr id="206" name="Google Shape;206;p38"/>
          <p:cNvSpPr/>
          <p:nvPr/>
        </p:nvSpPr>
        <p:spPr>
          <a:xfrm>
            <a:off x="5095875" y="2568000"/>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7" name="Google Shape;207;p38"/>
          <p:cNvSpPr/>
          <p:nvPr/>
        </p:nvSpPr>
        <p:spPr>
          <a:xfrm>
            <a:off x="6248400" y="2571750"/>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 name="Google Shape;208;p38"/>
          <p:cNvSpPr/>
          <p:nvPr/>
        </p:nvSpPr>
        <p:spPr>
          <a:xfrm>
            <a:off x="7406640" y="2571750"/>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9" name="Google Shape;209;p38"/>
          <p:cNvSpPr/>
          <p:nvPr/>
        </p:nvSpPr>
        <p:spPr>
          <a:xfrm>
            <a:off x="45720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0" name="Google Shape;210;p38"/>
          <p:cNvSpPr/>
          <p:nvPr/>
        </p:nvSpPr>
        <p:spPr>
          <a:xfrm>
            <a:off x="161544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1" name="Google Shape;211;p38"/>
          <p:cNvSpPr/>
          <p:nvPr/>
        </p:nvSpPr>
        <p:spPr>
          <a:xfrm>
            <a:off x="278130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2" name="Google Shape;212;p38"/>
          <p:cNvSpPr/>
          <p:nvPr/>
        </p:nvSpPr>
        <p:spPr>
          <a:xfrm>
            <a:off x="393192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3" name="Google Shape;213;p38"/>
          <p:cNvSpPr/>
          <p:nvPr/>
        </p:nvSpPr>
        <p:spPr>
          <a:xfrm>
            <a:off x="55054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4" name="Google Shape;214;p38"/>
          <p:cNvSpPr/>
          <p:nvPr/>
        </p:nvSpPr>
        <p:spPr>
          <a:xfrm>
            <a:off x="170878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5" name="Google Shape;215;p38"/>
          <p:cNvSpPr/>
          <p:nvPr/>
        </p:nvSpPr>
        <p:spPr>
          <a:xfrm>
            <a:off x="287464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6" name="Google Shape;216;p38"/>
          <p:cNvSpPr/>
          <p:nvPr/>
        </p:nvSpPr>
        <p:spPr>
          <a:xfrm>
            <a:off x="402526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7" name="Google Shape;217;p38"/>
          <p:cNvSpPr/>
          <p:nvPr/>
        </p:nvSpPr>
        <p:spPr>
          <a:xfrm>
            <a:off x="64389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8" name="Google Shape;218;p38"/>
          <p:cNvSpPr/>
          <p:nvPr/>
        </p:nvSpPr>
        <p:spPr>
          <a:xfrm>
            <a:off x="180213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9" name="Google Shape;219;p38"/>
          <p:cNvSpPr/>
          <p:nvPr/>
        </p:nvSpPr>
        <p:spPr>
          <a:xfrm>
            <a:off x="296799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0" name="Google Shape;220;p38"/>
          <p:cNvSpPr/>
          <p:nvPr/>
        </p:nvSpPr>
        <p:spPr>
          <a:xfrm>
            <a:off x="411861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1" name="Google Shape;221;p38"/>
          <p:cNvSpPr/>
          <p:nvPr/>
        </p:nvSpPr>
        <p:spPr>
          <a:xfrm>
            <a:off x="74295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2" name="Google Shape;222;p38"/>
          <p:cNvSpPr/>
          <p:nvPr/>
        </p:nvSpPr>
        <p:spPr>
          <a:xfrm>
            <a:off x="190119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3" name="Google Shape;223;p38"/>
          <p:cNvSpPr/>
          <p:nvPr/>
        </p:nvSpPr>
        <p:spPr>
          <a:xfrm>
            <a:off x="306705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4" name="Google Shape;224;p38"/>
          <p:cNvSpPr/>
          <p:nvPr/>
        </p:nvSpPr>
        <p:spPr>
          <a:xfrm>
            <a:off x="421767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5" name="Google Shape;225;p38"/>
          <p:cNvSpPr txBox="1"/>
          <p:nvPr/>
        </p:nvSpPr>
        <p:spPr>
          <a:xfrm>
            <a:off x="544830" y="3618429"/>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Finished!</a:t>
            </a:r>
            <a:endParaRPr b="0" i="0" sz="1400" u="none" cap="none" strike="noStrike">
              <a:solidFill>
                <a:schemeClr val="dk1"/>
              </a:solidFill>
              <a:latin typeface="Arial"/>
              <a:ea typeface="Arial"/>
              <a:cs typeface="Arial"/>
              <a:sym typeface="Arial"/>
            </a:endParaRPr>
          </a:p>
        </p:txBody>
      </p:sp>
      <p:sp>
        <p:nvSpPr>
          <p:cNvPr id="226" name="Google Shape;226;p38"/>
          <p:cNvSpPr/>
          <p:nvPr/>
        </p:nvSpPr>
        <p:spPr>
          <a:xfrm>
            <a:off x="451485" y="2568000"/>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par>
                                <p:cTn fill="hold" nodeType="with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8"/>
                                        </p:tgtEl>
                                      </p:cBhvr>
                                    </p:animEffect>
                                    <p:set>
                                      <p:cBhvr>
                                        <p:cTn dur="1" fill="hold">
                                          <p:stCondLst>
                                            <p:cond delay="500"/>
                                          </p:stCondLst>
                                        </p:cTn>
                                        <p:tgtEl>
                                          <p:spTgt spid="19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9"/>
                                        </p:tgtEl>
                                      </p:cBhvr>
                                    </p:animEffect>
                                    <p:set>
                                      <p:cBhvr>
                                        <p:cTn dur="1" fill="hold">
                                          <p:stCondLst>
                                            <p:cond delay="500"/>
                                          </p:stCondLst>
                                        </p:cTn>
                                        <p:tgtEl>
                                          <p:spTgt spid="2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13"/>
                                        </p:tgtEl>
                                      </p:cBhvr>
                                    </p:animEffect>
                                    <p:set>
                                      <p:cBhvr>
                                        <p:cTn dur="1" fill="hold">
                                          <p:stCondLst>
                                            <p:cond delay="500"/>
                                          </p:stCondLst>
                                        </p:cTn>
                                        <p:tgtEl>
                                          <p:spTgt spid="21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17"/>
                                        </p:tgtEl>
                                      </p:cBhvr>
                                    </p:animEffect>
                                    <p:set>
                                      <p:cBhvr>
                                        <p:cTn dur="1" fill="hold">
                                          <p:stCondLst>
                                            <p:cond delay="500"/>
                                          </p:stCondLst>
                                        </p:cTn>
                                        <p:tgtEl>
                                          <p:spTgt spid="21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21"/>
                                        </p:tgtEl>
                                      </p:cBhvr>
                                    </p:animEffect>
                                    <p:set>
                                      <p:cBhvr>
                                        <p:cTn dur="1" fill="hold">
                                          <p:stCondLst>
                                            <p:cond delay="500"/>
                                          </p:stCondLst>
                                        </p:cTn>
                                        <p:tgtEl>
                                          <p:spTgt spid="2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2"/>
                                        </p:tgtEl>
                                      </p:cBhvr>
                                    </p:animEffect>
                                    <p:set>
                                      <p:cBhvr>
                                        <p:cTn dur="1" fill="hold">
                                          <p:stCondLst>
                                            <p:cond delay="500"/>
                                          </p:stCondLst>
                                        </p:cTn>
                                        <p:tgtEl>
                                          <p:spTgt spid="20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25"/>
                                        </p:tgtEl>
                                      </p:cBhvr>
                                    </p:animEffect>
                                    <p:set>
                                      <p:cBhvr>
                                        <p:cTn dur="1" fill="hold">
                                          <p:stCondLst>
                                            <p:cond delay="500"/>
                                          </p:stCondLst>
                                        </p:cTn>
                                        <p:tgtEl>
                                          <p:spTgt spid="2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Allocation Method 1 – Fixed Max Seq len</a:t>
            </a:r>
            <a:endParaRPr/>
          </a:p>
        </p:txBody>
      </p:sp>
      <p:sp>
        <p:nvSpPr>
          <p:cNvPr id="232" name="Google Shape;232;p39"/>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Allocate Max seqlen -&gt; 4096</a:t>
            </a:r>
            <a:endParaRPr/>
          </a:p>
          <a:p>
            <a:pPr indent="-342900" lvl="0" marL="457200" rtl="0" algn="l">
              <a:lnSpc>
                <a:spcPct val="90000"/>
              </a:lnSpc>
              <a:spcBef>
                <a:spcPts val="0"/>
              </a:spcBef>
              <a:spcAft>
                <a:spcPts val="0"/>
              </a:spcAft>
              <a:buClr>
                <a:schemeClr val="dk1"/>
              </a:buClr>
              <a:buSzPts val="1400"/>
              <a:buChar char="●"/>
            </a:pPr>
            <a:r>
              <a:rPr lang="en"/>
              <a:t>Max batch size = (80 – 16) / (384 / 1024) = 170</a:t>
            </a:r>
            <a:endParaRPr/>
          </a:p>
        </p:txBody>
      </p:sp>
      <p:sp>
        <p:nvSpPr>
          <p:cNvPr id="233" name="Google Shape;233;p39"/>
          <p:cNvSpPr/>
          <p:nvPr/>
        </p:nvSpPr>
        <p:spPr>
          <a:xfrm>
            <a:off x="457200" y="2571750"/>
            <a:ext cx="8107680" cy="77343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4" name="Google Shape;234;p39"/>
          <p:cNvSpPr txBox="1"/>
          <p:nvPr/>
        </p:nvSpPr>
        <p:spPr>
          <a:xfrm>
            <a:off x="3387090" y="2186940"/>
            <a:ext cx="252603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GPU memory</a:t>
            </a:r>
            <a:endParaRPr b="0" i="0" sz="1400" u="none" cap="none" strike="noStrike">
              <a:solidFill>
                <a:schemeClr val="dk1"/>
              </a:solidFill>
              <a:latin typeface="Arial"/>
              <a:ea typeface="Arial"/>
              <a:cs typeface="Arial"/>
              <a:sym typeface="Arial"/>
            </a:endParaRPr>
          </a:p>
        </p:txBody>
      </p:sp>
      <p:sp>
        <p:nvSpPr>
          <p:cNvPr id="235" name="Google Shape;235;p39"/>
          <p:cNvSpPr/>
          <p:nvPr/>
        </p:nvSpPr>
        <p:spPr>
          <a:xfrm>
            <a:off x="45720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6" name="Google Shape;236;p39"/>
          <p:cNvSpPr/>
          <p:nvPr/>
        </p:nvSpPr>
        <p:spPr>
          <a:xfrm>
            <a:off x="161544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39"/>
          <p:cNvSpPr/>
          <p:nvPr/>
        </p:nvSpPr>
        <p:spPr>
          <a:xfrm>
            <a:off x="277368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8" name="Google Shape;238;p39"/>
          <p:cNvSpPr/>
          <p:nvPr/>
        </p:nvSpPr>
        <p:spPr>
          <a:xfrm>
            <a:off x="3931920" y="2569875"/>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9" name="Google Shape;239;p39"/>
          <p:cNvSpPr txBox="1"/>
          <p:nvPr/>
        </p:nvSpPr>
        <p:spPr>
          <a:xfrm>
            <a:off x="544830" y="334518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0</a:t>
            </a:r>
            <a:endParaRPr b="0" i="0" sz="1400" u="none" cap="none" strike="noStrike">
              <a:solidFill>
                <a:schemeClr val="dk1"/>
              </a:solidFill>
              <a:latin typeface="Arial"/>
              <a:ea typeface="Arial"/>
              <a:cs typeface="Arial"/>
              <a:sym typeface="Arial"/>
            </a:endParaRPr>
          </a:p>
        </p:txBody>
      </p:sp>
      <p:sp>
        <p:nvSpPr>
          <p:cNvPr id="240" name="Google Shape;240;p39"/>
          <p:cNvSpPr txBox="1"/>
          <p:nvPr/>
        </p:nvSpPr>
        <p:spPr>
          <a:xfrm>
            <a:off x="1752600" y="334143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1</a:t>
            </a:r>
            <a:endParaRPr b="0" i="0" sz="1400" u="none" cap="none" strike="noStrike">
              <a:solidFill>
                <a:schemeClr val="dk1"/>
              </a:solidFill>
              <a:latin typeface="Arial"/>
              <a:ea typeface="Arial"/>
              <a:cs typeface="Arial"/>
              <a:sym typeface="Arial"/>
            </a:endParaRPr>
          </a:p>
        </p:txBody>
      </p:sp>
      <p:sp>
        <p:nvSpPr>
          <p:cNvPr id="241" name="Google Shape;241;p39"/>
          <p:cNvSpPr txBox="1"/>
          <p:nvPr/>
        </p:nvSpPr>
        <p:spPr>
          <a:xfrm>
            <a:off x="2910840" y="334143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2</a:t>
            </a:r>
            <a:endParaRPr b="0" i="0" sz="1400" u="none" cap="none" strike="noStrike">
              <a:solidFill>
                <a:schemeClr val="dk1"/>
              </a:solidFill>
              <a:latin typeface="Arial"/>
              <a:ea typeface="Arial"/>
              <a:cs typeface="Arial"/>
              <a:sym typeface="Arial"/>
            </a:endParaRPr>
          </a:p>
        </p:txBody>
      </p:sp>
      <p:sp>
        <p:nvSpPr>
          <p:cNvPr id="242" name="Google Shape;242;p39"/>
          <p:cNvSpPr txBox="1"/>
          <p:nvPr/>
        </p:nvSpPr>
        <p:spPr>
          <a:xfrm>
            <a:off x="4069080" y="3341430"/>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3</a:t>
            </a:r>
            <a:endParaRPr b="0" i="0" sz="1400" u="none" cap="none" strike="noStrike">
              <a:solidFill>
                <a:schemeClr val="dk1"/>
              </a:solidFill>
              <a:latin typeface="Arial"/>
              <a:ea typeface="Arial"/>
              <a:cs typeface="Arial"/>
              <a:sym typeface="Arial"/>
            </a:endParaRPr>
          </a:p>
        </p:txBody>
      </p:sp>
      <p:sp>
        <p:nvSpPr>
          <p:cNvPr id="243" name="Google Shape;243;p39"/>
          <p:cNvSpPr/>
          <p:nvPr/>
        </p:nvSpPr>
        <p:spPr>
          <a:xfrm>
            <a:off x="5095875" y="2568000"/>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4" name="Google Shape;244;p39"/>
          <p:cNvSpPr/>
          <p:nvPr/>
        </p:nvSpPr>
        <p:spPr>
          <a:xfrm>
            <a:off x="6248400" y="2571750"/>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5" name="Google Shape;245;p39"/>
          <p:cNvSpPr/>
          <p:nvPr/>
        </p:nvSpPr>
        <p:spPr>
          <a:xfrm>
            <a:off x="7406640" y="2571750"/>
            <a:ext cx="115824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6" name="Google Shape;246;p39"/>
          <p:cNvSpPr/>
          <p:nvPr/>
        </p:nvSpPr>
        <p:spPr>
          <a:xfrm>
            <a:off x="45720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7" name="Google Shape;247;p39"/>
          <p:cNvSpPr/>
          <p:nvPr/>
        </p:nvSpPr>
        <p:spPr>
          <a:xfrm>
            <a:off x="161544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8" name="Google Shape;248;p39"/>
          <p:cNvSpPr/>
          <p:nvPr/>
        </p:nvSpPr>
        <p:spPr>
          <a:xfrm>
            <a:off x="278130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9" name="Google Shape;249;p39"/>
          <p:cNvSpPr/>
          <p:nvPr/>
        </p:nvSpPr>
        <p:spPr>
          <a:xfrm>
            <a:off x="393192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0" name="Google Shape;250;p39"/>
          <p:cNvSpPr/>
          <p:nvPr/>
        </p:nvSpPr>
        <p:spPr>
          <a:xfrm>
            <a:off x="55054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1" name="Google Shape;251;p39"/>
          <p:cNvSpPr/>
          <p:nvPr/>
        </p:nvSpPr>
        <p:spPr>
          <a:xfrm>
            <a:off x="170878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2" name="Google Shape;252;p39"/>
          <p:cNvSpPr/>
          <p:nvPr/>
        </p:nvSpPr>
        <p:spPr>
          <a:xfrm>
            <a:off x="287464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3" name="Google Shape;253;p39"/>
          <p:cNvSpPr/>
          <p:nvPr/>
        </p:nvSpPr>
        <p:spPr>
          <a:xfrm>
            <a:off x="4025265"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4" name="Google Shape;254;p39"/>
          <p:cNvSpPr/>
          <p:nvPr/>
        </p:nvSpPr>
        <p:spPr>
          <a:xfrm>
            <a:off x="64389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5" name="Google Shape;255;p39"/>
          <p:cNvSpPr/>
          <p:nvPr/>
        </p:nvSpPr>
        <p:spPr>
          <a:xfrm>
            <a:off x="180213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6" name="Google Shape;256;p39"/>
          <p:cNvSpPr/>
          <p:nvPr/>
        </p:nvSpPr>
        <p:spPr>
          <a:xfrm>
            <a:off x="296799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7" name="Google Shape;257;p39"/>
          <p:cNvSpPr/>
          <p:nvPr/>
        </p:nvSpPr>
        <p:spPr>
          <a:xfrm>
            <a:off x="411861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8" name="Google Shape;258;p39"/>
          <p:cNvSpPr/>
          <p:nvPr/>
        </p:nvSpPr>
        <p:spPr>
          <a:xfrm>
            <a:off x="74295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9" name="Google Shape;259;p39"/>
          <p:cNvSpPr/>
          <p:nvPr/>
        </p:nvSpPr>
        <p:spPr>
          <a:xfrm>
            <a:off x="190119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0" name="Google Shape;260;p39"/>
          <p:cNvSpPr/>
          <p:nvPr/>
        </p:nvSpPr>
        <p:spPr>
          <a:xfrm>
            <a:off x="306705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1" name="Google Shape;261;p39"/>
          <p:cNvSpPr/>
          <p:nvPr/>
        </p:nvSpPr>
        <p:spPr>
          <a:xfrm>
            <a:off x="4217670" y="2569875"/>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2" name="Google Shape;262;p39"/>
          <p:cNvSpPr/>
          <p:nvPr/>
        </p:nvSpPr>
        <p:spPr>
          <a:xfrm>
            <a:off x="836295" y="2735195"/>
            <a:ext cx="786870" cy="361741"/>
          </a:xfrm>
          <a:prstGeom prst="roundRect">
            <a:avLst>
              <a:gd fmla="val 16667" name="adj"/>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chemeClr val="lt1"/>
                </a:solidFill>
                <a:latin typeface="Arial"/>
                <a:ea typeface="Arial"/>
                <a:cs typeface="Arial"/>
                <a:sym typeface="Arial"/>
              </a:rPr>
              <a:t>Wasted</a:t>
            </a:r>
            <a:endParaRPr b="0" i="0" sz="1400" u="none" cap="none" strike="noStrike">
              <a:solidFill>
                <a:schemeClr val="lt1"/>
              </a:solidFill>
              <a:latin typeface="Arial"/>
              <a:ea typeface="Arial"/>
              <a:cs typeface="Arial"/>
              <a:sym typeface="Arial"/>
            </a:endParaRPr>
          </a:p>
        </p:txBody>
      </p:sp>
      <p:sp>
        <p:nvSpPr>
          <p:cNvPr id="263" name="Google Shape;263;p39"/>
          <p:cNvSpPr/>
          <p:nvPr/>
        </p:nvSpPr>
        <p:spPr>
          <a:xfrm>
            <a:off x="1988820" y="2735195"/>
            <a:ext cx="786870" cy="361741"/>
          </a:xfrm>
          <a:prstGeom prst="roundRect">
            <a:avLst>
              <a:gd fmla="val 16667" name="adj"/>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chemeClr val="lt1"/>
                </a:solidFill>
                <a:latin typeface="Arial"/>
                <a:ea typeface="Arial"/>
                <a:cs typeface="Arial"/>
                <a:sym typeface="Arial"/>
              </a:rPr>
              <a:t>Wasted</a:t>
            </a:r>
            <a:endParaRPr b="0" i="0" sz="1400" u="none" cap="none" strike="noStrike">
              <a:solidFill>
                <a:schemeClr val="lt1"/>
              </a:solidFill>
              <a:latin typeface="Arial"/>
              <a:ea typeface="Arial"/>
              <a:cs typeface="Arial"/>
              <a:sym typeface="Arial"/>
            </a:endParaRPr>
          </a:p>
        </p:txBody>
      </p:sp>
      <p:sp>
        <p:nvSpPr>
          <p:cNvPr id="264" name="Google Shape;264;p39"/>
          <p:cNvSpPr/>
          <p:nvPr/>
        </p:nvSpPr>
        <p:spPr>
          <a:xfrm>
            <a:off x="3150660" y="2744914"/>
            <a:ext cx="786870" cy="361741"/>
          </a:xfrm>
          <a:prstGeom prst="roundRect">
            <a:avLst>
              <a:gd fmla="val 16667" name="adj"/>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chemeClr val="lt1"/>
                </a:solidFill>
                <a:latin typeface="Arial"/>
                <a:ea typeface="Arial"/>
                <a:cs typeface="Arial"/>
                <a:sym typeface="Arial"/>
              </a:rPr>
              <a:t>Wasted</a:t>
            </a:r>
            <a:endParaRPr b="0" i="0" sz="1400" u="none" cap="none" strike="noStrike">
              <a:solidFill>
                <a:schemeClr val="lt1"/>
              </a:solidFill>
              <a:latin typeface="Arial"/>
              <a:ea typeface="Arial"/>
              <a:cs typeface="Arial"/>
              <a:sym typeface="Arial"/>
            </a:endParaRPr>
          </a:p>
        </p:txBody>
      </p:sp>
      <p:sp>
        <p:nvSpPr>
          <p:cNvPr id="265" name="Google Shape;265;p39"/>
          <p:cNvSpPr txBox="1"/>
          <p:nvPr/>
        </p:nvSpPr>
        <p:spPr>
          <a:xfrm>
            <a:off x="1337310" y="4023360"/>
            <a:ext cx="6678930"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2400" u="none" cap="none" strike="noStrike">
                <a:solidFill>
                  <a:srgbClr val="33006F"/>
                </a:solidFill>
                <a:latin typeface="Arial"/>
                <a:ea typeface="Arial"/>
                <a:cs typeface="Arial"/>
                <a:sym typeface="Arial"/>
              </a:rPr>
              <a:t>Low utilization due to internal fragmentation</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Allocation Method 2 – std::vector-style Allocation</a:t>
            </a:r>
            <a:endParaRPr/>
          </a:p>
        </p:txBody>
      </p:sp>
      <p:sp>
        <p:nvSpPr>
          <p:cNvPr id="271" name="Google Shape;271;p40"/>
          <p:cNvSpPr/>
          <p:nvPr/>
        </p:nvSpPr>
        <p:spPr>
          <a:xfrm>
            <a:off x="457200" y="2571750"/>
            <a:ext cx="8107680" cy="77343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2" name="Google Shape;272;p40"/>
          <p:cNvSpPr/>
          <p:nvPr/>
        </p:nvSpPr>
        <p:spPr>
          <a:xfrm>
            <a:off x="2733675" y="2574399"/>
            <a:ext cx="768906"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3" name="Google Shape;273;p40"/>
          <p:cNvSpPr/>
          <p:nvPr/>
        </p:nvSpPr>
        <p:spPr>
          <a:xfrm>
            <a:off x="457200" y="2571750"/>
            <a:ext cx="37338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4" name="Google Shape;274;p40"/>
          <p:cNvSpPr/>
          <p:nvPr/>
        </p:nvSpPr>
        <p:spPr>
          <a:xfrm>
            <a:off x="824692" y="2571750"/>
            <a:ext cx="379744"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5" name="Google Shape;275;p40"/>
          <p:cNvSpPr/>
          <p:nvPr/>
        </p:nvSpPr>
        <p:spPr>
          <a:xfrm>
            <a:off x="1203180" y="2571750"/>
            <a:ext cx="37338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6" name="Google Shape;276;p40"/>
          <p:cNvSpPr/>
          <p:nvPr/>
        </p:nvSpPr>
        <p:spPr>
          <a:xfrm>
            <a:off x="1566386" y="2571750"/>
            <a:ext cx="38100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7" name="Google Shape;277;p40"/>
          <p:cNvSpPr txBox="1"/>
          <p:nvPr/>
        </p:nvSpPr>
        <p:spPr>
          <a:xfrm>
            <a:off x="287655" y="2229813"/>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0</a:t>
            </a:r>
            <a:endParaRPr b="0" i="0" sz="1400" u="none" cap="none" strike="noStrike">
              <a:solidFill>
                <a:schemeClr val="dk1"/>
              </a:solidFill>
              <a:latin typeface="Arial"/>
              <a:ea typeface="Arial"/>
              <a:cs typeface="Arial"/>
              <a:sym typeface="Arial"/>
            </a:endParaRPr>
          </a:p>
        </p:txBody>
      </p:sp>
      <p:sp>
        <p:nvSpPr>
          <p:cNvPr id="278" name="Google Shape;278;p40"/>
          <p:cNvSpPr txBox="1"/>
          <p:nvPr/>
        </p:nvSpPr>
        <p:spPr>
          <a:xfrm>
            <a:off x="587389" y="3334916"/>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1</a:t>
            </a:r>
            <a:endParaRPr b="0" i="0" sz="1400" u="none" cap="none" strike="noStrike">
              <a:solidFill>
                <a:schemeClr val="dk1"/>
              </a:solidFill>
              <a:latin typeface="Arial"/>
              <a:ea typeface="Arial"/>
              <a:cs typeface="Arial"/>
              <a:sym typeface="Arial"/>
            </a:endParaRPr>
          </a:p>
        </p:txBody>
      </p:sp>
      <p:sp>
        <p:nvSpPr>
          <p:cNvPr id="279" name="Google Shape;279;p40"/>
          <p:cNvSpPr txBox="1"/>
          <p:nvPr/>
        </p:nvSpPr>
        <p:spPr>
          <a:xfrm>
            <a:off x="1025366" y="2229813"/>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2</a:t>
            </a:r>
            <a:endParaRPr b="0" i="0" sz="1400" u="none" cap="none" strike="noStrike">
              <a:solidFill>
                <a:schemeClr val="dk1"/>
              </a:solidFill>
              <a:latin typeface="Arial"/>
              <a:ea typeface="Arial"/>
              <a:cs typeface="Arial"/>
              <a:sym typeface="Arial"/>
            </a:endParaRPr>
          </a:p>
        </p:txBody>
      </p:sp>
      <p:sp>
        <p:nvSpPr>
          <p:cNvPr id="280" name="Google Shape;280;p40"/>
          <p:cNvSpPr txBox="1"/>
          <p:nvPr/>
        </p:nvSpPr>
        <p:spPr>
          <a:xfrm>
            <a:off x="1305097" y="3340049"/>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3</a:t>
            </a:r>
            <a:endParaRPr b="0" i="0" sz="1400" u="none" cap="none" strike="noStrike">
              <a:solidFill>
                <a:schemeClr val="dk1"/>
              </a:solidFill>
              <a:latin typeface="Arial"/>
              <a:ea typeface="Arial"/>
              <a:cs typeface="Arial"/>
              <a:sym typeface="Arial"/>
            </a:endParaRPr>
          </a:p>
        </p:txBody>
      </p:sp>
      <p:sp>
        <p:nvSpPr>
          <p:cNvPr id="281" name="Google Shape;281;p40"/>
          <p:cNvSpPr/>
          <p:nvPr/>
        </p:nvSpPr>
        <p:spPr>
          <a:xfrm>
            <a:off x="465773"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2" name="Google Shape;282;p40"/>
          <p:cNvSpPr/>
          <p:nvPr/>
        </p:nvSpPr>
        <p:spPr>
          <a:xfrm>
            <a:off x="825341"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3" name="Google Shape;283;p40"/>
          <p:cNvSpPr/>
          <p:nvPr/>
        </p:nvSpPr>
        <p:spPr>
          <a:xfrm>
            <a:off x="1210800"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4" name="Google Shape;284;p40"/>
          <p:cNvSpPr/>
          <p:nvPr/>
        </p:nvSpPr>
        <p:spPr>
          <a:xfrm>
            <a:off x="1566386"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5" name="Google Shape;285;p40"/>
          <p:cNvSpPr/>
          <p:nvPr/>
        </p:nvSpPr>
        <p:spPr>
          <a:xfrm>
            <a:off x="559117"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6" name="Google Shape;286;p40"/>
          <p:cNvSpPr/>
          <p:nvPr/>
        </p:nvSpPr>
        <p:spPr>
          <a:xfrm>
            <a:off x="918686"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7" name="Google Shape;287;p40"/>
          <p:cNvSpPr/>
          <p:nvPr/>
        </p:nvSpPr>
        <p:spPr>
          <a:xfrm>
            <a:off x="1304145"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8" name="Google Shape;288;p40"/>
          <p:cNvSpPr/>
          <p:nvPr/>
        </p:nvSpPr>
        <p:spPr>
          <a:xfrm>
            <a:off x="1659731"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9" name="Google Shape;289;p40"/>
          <p:cNvSpPr/>
          <p:nvPr/>
        </p:nvSpPr>
        <p:spPr>
          <a:xfrm>
            <a:off x="652463"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0" name="Google Shape;290;p40"/>
          <p:cNvSpPr/>
          <p:nvPr/>
        </p:nvSpPr>
        <p:spPr>
          <a:xfrm>
            <a:off x="1012031"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1" name="Google Shape;291;p40"/>
          <p:cNvSpPr/>
          <p:nvPr/>
        </p:nvSpPr>
        <p:spPr>
          <a:xfrm>
            <a:off x="1397490"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2" name="Google Shape;292;p40"/>
          <p:cNvSpPr/>
          <p:nvPr/>
        </p:nvSpPr>
        <p:spPr>
          <a:xfrm>
            <a:off x="1753076"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3" name="Google Shape;293;p40"/>
          <p:cNvSpPr/>
          <p:nvPr/>
        </p:nvSpPr>
        <p:spPr>
          <a:xfrm>
            <a:off x="751522"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4" name="Google Shape;294;p40"/>
          <p:cNvSpPr/>
          <p:nvPr/>
        </p:nvSpPr>
        <p:spPr>
          <a:xfrm>
            <a:off x="1111091"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5" name="Google Shape;295;p40"/>
          <p:cNvSpPr/>
          <p:nvPr/>
        </p:nvSpPr>
        <p:spPr>
          <a:xfrm>
            <a:off x="1496550"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6" name="Google Shape;296;p40"/>
          <p:cNvSpPr/>
          <p:nvPr/>
        </p:nvSpPr>
        <p:spPr>
          <a:xfrm>
            <a:off x="1852136"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7" name="Google Shape;297;p40"/>
          <p:cNvSpPr/>
          <p:nvPr/>
        </p:nvSpPr>
        <p:spPr>
          <a:xfrm>
            <a:off x="4002815" y="2571750"/>
            <a:ext cx="768906"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8" name="Google Shape;298;p40"/>
          <p:cNvSpPr/>
          <p:nvPr/>
        </p:nvSpPr>
        <p:spPr>
          <a:xfrm>
            <a:off x="4009179"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9" name="Google Shape;299;p40"/>
          <p:cNvSpPr/>
          <p:nvPr/>
        </p:nvSpPr>
        <p:spPr>
          <a:xfrm>
            <a:off x="4102524"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0" name="Google Shape;300;p40"/>
          <p:cNvSpPr/>
          <p:nvPr/>
        </p:nvSpPr>
        <p:spPr>
          <a:xfrm>
            <a:off x="4195869"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1" name="Google Shape;301;p40"/>
          <p:cNvSpPr/>
          <p:nvPr/>
        </p:nvSpPr>
        <p:spPr>
          <a:xfrm>
            <a:off x="4294929"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2" name="Google Shape;302;p40"/>
          <p:cNvSpPr txBox="1"/>
          <p:nvPr/>
        </p:nvSpPr>
        <p:spPr>
          <a:xfrm>
            <a:off x="3926205" y="2238307"/>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0</a:t>
            </a:r>
            <a:endParaRPr b="0" i="0" sz="1400" u="none" cap="none" strike="noStrike">
              <a:solidFill>
                <a:schemeClr val="dk1"/>
              </a:solidFill>
              <a:latin typeface="Arial"/>
              <a:ea typeface="Arial"/>
              <a:cs typeface="Arial"/>
              <a:sym typeface="Arial"/>
            </a:endParaRPr>
          </a:p>
        </p:txBody>
      </p:sp>
      <p:sp>
        <p:nvSpPr>
          <p:cNvPr id="303" name="Google Shape;303;p40"/>
          <p:cNvSpPr/>
          <p:nvPr/>
        </p:nvSpPr>
        <p:spPr>
          <a:xfrm>
            <a:off x="4393989" y="2571750"/>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4" name="Google Shape;304;p40"/>
          <p:cNvSpPr txBox="1"/>
          <p:nvPr/>
        </p:nvSpPr>
        <p:spPr>
          <a:xfrm>
            <a:off x="2692631" y="3342698"/>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1</a:t>
            </a:r>
            <a:endParaRPr b="0" i="0" sz="1400" u="none" cap="none" strike="noStrike">
              <a:solidFill>
                <a:schemeClr val="dk1"/>
              </a:solidFill>
              <a:latin typeface="Arial"/>
              <a:ea typeface="Arial"/>
              <a:cs typeface="Arial"/>
              <a:sym typeface="Arial"/>
            </a:endParaRPr>
          </a:p>
        </p:txBody>
      </p:sp>
      <p:sp>
        <p:nvSpPr>
          <p:cNvPr id="305" name="Google Shape;305;p40"/>
          <p:cNvSpPr/>
          <p:nvPr/>
        </p:nvSpPr>
        <p:spPr>
          <a:xfrm>
            <a:off x="2739390"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6" name="Google Shape;306;p40"/>
          <p:cNvSpPr/>
          <p:nvPr/>
        </p:nvSpPr>
        <p:spPr>
          <a:xfrm>
            <a:off x="2832735"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7" name="Google Shape;307;p40"/>
          <p:cNvSpPr/>
          <p:nvPr/>
        </p:nvSpPr>
        <p:spPr>
          <a:xfrm>
            <a:off x="2926080"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8" name="Google Shape;308;p40"/>
          <p:cNvSpPr/>
          <p:nvPr/>
        </p:nvSpPr>
        <p:spPr>
          <a:xfrm>
            <a:off x="3025140" y="2569268"/>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9" name="Google Shape;309;p40"/>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Start with a small size, when fully occupied, double the size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3"/>
                                        </p:tgtEl>
                                      </p:cBhvr>
                                    </p:animEffect>
                                    <p:set>
                                      <p:cBhvr>
                                        <p:cTn dur="1" fill="hold">
                                          <p:stCondLst>
                                            <p:cond delay="500"/>
                                          </p:stCondLst>
                                        </p:cTn>
                                        <p:tgtEl>
                                          <p:spTgt spid="27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81"/>
                                        </p:tgtEl>
                                      </p:cBhvr>
                                    </p:animEffect>
                                    <p:set>
                                      <p:cBhvr>
                                        <p:cTn dur="1" fill="hold">
                                          <p:stCondLst>
                                            <p:cond delay="500"/>
                                          </p:stCondLst>
                                        </p:cTn>
                                        <p:tgtEl>
                                          <p:spTgt spid="28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85"/>
                                        </p:tgtEl>
                                      </p:cBhvr>
                                    </p:animEffect>
                                    <p:set>
                                      <p:cBhvr>
                                        <p:cTn dur="1" fill="hold">
                                          <p:stCondLst>
                                            <p:cond delay="500"/>
                                          </p:stCondLst>
                                        </p:cTn>
                                        <p:tgtEl>
                                          <p:spTgt spid="28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89"/>
                                        </p:tgtEl>
                                      </p:cBhvr>
                                    </p:animEffect>
                                    <p:set>
                                      <p:cBhvr>
                                        <p:cTn dur="1" fill="hold">
                                          <p:stCondLst>
                                            <p:cond delay="500"/>
                                          </p:stCondLst>
                                        </p:cTn>
                                        <p:tgtEl>
                                          <p:spTgt spid="28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93"/>
                                        </p:tgtEl>
                                      </p:cBhvr>
                                    </p:animEffect>
                                    <p:set>
                                      <p:cBhvr>
                                        <p:cTn dur="1" fill="hold">
                                          <p:stCondLst>
                                            <p:cond delay="500"/>
                                          </p:stCondLst>
                                        </p:cTn>
                                        <p:tgtEl>
                                          <p:spTgt spid="2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77"/>
                                        </p:tgtEl>
                                      </p:cBhvr>
                                    </p:animEffect>
                                    <p:set>
                                      <p:cBhvr>
                                        <p:cTn dur="1" fill="hold">
                                          <p:stCondLst>
                                            <p:cond delay="500"/>
                                          </p:stCondLst>
                                        </p:cTn>
                                        <p:tgtEl>
                                          <p:spTgt spid="2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8"/>
                                        </p:tgtEl>
                                      </p:cBhvr>
                                    </p:animEffect>
                                    <p:set>
                                      <p:cBhvr>
                                        <p:cTn dur="1" fill="hold">
                                          <p:stCondLst>
                                            <p:cond delay="500"/>
                                          </p:stCondLst>
                                        </p:cTn>
                                        <p:tgtEl>
                                          <p:spTgt spid="2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4"/>
                                        </p:tgtEl>
                                      </p:cBhvr>
                                    </p:animEffect>
                                    <p:set>
                                      <p:cBhvr>
                                        <p:cTn dur="1" fill="hold">
                                          <p:stCondLst>
                                            <p:cond delay="500"/>
                                          </p:stCondLst>
                                        </p:cTn>
                                        <p:tgtEl>
                                          <p:spTgt spid="27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82"/>
                                        </p:tgtEl>
                                      </p:cBhvr>
                                    </p:animEffect>
                                    <p:set>
                                      <p:cBhvr>
                                        <p:cTn dur="1" fill="hold">
                                          <p:stCondLst>
                                            <p:cond delay="500"/>
                                          </p:stCondLst>
                                        </p:cTn>
                                        <p:tgtEl>
                                          <p:spTgt spid="28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86"/>
                                        </p:tgtEl>
                                      </p:cBhvr>
                                    </p:animEffect>
                                    <p:set>
                                      <p:cBhvr>
                                        <p:cTn dur="1" fill="hold">
                                          <p:stCondLst>
                                            <p:cond delay="500"/>
                                          </p:stCondLst>
                                        </p:cTn>
                                        <p:tgtEl>
                                          <p:spTgt spid="2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90"/>
                                        </p:tgtEl>
                                      </p:cBhvr>
                                    </p:animEffect>
                                    <p:set>
                                      <p:cBhvr>
                                        <p:cTn dur="1" fill="hold">
                                          <p:stCondLst>
                                            <p:cond delay="500"/>
                                          </p:stCondLst>
                                        </p:cTn>
                                        <p:tgtEl>
                                          <p:spTgt spid="29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94"/>
                                        </p:tgtEl>
                                      </p:cBhvr>
                                    </p:animEffect>
                                    <p:set>
                                      <p:cBhvr>
                                        <p:cTn dur="1" fill="hold">
                                          <p:stCondLst>
                                            <p:cond delay="500"/>
                                          </p:stCondLst>
                                        </p:cTn>
                                        <p:tgtEl>
                                          <p:spTgt spid="2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Allocation Method 2 – std::vector-style Allocation</a:t>
            </a:r>
            <a:endParaRPr/>
          </a:p>
        </p:txBody>
      </p:sp>
      <p:sp>
        <p:nvSpPr>
          <p:cNvPr id="315" name="Google Shape;315;p41"/>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Now the waste inside a request is “well” controlled (avg 75% utilization)</a:t>
            </a:r>
            <a:endParaRPr/>
          </a:p>
          <a:p>
            <a:pPr indent="-342900" lvl="0" marL="457200" rtl="0" algn="l">
              <a:lnSpc>
                <a:spcPct val="90000"/>
              </a:lnSpc>
              <a:spcBef>
                <a:spcPts val="0"/>
              </a:spcBef>
              <a:spcAft>
                <a:spcPts val="0"/>
              </a:spcAft>
              <a:buClr>
                <a:schemeClr val="dk1"/>
              </a:buClr>
              <a:buSzPts val="1400"/>
              <a:buChar char="●"/>
            </a:pPr>
            <a:r>
              <a:rPr lang="en"/>
              <a:t>Additional copy is acceptable</a:t>
            </a:r>
            <a:endParaRPr/>
          </a:p>
        </p:txBody>
      </p:sp>
      <p:sp>
        <p:nvSpPr>
          <p:cNvPr id="316" name="Google Shape;316;p41"/>
          <p:cNvSpPr/>
          <p:nvPr/>
        </p:nvSpPr>
        <p:spPr>
          <a:xfrm>
            <a:off x="2595795" y="2185724"/>
            <a:ext cx="883919" cy="590003"/>
          </a:xfrm>
          <a:prstGeom prst="roundRect">
            <a:avLst>
              <a:gd fmla="val 16667" name="adj"/>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chemeClr val="lt1"/>
                </a:solidFill>
                <a:latin typeface="Arial"/>
                <a:ea typeface="Arial"/>
                <a:cs typeface="Arial"/>
                <a:sym typeface="Arial"/>
              </a:rPr>
              <a:t>Wasted</a:t>
            </a:r>
            <a:endParaRPr b="0" i="0" sz="1400" u="none" cap="none" strike="noStrike">
              <a:solidFill>
                <a:schemeClr val="lt1"/>
              </a:solidFill>
              <a:latin typeface="Arial"/>
              <a:ea typeface="Arial"/>
              <a:cs typeface="Arial"/>
              <a:sym typeface="Arial"/>
            </a:endParaRPr>
          </a:p>
        </p:txBody>
      </p:sp>
      <p:cxnSp>
        <p:nvCxnSpPr>
          <p:cNvPr id="317" name="Google Shape;317;p41"/>
          <p:cNvCxnSpPr>
            <a:stCxn id="316" idx="3"/>
          </p:cNvCxnSpPr>
          <p:nvPr/>
        </p:nvCxnSpPr>
        <p:spPr>
          <a:xfrm>
            <a:off x="3479714" y="2480725"/>
            <a:ext cx="320100" cy="366000"/>
          </a:xfrm>
          <a:prstGeom prst="straightConnector1">
            <a:avLst/>
          </a:prstGeom>
          <a:noFill/>
          <a:ln cap="flat" cmpd="sng" w="57150">
            <a:solidFill>
              <a:srgbClr val="BF4F14"/>
            </a:solidFill>
            <a:prstDash val="solid"/>
            <a:miter lim="800000"/>
            <a:headEnd len="sm" w="sm" type="none"/>
            <a:tailEnd len="med" w="med" type="triangle"/>
          </a:ln>
        </p:spPr>
      </p:cxnSp>
      <p:sp>
        <p:nvSpPr>
          <p:cNvPr id="318" name="Google Shape;318;p41"/>
          <p:cNvSpPr/>
          <p:nvPr/>
        </p:nvSpPr>
        <p:spPr>
          <a:xfrm>
            <a:off x="481245" y="2840664"/>
            <a:ext cx="8107680" cy="77343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9" name="Google Shape;319;p41"/>
          <p:cNvSpPr/>
          <p:nvPr/>
        </p:nvSpPr>
        <p:spPr>
          <a:xfrm>
            <a:off x="2757720" y="2843313"/>
            <a:ext cx="768906"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0" name="Google Shape;320;p41"/>
          <p:cNvSpPr/>
          <p:nvPr/>
        </p:nvSpPr>
        <p:spPr>
          <a:xfrm>
            <a:off x="1227225" y="2840664"/>
            <a:ext cx="37338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1" name="Google Shape;321;p41"/>
          <p:cNvSpPr/>
          <p:nvPr/>
        </p:nvSpPr>
        <p:spPr>
          <a:xfrm>
            <a:off x="1590431" y="2840664"/>
            <a:ext cx="381000"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2" name="Google Shape;322;p41"/>
          <p:cNvSpPr txBox="1"/>
          <p:nvPr/>
        </p:nvSpPr>
        <p:spPr>
          <a:xfrm>
            <a:off x="1049411" y="2498727"/>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2</a:t>
            </a:r>
            <a:endParaRPr b="0" i="0" sz="1400" u="none" cap="none" strike="noStrike">
              <a:solidFill>
                <a:schemeClr val="dk1"/>
              </a:solidFill>
              <a:latin typeface="Arial"/>
              <a:ea typeface="Arial"/>
              <a:cs typeface="Arial"/>
              <a:sym typeface="Arial"/>
            </a:endParaRPr>
          </a:p>
        </p:txBody>
      </p:sp>
      <p:sp>
        <p:nvSpPr>
          <p:cNvPr id="323" name="Google Shape;323;p41"/>
          <p:cNvSpPr txBox="1"/>
          <p:nvPr/>
        </p:nvSpPr>
        <p:spPr>
          <a:xfrm>
            <a:off x="1329143" y="3608963"/>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3</a:t>
            </a:r>
            <a:endParaRPr b="0" i="0" sz="1400" u="none" cap="none" strike="noStrike">
              <a:solidFill>
                <a:schemeClr val="dk1"/>
              </a:solidFill>
              <a:latin typeface="Arial"/>
              <a:ea typeface="Arial"/>
              <a:cs typeface="Arial"/>
              <a:sym typeface="Arial"/>
            </a:endParaRPr>
          </a:p>
        </p:txBody>
      </p:sp>
      <p:sp>
        <p:nvSpPr>
          <p:cNvPr id="324" name="Google Shape;324;p41"/>
          <p:cNvSpPr/>
          <p:nvPr/>
        </p:nvSpPr>
        <p:spPr>
          <a:xfrm>
            <a:off x="1590431"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5" name="Google Shape;325;p41"/>
          <p:cNvSpPr/>
          <p:nvPr/>
        </p:nvSpPr>
        <p:spPr>
          <a:xfrm>
            <a:off x="1328190"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6" name="Google Shape;326;p41"/>
          <p:cNvSpPr/>
          <p:nvPr/>
        </p:nvSpPr>
        <p:spPr>
          <a:xfrm>
            <a:off x="1683776"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7" name="Google Shape;327;p41"/>
          <p:cNvSpPr/>
          <p:nvPr/>
        </p:nvSpPr>
        <p:spPr>
          <a:xfrm>
            <a:off x="1421535"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8" name="Google Shape;328;p41"/>
          <p:cNvSpPr/>
          <p:nvPr/>
        </p:nvSpPr>
        <p:spPr>
          <a:xfrm>
            <a:off x="1777121"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9" name="Google Shape;329;p41"/>
          <p:cNvSpPr/>
          <p:nvPr/>
        </p:nvSpPr>
        <p:spPr>
          <a:xfrm>
            <a:off x="1520595"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0" name="Google Shape;330;p41"/>
          <p:cNvSpPr/>
          <p:nvPr/>
        </p:nvSpPr>
        <p:spPr>
          <a:xfrm>
            <a:off x="1876181"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1" name="Google Shape;331;p41"/>
          <p:cNvSpPr/>
          <p:nvPr/>
        </p:nvSpPr>
        <p:spPr>
          <a:xfrm>
            <a:off x="4026860" y="2840664"/>
            <a:ext cx="768906" cy="773430"/>
          </a:xfrm>
          <a:prstGeom prst="rect">
            <a:avLst/>
          </a:prstGeom>
          <a:solidFill>
            <a:srgbClr val="81E490"/>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2" name="Google Shape;332;p41"/>
          <p:cNvSpPr/>
          <p:nvPr/>
        </p:nvSpPr>
        <p:spPr>
          <a:xfrm>
            <a:off x="4033224"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3" name="Google Shape;333;p41"/>
          <p:cNvSpPr/>
          <p:nvPr/>
        </p:nvSpPr>
        <p:spPr>
          <a:xfrm>
            <a:off x="4126569"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4" name="Google Shape;334;p41"/>
          <p:cNvSpPr/>
          <p:nvPr/>
        </p:nvSpPr>
        <p:spPr>
          <a:xfrm>
            <a:off x="4219914"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5" name="Google Shape;335;p41"/>
          <p:cNvSpPr/>
          <p:nvPr/>
        </p:nvSpPr>
        <p:spPr>
          <a:xfrm>
            <a:off x="4318974"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6" name="Google Shape;336;p41"/>
          <p:cNvSpPr txBox="1"/>
          <p:nvPr/>
        </p:nvSpPr>
        <p:spPr>
          <a:xfrm>
            <a:off x="3950250" y="2507221"/>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0</a:t>
            </a:r>
            <a:endParaRPr b="0" i="0" sz="1400" u="none" cap="none" strike="noStrike">
              <a:solidFill>
                <a:schemeClr val="dk1"/>
              </a:solidFill>
              <a:latin typeface="Arial"/>
              <a:ea typeface="Arial"/>
              <a:cs typeface="Arial"/>
              <a:sym typeface="Arial"/>
            </a:endParaRPr>
          </a:p>
        </p:txBody>
      </p:sp>
      <p:sp>
        <p:nvSpPr>
          <p:cNvPr id="337" name="Google Shape;337;p41"/>
          <p:cNvSpPr/>
          <p:nvPr/>
        </p:nvSpPr>
        <p:spPr>
          <a:xfrm>
            <a:off x="4418034" y="2840664"/>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8" name="Google Shape;338;p41"/>
          <p:cNvSpPr txBox="1"/>
          <p:nvPr/>
        </p:nvSpPr>
        <p:spPr>
          <a:xfrm>
            <a:off x="2716676" y="3611612"/>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1</a:t>
            </a:r>
            <a:endParaRPr b="0" i="0" sz="1400" u="none" cap="none" strike="noStrike">
              <a:solidFill>
                <a:schemeClr val="dk1"/>
              </a:solidFill>
              <a:latin typeface="Arial"/>
              <a:ea typeface="Arial"/>
              <a:cs typeface="Arial"/>
              <a:sym typeface="Arial"/>
            </a:endParaRPr>
          </a:p>
        </p:txBody>
      </p:sp>
      <p:sp>
        <p:nvSpPr>
          <p:cNvPr id="339" name="Google Shape;339;p41"/>
          <p:cNvSpPr/>
          <p:nvPr/>
        </p:nvSpPr>
        <p:spPr>
          <a:xfrm>
            <a:off x="2763435" y="2838181"/>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0" name="Google Shape;340;p41"/>
          <p:cNvSpPr/>
          <p:nvPr/>
        </p:nvSpPr>
        <p:spPr>
          <a:xfrm>
            <a:off x="2856780" y="2838181"/>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1" name="Google Shape;341;p41"/>
          <p:cNvSpPr/>
          <p:nvPr/>
        </p:nvSpPr>
        <p:spPr>
          <a:xfrm>
            <a:off x="2950125" y="2838181"/>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2" name="Google Shape;342;p41"/>
          <p:cNvSpPr/>
          <p:nvPr/>
        </p:nvSpPr>
        <p:spPr>
          <a:xfrm>
            <a:off x="3049185" y="2838181"/>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3" name="Google Shape;343;p41"/>
          <p:cNvSpPr txBox="1"/>
          <p:nvPr/>
        </p:nvSpPr>
        <p:spPr>
          <a:xfrm>
            <a:off x="1337310" y="4023360"/>
            <a:ext cx="6678930"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2400" u="none" cap="none" strike="noStrike">
                <a:solidFill>
                  <a:srgbClr val="33006F"/>
                </a:solidFill>
                <a:latin typeface="Arial"/>
                <a:ea typeface="Arial"/>
                <a:cs typeface="Arial"/>
                <a:sym typeface="Arial"/>
              </a:rPr>
              <a:t>Low utilization due to external fragmentation</a:t>
            </a:r>
            <a:endParaRPr sz="1100"/>
          </a:p>
        </p:txBody>
      </p:sp>
      <p:sp>
        <p:nvSpPr>
          <p:cNvPr id="344" name="Google Shape;344;p41"/>
          <p:cNvSpPr/>
          <p:nvPr/>
        </p:nvSpPr>
        <p:spPr>
          <a:xfrm>
            <a:off x="1240560" y="2843313"/>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type="title"/>
          </p:nvPr>
        </p:nvSpPr>
        <p:spPr>
          <a:xfrm>
            <a:off x="311700" y="123557"/>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Allocation Method 3 – PagedAttention</a:t>
            </a:r>
            <a:endParaRPr/>
          </a:p>
        </p:txBody>
      </p:sp>
      <p:sp>
        <p:nvSpPr>
          <p:cNvPr id="350" name="Google Shape;350;p42"/>
          <p:cNvSpPr txBox="1"/>
          <p:nvPr>
            <p:ph idx="1" type="body"/>
          </p:nvPr>
        </p:nvSpPr>
        <p:spPr>
          <a:xfrm>
            <a:off x="311700" y="831006"/>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Chunk the global space into small pages</a:t>
            </a:r>
            <a:endParaRPr/>
          </a:p>
          <a:p>
            <a:pPr indent="-342900" lvl="0" marL="457200" rtl="0" algn="l">
              <a:lnSpc>
                <a:spcPct val="90000"/>
              </a:lnSpc>
              <a:spcBef>
                <a:spcPts val="0"/>
              </a:spcBef>
              <a:spcAft>
                <a:spcPts val="0"/>
              </a:spcAft>
              <a:buClr>
                <a:schemeClr val="dk1"/>
              </a:buClr>
              <a:buSzPts val="1400"/>
              <a:buChar char="●"/>
            </a:pPr>
            <a:r>
              <a:rPr lang="en"/>
              <a:t>Each request picks some page as the KV cache</a:t>
            </a:r>
            <a:endParaRPr/>
          </a:p>
          <a:p>
            <a:pPr indent="-342900" lvl="0" marL="457200" rtl="0" algn="l">
              <a:lnSpc>
                <a:spcPct val="90000"/>
              </a:lnSpc>
              <a:spcBef>
                <a:spcPts val="0"/>
              </a:spcBef>
              <a:spcAft>
                <a:spcPts val="0"/>
              </a:spcAft>
              <a:buClr>
                <a:schemeClr val="dk1"/>
              </a:buClr>
              <a:buSzPts val="1400"/>
              <a:buChar char="●"/>
            </a:pPr>
            <a:r>
              <a:rPr lang="en"/>
              <a:t>Each page is large enough for good bandwidth utilization</a:t>
            </a:r>
            <a:endParaRPr/>
          </a:p>
          <a:p>
            <a:pPr indent="-342900" lvl="0" marL="457200" rtl="0" algn="l">
              <a:lnSpc>
                <a:spcPct val="90000"/>
              </a:lnSpc>
              <a:spcBef>
                <a:spcPts val="0"/>
              </a:spcBef>
              <a:spcAft>
                <a:spcPts val="0"/>
              </a:spcAft>
              <a:buClr>
                <a:schemeClr val="dk1"/>
              </a:buClr>
              <a:buSzPts val="1400"/>
              <a:buChar char="●"/>
            </a:pPr>
            <a:r>
              <a:rPr lang="en"/>
              <a:t>Page = 16 tokens’ KV = 16*2*2*8*128 = 64 KB</a:t>
            </a:r>
            <a:r>
              <a:rPr baseline="30000" lang="en"/>
              <a:t>+</a:t>
            </a:r>
            <a:endParaRPr baseline="30000"/>
          </a:p>
        </p:txBody>
      </p:sp>
      <p:sp>
        <p:nvSpPr>
          <p:cNvPr id="351" name="Google Shape;351;p42"/>
          <p:cNvSpPr/>
          <p:nvPr/>
        </p:nvSpPr>
        <p:spPr>
          <a:xfrm>
            <a:off x="508635" y="2127704"/>
            <a:ext cx="8107800" cy="77340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2" name="Google Shape;352;p42"/>
          <p:cNvSpPr/>
          <p:nvPr/>
        </p:nvSpPr>
        <p:spPr>
          <a:xfrm>
            <a:off x="508635"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42"/>
          <p:cNvSpPr/>
          <p:nvPr/>
        </p:nvSpPr>
        <p:spPr>
          <a:xfrm>
            <a:off x="876300"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4" name="Google Shape;354;p42"/>
          <p:cNvSpPr/>
          <p:nvPr/>
        </p:nvSpPr>
        <p:spPr>
          <a:xfrm>
            <a:off x="1243965"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5" name="Google Shape;355;p42"/>
          <p:cNvSpPr/>
          <p:nvPr/>
        </p:nvSpPr>
        <p:spPr>
          <a:xfrm>
            <a:off x="1611630"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6" name="Google Shape;356;p42"/>
          <p:cNvSpPr/>
          <p:nvPr/>
        </p:nvSpPr>
        <p:spPr>
          <a:xfrm>
            <a:off x="1979295"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7" name="Google Shape;357;p42"/>
          <p:cNvSpPr/>
          <p:nvPr/>
        </p:nvSpPr>
        <p:spPr>
          <a:xfrm>
            <a:off x="2346960"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8" name="Google Shape;358;p42"/>
          <p:cNvSpPr/>
          <p:nvPr/>
        </p:nvSpPr>
        <p:spPr>
          <a:xfrm>
            <a:off x="2714625"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9" name="Google Shape;359;p42"/>
          <p:cNvSpPr/>
          <p:nvPr/>
        </p:nvSpPr>
        <p:spPr>
          <a:xfrm>
            <a:off x="3082290"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0" name="Google Shape;360;p42"/>
          <p:cNvSpPr/>
          <p:nvPr/>
        </p:nvSpPr>
        <p:spPr>
          <a:xfrm>
            <a:off x="3449955"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1" name="Google Shape;361;p42"/>
          <p:cNvSpPr/>
          <p:nvPr/>
        </p:nvSpPr>
        <p:spPr>
          <a:xfrm>
            <a:off x="3817620"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2" name="Google Shape;362;p42"/>
          <p:cNvSpPr/>
          <p:nvPr/>
        </p:nvSpPr>
        <p:spPr>
          <a:xfrm>
            <a:off x="4185285"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3" name="Google Shape;363;p42"/>
          <p:cNvSpPr/>
          <p:nvPr/>
        </p:nvSpPr>
        <p:spPr>
          <a:xfrm>
            <a:off x="4552950" y="2127704"/>
            <a:ext cx="367800" cy="77340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4" name="Google Shape;364;p42"/>
          <p:cNvSpPr txBox="1"/>
          <p:nvPr/>
        </p:nvSpPr>
        <p:spPr>
          <a:xfrm>
            <a:off x="543878" y="3558905"/>
            <a:ext cx="8838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0</a:t>
            </a:r>
            <a:endParaRPr b="0" i="0" sz="1400" u="none" cap="none" strike="noStrike">
              <a:solidFill>
                <a:schemeClr val="dk1"/>
              </a:solidFill>
              <a:latin typeface="Arial"/>
              <a:ea typeface="Arial"/>
              <a:cs typeface="Arial"/>
              <a:sym typeface="Arial"/>
            </a:endParaRPr>
          </a:p>
        </p:txBody>
      </p:sp>
      <p:cxnSp>
        <p:nvCxnSpPr>
          <p:cNvPr id="365" name="Google Shape;365;p42"/>
          <p:cNvCxnSpPr>
            <a:stCxn id="364" idx="0"/>
            <a:endCxn id="353" idx="2"/>
          </p:cNvCxnSpPr>
          <p:nvPr/>
        </p:nvCxnSpPr>
        <p:spPr>
          <a:xfrm flipH="1" rot="10800000">
            <a:off x="985778" y="2901005"/>
            <a:ext cx="744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366" name="Google Shape;366;p42"/>
          <p:cNvSpPr txBox="1"/>
          <p:nvPr/>
        </p:nvSpPr>
        <p:spPr>
          <a:xfrm>
            <a:off x="3615574" y="3558905"/>
            <a:ext cx="8838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400" u="none" cap="none" strike="noStrike">
                <a:solidFill>
                  <a:schemeClr val="dk1"/>
                </a:solidFill>
                <a:latin typeface="Arial"/>
                <a:ea typeface="Arial"/>
                <a:cs typeface="Arial"/>
                <a:sym typeface="Arial"/>
              </a:rPr>
              <a:t>Req 1</a:t>
            </a:r>
            <a:endParaRPr b="0" i="0" sz="1400" u="none" cap="none" strike="noStrike">
              <a:solidFill>
                <a:schemeClr val="dk1"/>
              </a:solidFill>
              <a:latin typeface="Arial"/>
              <a:ea typeface="Arial"/>
              <a:cs typeface="Arial"/>
              <a:sym typeface="Arial"/>
            </a:endParaRPr>
          </a:p>
        </p:txBody>
      </p:sp>
      <p:cxnSp>
        <p:nvCxnSpPr>
          <p:cNvPr id="367" name="Google Shape;367;p42"/>
          <p:cNvCxnSpPr>
            <a:stCxn id="366" idx="0"/>
            <a:endCxn id="360" idx="2"/>
          </p:cNvCxnSpPr>
          <p:nvPr/>
        </p:nvCxnSpPr>
        <p:spPr>
          <a:xfrm rot="10800000">
            <a:off x="3633874" y="2901005"/>
            <a:ext cx="4236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368" name="Google Shape;368;p42"/>
          <p:cNvSpPr/>
          <p:nvPr/>
        </p:nvSpPr>
        <p:spPr>
          <a:xfrm>
            <a:off x="880586"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9" name="Google Shape;369;p42"/>
          <p:cNvSpPr/>
          <p:nvPr/>
        </p:nvSpPr>
        <p:spPr>
          <a:xfrm>
            <a:off x="3451816"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0" name="Google Shape;370;p42"/>
          <p:cNvSpPr/>
          <p:nvPr/>
        </p:nvSpPr>
        <p:spPr>
          <a:xfrm>
            <a:off x="971492"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1" name="Google Shape;371;p42"/>
          <p:cNvSpPr/>
          <p:nvPr/>
        </p:nvSpPr>
        <p:spPr>
          <a:xfrm>
            <a:off x="3533891"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2" name="Google Shape;372;p42"/>
          <p:cNvSpPr/>
          <p:nvPr/>
        </p:nvSpPr>
        <p:spPr>
          <a:xfrm>
            <a:off x="1070377"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3" name="Google Shape;373;p42"/>
          <p:cNvSpPr/>
          <p:nvPr/>
        </p:nvSpPr>
        <p:spPr>
          <a:xfrm>
            <a:off x="3632777"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4" name="Google Shape;374;p42"/>
          <p:cNvSpPr/>
          <p:nvPr/>
        </p:nvSpPr>
        <p:spPr>
          <a:xfrm>
            <a:off x="1167590"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5" name="Google Shape;375;p42"/>
          <p:cNvSpPr/>
          <p:nvPr/>
        </p:nvSpPr>
        <p:spPr>
          <a:xfrm>
            <a:off x="3729990"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76" name="Google Shape;376;p42"/>
          <p:cNvCxnSpPr>
            <a:stCxn id="364" idx="0"/>
            <a:endCxn id="356" idx="2"/>
          </p:cNvCxnSpPr>
          <p:nvPr/>
        </p:nvCxnSpPr>
        <p:spPr>
          <a:xfrm flipH="1" rot="10800000">
            <a:off x="985777" y="2901005"/>
            <a:ext cx="11775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377" name="Google Shape;377;p42"/>
          <p:cNvSpPr/>
          <p:nvPr/>
        </p:nvSpPr>
        <p:spPr>
          <a:xfrm>
            <a:off x="1993641"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 name="Google Shape;378;p42"/>
          <p:cNvSpPr/>
          <p:nvPr/>
        </p:nvSpPr>
        <p:spPr>
          <a:xfrm>
            <a:off x="2094188" y="2127704"/>
            <a:ext cx="87600" cy="77340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9" name="Google Shape;379;p42"/>
          <p:cNvSpPr txBox="1"/>
          <p:nvPr/>
        </p:nvSpPr>
        <p:spPr>
          <a:xfrm>
            <a:off x="1223010" y="3863237"/>
            <a:ext cx="6678900" cy="438600"/>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2400" u="none" cap="none" strike="noStrike">
                <a:solidFill>
                  <a:srgbClr val="33006F"/>
                </a:solidFill>
                <a:latin typeface="Arial"/>
                <a:ea typeface="Arial"/>
                <a:cs typeface="Arial"/>
                <a:sym typeface="Arial"/>
              </a:rPr>
              <a:t>No fragmentation</a:t>
            </a:r>
            <a:endParaRPr sz="1100"/>
          </a:p>
        </p:txBody>
      </p:sp>
      <p:sp>
        <p:nvSpPr>
          <p:cNvPr id="380" name="Google Shape;380;p42"/>
          <p:cNvSpPr txBox="1"/>
          <p:nvPr/>
        </p:nvSpPr>
        <p:spPr>
          <a:xfrm>
            <a:off x="57839" y="4413720"/>
            <a:ext cx="90861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BFBFBF"/>
                </a:solidFill>
                <a:latin typeface="Arial"/>
                <a:ea typeface="Arial"/>
                <a:cs typeface="Arial"/>
                <a:sym typeface="Arial"/>
              </a:rPr>
              <a:t>Kwon et al., </a:t>
            </a:r>
            <a:r>
              <a:rPr b="0" i="0" lang="en" sz="1400" u="none" cap="none" strike="noStrike">
                <a:solidFill>
                  <a:srgbClr val="BFBFBF"/>
                </a:solidFill>
                <a:latin typeface="Merriweather Sans"/>
                <a:ea typeface="Merriweather Sans"/>
                <a:cs typeface="Merriweather Sans"/>
                <a:sym typeface="Merriweather Sans"/>
              </a:rPr>
              <a:t>Efficient Memory Management for Large Language Model Serving with PagedAttention</a:t>
            </a:r>
            <a:endParaRPr i="0" sz="1400">
              <a:solidFill>
                <a:srgbClr val="BFBFBF"/>
              </a:solidFill>
              <a:latin typeface="Merriweather Sans"/>
              <a:ea typeface="Merriweather Sans"/>
              <a:cs typeface="Merriweather Sans"/>
              <a:sym typeface="Merriweather Sans"/>
            </a:endParaRPr>
          </a:p>
          <a:p>
            <a:pPr indent="0" lvl="0" marL="0" marR="0" rtl="0" algn="l">
              <a:spcBef>
                <a:spcPts val="0"/>
              </a:spcBef>
              <a:spcAft>
                <a:spcPts val="0"/>
              </a:spcAft>
              <a:buNone/>
            </a:pPr>
            <a:r>
              <a:rPr lang="en" sz="1400" u="sng">
                <a:solidFill>
                  <a:schemeClr val="hlink"/>
                </a:solidFill>
                <a:latin typeface="Arial"/>
                <a:ea typeface="Arial"/>
                <a:cs typeface="Arial"/>
                <a:sym typeface="Arial"/>
                <a:hlinkClick r:id="rId3"/>
              </a:rPr>
              <a:t>https://arxiv.org/abs/2309.06180</a:t>
            </a:r>
            <a:endParaRPr sz="1400">
              <a:solidFill>
                <a:srgbClr val="BFBFBF"/>
              </a:solidFill>
              <a:latin typeface="Arial"/>
              <a:ea typeface="Arial"/>
              <a:cs typeface="Arial"/>
              <a:sym typeface="Arial"/>
            </a:endParaRPr>
          </a:p>
          <a:p>
            <a:pPr indent="0" lvl="0" marL="0" marR="0" rtl="0" algn="l">
              <a:spcBef>
                <a:spcPts val="0"/>
              </a:spcBef>
              <a:spcAft>
                <a:spcPts val="0"/>
              </a:spcAft>
              <a:buNone/>
            </a:pPr>
            <a:r>
              <a:rPr lang="en">
                <a:solidFill>
                  <a:srgbClr val="BFBFBF"/>
                </a:solidFill>
              </a:rPr>
              <a:t>+</a:t>
            </a:r>
            <a:r>
              <a:rPr lang="en">
                <a:solidFill>
                  <a:srgbClr val="BFBFBF"/>
                </a:solidFill>
              </a:rPr>
              <a:t>8: number of KV heads</a:t>
            </a:r>
            <a:endParaRPr>
              <a:solidFill>
                <a:srgbClr val="BFBFB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Allocation Method 3 – PagedAttention</a:t>
            </a:r>
            <a:endParaRPr/>
          </a:p>
        </p:txBody>
      </p:sp>
      <p:graphicFrame>
        <p:nvGraphicFramePr>
          <p:cNvPr id="386" name="Google Shape;386;p43"/>
          <p:cNvGraphicFramePr/>
          <p:nvPr/>
        </p:nvGraphicFramePr>
        <p:xfrm>
          <a:off x="1555750" y="2286793"/>
          <a:ext cx="3000000" cy="3000000"/>
        </p:xfrm>
        <a:graphic>
          <a:graphicData uri="http://schemas.openxmlformats.org/drawingml/2006/table">
            <a:tbl>
              <a:tblPr bandRow="1" firstRow="1">
                <a:noFill/>
                <a:tableStyleId>{678AEC5B-AFCC-47DE-A650-B2815C0AB283}</a:tableStyleId>
              </a:tblPr>
              <a:tblGrid>
                <a:gridCol w="1219200"/>
                <a:gridCol w="1219200"/>
                <a:gridCol w="1219200"/>
                <a:gridCol w="1219200"/>
                <a:gridCol w="1219200"/>
              </a:tblGrid>
              <a:tr h="171450">
                <a:tc>
                  <a:txBody>
                    <a:bodyPr/>
                    <a:lstStyle/>
                    <a:p>
                      <a:pPr indent="0" lvl="0" marL="0" marR="0" rtl="0" algn="l">
                        <a:spcBef>
                          <a:spcPts val="0"/>
                        </a:spcBef>
                        <a:spcAft>
                          <a:spcPts val="0"/>
                        </a:spcAft>
                        <a:buNone/>
                      </a:pPr>
                      <a:r>
                        <a:rPr lang="en" sz="1400" u="none" cap="none" strike="noStrike"/>
                        <a:t>Request ID</a:t>
                      </a:r>
                      <a:endParaRPr sz="1400"/>
                    </a:p>
                  </a:txBody>
                  <a:tcPr marT="34300" marB="34300" marR="68600" marL="68600"/>
                </a:tc>
                <a:tc gridSpan="4">
                  <a:txBody>
                    <a:bodyPr/>
                    <a:lstStyle/>
                    <a:p>
                      <a:pPr indent="0" lvl="0" marL="0" marR="0" rtl="0" algn="l">
                        <a:spcBef>
                          <a:spcPts val="0"/>
                        </a:spcBef>
                        <a:spcAft>
                          <a:spcPts val="0"/>
                        </a:spcAft>
                        <a:buNone/>
                      </a:pPr>
                      <a:r>
                        <a:rPr lang="en" sz="1400"/>
                        <a:t>Page ID</a:t>
                      </a:r>
                      <a:endParaRPr sz="1400"/>
                    </a:p>
                  </a:txBody>
                  <a:tcPr marT="34300" marB="34300" marR="68600" marL="68600"/>
                </a:tc>
                <a:tc hMerge="1"/>
                <a:tc hMerge="1"/>
                <a:tc hMerge="1"/>
              </a:tr>
              <a:tr h="278125">
                <a:tc>
                  <a:txBody>
                    <a:bodyPr/>
                    <a:lstStyle/>
                    <a:p>
                      <a:pPr indent="0" lvl="0" marL="0" marR="0" rtl="0" algn="l">
                        <a:spcBef>
                          <a:spcPts val="0"/>
                        </a:spcBef>
                        <a:spcAft>
                          <a:spcPts val="0"/>
                        </a:spcAft>
                        <a:buNone/>
                      </a:pPr>
                      <a:r>
                        <a:rPr lang="en" sz="1400"/>
                        <a:t>0</a:t>
                      </a:r>
                      <a:endParaRPr sz="1400"/>
                    </a:p>
                  </a:txBody>
                  <a:tcPr marT="34300" marB="34300" marR="68600" marL="68600"/>
                </a:tc>
                <a:tc>
                  <a:txBody>
                    <a:bodyPr/>
                    <a:lstStyle/>
                    <a:p>
                      <a:pPr indent="0" lvl="0" marL="0" marR="0" rtl="0" algn="l">
                        <a:spcBef>
                          <a:spcPts val="0"/>
                        </a:spcBef>
                        <a:spcAft>
                          <a:spcPts val="0"/>
                        </a:spcAft>
                        <a:buNone/>
                      </a:pPr>
                      <a:r>
                        <a:rPr lang="en" sz="1400"/>
                        <a:t>1</a:t>
                      </a:r>
                      <a:endParaRPr sz="1400"/>
                    </a:p>
                  </a:txBody>
                  <a:tcPr marT="34300" marB="34300" marR="68600" marL="68600"/>
                </a:tc>
                <a:tc>
                  <a:txBody>
                    <a:bodyPr/>
                    <a:lstStyle/>
                    <a:p>
                      <a:pPr indent="0" lvl="0" marL="0" marR="0" rtl="0" algn="l">
                        <a:spcBef>
                          <a:spcPts val="0"/>
                        </a:spcBef>
                        <a:spcAft>
                          <a:spcPts val="0"/>
                        </a:spcAft>
                        <a:buNone/>
                      </a:pPr>
                      <a:r>
                        <a:rPr lang="en" sz="1400"/>
                        <a:t>4</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8125">
                <a:tc>
                  <a:txBody>
                    <a:bodyPr/>
                    <a:lstStyle/>
                    <a:p>
                      <a:pPr indent="0" lvl="0" marL="0" marR="0" rtl="0" algn="l">
                        <a:spcBef>
                          <a:spcPts val="0"/>
                        </a:spcBef>
                        <a:spcAft>
                          <a:spcPts val="0"/>
                        </a:spcAft>
                        <a:buNone/>
                      </a:pPr>
                      <a:r>
                        <a:rPr lang="en" sz="1400"/>
                        <a:t>1</a:t>
                      </a:r>
                      <a:endParaRPr sz="1400"/>
                    </a:p>
                  </a:txBody>
                  <a:tcPr marT="34300" marB="34300" marR="68600" marL="68600"/>
                </a:tc>
                <a:tc>
                  <a:txBody>
                    <a:bodyPr/>
                    <a:lstStyle/>
                    <a:p>
                      <a:pPr indent="0" lvl="0" marL="0" marR="0" rtl="0" algn="l">
                        <a:spcBef>
                          <a:spcPts val="0"/>
                        </a:spcBef>
                        <a:spcAft>
                          <a:spcPts val="0"/>
                        </a:spcAft>
                        <a:buNone/>
                      </a:pPr>
                      <a:r>
                        <a:rPr lang="en" sz="1400"/>
                        <a:t>8</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8125">
                <a:tc>
                  <a:txBody>
                    <a:bodyPr/>
                    <a:lstStyle/>
                    <a:p>
                      <a:pPr indent="0" lvl="0" marL="0" marR="0" rtl="0" algn="l">
                        <a:spcBef>
                          <a:spcPts val="0"/>
                        </a:spcBef>
                        <a:spcAft>
                          <a:spcPts val="0"/>
                        </a:spcAft>
                        <a:buNone/>
                      </a:pPr>
                      <a:r>
                        <a:rPr lang="en" sz="1400"/>
                        <a:t>2</a:t>
                      </a:r>
                      <a:endParaRPr sz="1400"/>
                    </a:p>
                  </a:txBody>
                  <a:tcPr marT="34300" marB="34300" marR="68600" marL="68600"/>
                </a:tc>
                <a:tc>
                  <a:txBody>
                    <a:bodyPr/>
                    <a:lstStyle/>
                    <a:p>
                      <a:pPr indent="0" lvl="0" marL="0" marR="0" rtl="0" algn="l">
                        <a:spcBef>
                          <a:spcPts val="0"/>
                        </a:spcBef>
                        <a:spcAft>
                          <a:spcPts val="0"/>
                        </a:spcAft>
                        <a:buNone/>
                      </a:pPr>
                      <a:r>
                        <a:rPr lang="en" sz="1400"/>
                        <a:t>2</a:t>
                      </a:r>
                      <a:endParaRPr sz="1400"/>
                    </a:p>
                  </a:txBody>
                  <a:tcPr marT="34300" marB="34300" marR="68600" marL="68600"/>
                </a:tc>
                <a:tc>
                  <a:txBody>
                    <a:bodyPr/>
                    <a:lstStyle/>
                    <a:p>
                      <a:pPr indent="0" lvl="0" marL="0" marR="0" rtl="0" algn="l">
                        <a:spcBef>
                          <a:spcPts val="0"/>
                        </a:spcBef>
                        <a:spcAft>
                          <a:spcPts val="0"/>
                        </a:spcAft>
                        <a:buNone/>
                      </a:pPr>
                      <a:r>
                        <a:rPr lang="en" sz="1400"/>
                        <a:t>5</a:t>
                      </a:r>
                      <a:endParaRPr sz="1400"/>
                    </a:p>
                  </a:txBody>
                  <a:tcPr marT="34300" marB="34300" marR="68600" marL="68600"/>
                </a:tc>
                <a:tc>
                  <a:txBody>
                    <a:bodyPr/>
                    <a:lstStyle/>
                    <a:p>
                      <a:pPr indent="0" lvl="0" marL="0" marR="0" rtl="0" algn="l">
                        <a:spcBef>
                          <a:spcPts val="0"/>
                        </a:spcBef>
                        <a:spcAft>
                          <a:spcPts val="0"/>
                        </a:spcAft>
                        <a:buNone/>
                      </a:pPr>
                      <a:r>
                        <a:rPr lang="en" sz="1400"/>
                        <a:t>0</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8125">
                <a:tc>
                  <a:txBody>
                    <a:bodyPr/>
                    <a:lstStyle/>
                    <a:p>
                      <a:pPr indent="0" lvl="0" marL="0" marR="0" rtl="0" algn="l">
                        <a:spcBef>
                          <a:spcPts val="0"/>
                        </a:spcBef>
                        <a:spcAft>
                          <a:spcPts val="0"/>
                        </a:spcAft>
                        <a:buNone/>
                      </a:pPr>
                      <a:r>
                        <a:rPr lang="en" sz="1400"/>
                        <a:t>3</a:t>
                      </a:r>
                      <a:endParaRPr sz="1400"/>
                    </a:p>
                  </a:txBody>
                  <a:tcPr marT="34300" marB="34300" marR="68600" marL="68600"/>
                </a:tc>
                <a:tc>
                  <a:txBody>
                    <a:bodyPr/>
                    <a:lstStyle/>
                    <a:p>
                      <a:pPr indent="0" lvl="0" marL="0" marR="0" rtl="0" algn="l">
                        <a:spcBef>
                          <a:spcPts val="0"/>
                        </a:spcBef>
                        <a:spcAft>
                          <a:spcPts val="0"/>
                        </a:spcAft>
                        <a:buNone/>
                      </a:pPr>
                      <a:r>
                        <a:rPr lang="en" sz="1400"/>
                        <a:t>6</a:t>
                      </a:r>
                      <a:endParaRPr sz="1400"/>
                    </a:p>
                  </a:txBody>
                  <a:tcPr marT="34300" marB="34300" marR="68600" marL="68600"/>
                </a:tc>
                <a:tc>
                  <a:txBody>
                    <a:bodyPr/>
                    <a:lstStyle/>
                    <a:p>
                      <a:pPr indent="0" lvl="0" marL="0" marR="0" rtl="0" algn="l">
                        <a:spcBef>
                          <a:spcPts val="0"/>
                        </a:spcBef>
                        <a:spcAft>
                          <a:spcPts val="0"/>
                        </a:spcAft>
                        <a:buNone/>
                      </a:pPr>
                      <a:r>
                        <a:rPr lang="en" sz="1400"/>
                        <a:t>10</a:t>
                      </a:r>
                      <a:endParaRPr sz="1400"/>
                    </a:p>
                  </a:txBody>
                  <a:tcPr marT="34300" marB="34300" marR="68600" marL="68600"/>
                </a:tc>
                <a:tc>
                  <a:txBody>
                    <a:bodyPr/>
                    <a:lstStyle/>
                    <a:p>
                      <a:pPr indent="0" lvl="0" marL="0" marR="0" rtl="0" algn="l">
                        <a:spcBef>
                          <a:spcPts val="0"/>
                        </a:spcBef>
                        <a:spcAft>
                          <a:spcPts val="0"/>
                        </a:spcAft>
                        <a:buNone/>
                      </a:pPr>
                      <a:r>
                        <a:rPr lang="en" sz="1400"/>
                        <a:t>15</a:t>
                      </a:r>
                      <a:endParaRPr sz="1400"/>
                    </a:p>
                  </a:txBody>
                  <a:tcPr marT="34300" marB="34300" marR="68600" marL="68600"/>
                </a:tc>
                <a:tc>
                  <a:txBody>
                    <a:bodyPr/>
                    <a:lstStyle/>
                    <a:p>
                      <a:pPr indent="0" lvl="0" marL="0" marR="0" rtl="0" algn="l">
                        <a:spcBef>
                          <a:spcPts val="0"/>
                        </a:spcBef>
                        <a:spcAft>
                          <a:spcPts val="0"/>
                        </a:spcAft>
                        <a:buNone/>
                      </a:pPr>
                      <a:r>
                        <a:rPr lang="en" sz="1400"/>
                        <a:t>17</a:t>
                      </a:r>
                      <a:endParaRPr sz="1400"/>
                    </a:p>
                  </a:txBody>
                  <a:tcPr marT="34300" marB="34300" marR="68600" marL="68600"/>
                </a:tc>
              </a:tr>
            </a:tbl>
          </a:graphicData>
        </a:graphic>
      </p:graphicFrame>
      <p:sp>
        <p:nvSpPr>
          <p:cNvPr id="387" name="Google Shape;387;p43"/>
          <p:cNvSpPr txBox="1"/>
          <p:nvPr/>
        </p:nvSpPr>
        <p:spPr>
          <a:xfrm>
            <a:off x="842197" y="4149083"/>
            <a:ext cx="7459500" cy="808200"/>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How to handle page tables with variable-length entries without padding?</a:t>
            </a:r>
            <a:endParaRPr sz="1100"/>
          </a:p>
        </p:txBody>
      </p:sp>
      <p:sp>
        <p:nvSpPr>
          <p:cNvPr id="388" name="Google Shape;388;p43"/>
          <p:cNvSpPr txBox="1"/>
          <p:nvPr>
            <p:ph idx="1" type="body"/>
          </p:nvPr>
        </p:nvSpPr>
        <p:spPr>
          <a:xfrm>
            <a:off x="311700" y="1152475"/>
            <a:ext cx="8520600" cy="1134300"/>
          </a:xfrm>
          <a:prstGeom prst="rect">
            <a:avLst/>
          </a:prstGeom>
          <a:noFill/>
          <a:ln>
            <a:noFill/>
          </a:ln>
        </p:spPr>
        <p:txBody>
          <a:bodyPr anchorCtr="0" anchor="t" bIns="68575" lIns="68575" spcFirstLastPara="1" rIns="68575" wrap="square" tIns="68575">
            <a:normAutofit lnSpcReduction="10000"/>
          </a:bodyPr>
          <a:lstStyle/>
          <a:p>
            <a:pPr indent="-342900" lvl="0" marL="457200" rtl="0" algn="l">
              <a:lnSpc>
                <a:spcPct val="90000"/>
              </a:lnSpc>
              <a:spcBef>
                <a:spcPts val="0"/>
              </a:spcBef>
              <a:spcAft>
                <a:spcPts val="0"/>
              </a:spcAft>
              <a:buClr>
                <a:schemeClr val="dk1"/>
              </a:buClr>
              <a:buSzPts val="1400"/>
              <a:buChar char="●"/>
            </a:pPr>
            <a:r>
              <a:rPr lang="en"/>
              <a:t>Due to the different number of pages per request, a basic page table is </a:t>
            </a:r>
            <a:r>
              <a:rPr lang="en"/>
              <a:t>unbalanced</a:t>
            </a:r>
            <a:endParaRPr/>
          </a:p>
          <a:p>
            <a:pPr indent="-342900" lvl="1" marL="914400" rtl="0" algn="l">
              <a:lnSpc>
                <a:spcPct val="90000"/>
              </a:lnSpc>
              <a:spcBef>
                <a:spcPts val="0"/>
              </a:spcBef>
              <a:spcAft>
                <a:spcPts val="0"/>
              </a:spcAft>
              <a:buClr>
                <a:schemeClr val="dk1"/>
              </a:buClr>
              <a:buSzPts val="1400"/>
              <a:buChar char="○"/>
            </a:pPr>
            <a:r>
              <a:rPr lang="en"/>
              <a:t>The page table also needs to be moved back and forth between the CPU and the GPU t every iteration.</a:t>
            </a: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Multi-Level Page Table </a:t>
            </a:r>
            <a:endParaRPr/>
          </a:p>
        </p:txBody>
      </p:sp>
      <p:sp>
        <p:nvSpPr>
          <p:cNvPr id="395" name="Google Shape;395;p44"/>
          <p:cNvSpPr/>
          <p:nvPr/>
        </p:nvSpPr>
        <p:spPr>
          <a:xfrm>
            <a:off x="2785647" y="358712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0</a:t>
            </a:r>
            <a:endParaRPr sz="1400">
              <a:solidFill>
                <a:schemeClr val="lt1"/>
              </a:solidFill>
              <a:latin typeface="Arial"/>
              <a:ea typeface="Arial"/>
              <a:cs typeface="Arial"/>
              <a:sym typeface="Arial"/>
            </a:endParaRPr>
          </a:p>
        </p:txBody>
      </p:sp>
      <p:sp>
        <p:nvSpPr>
          <p:cNvPr id="396" name="Google Shape;396;p44"/>
          <p:cNvSpPr txBox="1"/>
          <p:nvPr/>
        </p:nvSpPr>
        <p:spPr>
          <a:xfrm>
            <a:off x="1936721" y="3564835"/>
            <a:ext cx="90369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kv_indptr</a:t>
            </a:r>
            <a:endParaRPr sz="1400">
              <a:solidFill>
                <a:schemeClr val="dk1"/>
              </a:solidFill>
              <a:latin typeface="Arial"/>
              <a:ea typeface="Arial"/>
              <a:cs typeface="Arial"/>
              <a:sym typeface="Arial"/>
            </a:endParaRPr>
          </a:p>
        </p:txBody>
      </p:sp>
      <p:sp>
        <p:nvSpPr>
          <p:cNvPr id="397" name="Google Shape;397;p44"/>
          <p:cNvSpPr/>
          <p:nvPr/>
        </p:nvSpPr>
        <p:spPr>
          <a:xfrm>
            <a:off x="3422061" y="358712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2</a:t>
            </a:r>
            <a:endParaRPr sz="1400">
              <a:solidFill>
                <a:schemeClr val="lt1"/>
              </a:solidFill>
              <a:latin typeface="Arial"/>
              <a:ea typeface="Arial"/>
              <a:cs typeface="Arial"/>
              <a:sym typeface="Arial"/>
            </a:endParaRPr>
          </a:p>
        </p:txBody>
      </p:sp>
      <p:sp>
        <p:nvSpPr>
          <p:cNvPr id="398" name="Google Shape;398;p44"/>
          <p:cNvSpPr/>
          <p:nvPr/>
        </p:nvSpPr>
        <p:spPr>
          <a:xfrm>
            <a:off x="4058475" y="358712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3</a:t>
            </a:r>
            <a:endParaRPr sz="1400">
              <a:solidFill>
                <a:schemeClr val="lt1"/>
              </a:solidFill>
              <a:latin typeface="Arial"/>
              <a:ea typeface="Arial"/>
              <a:cs typeface="Arial"/>
              <a:sym typeface="Arial"/>
            </a:endParaRPr>
          </a:p>
        </p:txBody>
      </p:sp>
      <p:sp>
        <p:nvSpPr>
          <p:cNvPr id="399" name="Google Shape;399;p44"/>
          <p:cNvSpPr/>
          <p:nvPr/>
        </p:nvSpPr>
        <p:spPr>
          <a:xfrm>
            <a:off x="4694889" y="358712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6</a:t>
            </a:r>
            <a:endParaRPr sz="1400">
              <a:solidFill>
                <a:schemeClr val="lt1"/>
              </a:solidFill>
              <a:latin typeface="Arial"/>
              <a:ea typeface="Arial"/>
              <a:cs typeface="Arial"/>
              <a:sym typeface="Arial"/>
            </a:endParaRPr>
          </a:p>
        </p:txBody>
      </p:sp>
      <p:sp>
        <p:nvSpPr>
          <p:cNvPr id="400" name="Google Shape;400;p44"/>
          <p:cNvSpPr/>
          <p:nvPr/>
        </p:nvSpPr>
        <p:spPr>
          <a:xfrm>
            <a:off x="5331303" y="358712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10</a:t>
            </a:r>
            <a:endParaRPr sz="1400">
              <a:solidFill>
                <a:schemeClr val="lt1"/>
              </a:solidFill>
              <a:latin typeface="Arial"/>
              <a:ea typeface="Arial"/>
              <a:cs typeface="Arial"/>
              <a:sym typeface="Arial"/>
            </a:endParaRPr>
          </a:p>
        </p:txBody>
      </p:sp>
      <p:sp>
        <p:nvSpPr>
          <p:cNvPr id="401" name="Google Shape;401;p44"/>
          <p:cNvSpPr txBox="1"/>
          <p:nvPr/>
        </p:nvSpPr>
        <p:spPr>
          <a:xfrm>
            <a:off x="3051810" y="4023301"/>
            <a:ext cx="684072" cy="276999"/>
          </a:xfrm>
          <a:prstGeom prst="rect">
            <a:avLst/>
          </a:prstGeom>
          <a:solidFill>
            <a:schemeClr val="lt1"/>
          </a:solidFill>
          <a:ln cap="flat" cmpd="sng" w="19050">
            <a:solidFill>
              <a:schemeClr val="accent4"/>
            </a:solidFill>
            <a:prstDash val="solid"/>
            <a:miter lim="800000"/>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Req 0</a:t>
            </a:r>
            <a:endParaRPr sz="1400">
              <a:solidFill>
                <a:schemeClr val="dk1"/>
              </a:solidFill>
              <a:latin typeface="Arial"/>
              <a:ea typeface="Arial"/>
              <a:cs typeface="Arial"/>
              <a:sym typeface="Arial"/>
            </a:endParaRPr>
          </a:p>
        </p:txBody>
      </p:sp>
      <p:sp>
        <p:nvSpPr>
          <p:cNvPr id="402" name="Google Shape;402;p44"/>
          <p:cNvSpPr txBox="1"/>
          <p:nvPr/>
        </p:nvSpPr>
        <p:spPr>
          <a:xfrm>
            <a:off x="3735882" y="4023301"/>
            <a:ext cx="655464" cy="276999"/>
          </a:xfrm>
          <a:prstGeom prst="rect">
            <a:avLst/>
          </a:prstGeom>
          <a:solidFill>
            <a:schemeClr val="lt1"/>
          </a:solidFill>
          <a:ln cap="flat" cmpd="sng" w="19050">
            <a:solidFill>
              <a:schemeClr val="accent4"/>
            </a:solidFill>
            <a:prstDash val="solid"/>
            <a:miter lim="800000"/>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Req 1</a:t>
            </a:r>
            <a:endParaRPr sz="1400">
              <a:solidFill>
                <a:schemeClr val="dk1"/>
              </a:solidFill>
              <a:latin typeface="Arial"/>
              <a:ea typeface="Arial"/>
              <a:cs typeface="Arial"/>
              <a:sym typeface="Arial"/>
            </a:endParaRPr>
          </a:p>
        </p:txBody>
      </p:sp>
      <p:sp>
        <p:nvSpPr>
          <p:cNvPr id="403" name="Google Shape;403;p44"/>
          <p:cNvSpPr txBox="1"/>
          <p:nvPr/>
        </p:nvSpPr>
        <p:spPr>
          <a:xfrm>
            <a:off x="4365446" y="4023301"/>
            <a:ext cx="655464" cy="276999"/>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lt1"/>
                </a:solidFill>
                <a:latin typeface="Arial"/>
                <a:ea typeface="Arial"/>
                <a:cs typeface="Arial"/>
                <a:sym typeface="Arial"/>
              </a:rPr>
              <a:t>Req 2</a:t>
            </a:r>
            <a:endParaRPr b="1" sz="1400">
              <a:solidFill>
                <a:schemeClr val="lt1"/>
              </a:solidFill>
              <a:latin typeface="Arial"/>
              <a:ea typeface="Arial"/>
              <a:cs typeface="Arial"/>
              <a:sym typeface="Arial"/>
            </a:endParaRPr>
          </a:p>
        </p:txBody>
      </p:sp>
      <p:sp>
        <p:nvSpPr>
          <p:cNvPr id="404" name="Google Shape;404;p44"/>
          <p:cNvSpPr txBox="1"/>
          <p:nvPr/>
        </p:nvSpPr>
        <p:spPr>
          <a:xfrm>
            <a:off x="5017377" y="4026679"/>
            <a:ext cx="640080" cy="276999"/>
          </a:xfrm>
          <a:prstGeom prst="rect">
            <a:avLst/>
          </a:prstGeom>
          <a:solidFill>
            <a:schemeClr val="lt1"/>
          </a:solidFill>
          <a:ln cap="flat" cmpd="sng" w="19050">
            <a:solidFill>
              <a:schemeClr val="accent4"/>
            </a:solidFill>
            <a:prstDash val="solid"/>
            <a:miter lim="800000"/>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Req 3</a:t>
            </a:r>
            <a:endParaRPr sz="1400">
              <a:solidFill>
                <a:schemeClr val="dk1"/>
              </a:solidFill>
              <a:latin typeface="Arial"/>
              <a:ea typeface="Arial"/>
              <a:cs typeface="Arial"/>
              <a:sym typeface="Arial"/>
            </a:endParaRPr>
          </a:p>
        </p:txBody>
      </p:sp>
      <p:sp>
        <p:nvSpPr>
          <p:cNvPr id="405" name="Google Shape;405;p44"/>
          <p:cNvSpPr txBox="1"/>
          <p:nvPr/>
        </p:nvSpPr>
        <p:spPr>
          <a:xfrm>
            <a:off x="6353784" y="3555741"/>
            <a:ext cx="1419153" cy="276999"/>
          </a:xfrm>
          <a:prstGeom prst="rect">
            <a:avLst/>
          </a:prstGeom>
          <a:solidFill>
            <a:schemeClr val="lt1"/>
          </a:solidFill>
          <a:ln cap="flat" cmpd="sng" w="19050">
            <a:solidFill>
              <a:schemeClr val="accent6"/>
            </a:solidFill>
            <a:prstDash val="solid"/>
            <a:miter lim="800000"/>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NumReq + 1</a:t>
            </a:r>
            <a:endParaRPr sz="1400">
              <a:solidFill>
                <a:schemeClr val="dk1"/>
              </a:solidFill>
              <a:latin typeface="Arial"/>
              <a:ea typeface="Arial"/>
              <a:cs typeface="Arial"/>
              <a:sym typeface="Arial"/>
            </a:endParaRPr>
          </a:p>
        </p:txBody>
      </p:sp>
      <p:sp>
        <p:nvSpPr>
          <p:cNvPr id="406" name="Google Shape;406;p44"/>
          <p:cNvSpPr txBox="1"/>
          <p:nvPr/>
        </p:nvSpPr>
        <p:spPr>
          <a:xfrm>
            <a:off x="414675" y="2815470"/>
            <a:ext cx="108276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kv_indices</a:t>
            </a:r>
            <a:endParaRPr sz="1400">
              <a:solidFill>
                <a:schemeClr val="dk1"/>
              </a:solidFill>
              <a:latin typeface="Arial"/>
              <a:ea typeface="Arial"/>
              <a:cs typeface="Arial"/>
              <a:sym typeface="Arial"/>
            </a:endParaRPr>
          </a:p>
        </p:txBody>
      </p:sp>
      <p:sp>
        <p:nvSpPr>
          <p:cNvPr id="407" name="Google Shape;407;p44"/>
          <p:cNvSpPr/>
          <p:nvPr/>
        </p:nvSpPr>
        <p:spPr>
          <a:xfrm>
            <a:off x="1490103"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1</a:t>
            </a:r>
            <a:endParaRPr sz="1400">
              <a:solidFill>
                <a:schemeClr val="lt1"/>
              </a:solidFill>
              <a:latin typeface="Arial"/>
              <a:ea typeface="Arial"/>
              <a:cs typeface="Arial"/>
              <a:sym typeface="Arial"/>
            </a:endParaRPr>
          </a:p>
        </p:txBody>
      </p:sp>
      <p:sp>
        <p:nvSpPr>
          <p:cNvPr id="408" name="Google Shape;408;p44"/>
          <p:cNvSpPr/>
          <p:nvPr/>
        </p:nvSpPr>
        <p:spPr>
          <a:xfrm>
            <a:off x="2126517"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4</a:t>
            </a:r>
            <a:endParaRPr sz="1400">
              <a:solidFill>
                <a:schemeClr val="lt1"/>
              </a:solidFill>
              <a:latin typeface="Arial"/>
              <a:ea typeface="Arial"/>
              <a:cs typeface="Arial"/>
              <a:sym typeface="Arial"/>
            </a:endParaRPr>
          </a:p>
        </p:txBody>
      </p:sp>
      <p:sp>
        <p:nvSpPr>
          <p:cNvPr id="409" name="Google Shape;409;p44"/>
          <p:cNvSpPr/>
          <p:nvPr/>
        </p:nvSpPr>
        <p:spPr>
          <a:xfrm>
            <a:off x="2762931"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8</a:t>
            </a:r>
            <a:endParaRPr sz="1400">
              <a:solidFill>
                <a:schemeClr val="lt1"/>
              </a:solidFill>
              <a:latin typeface="Arial"/>
              <a:ea typeface="Arial"/>
              <a:cs typeface="Arial"/>
              <a:sym typeface="Arial"/>
            </a:endParaRPr>
          </a:p>
        </p:txBody>
      </p:sp>
      <p:sp>
        <p:nvSpPr>
          <p:cNvPr id="410" name="Google Shape;410;p44"/>
          <p:cNvSpPr/>
          <p:nvPr/>
        </p:nvSpPr>
        <p:spPr>
          <a:xfrm>
            <a:off x="3399345"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2</a:t>
            </a:r>
            <a:endParaRPr sz="1400">
              <a:solidFill>
                <a:schemeClr val="lt1"/>
              </a:solidFill>
              <a:latin typeface="Arial"/>
              <a:ea typeface="Arial"/>
              <a:cs typeface="Arial"/>
              <a:sym typeface="Arial"/>
            </a:endParaRPr>
          </a:p>
        </p:txBody>
      </p:sp>
      <p:sp>
        <p:nvSpPr>
          <p:cNvPr id="411" name="Google Shape;411;p44"/>
          <p:cNvSpPr/>
          <p:nvPr/>
        </p:nvSpPr>
        <p:spPr>
          <a:xfrm>
            <a:off x="4035759"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5</a:t>
            </a:r>
            <a:endParaRPr sz="1400">
              <a:solidFill>
                <a:schemeClr val="lt1"/>
              </a:solidFill>
              <a:latin typeface="Arial"/>
              <a:ea typeface="Arial"/>
              <a:cs typeface="Arial"/>
              <a:sym typeface="Arial"/>
            </a:endParaRPr>
          </a:p>
        </p:txBody>
      </p:sp>
      <p:sp>
        <p:nvSpPr>
          <p:cNvPr id="412" name="Google Shape;412;p44"/>
          <p:cNvSpPr/>
          <p:nvPr/>
        </p:nvSpPr>
        <p:spPr>
          <a:xfrm>
            <a:off x="4672173"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0</a:t>
            </a:r>
            <a:endParaRPr sz="1400">
              <a:solidFill>
                <a:schemeClr val="lt1"/>
              </a:solidFill>
              <a:latin typeface="Arial"/>
              <a:ea typeface="Arial"/>
              <a:cs typeface="Arial"/>
              <a:sym typeface="Arial"/>
            </a:endParaRPr>
          </a:p>
        </p:txBody>
      </p:sp>
      <p:sp>
        <p:nvSpPr>
          <p:cNvPr id="413" name="Google Shape;413;p44"/>
          <p:cNvSpPr/>
          <p:nvPr/>
        </p:nvSpPr>
        <p:spPr>
          <a:xfrm>
            <a:off x="5304921"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6</a:t>
            </a:r>
            <a:endParaRPr sz="1400">
              <a:solidFill>
                <a:schemeClr val="lt1"/>
              </a:solidFill>
              <a:latin typeface="Arial"/>
              <a:ea typeface="Arial"/>
              <a:cs typeface="Arial"/>
              <a:sym typeface="Arial"/>
            </a:endParaRPr>
          </a:p>
        </p:txBody>
      </p:sp>
      <p:sp>
        <p:nvSpPr>
          <p:cNvPr id="414" name="Google Shape;414;p44"/>
          <p:cNvSpPr/>
          <p:nvPr/>
        </p:nvSpPr>
        <p:spPr>
          <a:xfrm>
            <a:off x="5941335"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10</a:t>
            </a:r>
            <a:endParaRPr sz="1400">
              <a:solidFill>
                <a:schemeClr val="lt1"/>
              </a:solidFill>
              <a:latin typeface="Arial"/>
              <a:ea typeface="Arial"/>
              <a:cs typeface="Arial"/>
              <a:sym typeface="Arial"/>
            </a:endParaRPr>
          </a:p>
        </p:txBody>
      </p:sp>
      <p:sp>
        <p:nvSpPr>
          <p:cNvPr id="415" name="Google Shape;415;p44"/>
          <p:cNvSpPr/>
          <p:nvPr/>
        </p:nvSpPr>
        <p:spPr>
          <a:xfrm>
            <a:off x="6581415"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15</a:t>
            </a:r>
            <a:endParaRPr sz="1400">
              <a:solidFill>
                <a:schemeClr val="lt1"/>
              </a:solidFill>
              <a:latin typeface="Arial"/>
              <a:ea typeface="Arial"/>
              <a:cs typeface="Arial"/>
              <a:sym typeface="Arial"/>
            </a:endParaRPr>
          </a:p>
        </p:txBody>
      </p:sp>
      <p:sp>
        <p:nvSpPr>
          <p:cNvPr id="416" name="Google Shape;416;p44"/>
          <p:cNvSpPr/>
          <p:nvPr/>
        </p:nvSpPr>
        <p:spPr>
          <a:xfrm>
            <a:off x="7217829" y="2860059"/>
            <a:ext cx="640080" cy="23241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17</a:t>
            </a:r>
            <a:endParaRPr sz="1400">
              <a:solidFill>
                <a:schemeClr val="lt1"/>
              </a:solidFill>
              <a:latin typeface="Arial"/>
              <a:ea typeface="Arial"/>
              <a:cs typeface="Arial"/>
              <a:sym typeface="Arial"/>
            </a:endParaRPr>
          </a:p>
        </p:txBody>
      </p:sp>
      <p:cxnSp>
        <p:nvCxnSpPr>
          <p:cNvPr id="417" name="Google Shape;417;p44"/>
          <p:cNvCxnSpPr>
            <a:stCxn id="395" idx="0"/>
            <a:endCxn id="407" idx="2"/>
          </p:cNvCxnSpPr>
          <p:nvPr/>
        </p:nvCxnSpPr>
        <p:spPr>
          <a:xfrm rot="10800000">
            <a:off x="1810287" y="3092429"/>
            <a:ext cx="1295400" cy="4947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18" name="Google Shape;418;p44"/>
          <p:cNvCxnSpPr>
            <a:endCxn id="409" idx="2"/>
          </p:cNvCxnSpPr>
          <p:nvPr/>
        </p:nvCxnSpPr>
        <p:spPr>
          <a:xfrm rot="10800000">
            <a:off x="3082971" y="3092469"/>
            <a:ext cx="655500" cy="4890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19" name="Google Shape;419;p44"/>
          <p:cNvCxnSpPr/>
          <p:nvPr/>
        </p:nvCxnSpPr>
        <p:spPr>
          <a:xfrm rot="10800000">
            <a:off x="3735882" y="3102991"/>
            <a:ext cx="655464" cy="488960"/>
          </a:xfrm>
          <a:prstGeom prst="straightConnector1">
            <a:avLst/>
          </a:prstGeom>
          <a:noFill/>
          <a:ln cap="flat" cmpd="sng" w="76200">
            <a:solidFill>
              <a:schemeClr val="accent2"/>
            </a:solidFill>
            <a:prstDash val="solid"/>
            <a:miter lim="800000"/>
            <a:headEnd len="sm" w="sm" type="none"/>
            <a:tailEnd len="med" w="med" type="stealth"/>
          </a:ln>
        </p:spPr>
      </p:cxnSp>
      <p:cxnSp>
        <p:nvCxnSpPr>
          <p:cNvPr id="420" name="Google Shape;420;p44"/>
          <p:cNvCxnSpPr>
            <a:endCxn id="416" idx="2"/>
          </p:cNvCxnSpPr>
          <p:nvPr/>
        </p:nvCxnSpPr>
        <p:spPr>
          <a:xfrm flipH="1" rot="10800000">
            <a:off x="5647569" y="3092469"/>
            <a:ext cx="1890300" cy="494400"/>
          </a:xfrm>
          <a:prstGeom prst="straightConnector1">
            <a:avLst/>
          </a:prstGeom>
          <a:noFill/>
          <a:ln cap="flat" cmpd="sng" w="19050">
            <a:solidFill>
              <a:schemeClr val="accent1"/>
            </a:solidFill>
            <a:prstDash val="solid"/>
            <a:miter lim="800000"/>
            <a:headEnd len="sm" w="sm" type="none"/>
            <a:tailEnd len="med" w="med" type="triangle"/>
          </a:ln>
        </p:spPr>
      </p:cxnSp>
      <p:sp>
        <p:nvSpPr>
          <p:cNvPr id="421" name="Google Shape;421;p44"/>
          <p:cNvSpPr txBox="1"/>
          <p:nvPr/>
        </p:nvSpPr>
        <p:spPr>
          <a:xfrm>
            <a:off x="7926594" y="2844922"/>
            <a:ext cx="1063918" cy="276999"/>
          </a:xfrm>
          <a:prstGeom prst="rect">
            <a:avLst/>
          </a:prstGeom>
          <a:solidFill>
            <a:schemeClr val="lt1"/>
          </a:solidFill>
          <a:ln cap="flat" cmpd="sng" w="19050">
            <a:solidFill>
              <a:schemeClr val="accent6"/>
            </a:solidFill>
            <a:prstDash val="solid"/>
            <a:miter lim="800000"/>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NumPage </a:t>
            </a:r>
            <a:endParaRPr sz="1400">
              <a:solidFill>
                <a:schemeClr val="dk1"/>
              </a:solidFill>
              <a:latin typeface="Arial"/>
              <a:ea typeface="Arial"/>
              <a:cs typeface="Arial"/>
              <a:sym typeface="Arial"/>
            </a:endParaRPr>
          </a:p>
        </p:txBody>
      </p:sp>
      <p:sp>
        <p:nvSpPr>
          <p:cNvPr id="422" name="Google Shape;422;p44"/>
          <p:cNvSpPr txBox="1"/>
          <p:nvPr/>
        </p:nvSpPr>
        <p:spPr>
          <a:xfrm>
            <a:off x="-152405" y="1747052"/>
            <a:ext cx="108276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kv_data</a:t>
            </a:r>
            <a:endParaRPr sz="1400">
              <a:solidFill>
                <a:schemeClr val="dk1"/>
              </a:solidFill>
              <a:latin typeface="Arial"/>
              <a:ea typeface="Arial"/>
              <a:cs typeface="Arial"/>
              <a:sym typeface="Arial"/>
            </a:endParaRPr>
          </a:p>
        </p:txBody>
      </p:sp>
      <p:sp>
        <p:nvSpPr>
          <p:cNvPr id="423" name="Google Shape;423;p44"/>
          <p:cNvSpPr/>
          <p:nvPr/>
        </p:nvSpPr>
        <p:spPr>
          <a:xfrm>
            <a:off x="845820" y="1537040"/>
            <a:ext cx="8107680" cy="77343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24" name="Google Shape;424;p44"/>
          <p:cNvSpPr/>
          <p:nvPr/>
        </p:nvSpPr>
        <p:spPr>
          <a:xfrm>
            <a:off x="845820" y="1537040"/>
            <a:ext cx="367665" cy="773430"/>
          </a:xfrm>
          <a:prstGeom prst="rect">
            <a:avLst/>
          </a:prstGeom>
          <a:solidFill>
            <a:srgbClr val="BF4F14"/>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25" name="Google Shape;425;p44"/>
          <p:cNvSpPr/>
          <p:nvPr/>
        </p:nvSpPr>
        <p:spPr>
          <a:xfrm>
            <a:off x="1213485"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26" name="Google Shape;426;p44"/>
          <p:cNvSpPr/>
          <p:nvPr/>
        </p:nvSpPr>
        <p:spPr>
          <a:xfrm>
            <a:off x="1581150" y="1537040"/>
            <a:ext cx="367665" cy="773430"/>
          </a:xfrm>
          <a:prstGeom prst="rect">
            <a:avLst/>
          </a:prstGeom>
          <a:solidFill>
            <a:srgbClr val="BF4F14"/>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27" name="Google Shape;427;p44"/>
          <p:cNvSpPr/>
          <p:nvPr/>
        </p:nvSpPr>
        <p:spPr>
          <a:xfrm>
            <a:off x="1948815"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28" name="Google Shape;428;p44"/>
          <p:cNvSpPr/>
          <p:nvPr/>
        </p:nvSpPr>
        <p:spPr>
          <a:xfrm>
            <a:off x="2316480" y="1537040"/>
            <a:ext cx="367665" cy="773430"/>
          </a:xfrm>
          <a:prstGeom prst="rect">
            <a:avLst/>
          </a:prstGeom>
          <a:solidFill>
            <a:srgbClr val="BF4F14"/>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29" name="Google Shape;429;p44"/>
          <p:cNvSpPr/>
          <p:nvPr/>
        </p:nvSpPr>
        <p:spPr>
          <a:xfrm>
            <a:off x="2684145" y="1537040"/>
            <a:ext cx="367665" cy="773430"/>
          </a:xfrm>
          <a:prstGeom prst="rect">
            <a:avLst/>
          </a:prstGeom>
          <a:solidFill>
            <a:srgbClr val="F2A98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30" name="Google Shape;430;p44"/>
          <p:cNvSpPr/>
          <p:nvPr/>
        </p:nvSpPr>
        <p:spPr>
          <a:xfrm>
            <a:off x="3051810"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31" name="Google Shape;431;p44"/>
          <p:cNvSpPr/>
          <p:nvPr/>
        </p:nvSpPr>
        <p:spPr>
          <a:xfrm>
            <a:off x="3419475"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32" name="Google Shape;432;p44"/>
          <p:cNvSpPr/>
          <p:nvPr/>
        </p:nvSpPr>
        <p:spPr>
          <a:xfrm>
            <a:off x="3787140"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33" name="Google Shape;433;p44"/>
          <p:cNvSpPr/>
          <p:nvPr/>
        </p:nvSpPr>
        <p:spPr>
          <a:xfrm>
            <a:off x="4154805"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34" name="Google Shape;434;p44"/>
          <p:cNvSpPr/>
          <p:nvPr/>
        </p:nvSpPr>
        <p:spPr>
          <a:xfrm>
            <a:off x="4522470"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35" name="Google Shape;435;p44"/>
          <p:cNvSpPr/>
          <p:nvPr/>
        </p:nvSpPr>
        <p:spPr>
          <a:xfrm>
            <a:off x="4890135" y="1537040"/>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436" name="Google Shape;436;p44"/>
          <p:cNvCxnSpPr>
            <a:stCxn id="407" idx="0"/>
            <a:endCxn id="425" idx="2"/>
          </p:cNvCxnSpPr>
          <p:nvPr/>
        </p:nvCxnSpPr>
        <p:spPr>
          <a:xfrm rot="10800000">
            <a:off x="1397343" y="2310459"/>
            <a:ext cx="412800" cy="5496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37" name="Google Shape;437;p44"/>
          <p:cNvCxnSpPr>
            <a:endCxn id="427" idx="2"/>
          </p:cNvCxnSpPr>
          <p:nvPr/>
        </p:nvCxnSpPr>
        <p:spPr>
          <a:xfrm rot="10800000">
            <a:off x="2132648" y="2310470"/>
            <a:ext cx="338100" cy="543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38" name="Google Shape;438;p44"/>
          <p:cNvCxnSpPr>
            <a:endCxn id="431" idx="2"/>
          </p:cNvCxnSpPr>
          <p:nvPr/>
        </p:nvCxnSpPr>
        <p:spPr>
          <a:xfrm flipH="1" rot="10800000">
            <a:off x="3081007" y="2310470"/>
            <a:ext cx="522300" cy="5466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39" name="Google Shape;439;p44"/>
          <p:cNvCxnSpPr>
            <a:endCxn id="426" idx="2"/>
          </p:cNvCxnSpPr>
          <p:nvPr/>
        </p:nvCxnSpPr>
        <p:spPr>
          <a:xfrm rot="10800000">
            <a:off x="1764982" y="2310470"/>
            <a:ext cx="1940700" cy="546600"/>
          </a:xfrm>
          <a:prstGeom prst="straightConnector1">
            <a:avLst/>
          </a:prstGeom>
          <a:noFill/>
          <a:ln cap="flat" cmpd="sng" w="57150">
            <a:solidFill>
              <a:schemeClr val="accent2"/>
            </a:solidFill>
            <a:prstDash val="solid"/>
            <a:miter lim="800000"/>
            <a:headEnd len="sm" w="sm" type="none"/>
            <a:tailEnd len="med" w="med" type="triangle"/>
          </a:ln>
        </p:spPr>
      </p:cxnSp>
      <p:cxnSp>
        <p:nvCxnSpPr>
          <p:cNvPr id="440" name="Google Shape;440;p44"/>
          <p:cNvCxnSpPr>
            <a:endCxn id="428" idx="2"/>
          </p:cNvCxnSpPr>
          <p:nvPr/>
        </p:nvCxnSpPr>
        <p:spPr>
          <a:xfrm rot="10800000">
            <a:off x="2500313" y="2310470"/>
            <a:ext cx="1869300" cy="546600"/>
          </a:xfrm>
          <a:prstGeom prst="straightConnector1">
            <a:avLst/>
          </a:prstGeom>
          <a:noFill/>
          <a:ln cap="flat" cmpd="sng" w="57150">
            <a:solidFill>
              <a:schemeClr val="accent2"/>
            </a:solidFill>
            <a:prstDash val="solid"/>
            <a:miter lim="800000"/>
            <a:headEnd len="sm" w="sm" type="none"/>
            <a:tailEnd len="med" w="med" type="triangle"/>
          </a:ln>
        </p:spPr>
      </p:cxnSp>
      <p:cxnSp>
        <p:nvCxnSpPr>
          <p:cNvPr id="441" name="Google Shape;441;p44"/>
          <p:cNvCxnSpPr>
            <a:endCxn id="424" idx="2"/>
          </p:cNvCxnSpPr>
          <p:nvPr/>
        </p:nvCxnSpPr>
        <p:spPr>
          <a:xfrm rot="10800000">
            <a:off x="1029653" y="2310470"/>
            <a:ext cx="3960900" cy="539100"/>
          </a:xfrm>
          <a:prstGeom prst="straightConnector1">
            <a:avLst/>
          </a:prstGeom>
          <a:noFill/>
          <a:ln cap="flat" cmpd="sng" w="57150">
            <a:solidFill>
              <a:schemeClr val="accent2"/>
            </a:solidFill>
            <a:prstDash val="solid"/>
            <a:miter lim="800000"/>
            <a:headEnd len="sm" w="sm" type="none"/>
            <a:tailEnd len="med" w="med" type="triangle"/>
          </a:ln>
        </p:spPr>
      </p:cxnSp>
      <p:cxnSp>
        <p:nvCxnSpPr>
          <p:cNvPr id="442" name="Google Shape;442;p44"/>
          <p:cNvCxnSpPr>
            <a:stCxn id="414" idx="0"/>
          </p:cNvCxnSpPr>
          <p:nvPr/>
        </p:nvCxnSpPr>
        <p:spPr>
          <a:xfrm rot="10800000">
            <a:off x="4348575" y="2307159"/>
            <a:ext cx="1912800" cy="552900"/>
          </a:xfrm>
          <a:prstGeom prst="straightConnector1">
            <a:avLst/>
          </a:prstGeom>
          <a:noFill/>
          <a:ln cap="flat" cmpd="sng" w="19050">
            <a:solidFill>
              <a:schemeClr val="accent1"/>
            </a:solidFill>
            <a:prstDash val="solid"/>
            <a:miter lim="800000"/>
            <a:headEnd len="sm" w="sm" type="none"/>
            <a:tailEnd len="med" w="med" type="triangle"/>
          </a:ln>
        </p:spPr>
      </p:cxnSp>
      <p:sp>
        <p:nvSpPr>
          <p:cNvPr id="443" name="Google Shape;443;p44"/>
          <p:cNvSpPr/>
          <p:nvPr/>
        </p:nvSpPr>
        <p:spPr>
          <a:xfrm>
            <a:off x="5245840" y="1535372"/>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44" name="Google Shape;444;p44"/>
          <p:cNvSpPr/>
          <p:nvPr/>
        </p:nvSpPr>
        <p:spPr>
          <a:xfrm>
            <a:off x="5613505" y="1535372"/>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45" name="Google Shape;445;p44"/>
          <p:cNvSpPr/>
          <p:nvPr/>
        </p:nvSpPr>
        <p:spPr>
          <a:xfrm>
            <a:off x="5981170" y="1533704"/>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46" name="Google Shape;446;p44"/>
          <p:cNvSpPr/>
          <p:nvPr/>
        </p:nvSpPr>
        <p:spPr>
          <a:xfrm>
            <a:off x="6348835" y="1533704"/>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47" name="Google Shape;447;p44"/>
          <p:cNvSpPr/>
          <p:nvPr/>
        </p:nvSpPr>
        <p:spPr>
          <a:xfrm>
            <a:off x="6715996" y="1534898"/>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48" name="Google Shape;448;p44"/>
          <p:cNvSpPr/>
          <p:nvPr/>
        </p:nvSpPr>
        <p:spPr>
          <a:xfrm>
            <a:off x="7083661" y="1534898"/>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449" name="Google Shape;449;p44"/>
          <p:cNvCxnSpPr>
            <a:stCxn id="415" idx="0"/>
            <a:endCxn id="445" idx="2"/>
          </p:cNvCxnSpPr>
          <p:nvPr/>
        </p:nvCxnSpPr>
        <p:spPr>
          <a:xfrm rot="10800000">
            <a:off x="6164955" y="2307159"/>
            <a:ext cx="736500" cy="552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50" name="Google Shape;450;p44"/>
          <p:cNvCxnSpPr>
            <a:stCxn id="416" idx="0"/>
            <a:endCxn id="447" idx="2"/>
          </p:cNvCxnSpPr>
          <p:nvPr/>
        </p:nvCxnSpPr>
        <p:spPr>
          <a:xfrm rot="10800000">
            <a:off x="6899769" y="2308359"/>
            <a:ext cx="638100" cy="551700"/>
          </a:xfrm>
          <a:prstGeom prst="straightConnector1">
            <a:avLst/>
          </a:prstGeom>
          <a:noFill/>
          <a:ln cap="flat" cmpd="sng" w="19050">
            <a:solidFill>
              <a:schemeClr val="accent1"/>
            </a:solidFill>
            <a:prstDash val="solid"/>
            <a:miter lim="800000"/>
            <a:headEnd len="sm" w="sm" type="none"/>
            <a:tailEnd len="med" w="med" type="triangle"/>
          </a:ln>
        </p:spPr>
      </p:cxnSp>
      <p:sp>
        <p:nvSpPr>
          <p:cNvPr id="451" name="Google Shape;451;p44"/>
          <p:cNvSpPr txBox="1"/>
          <p:nvPr/>
        </p:nvSpPr>
        <p:spPr>
          <a:xfrm>
            <a:off x="7063361" y="1150788"/>
            <a:ext cx="1217406" cy="276999"/>
          </a:xfrm>
          <a:prstGeom prst="rect">
            <a:avLst/>
          </a:prstGeom>
          <a:solidFill>
            <a:schemeClr val="lt1"/>
          </a:solidFill>
          <a:ln cap="flat" cmpd="sng" w="19050">
            <a:solidFill>
              <a:schemeClr val="accent6"/>
            </a:solidFill>
            <a:prstDash val="solid"/>
            <a:miter lim="800000"/>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Max Page</a:t>
            </a:r>
            <a:endParaRPr sz="1400">
              <a:solidFill>
                <a:schemeClr val="dk1"/>
              </a:solidFill>
              <a:latin typeface="Arial"/>
              <a:ea typeface="Arial"/>
              <a:cs typeface="Arial"/>
              <a:sym typeface="Arial"/>
            </a:endParaRPr>
          </a:p>
        </p:txBody>
      </p:sp>
      <p:cxnSp>
        <p:nvCxnSpPr>
          <p:cNvPr id="452" name="Google Shape;452;p44"/>
          <p:cNvCxnSpPr>
            <a:stCxn id="413" idx="0"/>
          </p:cNvCxnSpPr>
          <p:nvPr/>
        </p:nvCxnSpPr>
        <p:spPr>
          <a:xfrm rot="10800000">
            <a:off x="2866461" y="2307159"/>
            <a:ext cx="2758500" cy="552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453" name="Google Shape;453;p44"/>
          <p:cNvCxnSpPr>
            <a:stCxn id="399" idx="0"/>
            <a:endCxn id="412" idx="2"/>
          </p:cNvCxnSpPr>
          <p:nvPr/>
        </p:nvCxnSpPr>
        <p:spPr>
          <a:xfrm rot="10800000">
            <a:off x="4992129" y="3092429"/>
            <a:ext cx="22800" cy="494700"/>
          </a:xfrm>
          <a:prstGeom prst="straightConnector1">
            <a:avLst/>
          </a:prstGeom>
          <a:noFill/>
          <a:ln cap="flat" cmpd="sng" w="76200">
            <a:solidFill>
              <a:schemeClr val="accent2"/>
            </a:solidFill>
            <a:prstDash val="solid"/>
            <a:miter lim="800000"/>
            <a:headEnd len="sm" w="sm" type="none"/>
            <a:tailEnd len="med" w="med" type="stealth"/>
          </a:ln>
        </p:spPr>
      </p:cxnSp>
      <p:sp>
        <p:nvSpPr>
          <p:cNvPr id="454" name="Google Shape;454;p44"/>
          <p:cNvSpPr txBox="1"/>
          <p:nvPr/>
        </p:nvSpPr>
        <p:spPr>
          <a:xfrm>
            <a:off x="6261375" y="4050401"/>
            <a:ext cx="2839200" cy="715800"/>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rgbClr val="33006F"/>
                </a:solidFill>
                <a:latin typeface="Arial"/>
                <a:ea typeface="Arial"/>
                <a:cs typeface="Arial"/>
                <a:sym typeface="Arial"/>
              </a:rPr>
              <a:t>kv_indptr [i] ~ kv_indptr [i+1] indicates the page range belongs to request i </a:t>
            </a:r>
            <a:endParaRPr sz="1100"/>
          </a:p>
        </p:txBody>
      </p:sp>
      <p:cxnSp>
        <p:nvCxnSpPr>
          <p:cNvPr id="455" name="Google Shape;455;p44"/>
          <p:cNvCxnSpPr/>
          <p:nvPr/>
        </p:nvCxnSpPr>
        <p:spPr>
          <a:xfrm>
            <a:off x="6038969" y="3817991"/>
            <a:ext cx="387965" cy="188210"/>
          </a:xfrm>
          <a:prstGeom prst="straightConnector1">
            <a:avLst/>
          </a:prstGeom>
          <a:noFill/>
          <a:ln cap="flat" cmpd="sng" w="57150">
            <a:solidFill>
              <a:srgbClr val="33006F"/>
            </a:solidFill>
            <a:prstDash val="solid"/>
            <a:miter lim="800000"/>
            <a:headEnd len="sm" w="sm" type="none"/>
            <a:tailEnd len="med" w="med" type="triangle"/>
          </a:ln>
        </p:spPr>
      </p:cxnSp>
      <p:sp>
        <p:nvSpPr>
          <p:cNvPr id="456" name="Google Shape;456;p44"/>
          <p:cNvSpPr txBox="1"/>
          <p:nvPr/>
        </p:nvSpPr>
        <p:spPr>
          <a:xfrm>
            <a:off x="96202" y="3410321"/>
            <a:ext cx="1668900" cy="1362300"/>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rgbClr val="33006F"/>
                </a:solidFill>
                <a:latin typeface="Arial"/>
                <a:ea typeface="Arial"/>
                <a:cs typeface="Arial"/>
                <a:sym typeface="Arial"/>
              </a:rPr>
              <a:t>kv_indices</a:t>
            </a:r>
            <a:endParaRPr sz="1400">
              <a:solidFill>
                <a:srgbClr val="33006F"/>
              </a:solidFill>
              <a:latin typeface="Arial"/>
              <a:ea typeface="Arial"/>
              <a:cs typeface="Arial"/>
              <a:sym typeface="Arial"/>
            </a:endParaRPr>
          </a:p>
          <a:p>
            <a:pPr indent="0" lvl="0" marL="0" marR="0" rtl="0" algn="ctr">
              <a:spcBef>
                <a:spcPts val="0"/>
              </a:spcBef>
              <a:spcAft>
                <a:spcPts val="0"/>
              </a:spcAft>
              <a:buNone/>
            </a:pPr>
            <a:r>
              <a:rPr lang="en" sz="1400">
                <a:solidFill>
                  <a:srgbClr val="33006F"/>
                </a:solidFill>
                <a:latin typeface="Arial"/>
                <a:ea typeface="Arial"/>
                <a:cs typeface="Arial"/>
                <a:sym typeface="Arial"/>
              </a:rPr>
              <a:t>[kv_indptr [i] ~ kv_indptr [i+1]</a:t>
            </a:r>
            <a:r>
              <a:rPr lang="en">
                <a:solidFill>
                  <a:srgbClr val="33006F"/>
                </a:solidFill>
              </a:rPr>
              <a:t>)</a:t>
            </a:r>
            <a:endParaRPr sz="1400">
              <a:solidFill>
                <a:srgbClr val="33006F"/>
              </a:solidFill>
              <a:latin typeface="Arial"/>
              <a:ea typeface="Arial"/>
              <a:cs typeface="Arial"/>
              <a:sym typeface="Arial"/>
            </a:endParaRPr>
          </a:p>
          <a:p>
            <a:pPr indent="0" lvl="0" marL="0" marR="0" rtl="0" algn="ctr">
              <a:spcBef>
                <a:spcPts val="0"/>
              </a:spcBef>
              <a:spcAft>
                <a:spcPts val="0"/>
              </a:spcAft>
              <a:buNone/>
            </a:pPr>
            <a:r>
              <a:rPr lang="en" sz="1400">
                <a:solidFill>
                  <a:srgbClr val="33006F"/>
                </a:solidFill>
                <a:latin typeface="Arial"/>
                <a:ea typeface="Arial"/>
                <a:cs typeface="Arial"/>
                <a:sym typeface="Arial"/>
              </a:rPr>
              <a:t>indicates the page id belongs to request i </a:t>
            </a:r>
            <a:endParaRPr sz="1100"/>
          </a:p>
        </p:txBody>
      </p:sp>
      <p:cxnSp>
        <p:nvCxnSpPr>
          <p:cNvPr id="457" name="Google Shape;457;p44"/>
          <p:cNvCxnSpPr/>
          <p:nvPr/>
        </p:nvCxnSpPr>
        <p:spPr>
          <a:xfrm flipH="1" rot="10800000">
            <a:off x="1766309" y="3177911"/>
            <a:ext cx="754062" cy="251100"/>
          </a:xfrm>
          <a:prstGeom prst="straightConnector1">
            <a:avLst/>
          </a:prstGeom>
          <a:noFill/>
          <a:ln cap="flat" cmpd="sng" w="57150">
            <a:solidFill>
              <a:srgbClr val="33006F"/>
            </a:solidFill>
            <a:prstDash val="solid"/>
            <a:miter lim="800000"/>
            <a:headEnd len="sm" w="sm" type="none"/>
            <a:tailEnd len="med" w="med" type="triangle"/>
          </a:ln>
        </p:spPr>
      </p:cxnSp>
      <p:sp>
        <p:nvSpPr>
          <p:cNvPr id="458" name="Google Shape;458;p44"/>
          <p:cNvSpPr txBox="1"/>
          <p:nvPr/>
        </p:nvSpPr>
        <p:spPr>
          <a:xfrm>
            <a:off x="2388566" y="994663"/>
            <a:ext cx="4256582" cy="484748"/>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rgbClr val="33006F"/>
                </a:solidFill>
                <a:latin typeface="Arial"/>
                <a:ea typeface="Arial"/>
                <a:cs typeface="Arial"/>
                <a:sym typeface="Arial"/>
              </a:rPr>
              <a:t>kv_data is the real storage and all pages are stored sequentially at kv_data[pagd_id]</a:t>
            </a:r>
            <a:endParaRPr sz="1100"/>
          </a:p>
        </p:txBody>
      </p:sp>
      <p:cxnSp>
        <p:nvCxnSpPr>
          <p:cNvPr id="459" name="Google Shape;459;p44"/>
          <p:cNvCxnSpPr>
            <a:stCxn id="458" idx="1"/>
            <a:endCxn id="425" idx="0"/>
          </p:cNvCxnSpPr>
          <p:nvPr/>
        </p:nvCxnSpPr>
        <p:spPr>
          <a:xfrm flipH="1">
            <a:off x="1397365" y="1237037"/>
            <a:ext cx="991200" cy="300000"/>
          </a:xfrm>
          <a:prstGeom prst="straightConnector1">
            <a:avLst/>
          </a:prstGeom>
          <a:noFill/>
          <a:ln cap="flat" cmpd="sng" w="57150">
            <a:solidFill>
              <a:srgbClr val="33006F"/>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par>
                                <p:cTn fill="hold" nodeType="with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Prefix Sharing</a:t>
            </a:r>
            <a:endParaRPr/>
          </a:p>
        </p:txBody>
      </p:sp>
      <p:sp>
        <p:nvSpPr>
          <p:cNvPr id="466" name="Google Shape;466;p45"/>
          <p:cNvSpPr/>
          <p:nvPr/>
        </p:nvSpPr>
        <p:spPr>
          <a:xfrm>
            <a:off x="600710" y="2649197"/>
            <a:ext cx="8107680" cy="77343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67" name="Google Shape;467;p45"/>
          <p:cNvSpPr/>
          <p:nvPr/>
        </p:nvSpPr>
        <p:spPr>
          <a:xfrm>
            <a:off x="60071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68" name="Google Shape;468;p45"/>
          <p:cNvSpPr/>
          <p:nvPr/>
        </p:nvSpPr>
        <p:spPr>
          <a:xfrm>
            <a:off x="96837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69" name="Google Shape;469;p45"/>
          <p:cNvSpPr/>
          <p:nvPr/>
        </p:nvSpPr>
        <p:spPr>
          <a:xfrm>
            <a:off x="133604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0" name="Google Shape;470;p45"/>
          <p:cNvSpPr/>
          <p:nvPr/>
        </p:nvSpPr>
        <p:spPr>
          <a:xfrm>
            <a:off x="170370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1" name="Google Shape;471;p45"/>
          <p:cNvSpPr/>
          <p:nvPr/>
        </p:nvSpPr>
        <p:spPr>
          <a:xfrm>
            <a:off x="207137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2" name="Google Shape;472;p45"/>
          <p:cNvSpPr/>
          <p:nvPr/>
        </p:nvSpPr>
        <p:spPr>
          <a:xfrm>
            <a:off x="243903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3" name="Google Shape;473;p45"/>
          <p:cNvSpPr/>
          <p:nvPr/>
        </p:nvSpPr>
        <p:spPr>
          <a:xfrm>
            <a:off x="280670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4" name="Google Shape;474;p45"/>
          <p:cNvSpPr/>
          <p:nvPr/>
        </p:nvSpPr>
        <p:spPr>
          <a:xfrm>
            <a:off x="317436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5" name="Google Shape;475;p45"/>
          <p:cNvSpPr/>
          <p:nvPr/>
        </p:nvSpPr>
        <p:spPr>
          <a:xfrm>
            <a:off x="354203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6" name="Google Shape;476;p45"/>
          <p:cNvSpPr/>
          <p:nvPr/>
        </p:nvSpPr>
        <p:spPr>
          <a:xfrm>
            <a:off x="390969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7" name="Google Shape;477;p45"/>
          <p:cNvSpPr/>
          <p:nvPr/>
        </p:nvSpPr>
        <p:spPr>
          <a:xfrm>
            <a:off x="427736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8" name="Google Shape;478;p45"/>
          <p:cNvSpPr/>
          <p:nvPr/>
        </p:nvSpPr>
        <p:spPr>
          <a:xfrm>
            <a:off x="464502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79" name="Google Shape;479;p45"/>
          <p:cNvSpPr txBox="1"/>
          <p:nvPr/>
        </p:nvSpPr>
        <p:spPr>
          <a:xfrm>
            <a:off x="635953" y="4080398"/>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Req 0</a:t>
            </a:r>
            <a:endParaRPr sz="1400">
              <a:solidFill>
                <a:schemeClr val="dk1"/>
              </a:solidFill>
              <a:latin typeface="Arial"/>
              <a:ea typeface="Arial"/>
              <a:cs typeface="Arial"/>
              <a:sym typeface="Arial"/>
            </a:endParaRPr>
          </a:p>
        </p:txBody>
      </p:sp>
      <p:cxnSp>
        <p:nvCxnSpPr>
          <p:cNvPr id="480" name="Google Shape;480;p45"/>
          <p:cNvCxnSpPr>
            <a:stCxn id="479" idx="0"/>
            <a:endCxn id="468" idx="2"/>
          </p:cNvCxnSpPr>
          <p:nvPr/>
        </p:nvCxnSpPr>
        <p:spPr>
          <a:xfrm flipH="1" rot="10800000">
            <a:off x="1077913" y="3422498"/>
            <a:ext cx="744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481" name="Google Shape;481;p45"/>
          <p:cNvSpPr txBox="1"/>
          <p:nvPr/>
        </p:nvSpPr>
        <p:spPr>
          <a:xfrm>
            <a:off x="3707649" y="4080398"/>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Req 1</a:t>
            </a:r>
            <a:endParaRPr sz="1400">
              <a:solidFill>
                <a:schemeClr val="dk1"/>
              </a:solidFill>
              <a:latin typeface="Arial"/>
              <a:ea typeface="Arial"/>
              <a:cs typeface="Arial"/>
              <a:sym typeface="Arial"/>
            </a:endParaRPr>
          </a:p>
        </p:txBody>
      </p:sp>
      <p:cxnSp>
        <p:nvCxnSpPr>
          <p:cNvPr id="482" name="Google Shape;482;p45"/>
          <p:cNvCxnSpPr>
            <a:stCxn id="481" idx="0"/>
            <a:endCxn id="475" idx="2"/>
          </p:cNvCxnSpPr>
          <p:nvPr/>
        </p:nvCxnSpPr>
        <p:spPr>
          <a:xfrm rot="10800000">
            <a:off x="3726009" y="3422498"/>
            <a:ext cx="4236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483" name="Google Shape;483;p45"/>
          <p:cNvSpPr/>
          <p:nvPr/>
        </p:nvSpPr>
        <p:spPr>
          <a:xfrm>
            <a:off x="972662"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84" name="Google Shape;484;p45"/>
          <p:cNvSpPr/>
          <p:nvPr/>
        </p:nvSpPr>
        <p:spPr>
          <a:xfrm>
            <a:off x="3543891"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85" name="Google Shape;485;p45"/>
          <p:cNvSpPr/>
          <p:nvPr/>
        </p:nvSpPr>
        <p:spPr>
          <a:xfrm>
            <a:off x="1063567"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86" name="Google Shape;486;p45"/>
          <p:cNvSpPr/>
          <p:nvPr/>
        </p:nvSpPr>
        <p:spPr>
          <a:xfrm>
            <a:off x="3625967"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87" name="Google Shape;487;p45"/>
          <p:cNvSpPr/>
          <p:nvPr/>
        </p:nvSpPr>
        <p:spPr>
          <a:xfrm>
            <a:off x="1162452"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88" name="Google Shape;488;p45"/>
          <p:cNvSpPr/>
          <p:nvPr/>
        </p:nvSpPr>
        <p:spPr>
          <a:xfrm>
            <a:off x="3724852"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89" name="Google Shape;489;p45"/>
          <p:cNvSpPr/>
          <p:nvPr/>
        </p:nvSpPr>
        <p:spPr>
          <a:xfrm>
            <a:off x="1259666"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90" name="Google Shape;490;p45"/>
          <p:cNvSpPr/>
          <p:nvPr/>
        </p:nvSpPr>
        <p:spPr>
          <a:xfrm>
            <a:off x="3822065"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491" name="Google Shape;491;p45"/>
          <p:cNvCxnSpPr>
            <a:stCxn id="479" idx="0"/>
            <a:endCxn id="471" idx="2"/>
          </p:cNvCxnSpPr>
          <p:nvPr/>
        </p:nvCxnSpPr>
        <p:spPr>
          <a:xfrm flipH="1" rot="10800000">
            <a:off x="1077913" y="3422498"/>
            <a:ext cx="11772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492" name="Google Shape;492;p45"/>
          <p:cNvSpPr/>
          <p:nvPr/>
        </p:nvSpPr>
        <p:spPr>
          <a:xfrm>
            <a:off x="2085716"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93" name="Google Shape;493;p45"/>
          <p:cNvSpPr/>
          <p:nvPr/>
        </p:nvSpPr>
        <p:spPr>
          <a:xfrm>
            <a:off x="2186264"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94" name="Google Shape;494;p45"/>
          <p:cNvSpPr txBox="1"/>
          <p:nvPr/>
        </p:nvSpPr>
        <p:spPr>
          <a:xfrm>
            <a:off x="1304290" y="1223826"/>
            <a:ext cx="5963285"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What if these two pages are the same?</a:t>
            </a:r>
            <a:endParaRPr sz="1100"/>
          </a:p>
        </p:txBody>
      </p:sp>
      <p:cxnSp>
        <p:nvCxnSpPr>
          <p:cNvPr id="495" name="Google Shape;495;p45"/>
          <p:cNvCxnSpPr/>
          <p:nvPr/>
        </p:nvCxnSpPr>
        <p:spPr>
          <a:xfrm flipH="1" rot="10800000">
            <a:off x="1164701" y="1662407"/>
            <a:ext cx="1614377" cy="986790"/>
          </a:xfrm>
          <a:prstGeom prst="straightConnector1">
            <a:avLst/>
          </a:prstGeom>
          <a:noFill/>
          <a:ln cap="flat" cmpd="sng" w="57150">
            <a:solidFill>
              <a:schemeClr val="accent1"/>
            </a:solidFill>
            <a:prstDash val="solid"/>
            <a:miter lim="800000"/>
            <a:headEnd len="sm" w="sm" type="none"/>
            <a:tailEnd len="med" w="med" type="triangle"/>
          </a:ln>
        </p:spPr>
      </p:cxnSp>
      <p:cxnSp>
        <p:nvCxnSpPr>
          <p:cNvPr id="496" name="Google Shape;496;p45"/>
          <p:cNvCxnSpPr>
            <a:stCxn id="488" idx="0"/>
            <a:endCxn id="494" idx="2"/>
          </p:cNvCxnSpPr>
          <p:nvPr/>
        </p:nvCxnSpPr>
        <p:spPr>
          <a:xfrm flipH="1" rot="10800000">
            <a:off x="3768667" y="1662497"/>
            <a:ext cx="517200" cy="986700"/>
          </a:xfrm>
          <a:prstGeom prst="straightConnector1">
            <a:avLst/>
          </a:prstGeom>
          <a:noFill/>
          <a:ln cap="flat" cmpd="sng" w="57150">
            <a:solidFill>
              <a:schemeClr val="accent1"/>
            </a:solidFill>
            <a:prstDash val="solid"/>
            <a:miter lim="800000"/>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Prefix Sharing</a:t>
            </a:r>
            <a:endParaRPr/>
          </a:p>
        </p:txBody>
      </p:sp>
      <p:sp>
        <p:nvSpPr>
          <p:cNvPr id="503" name="Google Shape;503;p46"/>
          <p:cNvSpPr/>
          <p:nvPr/>
        </p:nvSpPr>
        <p:spPr>
          <a:xfrm>
            <a:off x="600710" y="2649197"/>
            <a:ext cx="8107680" cy="773430"/>
          </a:xfrm>
          <a:prstGeom prst="rect">
            <a:avLst/>
          </a:prstGeom>
          <a:solidFill>
            <a:srgbClr val="FAE2D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04" name="Google Shape;504;p46"/>
          <p:cNvSpPr/>
          <p:nvPr/>
        </p:nvSpPr>
        <p:spPr>
          <a:xfrm>
            <a:off x="60071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05" name="Google Shape;505;p46"/>
          <p:cNvSpPr/>
          <p:nvPr/>
        </p:nvSpPr>
        <p:spPr>
          <a:xfrm>
            <a:off x="96837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06" name="Google Shape;506;p46"/>
          <p:cNvSpPr/>
          <p:nvPr/>
        </p:nvSpPr>
        <p:spPr>
          <a:xfrm>
            <a:off x="133604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07" name="Google Shape;507;p46"/>
          <p:cNvSpPr/>
          <p:nvPr/>
        </p:nvSpPr>
        <p:spPr>
          <a:xfrm>
            <a:off x="170370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08" name="Google Shape;508;p46"/>
          <p:cNvSpPr/>
          <p:nvPr/>
        </p:nvSpPr>
        <p:spPr>
          <a:xfrm>
            <a:off x="207137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09" name="Google Shape;509;p46"/>
          <p:cNvSpPr/>
          <p:nvPr/>
        </p:nvSpPr>
        <p:spPr>
          <a:xfrm>
            <a:off x="243903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0" name="Google Shape;510;p46"/>
          <p:cNvSpPr/>
          <p:nvPr/>
        </p:nvSpPr>
        <p:spPr>
          <a:xfrm>
            <a:off x="280670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1" name="Google Shape;511;p46"/>
          <p:cNvSpPr/>
          <p:nvPr/>
        </p:nvSpPr>
        <p:spPr>
          <a:xfrm>
            <a:off x="317436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2" name="Google Shape;512;p46"/>
          <p:cNvSpPr/>
          <p:nvPr/>
        </p:nvSpPr>
        <p:spPr>
          <a:xfrm>
            <a:off x="354203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3" name="Google Shape;513;p46"/>
          <p:cNvSpPr/>
          <p:nvPr/>
        </p:nvSpPr>
        <p:spPr>
          <a:xfrm>
            <a:off x="390969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4" name="Google Shape;514;p46"/>
          <p:cNvSpPr/>
          <p:nvPr/>
        </p:nvSpPr>
        <p:spPr>
          <a:xfrm>
            <a:off x="4277360"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5" name="Google Shape;515;p46"/>
          <p:cNvSpPr/>
          <p:nvPr/>
        </p:nvSpPr>
        <p:spPr>
          <a:xfrm>
            <a:off x="4645025" y="2649197"/>
            <a:ext cx="367665" cy="773430"/>
          </a:xfrm>
          <a:prstGeom prst="rect">
            <a:avLst/>
          </a:prstGeom>
          <a:solidFill>
            <a:srgbClr val="F2A982"/>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6" name="Google Shape;516;p46"/>
          <p:cNvSpPr txBox="1"/>
          <p:nvPr/>
        </p:nvSpPr>
        <p:spPr>
          <a:xfrm>
            <a:off x="635953" y="4080398"/>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Req 0</a:t>
            </a:r>
            <a:endParaRPr sz="1400">
              <a:solidFill>
                <a:schemeClr val="dk1"/>
              </a:solidFill>
              <a:latin typeface="Arial"/>
              <a:ea typeface="Arial"/>
              <a:cs typeface="Arial"/>
              <a:sym typeface="Arial"/>
            </a:endParaRPr>
          </a:p>
        </p:txBody>
      </p:sp>
      <p:cxnSp>
        <p:nvCxnSpPr>
          <p:cNvPr id="517" name="Google Shape;517;p46"/>
          <p:cNvCxnSpPr>
            <a:stCxn id="516" idx="0"/>
            <a:endCxn id="505" idx="2"/>
          </p:cNvCxnSpPr>
          <p:nvPr/>
        </p:nvCxnSpPr>
        <p:spPr>
          <a:xfrm flipH="1" rot="10800000">
            <a:off x="1077913" y="3422498"/>
            <a:ext cx="744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518" name="Google Shape;518;p46"/>
          <p:cNvSpPr txBox="1"/>
          <p:nvPr/>
        </p:nvSpPr>
        <p:spPr>
          <a:xfrm>
            <a:off x="3707649" y="4080398"/>
            <a:ext cx="88392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Req 1</a:t>
            </a:r>
            <a:endParaRPr sz="1400">
              <a:solidFill>
                <a:schemeClr val="dk1"/>
              </a:solidFill>
              <a:latin typeface="Arial"/>
              <a:ea typeface="Arial"/>
              <a:cs typeface="Arial"/>
              <a:sym typeface="Arial"/>
            </a:endParaRPr>
          </a:p>
        </p:txBody>
      </p:sp>
      <p:cxnSp>
        <p:nvCxnSpPr>
          <p:cNvPr id="519" name="Google Shape;519;p46"/>
          <p:cNvCxnSpPr>
            <a:stCxn id="518" idx="0"/>
            <a:endCxn id="520" idx="2"/>
          </p:cNvCxnSpPr>
          <p:nvPr/>
        </p:nvCxnSpPr>
        <p:spPr>
          <a:xfrm rot="10800000">
            <a:off x="1107309" y="3422498"/>
            <a:ext cx="30423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521" name="Google Shape;521;p46"/>
          <p:cNvSpPr/>
          <p:nvPr/>
        </p:nvSpPr>
        <p:spPr>
          <a:xfrm>
            <a:off x="972662"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2" name="Google Shape;522;p46"/>
          <p:cNvSpPr/>
          <p:nvPr/>
        </p:nvSpPr>
        <p:spPr>
          <a:xfrm>
            <a:off x="3543891"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0" name="Google Shape;520;p46"/>
          <p:cNvSpPr/>
          <p:nvPr/>
        </p:nvSpPr>
        <p:spPr>
          <a:xfrm>
            <a:off x="1063567"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3" name="Google Shape;523;p46"/>
          <p:cNvSpPr/>
          <p:nvPr/>
        </p:nvSpPr>
        <p:spPr>
          <a:xfrm>
            <a:off x="3625967"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4" name="Google Shape;524;p46"/>
          <p:cNvSpPr/>
          <p:nvPr/>
        </p:nvSpPr>
        <p:spPr>
          <a:xfrm>
            <a:off x="1162452"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5" name="Google Shape;525;p46"/>
          <p:cNvSpPr/>
          <p:nvPr/>
        </p:nvSpPr>
        <p:spPr>
          <a:xfrm>
            <a:off x="3724852"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6" name="Google Shape;526;p46"/>
          <p:cNvSpPr/>
          <p:nvPr/>
        </p:nvSpPr>
        <p:spPr>
          <a:xfrm>
            <a:off x="1259666"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7" name="Google Shape;527;p46"/>
          <p:cNvSpPr/>
          <p:nvPr/>
        </p:nvSpPr>
        <p:spPr>
          <a:xfrm>
            <a:off x="3822065"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528" name="Google Shape;528;p46"/>
          <p:cNvCxnSpPr>
            <a:stCxn id="516" idx="0"/>
            <a:endCxn id="508" idx="2"/>
          </p:cNvCxnSpPr>
          <p:nvPr/>
        </p:nvCxnSpPr>
        <p:spPr>
          <a:xfrm flipH="1" rot="10800000">
            <a:off x="1077913" y="3422498"/>
            <a:ext cx="1177200" cy="657900"/>
          </a:xfrm>
          <a:prstGeom prst="straightConnector1">
            <a:avLst/>
          </a:prstGeom>
          <a:noFill/>
          <a:ln cap="flat" cmpd="sng" w="19050">
            <a:solidFill>
              <a:schemeClr val="accent1"/>
            </a:solidFill>
            <a:prstDash val="solid"/>
            <a:miter lim="800000"/>
            <a:headEnd len="sm" w="sm" type="none"/>
            <a:tailEnd len="med" w="med" type="triangle"/>
          </a:ln>
        </p:spPr>
      </p:cxnSp>
      <p:sp>
        <p:nvSpPr>
          <p:cNvPr id="529" name="Google Shape;529;p46"/>
          <p:cNvSpPr/>
          <p:nvPr/>
        </p:nvSpPr>
        <p:spPr>
          <a:xfrm>
            <a:off x="2079277"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30" name="Google Shape;530;p46"/>
          <p:cNvSpPr/>
          <p:nvPr/>
        </p:nvSpPr>
        <p:spPr>
          <a:xfrm>
            <a:off x="2179824" y="2649197"/>
            <a:ext cx="87630" cy="773430"/>
          </a:xfrm>
          <a:prstGeom prst="rect">
            <a:avLst/>
          </a:prstGeom>
          <a:solidFill>
            <a:srgbClr val="12501B"/>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31" name="Google Shape;531;p46"/>
          <p:cNvSpPr txBox="1"/>
          <p:nvPr/>
        </p:nvSpPr>
        <p:spPr>
          <a:xfrm>
            <a:off x="1304290" y="1223826"/>
            <a:ext cx="5963285"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What if these two pages are the same?</a:t>
            </a:r>
            <a:endParaRPr sz="1100"/>
          </a:p>
        </p:txBody>
      </p:sp>
      <p:cxnSp>
        <p:nvCxnSpPr>
          <p:cNvPr id="532" name="Google Shape;532;p46"/>
          <p:cNvCxnSpPr/>
          <p:nvPr/>
        </p:nvCxnSpPr>
        <p:spPr>
          <a:xfrm flipH="1" rot="10800000">
            <a:off x="1164701" y="1662407"/>
            <a:ext cx="1614377" cy="986790"/>
          </a:xfrm>
          <a:prstGeom prst="straightConnector1">
            <a:avLst/>
          </a:prstGeom>
          <a:noFill/>
          <a:ln cap="flat" cmpd="sng" w="57150">
            <a:solidFill>
              <a:schemeClr val="accent1"/>
            </a:solidFill>
            <a:prstDash val="solid"/>
            <a:miter lim="800000"/>
            <a:headEnd len="sm" w="sm" type="none"/>
            <a:tailEnd len="med" w="med" type="triangle"/>
          </a:ln>
        </p:spPr>
      </p:cxnSp>
      <p:cxnSp>
        <p:nvCxnSpPr>
          <p:cNvPr id="533" name="Google Shape;533;p46"/>
          <p:cNvCxnSpPr>
            <a:stCxn id="525" idx="0"/>
            <a:endCxn id="531" idx="2"/>
          </p:cNvCxnSpPr>
          <p:nvPr/>
        </p:nvCxnSpPr>
        <p:spPr>
          <a:xfrm flipH="1" rot="10800000">
            <a:off x="3768667" y="1662497"/>
            <a:ext cx="517200" cy="986700"/>
          </a:xfrm>
          <a:prstGeom prst="straightConnector1">
            <a:avLst/>
          </a:prstGeom>
          <a:noFill/>
          <a:ln cap="flat" cmpd="sng" w="57150">
            <a:solidFill>
              <a:schemeClr val="accent1"/>
            </a:solidFill>
            <a:prstDash val="solid"/>
            <a:miter lim="800000"/>
            <a:headEnd len="sm" w="sm" type="none"/>
            <a:tailEnd len="med" w="med" type="triangle"/>
          </a:ln>
        </p:spPr>
      </p:cxnSp>
      <p:sp>
        <p:nvSpPr>
          <p:cNvPr id="534" name="Google Shape;534;p46"/>
          <p:cNvSpPr txBox="1"/>
          <p:nvPr/>
        </p:nvSpPr>
        <p:spPr>
          <a:xfrm>
            <a:off x="518160" y="4430852"/>
            <a:ext cx="8107680" cy="623248"/>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rgbClr val="33006F"/>
                </a:solidFill>
                <a:latin typeface="Arial"/>
                <a:ea typeface="Arial"/>
                <a:cs typeface="Arial"/>
                <a:sym typeface="Arial"/>
              </a:rPr>
              <a:t>Shared pages only need to prefill once and reduces both memory capacity and bandwidth in decoding</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22"/>
                                        </p:tgtEl>
                                      </p:cBhvr>
                                    </p:animEffect>
                                    <p:set>
                                      <p:cBhvr>
                                        <p:cTn dur="1" fill="hold">
                                          <p:stCondLst>
                                            <p:cond delay="500"/>
                                          </p:stCondLst>
                                        </p:cTn>
                                        <p:tgtEl>
                                          <p:spTgt spid="52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23"/>
                                        </p:tgtEl>
                                      </p:cBhvr>
                                    </p:animEffect>
                                    <p:set>
                                      <p:cBhvr>
                                        <p:cTn dur="1" fill="hold">
                                          <p:stCondLst>
                                            <p:cond delay="500"/>
                                          </p:stCondLst>
                                        </p:cTn>
                                        <p:tgtEl>
                                          <p:spTgt spid="52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25"/>
                                        </p:tgtEl>
                                      </p:cBhvr>
                                    </p:animEffect>
                                    <p:set>
                                      <p:cBhvr>
                                        <p:cTn dur="1" fill="hold">
                                          <p:stCondLst>
                                            <p:cond delay="500"/>
                                          </p:stCondLst>
                                        </p:cTn>
                                        <p:tgtEl>
                                          <p:spTgt spid="52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27"/>
                                        </p:tgtEl>
                                      </p:cBhvr>
                                    </p:animEffect>
                                    <p:set>
                                      <p:cBhvr>
                                        <p:cTn dur="1" fill="hold">
                                          <p:stCondLst>
                                            <p:cond delay="500"/>
                                          </p:stCondLst>
                                        </p:cTn>
                                        <p:tgtEl>
                                          <p:spTgt spid="5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Prefix Tree</a:t>
            </a:r>
            <a:endParaRPr/>
          </a:p>
        </p:txBody>
      </p:sp>
      <p:sp>
        <p:nvSpPr>
          <p:cNvPr id="541" name="Google Shape;541;p47"/>
          <p:cNvSpPr txBox="1"/>
          <p:nvPr/>
        </p:nvSpPr>
        <p:spPr>
          <a:xfrm>
            <a:off x="152082" y="4585011"/>
            <a:ext cx="8900795"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Zheng, Lianmin et al. “SGLang: Efficient Execution of Structured Language Model Programs.” </a:t>
            </a:r>
            <a:r>
              <a:rPr i="1" lang="en" sz="1400">
                <a:solidFill>
                  <a:schemeClr val="dk1"/>
                </a:solidFill>
                <a:latin typeface="Arial"/>
                <a:ea typeface="Arial"/>
                <a:cs typeface="Arial"/>
                <a:sym typeface="Arial"/>
              </a:rPr>
              <a:t>Neural Information Processing Systems</a:t>
            </a:r>
            <a:r>
              <a:rPr lang="en" sz="1400">
                <a:solidFill>
                  <a:schemeClr val="dk1"/>
                </a:solidFill>
                <a:latin typeface="Arial"/>
                <a:ea typeface="Arial"/>
                <a:cs typeface="Arial"/>
                <a:sym typeface="Arial"/>
              </a:rPr>
              <a:t> (2023).</a:t>
            </a:r>
            <a:endParaRPr sz="1400">
              <a:solidFill>
                <a:schemeClr val="dk1"/>
              </a:solidFill>
              <a:latin typeface="Arial"/>
              <a:ea typeface="Arial"/>
              <a:cs typeface="Arial"/>
              <a:sym typeface="Arial"/>
            </a:endParaRPr>
          </a:p>
        </p:txBody>
      </p:sp>
      <p:pic>
        <p:nvPicPr>
          <p:cNvPr id="542" name="Google Shape;542;p47"/>
          <p:cNvPicPr preferRelativeResize="0"/>
          <p:nvPr/>
        </p:nvPicPr>
        <p:blipFill rotWithShape="1">
          <a:blip r:embed="rId3">
            <a:alphaModFix/>
          </a:blip>
          <a:srcRect b="0" l="0" r="0" t="0"/>
          <a:stretch/>
        </p:blipFill>
        <p:spPr>
          <a:xfrm>
            <a:off x="30480" y="1592879"/>
            <a:ext cx="9144000" cy="2388797"/>
          </a:xfrm>
          <a:prstGeom prst="rect">
            <a:avLst/>
          </a:prstGeom>
          <a:noFill/>
          <a:ln>
            <a:noFill/>
          </a:ln>
        </p:spPr>
      </p:pic>
      <p:sp>
        <p:nvSpPr>
          <p:cNvPr id="543" name="Google Shape;543;p47"/>
          <p:cNvSpPr/>
          <p:nvPr/>
        </p:nvSpPr>
        <p:spPr>
          <a:xfrm>
            <a:off x="4187190" y="2379308"/>
            <a:ext cx="579120" cy="1463040"/>
          </a:xfrm>
          <a:prstGeom prst="ellipse">
            <a:avLst/>
          </a:prstGeom>
          <a:noFill/>
          <a:ln cap="flat" cmpd="sng" w="571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544" name="Google Shape;544;p47"/>
          <p:cNvSpPr txBox="1"/>
          <p:nvPr/>
        </p:nvSpPr>
        <p:spPr>
          <a:xfrm>
            <a:off x="3689508" y="3991853"/>
            <a:ext cx="16806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002060"/>
                </a:solidFill>
                <a:latin typeface="Arial"/>
                <a:ea typeface="Arial"/>
                <a:cs typeface="Arial"/>
                <a:sym typeface="Arial"/>
              </a:rPr>
              <a:t>Multi-round Reuse</a:t>
            </a:r>
            <a:endParaRPr b="1" sz="1400">
              <a:solidFill>
                <a:srgbClr val="002060"/>
              </a:solidFill>
              <a:latin typeface="Arial"/>
              <a:ea typeface="Arial"/>
              <a:cs typeface="Arial"/>
              <a:sym typeface="Arial"/>
            </a:endParaRPr>
          </a:p>
        </p:txBody>
      </p:sp>
      <p:sp>
        <p:nvSpPr>
          <p:cNvPr id="545" name="Google Shape;545;p47"/>
          <p:cNvSpPr/>
          <p:nvPr/>
        </p:nvSpPr>
        <p:spPr>
          <a:xfrm>
            <a:off x="6507480" y="2294983"/>
            <a:ext cx="541020" cy="565692"/>
          </a:xfrm>
          <a:prstGeom prst="ellipse">
            <a:avLst/>
          </a:prstGeom>
          <a:noFill/>
          <a:ln cap="flat" cmpd="sng" w="571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546" name="Google Shape;546;p47"/>
          <p:cNvSpPr txBox="1"/>
          <p:nvPr/>
        </p:nvSpPr>
        <p:spPr>
          <a:xfrm>
            <a:off x="6969918" y="2067434"/>
            <a:ext cx="2010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002060"/>
                </a:solidFill>
                <a:latin typeface="Arial"/>
                <a:ea typeface="Arial"/>
                <a:cs typeface="Arial"/>
                <a:sym typeface="Arial"/>
              </a:rPr>
              <a:t>Multi-request Reuse</a:t>
            </a:r>
            <a:endParaRPr b="1" sz="1400">
              <a:solidFill>
                <a:srgbClr val="002060"/>
              </a:solidFill>
              <a:latin typeface="Arial"/>
              <a:ea typeface="Arial"/>
              <a:cs typeface="Arial"/>
              <a:sym typeface="Arial"/>
            </a:endParaRPr>
          </a:p>
        </p:txBody>
      </p:sp>
      <p:sp>
        <p:nvSpPr>
          <p:cNvPr id="547" name="Google Shape;547;p47"/>
          <p:cNvSpPr txBox="1"/>
          <p:nvPr/>
        </p:nvSpPr>
        <p:spPr>
          <a:xfrm>
            <a:off x="1693572" y="998065"/>
            <a:ext cx="6577884" cy="6924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1. </a:t>
            </a:r>
            <a:r>
              <a:rPr lang="en" sz="1400">
                <a:solidFill>
                  <a:srgbClr val="00B0F0"/>
                </a:solidFill>
                <a:latin typeface="Arial"/>
                <a:ea typeface="Arial"/>
                <a:cs typeface="Arial"/>
                <a:sym typeface="Arial"/>
              </a:rPr>
              <a:t>You are a helpful assistant. </a:t>
            </a:r>
            <a:r>
              <a:rPr lang="en" sz="1400">
                <a:solidFill>
                  <a:srgbClr val="43D658"/>
                </a:solidFill>
                <a:latin typeface="Arial"/>
                <a:ea typeface="Arial"/>
                <a:cs typeface="Arial"/>
                <a:sym typeface="Arial"/>
              </a:rPr>
              <a:t>User:Hello, Assistant:Hi!</a:t>
            </a:r>
            <a:endParaRPr sz="1400">
              <a:solidFill>
                <a:srgbClr val="43D658"/>
              </a:solidFill>
              <a:latin typeface="Arial"/>
              <a:ea typeface="Arial"/>
              <a:cs typeface="Arial"/>
              <a:sym typeface="Arial"/>
            </a:endParaRPr>
          </a:p>
          <a:p>
            <a:pPr indent="0" lvl="0" marL="0" marR="0" rtl="0" algn="l">
              <a:spcBef>
                <a:spcPts val="0"/>
              </a:spcBef>
              <a:spcAft>
                <a:spcPts val="0"/>
              </a:spcAft>
              <a:buNone/>
            </a:pPr>
            <a:r>
              <a:rPr lang="en" sz="1400">
                <a:solidFill>
                  <a:schemeClr val="dk1"/>
                </a:solidFill>
                <a:latin typeface="Arial"/>
                <a:ea typeface="Arial"/>
                <a:cs typeface="Arial"/>
                <a:sym typeface="Arial"/>
              </a:rPr>
              <a:t>2. </a:t>
            </a:r>
            <a:r>
              <a:rPr lang="en" sz="1400">
                <a:solidFill>
                  <a:srgbClr val="00B0F0"/>
                </a:solidFill>
                <a:latin typeface="Arial"/>
                <a:ea typeface="Arial"/>
                <a:cs typeface="Arial"/>
                <a:sym typeface="Arial"/>
              </a:rPr>
              <a:t>You are a helpful assistant. </a:t>
            </a:r>
            <a:r>
              <a:rPr lang="en" sz="1400">
                <a:solidFill>
                  <a:srgbClr val="43D658"/>
                </a:solidFill>
                <a:latin typeface="Arial"/>
                <a:ea typeface="Arial"/>
                <a:cs typeface="Arial"/>
                <a:sym typeface="Arial"/>
              </a:rPr>
              <a:t>User:Hello, Assistant:Hi!, </a:t>
            </a:r>
            <a:r>
              <a:rPr lang="en" sz="1400">
                <a:solidFill>
                  <a:schemeClr val="dk1"/>
                </a:solidFill>
                <a:latin typeface="Arial"/>
                <a:ea typeface="Arial"/>
                <a:cs typeface="Arial"/>
                <a:sym typeface="Arial"/>
              </a:rPr>
              <a:t>User: Solve this problem… </a:t>
            </a:r>
            <a:endParaRPr sz="1100"/>
          </a:p>
          <a:p>
            <a:pPr indent="0" lvl="0" marL="0" marR="0" rtl="0" algn="l">
              <a:spcBef>
                <a:spcPts val="0"/>
              </a:spcBef>
              <a:spcAft>
                <a:spcPts val="0"/>
              </a:spcAft>
              <a:buNone/>
            </a:pPr>
            <a:r>
              <a:rPr lang="en" sz="1400">
                <a:solidFill>
                  <a:schemeClr val="dk1"/>
                </a:solidFill>
                <a:latin typeface="Arial"/>
                <a:ea typeface="Arial"/>
                <a:cs typeface="Arial"/>
                <a:sym typeface="Arial"/>
              </a:rPr>
              <a:t>3. </a:t>
            </a:r>
            <a:r>
              <a:rPr lang="en" sz="1400">
                <a:solidFill>
                  <a:srgbClr val="00B0F0"/>
                </a:solidFill>
                <a:latin typeface="Arial"/>
                <a:ea typeface="Arial"/>
                <a:cs typeface="Arial"/>
                <a:sym typeface="Arial"/>
              </a:rPr>
              <a:t>You are a helpful assistant. </a:t>
            </a:r>
            <a:r>
              <a:rPr lang="en" sz="1400">
                <a:solidFill>
                  <a:schemeClr val="dk1"/>
                </a:solidFill>
                <a:latin typeface="Arial"/>
                <a:ea typeface="Arial"/>
                <a:cs typeface="Arial"/>
                <a:sym typeface="Arial"/>
              </a:rPr>
              <a:t>User:What can you do?</a:t>
            </a:r>
            <a:endParaRPr sz="1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2" name="Shape 552"/>
        <p:cNvGrpSpPr/>
        <p:nvPr/>
      </p:nvGrpSpPr>
      <p:grpSpPr>
        <a:xfrm>
          <a:off x="0" y="0"/>
          <a:ext cx="0" cy="0"/>
          <a:chOff x="0" y="0"/>
          <a:chExt cx="0" cy="0"/>
        </a:xfrm>
      </p:grpSpPr>
      <p:sp>
        <p:nvSpPr>
          <p:cNvPr id="553" name="Google Shape;553;p4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Radix Attention</a:t>
            </a:r>
            <a:endParaRPr/>
          </a:p>
        </p:txBody>
      </p:sp>
      <p:sp>
        <p:nvSpPr>
          <p:cNvPr id="554" name="Google Shape;554;p48"/>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254000" lvl="0" marL="457200" rtl="0" algn="l">
              <a:lnSpc>
                <a:spcPct val="90000"/>
              </a:lnSpc>
              <a:spcBef>
                <a:spcPts val="0"/>
              </a:spcBef>
              <a:spcAft>
                <a:spcPts val="0"/>
              </a:spcAft>
              <a:buClr>
                <a:schemeClr val="dk1"/>
              </a:buClr>
              <a:buSzPts val="1400"/>
              <a:buNone/>
            </a:pPr>
            <a:r>
              <a:t/>
            </a:r>
            <a:endParaRPr/>
          </a:p>
        </p:txBody>
      </p:sp>
      <p:pic>
        <p:nvPicPr>
          <p:cNvPr id="555" name="Google Shape;555;p48"/>
          <p:cNvPicPr preferRelativeResize="0"/>
          <p:nvPr/>
        </p:nvPicPr>
        <p:blipFill rotWithShape="1">
          <a:blip r:embed="rId3">
            <a:alphaModFix/>
          </a:blip>
          <a:srcRect b="0" l="0" r="0" t="0"/>
          <a:stretch/>
        </p:blipFill>
        <p:spPr>
          <a:xfrm>
            <a:off x="549854" y="1017725"/>
            <a:ext cx="7975022" cy="39035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Prefix Tree – Identify Prefix</a:t>
            </a:r>
            <a:endParaRPr/>
          </a:p>
        </p:txBody>
      </p:sp>
      <p:sp>
        <p:nvSpPr>
          <p:cNvPr id="561" name="Google Shape;561;p49"/>
          <p:cNvSpPr/>
          <p:nvPr/>
        </p:nvSpPr>
        <p:spPr>
          <a:xfrm>
            <a:off x="2098675" y="1330325"/>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2" name="Google Shape;562;p49"/>
          <p:cNvSpPr/>
          <p:nvPr/>
        </p:nvSpPr>
        <p:spPr>
          <a:xfrm>
            <a:off x="1289050" y="2047873"/>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3" name="Google Shape;563;p49"/>
          <p:cNvSpPr/>
          <p:nvPr/>
        </p:nvSpPr>
        <p:spPr>
          <a:xfrm>
            <a:off x="2952750" y="2047874"/>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4" name="Google Shape;564;p49"/>
          <p:cNvSpPr/>
          <p:nvPr/>
        </p:nvSpPr>
        <p:spPr>
          <a:xfrm>
            <a:off x="768350" y="2930523"/>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5" name="Google Shape;565;p49"/>
          <p:cNvSpPr/>
          <p:nvPr/>
        </p:nvSpPr>
        <p:spPr>
          <a:xfrm>
            <a:off x="1620043" y="2930522"/>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6" name="Google Shape;566;p49"/>
          <p:cNvSpPr/>
          <p:nvPr/>
        </p:nvSpPr>
        <p:spPr>
          <a:xfrm>
            <a:off x="2471736" y="2930522"/>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7" name="Google Shape;567;p49"/>
          <p:cNvSpPr/>
          <p:nvPr/>
        </p:nvSpPr>
        <p:spPr>
          <a:xfrm>
            <a:off x="3429000" y="2930522"/>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8" name="Google Shape;568;p49"/>
          <p:cNvSpPr/>
          <p:nvPr/>
        </p:nvSpPr>
        <p:spPr>
          <a:xfrm>
            <a:off x="1620043" y="3643303"/>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569" name="Google Shape;569;p49"/>
          <p:cNvCxnSpPr>
            <a:stCxn id="561" idx="2"/>
            <a:endCxn id="562" idx="0"/>
          </p:cNvCxnSpPr>
          <p:nvPr/>
        </p:nvCxnSpPr>
        <p:spPr>
          <a:xfrm flipH="1">
            <a:off x="1584250" y="1651000"/>
            <a:ext cx="809700" cy="396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570" name="Google Shape;570;p49"/>
          <p:cNvCxnSpPr>
            <a:stCxn id="561" idx="2"/>
            <a:endCxn id="563" idx="0"/>
          </p:cNvCxnSpPr>
          <p:nvPr/>
        </p:nvCxnSpPr>
        <p:spPr>
          <a:xfrm>
            <a:off x="2393950" y="1651000"/>
            <a:ext cx="854100" cy="396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571" name="Google Shape;571;p49"/>
          <p:cNvCxnSpPr>
            <a:stCxn id="563" idx="2"/>
            <a:endCxn id="567" idx="0"/>
          </p:cNvCxnSpPr>
          <p:nvPr/>
        </p:nvCxnSpPr>
        <p:spPr>
          <a:xfrm>
            <a:off x="3248025" y="2368549"/>
            <a:ext cx="476400" cy="561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572" name="Google Shape;572;p49"/>
          <p:cNvCxnSpPr>
            <a:endCxn id="565" idx="0"/>
          </p:cNvCxnSpPr>
          <p:nvPr/>
        </p:nvCxnSpPr>
        <p:spPr>
          <a:xfrm>
            <a:off x="1570918" y="2378222"/>
            <a:ext cx="344400" cy="5523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573" name="Google Shape;573;p49"/>
          <p:cNvCxnSpPr>
            <a:stCxn id="562" idx="2"/>
            <a:endCxn id="564" idx="0"/>
          </p:cNvCxnSpPr>
          <p:nvPr/>
        </p:nvCxnSpPr>
        <p:spPr>
          <a:xfrm flipH="1">
            <a:off x="1063525" y="2368548"/>
            <a:ext cx="520800" cy="561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574" name="Google Shape;574;p49"/>
          <p:cNvCxnSpPr>
            <a:stCxn id="565" idx="2"/>
            <a:endCxn id="568" idx="0"/>
          </p:cNvCxnSpPr>
          <p:nvPr/>
        </p:nvCxnSpPr>
        <p:spPr>
          <a:xfrm>
            <a:off x="1915318" y="3251198"/>
            <a:ext cx="0" cy="3921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575" name="Google Shape;575;p49"/>
          <p:cNvCxnSpPr>
            <a:stCxn id="563" idx="2"/>
            <a:endCxn id="566" idx="0"/>
          </p:cNvCxnSpPr>
          <p:nvPr/>
        </p:nvCxnSpPr>
        <p:spPr>
          <a:xfrm flipH="1">
            <a:off x="2767125" y="2368549"/>
            <a:ext cx="480900" cy="561900"/>
          </a:xfrm>
          <a:prstGeom prst="straightConnector1">
            <a:avLst/>
          </a:prstGeom>
          <a:noFill/>
          <a:ln cap="flat" cmpd="sng" w="19050">
            <a:solidFill>
              <a:schemeClr val="accent1"/>
            </a:solidFill>
            <a:prstDash val="solid"/>
            <a:miter lim="800000"/>
            <a:headEnd len="sm" w="sm" type="none"/>
            <a:tailEnd len="med" w="med" type="triangle"/>
          </a:ln>
        </p:spPr>
      </p:cxnSp>
      <p:sp>
        <p:nvSpPr>
          <p:cNvPr id="576" name="Google Shape;576;p49"/>
          <p:cNvSpPr txBox="1"/>
          <p:nvPr/>
        </p:nvSpPr>
        <p:spPr>
          <a:xfrm>
            <a:off x="1473200" y="1623376"/>
            <a:ext cx="59055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The</a:t>
            </a:r>
            <a:endParaRPr sz="1400">
              <a:solidFill>
                <a:schemeClr val="dk1"/>
              </a:solidFill>
              <a:latin typeface="Arial"/>
              <a:ea typeface="Arial"/>
              <a:cs typeface="Arial"/>
              <a:sym typeface="Arial"/>
            </a:endParaRPr>
          </a:p>
        </p:txBody>
      </p:sp>
      <p:sp>
        <p:nvSpPr>
          <p:cNvPr id="577" name="Google Shape;577;p49"/>
          <p:cNvSpPr txBox="1"/>
          <p:nvPr/>
        </p:nvSpPr>
        <p:spPr>
          <a:xfrm>
            <a:off x="2855911" y="1623376"/>
            <a:ext cx="64293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Today</a:t>
            </a:r>
            <a:endParaRPr sz="1400">
              <a:solidFill>
                <a:schemeClr val="dk1"/>
              </a:solidFill>
              <a:latin typeface="Arial"/>
              <a:ea typeface="Arial"/>
              <a:cs typeface="Arial"/>
              <a:sym typeface="Arial"/>
            </a:endParaRPr>
          </a:p>
        </p:txBody>
      </p:sp>
      <p:sp>
        <p:nvSpPr>
          <p:cNvPr id="578" name="Google Shape;578;p49"/>
          <p:cNvSpPr txBox="1"/>
          <p:nvPr/>
        </p:nvSpPr>
        <p:spPr>
          <a:xfrm>
            <a:off x="3562351" y="2471348"/>
            <a:ext cx="64293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I</a:t>
            </a:r>
            <a:endParaRPr sz="1400">
              <a:solidFill>
                <a:schemeClr val="dk1"/>
              </a:solidFill>
              <a:latin typeface="Arial"/>
              <a:ea typeface="Arial"/>
              <a:cs typeface="Arial"/>
              <a:sym typeface="Arial"/>
            </a:endParaRPr>
          </a:p>
        </p:txBody>
      </p:sp>
      <p:sp>
        <p:nvSpPr>
          <p:cNvPr id="579" name="Google Shape;579;p49"/>
          <p:cNvSpPr txBox="1"/>
          <p:nvPr/>
        </p:nvSpPr>
        <p:spPr>
          <a:xfrm>
            <a:off x="2686049" y="2471348"/>
            <a:ext cx="64293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is</a:t>
            </a:r>
            <a:endParaRPr sz="1400">
              <a:solidFill>
                <a:schemeClr val="dk1"/>
              </a:solidFill>
              <a:latin typeface="Arial"/>
              <a:ea typeface="Arial"/>
              <a:cs typeface="Arial"/>
              <a:sym typeface="Arial"/>
            </a:endParaRPr>
          </a:p>
        </p:txBody>
      </p:sp>
      <p:sp>
        <p:nvSpPr>
          <p:cNvPr id="580" name="Google Shape;580;p49"/>
          <p:cNvSpPr txBox="1"/>
          <p:nvPr/>
        </p:nvSpPr>
        <p:spPr>
          <a:xfrm>
            <a:off x="1743075" y="2480878"/>
            <a:ext cx="98345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University</a:t>
            </a:r>
            <a:endParaRPr sz="1400">
              <a:solidFill>
                <a:schemeClr val="dk1"/>
              </a:solidFill>
              <a:latin typeface="Arial"/>
              <a:ea typeface="Arial"/>
              <a:cs typeface="Arial"/>
              <a:sym typeface="Arial"/>
            </a:endParaRPr>
          </a:p>
        </p:txBody>
      </p:sp>
      <p:sp>
        <p:nvSpPr>
          <p:cNvPr id="581" name="Google Shape;581;p49"/>
          <p:cNvSpPr txBox="1"/>
          <p:nvPr/>
        </p:nvSpPr>
        <p:spPr>
          <a:xfrm>
            <a:off x="742155" y="2480878"/>
            <a:ext cx="590551"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color</a:t>
            </a:r>
            <a:endParaRPr sz="1400">
              <a:solidFill>
                <a:schemeClr val="dk1"/>
              </a:solidFill>
              <a:latin typeface="Arial"/>
              <a:ea typeface="Arial"/>
              <a:cs typeface="Arial"/>
              <a:sym typeface="Arial"/>
            </a:endParaRPr>
          </a:p>
        </p:txBody>
      </p:sp>
      <p:sp>
        <p:nvSpPr>
          <p:cNvPr id="582" name="Google Shape;582;p49"/>
          <p:cNvSpPr txBox="1"/>
          <p:nvPr/>
        </p:nvSpPr>
        <p:spPr>
          <a:xfrm>
            <a:off x="1980008" y="3294872"/>
            <a:ext cx="98345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of</a:t>
            </a:r>
            <a:endParaRPr sz="1400">
              <a:solidFill>
                <a:schemeClr val="dk1"/>
              </a:solidFill>
              <a:latin typeface="Arial"/>
              <a:ea typeface="Arial"/>
              <a:cs typeface="Arial"/>
              <a:sym typeface="Arial"/>
            </a:endParaRPr>
          </a:p>
        </p:txBody>
      </p:sp>
      <p:sp>
        <p:nvSpPr>
          <p:cNvPr id="583" name="Google Shape;583;p49"/>
          <p:cNvSpPr/>
          <p:nvPr/>
        </p:nvSpPr>
        <p:spPr>
          <a:xfrm>
            <a:off x="1613693" y="4377798"/>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584" name="Google Shape;584;p49"/>
          <p:cNvCxnSpPr>
            <a:stCxn id="568" idx="2"/>
            <a:endCxn id="583" idx="0"/>
          </p:cNvCxnSpPr>
          <p:nvPr/>
        </p:nvCxnSpPr>
        <p:spPr>
          <a:xfrm flipH="1">
            <a:off x="1909018" y="3963979"/>
            <a:ext cx="6300" cy="413700"/>
          </a:xfrm>
          <a:prstGeom prst="straightConnector1">
            <a:avLst/>
          </a:prstGeom>
          <a:noFill/>
          <a:ln cap="flat" cmpd="sng" w="19050">
            <a:solidFill>
              <a:schemeClr val="accent1"/>
            </a:solidFill>
            <a:prstDash val="solid"/>
            <a:miter lim="800000"/>
            <a:headEnd len="sm" w="sm" type="none"/>
            <a:tailEnd len="med" w="med" type="triangle"/>
          </a:ln>
        </p:spPr>
      </p:cxnSp>
      <p:sp>
        <p:nvSpPr>
          <p:cNvPr id="585" name="Google Shape;585;p49"/>
          <p:cNvSpPr txBox="1"/>
          <p:nvPr/>
        </p:nvSpPr>
        <p:spPr>
          <a:xfrm>
            <a:off x="1908968" y="4041800"/>
            <a:ext cx="120015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Washington</a:t>
            </a:r>
            <a:endParaRPr sz="1400">
              <a:solidFill>
                <a:schemeClr val="dk1"/>
              </a:solidFill>
              <a:latin typeface="Arial"/>
              <a:ea typeface="Arial"/>
              <a:cs typeface="Arial"/>
              <a:sym typeface="Arial"/>
            </a:endParaRPr>
          </a:p>
        </p:txBody>
      </p:sp>
      <p:sp>
        <p:nvSpPr>
          <p:cNvPr id="586" name="Google Shape;586;p49"/>
          <p:cNvSpPr txBox="1"/>
          <p:nvPr/>
        </p:nvSpPr>
        <p:spPr>
          <a:xfrm>
            <a:off x="4617413" y="2460973"/>
            <a:ext cx="59055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The</a:t>
            </a:r>
            <a:endParaRPr sz="1400">
              <a:solidFill>
                <a:schemeClr val="dk1"/>
              </a:solidFill>
              <a:latin typeface="Arial"/>
              <a:ea typeface="Arial"/>
              <a:cs typeface="Arial"/>
              <a:sym typeface="Arial"/>
            </a:endParaRPr>
          </a:p>
        </p:txBody>
      </p:sp>
      <p:sp>
        <p:nvSpPr>
          <p:cNvPr id="587" name="Google Shape;587;p49"/>
          <p:cNvSpPr txBox="1"/>
          <p:nvPr/>
        </p:nvSpPr>
        <p:spPr>
          <a:xfrm>
            <a:off x="5161529" y="2455070"/>
            <a:ext cx="98345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University</a:t>
            </a:r>
            <a:endParaRPr sz="1400">
              <a:solidFill>
                <a:schemeClr val="dk1"/>
              </a:solidFill>
              <a:latin typeface="Arial"/>
              <a:ea typeface="Arial"/>
              <a:cs typeface="Arial"/>
              <a:sym typeface="Arial"/>
            </a:endParaRPr>
          </a:p>
        </p:txBody>
      </p:sp>
      <p:sp>
        <p:nvSpPr>
          <p:cNvPr id="588" name="Google Shape;588;p49"/>
          <p:cNvSpPr txBox="1"/>
          <p:nvPr/>
        </p:nvSpPr>
        <p:spPr>
          <a:xfrm>
            <a:off x="6144983" y="2449166"/>
            <a:ext cx="98345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of</a:t>
            </a:r>
            <a:endParaRPr sz="1400">
              <a:solidFill>
                <a:schemeClr val="dk1"/>
              </a:solidFill>
              <a:latin typeface="Arial"/>
              <a:ea typeface="Arial"/>
              <a:cs typeface="Arial"/>
              <a:sym typeface="Arial"/>
            </a:endParaRPr>
          </a:p>
        </p:txBody>
      </p:sp>
      <p:sp>
        <p:nvSpPr>
          <p:cNvPr id="589" name="Google Shape;589;p49"/>
          <p:cNvSpPr txBox="1"/>
          <p:nvPr/>
        </p:nvSpPr>
        <p:spPr>
          <a:xfrm>
            <a:off x="6481928" y="2443263"/>
            <a:ext cx="120015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Washington</a:t>
            </a:r>
            <a:endParaRPr sz="1400">
              <a:solidFill>
                <a:schemeClr val="dk1"/>
              </a:solidFill>
              <a:latin typeface="Arial"/>
              <a:ea typeface="Arial"/>
              <a:cs typeface="Arial"/>
              <a:sym typeface="Arial"/>
            </a:endParaRPr>
          </a:p>
        </p:txBody>
      </p:sp>
      <p:sp>
        <p:nvSpPr>
          <p:cNvPr id="590" name="Google Shape;590;p49"/>
          <p:cNvSpPr txBox="1"/>
          <p:nvPr/>
        </p:nvSpPr>
        <p:spPr>
          <a:xfrm>
            <a:off x="7236952" y="2437360"/>
            <a:ext cx="120015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is</a:t>
            </a:r>
            <a:endParaRPr sz="14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Prefix Tree– Identify Prefix</a:t>
            </a:r>
            <a:endParaRPr/>
          </a:p>
        </p:txBody>
      </p:sp>
      <p:sp>
        <p:nvSpPr>
          <p:cNvPr id="597" name="Google Shape;597;p50"/>
          <p:cNvSpPr/>
          <p:nvPr/>
        </p:nvSpPr>
        <p:spPr>
          <a:xfrm>
            <a:off x="2098675" y="1330325"/>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98" name="Google Shape;598;p50"/>
          <p:cNvSpPr/>
          <p:nvPr/>
        </p:nvSpPr>
        <p:spPr>
          <a:xfrm>
            <a:off x="1289050" y="2047873"/>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99" name="Google Shape;599;p50"/>
          <p:cNvSpPr/>
          <p:nvPr/>
        </p:nvSpPr>
        <p:spPr>
          <a:xfrm>
            <a:off x="2952750" y="2047874"/>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00" name="Google Shape;600;p50"/>
          <p:cNvSpPr/>
          <p:nvPr/>
        </p:nvSpPr>
        <p:spPr>
          <a:xfrm>
            <a:off x="768350" y="2930523"/>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01" name="Google Shape;601;p50"/>
          <p:cNvSpPr/>
          <p:nvPr/>
        </p:nvSpPr>
        <p:spPr>
          <a:xfrm>
            <a:off x="1620043" y="2930522"/>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02" name="Google Shape;602;p50"/>
          <p:cNvSpPr/>
          <p:nvPr/>
        </p:nvSpPr>
        <p:spPr>
          <a:xfrm>
            <a:off x="2471736" y="2930522"/>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03" name="Google Shape;603;p50"/>
          <p:cNvSpPr/>
          <p:nvPr/>
        </p:nvSpPr>
        <p:spPr>
          <a:xfrm>
            <a:off x="3429000" y="2930522"/>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04" name="Google Shape;604;p50"/>
          <p:cNvSpPr/>
          <p:nvPr/>
        </p:nvSpPr>
        <p:spPr>
          <a:xfrm>
            <a:off x="1620043" y="3643303"/>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605" name="Google Shape;605;p50"/>
          <p:cNvCxnSpPr>
            <a:stCxn id="597" idx="2"/>
            <a:endCxn id="598" idx="0"/>
          </p:cNvCxnSpPr>
          <p:nvPr/>
        </p:nvCxnSpPr>
        <p:spPr>
          <a:xfrm flipH="1">
            <a:off x="1584250" y="1651000"/>
            <a:ext cx="809700" cy="396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606" name="Google Shape;606;p50"/>
          <p:cNvCxnSpPr>
            <a:stCxn id="597" idx="2"/>
            <a:endCxn id="599" idx="0"/>
          </p:cNvCxnSpPr>
          <p:nvPr/>
        </p:nvCxnSpPr>
        <p:spPr>
          <a:xfrm>
            <a:off x="2393950" y="1651000"/>
            <a:ext cx="854100" cy="396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607" name="Google Shape;607;p50"/>
          <p:cNvCxnSpPr>
            <a:stCxn id="599" idx="2"/>
            <a:endCxn id="603" idx="0"/>
          </p:cNvCxnSpPr>
          <p:nvPr/>
        </p:nvCxnSpPr>
        <p:spPr>
          <a:xfrm>
            <a:off x="3248025" y="2368549"/>
            <a:ext cx="476400" cy="561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608" name="Google Shape;608;p50"/>
          <p:cNvCxnSpPr>
            <a:endCxn id="601" idx="0"/>
          </p:cNvCxnSpPr>
          <p:nvPr/>
        </p:nvCxnSpPr>
        <p:spPr>
          <a:xfrm>
            <a:off x="1570918" y="2378222"/>
            <a:ext cx="344400" cy="5523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609" name="Google Shape;609;p50"/>
          <p:cNvCxnSpPr>
            <a:stCxn id="598" idx="2"/>
            <a:endCxn id="600" idx="0"/>
          </p:cNvCxnSpPr>
          <p:nvPr/>
        </p:nvCxnSpPr>
        <p:spPr>
          <a:xfrm flipH="1">
            <a:off x="1063525" y="2368548"/>
            <a:ext cx="520800" cy="5619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610" name="Google Shape;610;p50"/>
          <p:cNvCxnSpPr>
            <a:stCxn id="601" idx="2"/>
            <a:endCxn id="604" idx="0"/>
          </p:cNvCxnSpPr>
          <p:nvPr/>
        </p:nvCxnSpPr>
        <p:spPr>
          <a:xfrm>
            <a:off x="1915318" y="3251198"/>
            <a:ext cx="0" cy="3921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611" name="Google Shape;611;p50"/>
          <p:cNvCxnSpPr>
            <a:stCxn id="599" idx="2"/>
            <a:endCxn id="602" idx="0"/>
          </p:cNvCxnSpPr>
          <p:nvPr/>
        </p:nvCxnSpPr>
        <p:spPr>
          <a:xfrm flipH="1">
            <a:off x="2767125" y="2368549"/>
            <a:ext cx="480900" cy="561900"/>
          </a:xfrm>
          <a:prstGeom prst="straightConnector1">
            <a:avLst/>
          </a:prstGeom>
          <a:noFill/>
          <a:ln cap="flat" cmpd="sng" w="19050">
            <a:solidFill>
              <a:schemeClr val="accent1"/>
            </a:solidFill>
            <a:prstDash val="solid"/>
            <a:miter lim="800000"/>
            <a:headEnd len="sm" w="sm" type="none"/>
            <a:tailEnd len="med" w="med" type="triangle"/>
          </a:ln>
        </p:spPr>
      </p:cxnSp>
      <p:sp>
        <p:nvSpPr>
          <p:cNvPr id="612" name="Google Shape;612;p50"/>
          <p:cNvSpPr txBox="1"/>
          <p:nvPr/>
        </p:nvSpPr>
        <p:spPr>
          <a:xfrm>
            <a:off x="1473200" y="1623376"/>
            <a:ext cx="59055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The</a:t>
            </a:r>
            <a:endParaRPr sz="1400">
              <a:solidFill>
                <a:schemeClr val="dk1"/>
              </a:solidFill>
              <a:latin typeface="Arial"/>
              <a:ea typeface="Arial"/>
              <a:cs typeface="Arial"/>
              <a:sym typeface="Arial"/>
            </a:endParaRPr>
          </a:p>
        </p:txBody>
      </p:sp>
      <p:sp>
        <p:nvSpPr>
          <p:cNvPr id="613" name="Google Shape;613;p50"/>
          <p:cNvSpPr txBox="1"/>
          <p:nvPr/>
        </p:nvSpPr>
        <p:spPr>
          <a:xfrm>
            <a:off x="2855911" y="1623376"/>
            <a:ext cx="64293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Today,</a:t>
            </a:r>
            <a:endParaRPr sz="1400">
              <a:solidFill>
                <a:schemeClr val="dk1"/>
              </a:solidFill>
              <a:latin typeface="Arial"/>
              <a:ea typeface="Arial"/>
              <a:cs typeface="Arial"/>
              <a:sym typeface="Arial"/>
            </a:endParaRPr>
          </a:p>
        </p:txBody>
      </p:sp>
      <p:sp>
        <p:nvSpPr>
          <p:cNvPr id="614" name="Google Shape;614;p50"/>
          <p:cNvSpPr txBox="1"/>
          <p:nvPr/>
        </p:nvSpPr>
        <p:spPr>
          <a:xfrm>
            <a:off x="3562351" y="2471348"/>
            <a:ext cx="64293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I</a:t>
            </a:r>
            <a:endParaRPr sz="1400">
              <a:solidFill>
                <a:schemeClr val="dk1"/>
              </a:solidFill>
              <a:latin typeface="Arial"/>
              <a:ea typeface="Arial"/>
              <a:cs typeface="Arial"/>
              <a:sym typeface="Arial"/>
            </a:endParaRPr>
          </a:p>
        </p:txBody>
      </p:sp>
      <p:sp>
        <p:nvSpPr>
          <p:cNvPr id="615" name="Google Shape;615;p50"/>
          <p:cNvSpPr txBox="1"/>
          <p:nvPr/>
        </p:nvSpPr>
        <p:spPr>
          <a:xfrm>
            <a:off x="2686049" y="2471348"/>
            <a:ext cx="64293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the</a:t>
            </a:r>
            <a:endParaRPr sz="1400">
              <a:solidFill>
                <a:schemeClr val="dk1"/>
              </a:solidFill>
              <a:latin typeface="Arial"/>
              <a:ea typeface="Arial"/>
              <a:cs typeface="Arial"/>
              <a:sym typeface="Arial"/>
            </a:endParaRPr>
          </a:p>
        </p:txBody>
      </p:sp>
      <p:sp>
        <p:nvSpPr>
          <p:cNvPr id="616" name="Google Shape;616;p50"/>
          <p:cNvSpPr txBox="1"/>
          <p:nvPr/>
        </p:nvSpPr>
        <p:spPr>
          <a:xfrm>
            <a:off x="1743075" y="2480878"/>
            <a:ext cx="98345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University</a:t>
            </a:r>
            <a:endParaRPr sz="1400">
              <a:solidFill>
                <a:schemeClr val="dk1"/>
              </a:solidFill>
              <a:latin typeface="Arial"/>
              <a:ea typeface="Arial"/>
              <a:cs typeface="Arial"/>
              <a:sym typeface="Arial"/>
            </a:endParaRPr>
          </a:p>
        </p:txBody>
      </p:sp>
      <p:sp>
        <p:nvSpPr>
          <p:cNvPr id="617" name="Google Shape;617;p50"/>
          <p:cNvSpPr txBox="1"/>
          <p:nvPr/>
        </p:nvSpPr>
        <p:spPr>
          <a:xfrm>
            <a:off x="742155" y="2480878"/>
            <a:ext cx="590551"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color</a:t>
            </a:r>
            <a:endParaRPr sz="1400">
              <a:solidFill>
                <a:schemeClr val="dk1"/>
              </a:solidFill>
              <a:latin typeface="Arial"/>
              <a:ea typeface="Arial"/>
              <a:cs typeface="Arial"/>
              <a:sym typeface="Arial"/>
            </a:endParaRPr>
          </a:p>
        </p:txBody>
      </p:sp>
      <p:sp>
        <p:nvSpPr>
          <p:cNvPr id="618" name="Google Shape;618;p50"/>
          <p:cNvSpPr txBox="1"/>
          <p:nvPr/>
        </p:nvSpPr>
        <p:spPr>
          <a:xfrm>
            <a:off x="1980008" y="3294872"/>
            <a:ext cx="98345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of</a:t>
            </a:r>
            <a:endParaRPr sz="1400">
              <a:solidFill>
                <a:schemeClr val="dk1"/>
              </a:solidFill>
              <a:latin typeface="Arial"/>
              <a:ea typeface="Arial"/>
              <a:cs typeface="Arial"/>
              <a:sym typeface="Arial"/>
            </a:endParaRPr>
          </a:p>
        </p:txBody>
      </p:sp>
      <p:sp>
        <p:nvSpPr>
          <p:cNvPr id="619" name="Google Shape;619;p50"/>
          <p:cNvSpPr/>
          <p:nvPr/>
        </p:nvSpPr>
        <p:spPr>
          <a:xfrm>
            <a:off x="1613693" y="4377798"/>
            <a:ext cx="590550" cy="3206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620" name="Google Shape;620;p50"/>
          <p:cNvCxnSpPr>
            <a:stCxn id="604" idx="2"/>
            <a:endCxn id="619" idx="0"/>
          </p:cNvCxnSpPr>
          <p:nvPr/>
        </p:nvCxnSpPr>
        <p:spPr>
          <a:xfrm flipH="1">
            <a:off x="1909018" y="3963979"/>
            <a:ext cx="6300" cy="413700"/>
          </a:xfrm>
          <a:prstGeom prst="straightConnector1">
            <a:avLst/>
          </a:prstGeom>
          <a:noFill/>
          <a:ln cap="flat" cmpd="sng" w="19050">
            <a:solidFill>
              <a:schemeClr val="accent1"/>
            </a:solidFill>
            <a:prstDash val="solid"/>
            <a:miter lim="800000"/>
            <a:headEnd len="sm" w="sm" type="none"/>
            <a:tailEnd len="med" w="med" type="triangle"/>
          </a:ln>
        </p:spPr>
      </p:cxnSp>
      <p:sp>
        <p:nvSpPr>
          <p:cNvPr id="621" name="Google Shape;621;p50"/>
          <p:cNvSpPr txBox="1"/>
          <p:nvPr/>
        </p:nvSpPr>
        <p:spPr>
          <a:xfrm>
            <a:off x="1908968" y="4041800"/>
            <a:ext cx="120015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Washington</a:t>
            </a:r>
            <a:endParaRPr sz="1400">
              <a:solidFill>
                <a:schemeClr val="dk1"/>
              </a:solidFill>
              <a:latin typeface="Arial"/>
              <a:ea typeface="Arial"/>
              <a:cs typeface="Arial"/>
              <a:sym typeface="Arial"/>
            </a:endParaRPr>
          </a:p>
        </p:txBody>
      </p:sp>
      <p:sp>
        <p:nvSpPr>
          <p:cNvPr id="622" name="Google Shape;622;p50"/>
          <p:cNvSpPr txBox="1"/>
          <p:nvPr/>
        </p:nvSpPr>
        <p:spPr>
          <a:xfrm>
            <a:off x="5357611" y="2360857"/>
            <a:ext cx="700357"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Today,</a:t>
            </a:r>
            <a:endParaRPr sz="1400">
              <a:solidFill>
                <a:schemeClr val="dk1"/>
              </a:solidFill>
              <a:latin typeface="Arial"/>
              <a:ea typeface="Arial"/>
              <a:cs typeface="Arial"/>
              <a:sym typeface="Arial"/>
            </a:endParaRPr>
          </a:p>
        </p:txBody>
      </p:sp>
      <p:sp>
        <p:nvSpPr>
          <p:cNvPr id="623" name="Google Shape;623;p50"/>
          <p:cNvSpPr txBox="1"/>
          <p:nvPr/>
        </p:nvSpPr>
        <p:spPr>
          <a:xfrm>
            <a:off x="6011534" y="2354953"/>
            <a:ext cx="59055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we</a:t>
            </a:r>
            <a:endParaRPr sz="1400">
              <a:solidFill>
                <a:schemeClr val="dk1"/>
              </a:solidFill>
              <a:latin typeface="Arial"/>
              <a:ea typeface="Arial"/>
              <a:cs typeface="Arial"/>
              <a:sym typeface="Arial"/>
            </a:endParaRPr>
          </a:p>
        </p:txBody>
      </p:sp>
      <p:sp>
        <p:nvSpPr>
          <p:cNvPr id="624" name="Google Shape;624;p50"/>
          <p:cNvSpPr txBox="1"/>
          <p:nvPr/>
        </p:nvSpPr>
        <p:spPr>
          <a:xfrm>
            <a:off x="6348479" y="2354953"/>
            <a:ext cx="98345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will</a:t>
            </a:r>
            <a:endParaRPr sz="14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1"/>
          <p:cNvSpPr txBox="1"/>
          <p:nvPr>
            <p:ph type="title"/>
          </p:nvPr>
        </p:nvSpPr>
        <p:spPr>
          <a:xfrm>
            <a:off x="311700" y="394846"/>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Batched Decoding Exploiting a Common Prefix</a:t>
            </a:r>
            <a:endParaRPr/>
          </a:p>
        </p:txBody>
      </p:sp>
      <p:pic>
        <p:nvPicPr>
          <p:cNvPr id="631" name="Google Shape;631;p51"/>
          <p:cNvPicPr preferRelativeResize="0"/>
          <p:nvPr/>
        </p:nvPicPr>
        <p:blipFill rotWithShape="1">
          <a:blip r:embed="rId3">
            <a:alphaModFix/>
          </a:blip>
          <a:srcRect b="0" l="0" r="0" t="0"/>
          <a:stretch/>
        </p:blipFill>
        <p:spPr>
          <a:xfrm>
            <a:off x="1898474" y="946204"/>
            <a:ext cx="6374713" cy="4009616"/>
          </a:xfrm>
          <a:prstGeom prst="rect">
            <a:avLst/>
          </a:prstGeom>
          <a:noFill/>
          <a:ln>
            <a:noFill/>
          </a:ln>
        </p:spPr>
      </p:pic>
      <p:sp>
        <p:nvSpPr>
          <p:cNvPr id="632" name="Google Shape;632;p51"/>
          <p:cNvSpPr txBox="1"/>
          <p:nvPr/>
        </p:nvSpPr>
        <p:spPr>
          <a:xfrm>
            <a:off x="112253" y="4827407"/>
            <a:ext cx="457261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https://flashinfer.ai/2024/02/02/cascade-inference.html</a:t>
            </a:r>
            <a:endParaRPr sz="1100"/>
          </a:p>
        </p:txBody>
      </p:sp>
      <p:sp>
        <p:nvSpPr>
          <p:cNvPr id="633" name="Google Shape;633;p51"/>
          <p:cNvSpPr txBox="1"/>
          <p:nvPr/>
        </p:nvSpPr>
        <p:spPr>
          <a:xfrm>
            <a:off x="800933" y="2882466"/>
            <a:ext cx="1358153" cy="484748"/>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rgbClr val="33006F"/>
                </a:solidFill>
                <a:latin typeface="Arial"/>
                <a:ea typeface="Arial"/>
                <a:cs typeface="Arial"/>
                <a:sym typeface="Arial"/>
              </a:rPr>
              <a:t>Concatenate Queries</a:t>
            </a:r>
            <a:endParaRPr sz="1100"/>
          </a:p>
        </p:txBody>
      </p:sp>
      <p:cxnSp>
        <p:nvCxnSpPr>
          <p:cNvPr id="634" name="Google Shape;634;p51"/>
          <p:cNvCxnSpPr/>
          <p:nvPr/>
        </p:nvCxnSpPr>
        <p:spPr>
          <a:xfrm flipH="1" rot="10800000">
            <a:off x="2149001" y="3069291"/>
            <a:ext cx="372322" cy="60092"/>
          </a:xfrm>
          <a:prstGeom prst="straightConnector1">
            <a:avLst/>
          </a:prstGeom>
          <a:noFill/>
          <a:ln cap="flat" cmpd="sng" w="57150">
            <a:solidFill>
              <a:srgbClr val="33006F"/>
            </a:solidFill>
            <a:prstDash val="solid"/>
            <a:miter lim="800000"/>
            <a:headEnd len="sm" w="sm"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2"/>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Performance gain of prefix sharing</a:t>
            </a:r>
            <a:br>
              <a:rPr lang="en"/>
            </a:br>
            <a:endParaRPr/>
          </a:p>
        </p:txBody>
      </p:sp>
      <p:pic>
        <p:nvPicPr>
          <p:cNvPr id="641" name="Google Shape;641;p52"/>
          <p:cNvPicPr preferRelativeResize="0"/>
          <p:nvPr/>
        </p:nvPicPr>
        <p:blipFill rotWithShape="1">
          <a:blip r:embed="rId3">
            <a:alphaModFix/>
          </a:blip>
          <a:srcRect b="0" l="0" r="0" t="0"/>
          <a:stretch/>
        </p:blipFill>
        <p:spPr>
          <a:xfrm>
            <a:off x="1423017" y="1017725"/>
            <a:ext cx="6238892" cy="3894662"/>
          </a:xfrm>
          <a:prstGeom prst="rect">
            <a:avLst/>
          </a:prstGeom>
          <a:noFill/>
          <a:ln>
            <a:noFill/>
          </a:ln>
        </p:spPr>
      </p:pic>
      <p:sp>
        <p:nvSpPr>
          <p:cNvPr id="642" name="Google Shape;642;p52"/>
          <p:cNvSpPr txBox="1"/>
          <p:nvPr/>
        </p:nvSpPr>
        <p:spPr>
          <a:xfrm>
            <a:off x="112253" y="4827407"/>
            <a:ext cx="457261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https://flashinfer.ai/2024/02/02/cascade-inference.html</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Prefix Sharing Pros and Cons</a:t>
            </a:r>
            <a:endParaRPr/>
          </a:p>
        </p:txBody>
      </p:sp>
      <p:sp>
        <p:nvSpPr>
          <p:cNvPr id="649" name="Google Shape;649;p53"/>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lnSpcReduction="20000"/>
          </a:bodyPr>
          <a:lstStyle/>
          <a:p>
            <a:pPr indent="0" lvl="0" marL="114300" rtl="0" algn="l">
              <a:lnSpc>
                <a:spcPct val="150000"/>
              </a:lnSpc>
              <a:spcBef>
                <a:spcPts val="0"/>
              </a:spcBef>
              <a:spcAft>
                <a:spcPts val="0"/>
              </a:spcAft>
              <a:buClr>
                <a:schemeClr val="dk1"/>
              </a:buClr>
              <a:buSzPts val="1400"/>
              <a:buNone/>
            </a:pPr>
            <a:r>
              <a:rPr lang="en"/>
              <a:t>The prefix with length p shared across n requests</a:t>
            </a:r>
            <a:endParaRPr/>
          </a:p>
          <a:p>
            <a:pPr indent="-342900" lvl="0" marL="457200" rtl="0" algn="l">
              <a:lnSpc>
                <a:spcPct val="150000"/>
              </a:lnSpc>
              <a:spcBef>
                <a:spcPts val="0"/>
              </a:spcBef>
              <a:spcAft>
                <a:spcPts val="0"/>
              </a:spcAft>
              <a:buClr>
                <a:srgbClr val="00B050"/>
              </a:buClr>
              <a:buSzPts val="1400"/>
              <a:buChar char="●"/>
            </a:pPr>
            <a:r>
              <a:rPr lang="en">
                <a:solidFill>
                  <a:srgbClr val="00B050"/>
                </a:solidFill>
              </a:rPr>
              <a:t>Reduced prefill computation (n*p -&gt; p)</a:t>
            </a:r>
            <a:endParaRPr/>
          </a:p>
          <a:p>
            <a:pPr indent="-342900" lvl="0" marL="457200" rtl="0" algn="l">
              <a:lnSpc>
                <a:spcPct val="150000"/>
              </a:lnSpc>
              <a:spcBef>
                <a:spcPts val="0"/>
              </a:spcBef>
              <a:spcAft>
                <a:spcPts val="0"/>
              </a:spcAft>
              <a:buClr>
                <a:srgbClr val="00B050"/>
              </a:buClr>
              <a:buSzPts val="1400"/>
              <a:buChar char="●"/>
            </a:pPr>
            <a:r>
              <a:rPr lang="en">
                <a:solidFill>
                  <a:srgbClr val="00B050"/>
                </a:solidFill>
              </a:rPr>
              <a:t>Reduced KV cache size (n*p -&gt; p)</a:t>
            </a:r>
            <a:endParaRPr/>
          </a:p>
          <a:p>
            <a:pPr indent="-342900" lvl="0" marL="457200" rtl="0" algn="l">
              <a:lnSpc>
                <a:spcPct val="150000"/>
              </a:lnSpc>
              <a:spcBef>
                <a:spcPts val="0"/>
              </a:spcBef>
              <a:spcAft>
                <a:spcPts val="0"/>
              </a:spcAft>
              <a:buClr>
                <a:srgbClr val="00B050"/>
              </a:buClr>
              <a:buSzPts val="1400"/>
              <a:buChar char="●"/>
            </a:pPr>
            <a:r>
              <a:rPr lang="en">
                <a:solidFill>
                  <a:srgbClr val="00B050"/>
                </a:solidFill>
              </a:rPr>
              <a:t>Reduced memory loading during decoding (n*p -&gt; p)</a:t>
            </a:r>
            <a:endParaRPr/>
          </a:p>
          <a:p>
            <a:pPr indent="-342900" lvl="0" marL="457200" rtl="0" algn="l">
              <a:lnSpc>
                <a:spcPct val="150000"/>
              </a:lnSpc>
              <a:spcBef>
                <a:spcPts val="0"/>
              </a:spcBef>
              <a:spcAft>
                <a:spcPts val="0"/>
              </a:spcAft>
              <a:buClr>
                <a:srgbClr val="00B050"/>
              </a:buClr>
              <a:buSzPts val="1400"/>
              <a:buChar char="●"/>
            </a:pPr>
            <a:r>
              <a:rPr lang="en">
                <a:solidFill>
                  <a:srgbClr val="00B050"/>
                </a:solidFill>
              </a:rPr>
              <a:t>The matching can be performed asynchronously.</a:t>
            </a:r>
            <a:endParaRPr>
              <a:solidFill>
                <a:srgbClr val="00B050"/>
              </a:solidFill>
            </a:endParaRPr>
          </a:p>
          <a:p>
            <a:pPr indent="-342900" lvl="1" marL="914400" rtl="0" algn="l">
              <a:lnSpc>
                <a:spcPct val="150000"/>
              </a:lnSpc>
              <a:spcBef>
                <a:spcPts val="0"/>
              </a:spcBef>
              <a:spcAft>
                <a:spcPts val="0"/>
              </a:spcAft>
              <a:buClr>
                <a:srgbClr val="00B050"/>
              </a:buClr>
              <a:buSzPts val="1400"/>
              <a:buChar char="○"/>
            </a:pPr>
            <a:r>
              <a:rPr lang="en">
                <a:solidFill>
                  <a:srgbClr val="00B050"/>
                </a:solidFill>
              </a:rPr>
              <a:t>When a new request comes </a:t>
            </a:r>
            <a:endParaRPr/>
          </a:p>
          <a:p>
            <a:pPr indent="-342900" lvl="0" marL="457200" rtl="0" algn="l">
              <a:lnSpc>
                <a:spcPct val="150000"/>
              </a:lnSpc>
              <a:spcBef>
                <a:spcPts val="0"/>
              </a:spcBef>
              <a:spcAft>
                <a:spcPts val="0"/>
              </a:spcAft>
              <a:buClr>
                <a:srgbClr val="EE0000"/>
              </a:buClr>
              <a:buSzPts val="1400"/>
              <a:buChar char="●"/>
            </a:pPr>
            <a:r>
              <a:rPr lang="en">
                <a:solidFill>
                  <a:srgbClr val="EE0000"/>
                </a:solidFill>
              </a:rPr>
              <a:t>Need to store prefix chunks while some of them are not reused -&gt; wasted GPU memory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0" st="0"/>
                                            </p:txEl>
                                          </p:spTgt>
                                        </p:tgtEl>
                                        <p:attrNameLst>
                                          <p:attrName>style.visibility</p:attrName>
                                        </p:attrNameLst>
                                      </p:cBhvr>
                                      <p:to>
                                        <p:strVal val="visible"/>
                                      </p:to>
                                    </p:set>
                                    <p:animEffect filter="fade" transition="in">
                                      <p:cBhvr>
                                        <p:cTn dur="500"/>
                                        <p:tgtEl>
                                          <p:spTgt spid="6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1" st="1"/>
                                            </p:txEl>
                                          </p:spTgt>
                                        </p:tgtEl>
                                        <p:attrNameLst>
                                          <p:attrName>style.visibility</p:attrName>
                                        </p:attrNameLst>
                                      </p:cBhvr>
                                      <p:to>
                                        <p:strVal val="visible"/>
                                      </p:to>
                                    </p:set>
                                    <p:animEffect filter="fade" transition="in">
                                      <p:cBhvr>
                                        <p:cTn dur="500"/>
                                        <p:tgtEl>
                                          <p:spTgt spid="6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2" st="2"/>
                                            </p:txEl>
                                          </p:spTgt>
                                        </p:tgtEl>
                                        <p:attrNameLst>
                                          <p:attrName>style.visibility</p:attrName>
                                        </p:attrNameLst>
                                      </p:cBhvr>
                                      <p:to>
                                        <p:strVal val="visible"/>
                                      </p:to>
                                    </p:set>
                                    <p:animEffect filter="fade" transition="in">
                                      <p:cBhvr>
                                        <p:cTn dur="500"/>
                                        <p:tgtEl>
                                          <p:spTgt spid="6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3" st="3"/>
                                            </p:txEl>
                                          </p:spTgt>
                                        </p:tgtEl>
                                        <p:attrNameLst>
                                          <p:attrName>style.visibility</p:attrName>
                                        </p:attrNameLst>
                                      </p:cBhvr>
                                      <p:to>
                                        <p:strVal val="visible"/>
                                      </p:to>
                                    </p:set>
                                    <p:animEffect filter="fade" transition="in">
                                      <p:cBhvr>
                                        <p:cTn dur="500"/>
                                        <p:tgtEl>
                                          <p:spTgt spid="6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4" st="4"/>
                                            </p:txEl>
                                          </p:spTgt>
                                        </p:tgtEl>
                                        <p:attrNameLst>
                                          <p:attrName>style.visibility</p:attrName>
                                        </p:attrNameLst>
                                      </p:cBhvr>
                                      <p:to>
                                        <p:strVal val="visible"/>
                                      </p:to>
                                    </p:set>
                                    <p:animEffect filter="fade" transition="in">
                                      <p:cBhvr>
                                        <p:cTn dur="500"/>
                                        <p:tgtEl>
                                          <p:spTgt spid="6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5" st="5"/>
                                            </p:txEl>
                                          </p:spTgt>
                                        </p:tgtEl>
                                        <p:attrNameLst>
                                          <p:attrName>style.visibility</p:attrName>
                                        </p:attrNameLst>
                                      </p:cBhvr>
                                      <p:to>
                                        <p:strVal val="visible"/>
                                      </p:to>
                                    </p:set>
                                    <p:animEffect filter="fade" transition="in">
                                      <p:cBhvr>
                                        <p:cTn dur="500"/>
                                        <p:tgtEl>
                                          <p:spTgt spid="6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6" st="6"/>
                                            </p:txEl>
                                          </p:spTgt>
                                        </p:tgtEl>
                                        <p:attrNameLst>
                                          <p:attrName>style.visibility</p:attrName>
                                        </p:attrNameLst>
                                      </p:cBhvr>
                                      <p:to>
                                        <p:strVal val="visible"/>
                                      </p:to>
                                    </p:set>
                                    <p:animEffect filter="fade" transition="in">
                                      <p:cBhvr>
                                        <p:cTn dur="500"/>
                                        <p:tgtEl>
                                          <p:spTgt spid="64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Recomputing vs Load/Offload</a:t>
            </a:r>
            <a:endParaRPr/>
          </a:p>
        </p:txBody>
      </p:sp>
      <p:sp>
        <p:nvSpPr>
          <p:cNvPr id="655" name="Google Shape;655;p54"/>
          <p:cNvSpPr txBox="1"/>
          <p:nvPr>
            <p:ph idx="1" type="body"/>
          </p:nvPr>
        </p:nvSpPr>
        <p:spPr>
          <a:xfrm>
            <a:off x="311700" y="1152475"/>
            <a:ext cx="8520600" cy="3416400"/>
          </a:xfrm>
          <a:prstGeom prst="rect">
            <a:avLst/>
          </a:prstGeom>
          <a:blipFill rotWithShape="1">
            <a:blip r:embed="rId3">
              <a:alphaModFix/>
            </a:blip>
            <a:stretch>
              <a:fillRect b="0" l="0" r="0" t="-402"/>
            </a:stretch>
          </a:blip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SzPts val="1400"/>
              <a:buChar char="●"/>
            </a:pPr>
            <a:r>
              <a:rPr lang="en"/>
              <a:t> </a:t>
            </a:r>
            <a:endParaRPr/>
          </a:p>
        </p:txBody>
      </p:sp>
      <p:sp>
        <p:nvSpPr>
          <p:cNvPr id="656" name="Google Shape;656;p54"/>
          <p:cNvSpPr/>
          <p:nvPr/>
        </p:nvSpPr>
        <p:spPr>
          <a:xfrm>
            <a:off x="5591582" y="2383426"/>
            <a:ext cx="2599084" cy="477249"/>
          </a:xfrm>
          <a:prstGeom prst="roundRect">
            <a:avLst>
              <a:gd fmla="val 16667" name="adj"/>
            </a:avLst>
          </a:prstGeom>
          <a:blipFill rotWithShape="1">
            <a:blip r:embed="rId4">
              <a:alphaModFix/>
            </a:blip>
            <a:stretch>
              <a:fillRect b="-935"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500"/>
                                        <p:tgtEl>
                                          <p:spTgt spid="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Recomputing vs Load/Offload</a:t>
            </a:r>
            <a:endParaRPr/>
          </a:p>
        </p:txBody>
      </p:sp>
      <p:sp>
        <p:nvSpPr>
          <p:cNvPr id="662" name="Google Shape;662;p55"/>
          <p:cNvSpPr txBox="1"/>
          <p:nvPr/>
        </p:nvSpPr>
        <p:spPr>
          <a:xfrm>
            <a:off x="999536" y="1437887"/>
            <a:ext cx="5321136" cy="634357"/>
          </a:xfrm>
          <a:prstGeom prst="rect">
            <a:avLst/>
          </a:prstGeom>
          <a:blipFill rotWithShape="1">
            <a:blip r:embed="rId3">
              <a:alphaModFix/>
            </a:blip>
            <a:stretch>
              <a:fillRect b="-2877" l="-2236"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663" name="Google Shape;663;p55"/>
          <p:cNvSpPr txBox="1"/>
          <p:nvPr/>
        </p:nvSpPr>
        <p:spPr>
          <a:xfrm>
            <a:off x="4863348" y="1238506"/>
            <a:ext cx="4572588" cy="833738"/>
          </a:xfrm>
          <a:prstGeom prst="rect">
            <a:avLst/>
          </a:prstGeom>
          <a:blipFill rotWithShape="1">
            <a:blip r:embed="rId4">
              <a:alphaModFix/>
            </a:blip>
            <a:stretch>
              <a:fillRect b="-3845" l="-260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664" name="Google Shape;664;p55"/>
          <p:cNvSpPr txBox="1"/>
          <p:nvPr/>
        </p:nvSpPr>
        <p:spPr>
          <a:xfrm>
            <a:off x="2106449" y="2466353"/>
            <a:ext cx="5370627" cy="823062"/>
          </a:xfrm>
          <a:prstGeom prst="rect">
            <a:avLst/>
          </a:prstGeom>
          <a:blipFill rotWithShape="1">
            <a:blip r:embed="rId5">
              <a:alphaModFix/>
            </a:blip>
            <a:stretch>
              <a:fillRect b="-555"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665" name="Google Shape;665;p55"/>
          <p:cNvSpPr txBox="1"/>
          <p:nvPr/>
        </p:nvSpPr>
        <p:spPr>
          <a:xfrm>
            <a:off x="1548353" y="3552726"/>
            <a:ext cx="6882746"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A100: 30G * 8 *10^9 / (2 * 1024 * 32 * 300T) = 12  </a:t>
            </a:r>
            <a:endParaRPr sz="2100">
              <a:solidFill>
                <a:schemeClr val="dk1"/>
              </a:solidFill>
              <a:latin typeface="Arial"/>
              <a:ea typeface="Arial"/>
              <a:cs typeface="Arial"/>
              <a:sym typeface="Arial"/>
            </a:endParaRPr>
          </a:p>
        </p:txBody>
      </p:sp>
      <p:sp>
        <p:nvSpPr>
          <p:cNvPr id="666" name="Google Shape;666;p55"/>
          <p:cNvSpPr txBox="1"/>
          <p:nvPr/>
        </p:nvSpPr>
        <p:spPr>
          <a:xfrm>
            <a:off x="999536" y="4356266"/>
            <a:ext cx="7239635"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Loading is much faster than recomputing</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Revisit Prefill Attention</a:t>
            </a:r>
            <a:endParaRPr/>
          </a:p>
        </p:txBody>
      </p:sp>
      <p:graphicFrame>
        <p:nvGraphicFramePr>
          <p:cNvPr id="672" name="Google Shape;672;p56"/>
          <p:cNvGraphicFramePr/>
          <p:nvPr/>
        </p:nvGraphicFramePr>
        <p:xfrm>
          <a:off x="442933" y="2790257"/>
          <a:ext cx="3000000" cy="3000000"/>
        </p:xfrm>
        <a:graphic>
          <a:graphicData uri="http://schemas.openxmlformats.org/drawingml/2006/table">
            <a:tbl>
              <a:tblPr bandRow="1">
                <a:gradFill>
                  <a:gsLst>
                    <a:gs pos="0">
                      <a:srgbClr val="9ACEF4"/>
                    </a:gs>
                    <a:gs pos="50000">
                      <a:srgbClr val="8DC3EA"/>
                    </a:gs>
                    <a:gs pos="100000">
                      <a:srgbClr val="78BDED"/>
                    </a:gs>
                  </a:gsLst>
                  <a:lin ang="5400000" scaled="0"/>
                </a:grad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673" name="Google Shape;673;p56"/>
          <p:cNvGraphicFramePr/>
          <p:nvPr/>
        </p:nvGraphicFramePr>
        <p:xfrm>
          <a:off x="1948865" y="1443014"/>
          <a:ext cx="3000000" cy="3000000"/>
        </p:xfrm>
        <a:graphic>
          <a:graphicData uri="http://schemas.openxmlformats.org/drawingml/2006/table">
            <a:tbl>
              <a:tblPr bandRow="1">
                <a:gradFill>
                  <a:gsLst>
                    <a:gs pos="0">
                      <a:srgbClr val="F4B6A2"/>
                    </a:gs>
                    <a:gs pos="50000">
                      <a:srgbClr val="F1AA93"/>
                    </a:gs>
                    <a:gs pos="100000">
                      <a:srgbClr val="F49C7F"/>
                    </a:gs>
                  </a:gsLst>
                  <a:lin ang="5400000" scaled="0"/>
                </a:gradFill>
                <a:tableStyleId>{6D6CBB51-25CD-4269-8C0D-CE281DC38EA4}</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674" name="Google Shape;674;p56"/>
          <p:cNvGraphicFramePr/>
          <p:nvPr/>
        </p:nvGraphicFramePr>
        <p:xfrm>
          <a:off x="1948865" y="2790257"/>
          <a:ext cx="3000000" cy="3000000"/>
        </p:xfrm>
        <a:graphic>
          <a:graphicData uri="http://schemas.openxmlformats.org/drawingml/2006/table">
            <a:tbl>
              <a:tblPr bandRow="1">
                <a:gradFill>
                  <a:gsLst>
                    <a:gs pos="0">
                      <a:srgbClr val="A6D49D"/>
                    </a:gs>
                    <a:gs pos="50000">
                      <a:srgbClr val="99C991"/>
                    </a:gs>
                    <a:gs pos="100000">
                      <a:srgbClr val="88C57C"/>
                    </a:gs>
                  </a:gsLst>
                  <a:lin ang="5400000" scaled="0"/>
                </a:gradFill>
                <a:tableStyleId>{6475CB33-74FA-4E0B-A67E-5448B8DA8A8F}</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675" name="Google Shape;675;p56"/>
          <p:cNvGraphicFramePr/>
          <p:nvPr/>
        </p:nvGraphicFramePr>
        <p:xfrm>
          <a:off x="4846629" y="2790257"/>
          <a:ext cx="3000000" cy="3000000"/>
        </p:xfrm>
        <a:graphic>
          <a:graphicData uri="http://schemas.openxmlformats.org/drawingml/2006/table">
            <a:tbl>
              <a:tblPr bandRow="1">
                <a:gradFill>
                  <a:gsLst>
                    <a:gs pos="0">
                      <a:srgbClr val="9BB29C"/>
                    </a:gs>
                    <a:gs pos="50000">
                      <a:srgbClr val="8EA78F"/>
                    </a:gs>
                    <a:gs pos="100000">
                      <a:srgbClr val="799A7B"/>
                    </a:gs>
                  </a:gsLst>
                  <a:lin ang="5400000" scaled="0"/>
                </a:gradFill>
                <a:tableStyleId>{675C8497-C176-45A6-83B8-30CA08E94CDC}</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676" name="Google Shape;676;p56"/>
          <p:cNvGraphicFramePr/>
          <p:nvPr/>
        </p:nvGraphicFramePr>
        <p:xfrm>
          <a:off x="7420725" y="308260"/>
          <a:ext cx="3000000" cy="3000000"/>
        </p:xfrm>
        <a:graphic>
          <a:graphicData uri="http://schemas.openxmlformats.org/drawingml/2006/table">
            <a:tbl>
              <a:tblPr bandRow="1">
                <a:gradFill>
                  <a:gsLst>
                    <a:gs pos="0">
                      <a:srgbClr val="9BADBE"/>
                    </a:gs>
                    <a:gs pos="50000">
                      <a:srgbClr val="8DA1B2"/>
                    </a:gs>
                    <a:gs pos="100000">
                      <a:srgbClr val="7893AA"/>
                    </a:gs>
                  </a:gsLst>
                  <a:lin ang="5400000" scaled="0"/>
                </a:gradFill>
                <a:tableStyleId>{785E4EA9-965B-4A0B-8EB9-9F30A4BD861F}</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677" name="Google Shape;677;p56"/>
          <p:cNvGraphicFramePr/>
          <p:nvPr/>
        </p:nvGraphicFramePr>
        <p:xfrm>
          <a:off x="7425875" y="2790257"/>
          <a:ext cx="3000000" cy="3000000"/>
        </p:xfrm>
        <a:graphic>
          <a:graphicData uri="http://schemas.openxmlformats.org/drawingml/2006/table">
            <a:tbl>
              <a:tblPr bandRow="1">
                <a:no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sp>
        <p:nvSpPr>
          <p:cNvPr id="678" name="Google Shape;678;p56"/>
          <p:cNvSpPr txBox="1"/>
          <p:nvPr/>
        </p:nvSpPr>
        <p:spPr>
          <a:xfrm>
            <a:off x="762150" y="3645163"/>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Arial"/>
                <a:ea typeface="Arial"/>
                <a:cs typeface="Arial"/>
                <a:sym typeface="Arial"/>
              </a:rPr>
              <a:t>Q</a:t>
            </a:r>
            <a:endParaRPr b="1" sz="1400">
              <a:solidFill>
                <a:schemeClr val="lt1"/>
              </a:solidFill>
              <a:latin typeface="Arial"/>
              <a:ea typeface="Arial"/>
              <a:cs typeface="Arial"/>
              <a:sym typeface="Arial"/>
            </a:endParaRPr>
          </a:p>
        </p:txBody>
      </p:sp>
      <p:sp>
        <p:nvSpPr>
          <p:cNvPr id="679" name="Google Shape;679;p56"/>
          <p:cNvSpPr txBox="1"/>
          <p:nvPr/>
        </p:nvSpPr>
        <p:spPr>
          <a:xfrm>
            <a:off x="2783117" y="1749278"/>
            <a:ext cx="546839"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Arial"/>
                <a:ea typeface="Arial"/>
                <a:cs typeface="Arial"/>
                <a:sym typeface="Arial"/>
              </a:rPr>
              <a:t>K</a:t>
            </a:r>
            <a:r>
              <a:rPr b="1" baseline="30000" lang="en" sz="2700">
                <a:solidFill>
                  <a:schemeClr val="lt1"/>
                </a:solidFill>
                <a:latin typeface="Arial"/>
                <a:ea typeface="Arial"/>
                <a:cs typeface="Arial"/>
                <a:sym typeface="Arial"/>
              </a:rPr>
              <a:t>T</a:t>
            </a:r>
            <a:endParaRPr b="1" baseline="30000" sz="1400">
              <a:solidFill>
                <a:schemeClr val="lt1"/>
              </a:solidFill>
              <a:latin typeface="Arial"/>
              <a:ea typeface="Arial"/>
              <a:cs typeface="Arial"/>
              <a:sym typeface="Arial"/>
            </a:endParaRPr>
          </a:p>
        </p:txBody>
      </p:sp>
      <p:sp>
        <p:nvSpPr>
          <p:cNvPr id="680" name="Google Shape;680;p56"/>
          <p:cNvSpPr txBox="1"/>
          <p:nvPr/>
        </p:nvSpPr>
        <p:spPr>
          <a:xfrm>
            <a:off x="7803533" y="1206822"/>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Arial"/>
                <a:ea typeface="Arial"/>
                <a:cs typeface="Arial"/>
                <a:sym typeface="Arial"/>
              </a:rPr>
              <a:t>V</a:t>
            </a:r>
            <a:endParaRPr b="1" sz="1400">
              <a:solidFill>
                <a:schemeClr val="lt1"/>
              </a:solidFill>
              <a:latin typeface="Arial"/>
              <a:ea typeface="Arial"/>
              <a:cs typeface="Arial"/>
              <a:sym typeface="Arial"/>
            </a:endParaRPr>
          </a:p>
        </p:txBody>
      </p:sp>
      <p:sp>
        <p:nvSpPr>
          <p:cNvPr id="681" name="Google Shape;681;p56"/>
          <p:cNvSpPr txBox="1"/>
          <p:nvPr/>
        </p:nvSpPr>
        <p:spPr>
          <a:xfrm>
            <a:off x="2646729" y="115754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82" name="Google Shape;682;p56"/>
          <p:cNvSpPr txBox="1"/>
          <p:nvPr/>
        </p:nvSpPr>
        <p:spPr>
          <a:xfrm>
            <a:off x="1388811" y="1841611"/>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683" name="Google Shape;683;p56"/>
          <p:cNvSpPr txBox="1"/>
          <p:nvPr/>
        </p:nvSpPr>
        <p:spPr>
          <a:xfrm>
            <a:off x="759516" y="2461424"/>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684" name="Google Shape;684;p56"/>
          <p:cNvSpPr txBox="1"/>
          <p:nvPr/>
        </p:nvSpPr>
        <p:spPr>
          <a:xfrm rot="-5400000">
            <a:off x="-290898"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85" name="Google Shape;685;p56"/>
          <p:cNvSpPr txBox="1"/>
          <p:nvPr/>
        </p:nvSpPr>
        <p:spPr>
          <a:xfrm>
            <a:off x="2646729" y="2547560"/>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86" name="Google Shape;686;p56"/>
          <p:cNvSpPr txBox="1"/>
          <p:nvPr/>
        </p:nvSpPr>
        <p:spPr>
          <a:xfrm rot="-5400000">
            <a:off x="1283716"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87" name="Google Shape;687;p56"/>
          <p:cNvSpPr txBox="1"/>
          <p:nvPr/>
        </p:nvSpPr>
        <p:spPr>
          <a:xfrm>
            <a:off x="5507852" y="2461424"/>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88" name="Google Shape;688;p56"/>
          <p:cNvSpPr txBox="1"/>
          <p:nvPr/>
        </p:nvSpPr>
        <p:spPr>
          <a:xfrm rot="-5400000">
            <a:off x="4144838" y="3546784"/>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89" name="Google Shape;689;p56"/>
          <p:cNvSpPr txBox="1"/>
          <p:nvPr/>
        </p:nvSpPr>
        <p:spPr>
          <a:xfrm rot="-5400000">
            <a:off x="6673857" y="1151570"/>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90" name="Google Shape;690;p56"/>
          <p:cNvSpPr txBox="1"/>
          <p:nvPr/>
        </p:nvSpPr>
        <p:spPr>
          <a:xfrm>
            <a:off x="7709743" y="-24626"/>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691" name="Google Shape;691;p56"/>
          <p:cNvSpPr txBox="1"/>
          <p:nvPr/>
        </p:nvSpPr>
        <p:spPr>
          <a:xfrm>
            <a:off x="7683078" y="2502821"/>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692" name="Google Shape;692;p56"/>
          <p:cNvSpPr txBox="1"/>
          <p:nvPr/>
        </p:nvSpPr>
        <p:spPr>
          <a:xfrm rot="-5400000">
            <a:off x="6735834" y="3495122"/>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693" name="Google Shape;693;p56"/>
          <p:cNvSpPr/>
          <p:nvPr/>
        </p:nvSpPr>
        <p:spPr>
          <a:xfrm rot="-5400000">
            <a:off x="3329002" y="3765029"/>
            <a:ext cx="2194559" cy="270306"/>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Softmax</a:t>
            </a:r>
            <a:endParaRPr sz="1400">
              <a:solidFill>
                <a:schemeClr val="lt1"/>
              </a:solidFill>
              <a:latin typeface="Arial"/>
              <a:ea typeface="Arial"/>
              <a:cs typeface="Arial"/>
              <a:sym typeface="Arial"/>
            </a:endParaRPr>
          </a:p>
        </p:txBody>
      </p:sp>
      <p:sp>
        <p:nvSpPr>
          <p:cNvPr id="694" name="Google Shape;694;p56"/>
          <p:cNvSpPr txBox="1"/>
          <p:nvPr/>
        </p:nvSpPr>
        <p:spPr>
          <a:xfrm>
            <a:off x="2412619" y="3365114"/>
            <a:ext cx="1257385" cy="1107996"/>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lt1"/>
                </a:solidFill>
                <a:latin typeface="Arial"/>
                <a:ea typeface="Arial"/>
                <a:cs typeface="Arial"/>
                <a:sym typeface="Arial"/>
              </a:rPr>
              <a:t>Attn</a:t>
            </a:r>
            <a:endParaRPr sz="1100"/>
          </a:p>
          <a:p>
            <a:pPr indent="0" lvl="0" marL="0" marR="0" rtl="0" algn="ctr">
              <a:spcBef>
                <a:spcPts val="0"/>
              </a:spcBef>
              <a:spcAft>
                <a:spcPts val="0"/>
              </a:spcAft>
              <a:buNone/>
            </a:pPr>
            <a:r>
              <a:rPr b="1" lang="en" sz="2700">
                <a:solidFill>
                  <a:schemeClr val="lt1"/>
                </a:solidFill>
                <a:latin typeface="Arial"/>
                <a:ea typeface="Arial"/>
                <a:cs typeface="Arial"/>
                <a:sym typeface="Arial"/>
              </a:rPr>
              <a:t>Score</a:t>
            </a:r>
            <a:endParaRPr b="1" sz="2700">
              <a:solidFill>
                <a:schemeClr val="lt1"/>
              </a:solidFill>
              <a:latin typeface="Arial"/>
              <a:ea typeface="Arial"/>
              <a:cs typeface="Arial"/>
              <a:sym typeface="Arial"/>
            </a:endParaRPr>
          </a:p>
          <a:p>
            <a:pPr indent="0" lvl="0" marL="0" marR="0" rtl="0" algn="l">
              <a:spcBef>
                <a:spcPts val="0"/>
              </a:spcBef>
              <a:spcAft>
                <a:spcPts val="0"/>
              </a:spcAft>
              <a:buNone/>
            </a:pPr>
            <a:r>
              <a:t/>
            </a:r>
            <a:endParaRPr b="1" sz="1400">
              <a:solidFill>
                <a:schemeClr val="lt1"/>
              </a:solidFill>
              <a:latin typeface="Arial"/>
              <a:ea typeface="Arial"/>
              <a:cs typeface="Arial"/>
              <a:sym typeface="Arial"/>
            </a:endParaRPr>
          </a:p>
        </p:txBody>
      </p:sp>
      <p:sp>
        <p:nvSpPr>
          <p:cNvPr id="695" name="Google Shape;695;p56"/>
          <p:cNvSpPr txBox="1"/>
          <p:nvPr/>
        </p:nvSpPr>
        <p:spPr>
          <a:xfrm>
            <a:off x="5254126" y="3377454"/>
            <a:ext cx="1397542" cy="9002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lt1"/>
                </a:solidFill>
                <a:latin typeface="Arial"/>
                <a:ea typeface="Arial"/>
                <a:cs typeface="Arial"/>
                <a:sym typeface="Arial"/>
              </a:rPr>
              <a:t>Attn</a:t>
            </a:r>
            <a:endParaRPr sz="1100"/>
          </a:p>
          <a:p>
            <a:pPr indent="0" lvl="0" marL="0" marR="0" rtl="0" algn="ctr">
              <a:spcBef>
                <a:spcPts val="0"/>
              </a:spcBef>
              <a:spcAft>
                <a:spcPts val="0"/>
              </a:spcAft>
              <a:buNone/>
            </a:pPr>
            <a:r>
              <a:rPr b="1" lang="en" sz="2700">
                <a:solidFill>
                  <a:schemeClr val="lt1"/>
                </a:solidFill>
                <a:latin typeface="Arial"/>
                <a:ea typeface="Arial"/>
                <a:cs typeface="Arial"/>
                <a:sym typeface="Arial"/>
              </a:rPr>
              <a:t>Weight</a:t>
            </a:r>
            <a:endParaRPr b="1" sz="1400">
              <a:solidFill>
                <a:schemeClr val="lt1"/>
              </a:solidFill>
              <a:latin typeface="Arial"/>
              <a:ea typeface="Arial"/>
              <a:cs typeface="Arial"/>
              <a:sym typeface="Arial"/>
            </a:endParaRPr>
          </a:p>
        </p:txBody>
      </p:sp>
      <p:sp>
        <p:nvSpPr>
          <p:cNvPr id="696" name="Google Shape;696;p56"/>
          <p:cNvSpPr txBox="1"/>
          <p:nvPr/>
        </p:nvSpPr>
        <p:spPr>
          <a:xfrm>
            <a:off x="7261954" y="3657808"/>
            <a:ext cx="1397542"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lt1"/>
                </a:solidFill>
                <a:latin typeface="Arial"/>
                <a:ea typeface="Arial"/>
                <a:cs typeface="Arial"/>
                <a:sym typeface="Arial"/>
              </a:rPr>
              <a:t>Out</a:t>
            </a:r>
            <a:endParaRPr b="1" sz="14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par>
                                <p:cTn fill="hold" nodeType="with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500"/>
                                        <p:tgtEl>
                                          <p:spTgt spid="678"/>
                                        </p:tgtEl>
                                      </p:cBhvr>
                                    </p:animEffect>
                                  </p:childTnLst>
                                </p:cTn>
                              </p:par>
                              <p:par>
                                <p:cTn fill="hold" nodeType="with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par>
                                <p:cTn fill="hold" nodeType="with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500"/>
                                        <p:tgtEl>
                                          <p:spTgt spid="683"/>
                                        </p:tgtEl>
                                      </p:cBhvr>
                                    </p:animEffect>
                                  </p:childTnLst>
                                </p:cTn>
                              </p:par>
                              <p:par>
                                <p:cTn fill="hold" nodeType="with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500"/>
                                        <p:tgtEl>
                                          <p:spTgt spid="684"/>
                                        </p:tgtEl>
                                      </p:cBhvr>
                                    </p:animEffect>
                                  </p:childTnLst>
                                </p:cTn>
                              </p:par>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par>
                                <p:cTn fill="hold" nodeType="with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500"/>
                                        <p:tgtEl>
                                          <p:spTgt spid="675"/>
                                        </p:tgtEl>
                                      </p:cBhvr>
                                    </p:animEffect>
                                  </p:childTnLst>
                                </p:cTn>
                              </p:par>
                              <p:par>
                                <p:cTn fill="hold" nodeType="with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par>
                                <p:cTn fill="hold" nodeType="with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Softmax Numerical Stability</a:t>
            </a:r>
            <a:endParaRPr/>
          </a:p>
        </p:txBody>
      </p:sp>
      <p:sp>
        <p:nvSpPr>
          <p:cNvPr id="702" name="Google Shape;702;p57"/>
          <p:cNvSpPr txBox="1"/>
          <p:nvPr/>
        </p:nvSpPr>
        <p:spPr>
          <a:xfrm>
            <a:off x="73025" y="4807977"/>
            <a:ext cx="667067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https://ogunlao.github.io/2020/04/26/you_dont_really_know_softmax.html</a:t>
            </a:r>
            <a:endParaRPr sz="1100"/>
          </a:p>
        </p:txBody>
      </p:sp>
      <p:pic>
        <p:nvPicPr>
          <p:cNvPr id="703" name="Google Shape;703;p57"/>
          <p:cNvPicPr preferRelativeResize="0"/>
          <p:nvPr/>
        </p:nvPicPr>
        <p:blipFill rotWithShape="1">
          <a:blip r:embed="rId3">
            <a:alphaModFix/>
          </a:blip>
          <a:srcRect b="0" l="0" r="0" t="0"/>
          <a:stretch/>
        </p:blipFill>
        <p:spPr>
          <a:xfrm>
            <a:off x="1095623" y="1385248"/>
            <a:ext cx="2714756" cy="1096539"/>
          </a:xfrm>
          <a:prstGeom prst="rect">
            <a:avLst/>
          </a:prstGeom>
          <a:noFill/>
          <a:ln>
            <a:noFill/>
          </a:ln>
        </p:spPr>
      </p:pic>
      <p:pic>
        <p:nvPicPr>
          <p:cNvPr id="704" name="Google Shape;704;p57"/>
          <p:cNvPicPr preferRelativeResize="0"/>
          <p:nvPr/>
        </p:nvPicPr>
        <p:blipFill rotWithShape="1">
          <a:blip r:embed="rId4">
            <a:alphaModFix/>
          </a:blip>
          <a:srcRect b="0" l="0" r="0" t="0"/>
          <a:stretch/>
        </p:blipFill>
        <p:spPr>
          <a:xfrm>
            <a:off x="4258055" y="1064381"/>
            <a:ext cx="3639155" cy="1805508"/>
          </a:xfrm>
          <a:prstGeom prst="rect">
            <a:avLst/>
          </a:prstGeom>
          <a:noFill/>
          <a:ln>
            <a:noFill/>
          </a:ln>
        </p:spPr>
      </p:pic>
      <p:sp>
        <p:nvSpPr>
          <p:cNvPr id="705" name="Google Shape;705;p57"/>
          <p:cNvSpPr/>
          <p:nvPr/>
        </p:nvSpPr>
        <p:spPr>
          <a:xfrm>
            <a:off x="6589338" y="1148118"/>
            <a:ext cx="579120" cy="474260"/>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706" name="Google Shape;706;p57"/>
          <p:cNvSpPr txBox="1"/>
          <p:nvPr/>
        </p:nvSpPr>
        <p:spPr>
          <a:xfrm>
            <a:off x="6438453" y="1614196"/>
            <a:ext cx="1165226"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FF00"/>
                </a:solidFill>
                <a:latin typeface="Arial"/>
                <a:ea typeface="Arial"/>
                <a:cs typeface="Arial"/>
                <a:sym typeface="Arial"/>
              </a:rPr>
              <a:t>Too large!</a:t>
            </a:r>
            <a:endParaRPr sz="1400">
              <a:solidFill>
                <a:srgbClr val="FFFF00"/>
              </a:solidFill>
              <a:latin typeface="Arial"/>
              <a:ea typeface="Arial"/>
              <a:cs typeface="Arial"/>
              <a:sym typeface="Arial"/>
            </a:endParaRPr>
          </a:p>
        </p:txBody>
      </p:sp>
      <p:sp>
        <p:nvSpPr>
          <p:cNvPr id="707" name="Google Shape;707;p57"/>
          <p:cNvSpPr/>
          <p:nvPr/>
        </p:nvSpPr>
        <p:spPr>
          <a:xfrm>
            <a:off x="6393691" y="2295554"/>
            <a:ext cx="579120" cy="474260"/>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pic>
        <p:nvPicPr>
          <p:cNvPr id="708" name="Google Shape;708;p57"/>
          <p:cNvPicPr preferRelativeResize="0"/>
          <p:nvPr/>
        </p:nvPicPr>
        <p:blipFill rotWithShape="1">
          <a:blip r:embed="rId5">
            <a:alphaModFix/>
          </a:blip>
          <a:srcRect b="0" l="0" r="0" t="0"/>
          <a:stretch/>
        </p:blipFill>
        <p:spPr>
          <a:xfrm>
            <a:off x="888893" y="3278546"/>
            <a:ext cx="2921486" cy="1120775"/>
          </a:xfrm>
          <a:prstGeom prst="rect">
            <a:avLst/>
          </a:prstGeom>
          <a:noFill/>
          <a:ln>
            <a:noFill/>
          </a:ln>
        </p:spPr>
      </p:pic>
      <p:sp>
        <p:nvSpPr>
          <p:cNvPr id="709" name="Google Shape;709;p57"/>
          <p:cNvSpPr txBox="1"/>
          <p:nvPr/>
        </p:nvSpPr>
        <p:spPr>
          <a:xfrm>
            <a:off x="2172596" y="4281375"/>
            <a:ext cx="2149476"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Usually c=max(xi)</a:t>
            </a:r>
            <a:endParaRPr sz="1400">
              <a:solidFill>
                <a:schemeClr val="dk1"/>
              </a:solidFill>
              <a:latin typeface="Arial"/>
              <a:ea typeface="Arial"/>
              <a:cs typeface="Arial"/>
              <a:sym typeface="Arial"/>
            </a:endParaRPr>
          </a:p>
        </p:txBody>
      </p:sp>
      <p:pic>
        <p:nvPicPr>
          <p:cNvPr id="710" name="Google Shape;710;p57"/>
          <p:cNvPicPr preferRelativeResize="0"/>
          <p:nvPr/>
        </p:nvPicPr>
        <p:blipFill rotWithShape="1">
          <a:blip r:embed="rId6">
            <a:alphaModFix/>
          </a:blip>
          <a:srcRect b="0" l="0" r="0" t="0"/>
          <a:stretch/>
        </p:blipFill>
        <p:spPr>
          <a:xfrm>
            <a:off x="4258055" y="3041663"/>
            <a:ext cx="3565145" cy="17873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par>
                                <p:cTn fill="hold" nodeType="with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500"/>
                                        <p:tgtEl>
                                          <p:spTgt spid="704"/>
                                        </p:tgtEl>
                                      </p:cBhvr>
                                    </p:animEffect>
                                  </p:childTnLst>
                                </p:cTn>
                              </p:par>
                              <p:par>
                                <p:cTn fill="hold" nodeType="with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500"/>
                                        <p:tgtEl>
                                          <p:spTgt spid="706"/>
                                        </p:tgtEl>
                                      </p:cBhvr>
                                    </p:animEffect>
                                  </p:childTnLst>
                                </p:cTn>
                              </p:par>
                              <p:par>
                                <p:cTn fill="hold" nodeType="with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500"/>
                                        <p:tgtEl>
                                          <p:spTgt spid="7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500"/>
                                        <p:tgtEl>
                                          <p:spTgt spid="708"/>
                                        </p:tgtEl>
                                      </p:cBhvr>
                                    </p:animEffect>
                                  </p:childTnLst>
                                </p:cTn>
                              </p:par>
                              <p:par>
                                <p:cTn fill="hold" nodeType="with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500"/>
                                        <p:tgtEl>
                                          <p:spTgt spid="709"/>
                                        </p:tgtEl>
                                      </p:cBhvr>
                                    </p:animEffect>
                                  </p:childTnLst>
                                </p:cTn>
                              </p:par>
                              <p:par>
                                <p:cTn fill="hold" nodeType="with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Softmax Numerical Stability</a:t>
            </a:r>
            <a:endParaRPr/>
          </a:p>
        </p:txBody>
      </p:sp>
      <p:sp>
        <p:nvSpPr>
          <p:cNvPr id="716" name="Google Shape;716;p58"/>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254000" lvl="0" marL="457200" rtl="0" algn="l">
              <a:lnSpc>
                <a:spcPct val="90000"/>
              </a:lnSpc>
              <a:spcBef>
                <a:spcPts val="0"/>
              </a:spcBef>
              <a:spcAft>
                <a:spcPts val="0"/>
              </a:spcAft>
              <a:buClr>
                <a:schemeClr val="dk1"/>
              </a:buClr>
              <a:buSzPts val="1400"/>
              <a:buNone/>
            </a:pPr>
            <a:r>
              <a:t/>
            </a:r>
            <a:endParaRPr/>
          </a:p>
        </p:txBody>
      </p:sp>
      <p:pic>
        <p:nvPicPr>
          <p:cNvPr id="717" name="Google Shape;717;p58"/>
          <p:cNvPicPr preferRelativeResize="0"/>
          <p:nvPr/>
        </p:nvPicPr>
        <p:blipFill rotWithShape="1">
          <a:blip r:embed="rId3">
            <a:alphaModFix/>
          </a:blip>
          <a:srcRect b="0" l="0" r="0" t="0"/>
          <a:stretch/>
        </p:blipFill>
        <p:spPr>
          <a:xfrm>
            <a:off x="2605737" y="1487606"/>
            <a:ext cx="3724555" cy="23953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Revisit Prefill Attention</a:t>
            </a:r>
            <a:endParaRPr/>
          </a:p>
        </p:txBody>
      </p:sp>
      <p:graphicFrame>
        <p:nvGraphicFramePr>
          <p:cNvPr id="723" name="Google Shape;723;p59"/>
          <p:cNvGraphicFramePr/>
          <p:nvPr/>
        </p:nvGraphicFramePr>
        <p:xfrm>
          <a:off x="442933" y="2790257"/>
          <a:ext cx="3000000" cy="3000000"/>
        </p:xfrm>
        <a:graphic>
          <a:graphicData uri="http://schemas.openxmlformats.org/drawingml/2006/table">
            <a:tbl>
              <a:tblPr bandRow="1">
                <a:no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24" name="Google Shape;724;p59"/>
          <p:cNvGraphicFramePr/>
          <p:nvPr/>
        </p:nvGraphicFramePr>
        <p:xfrm>
          <a:off x="1948865" y="1443014"/>
          <a:ext cx="3000000" cy="3000000"/>
        </p:xfrm>
        <a:graphic>
          <a:graphicData uri="http://schemas.openxmlformats.org/drawingml/2006/table">
            <a:tbl>
              <a:tblPr bandRow="1">
                <a:noFill/>
                <a:tableStyleId>{6D6CBB51-25CD-4269-8C0D-CE281DC38EA4}</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25" name="Google Shape;725;p59"/>
          <p:cNvGraphicFramePr/>
          <p:nvPr/>
        </p:nvGraphicFramePr>
        <p:xfrm>
          <a:off x="1948865" y="2790257"/>
          <a:ext cx="3000000" cy="3000000"/>
        </p:xfrm>
        <a:graphic>
          <a:graphicData uri="http://schemas.openxmlformats.org/drawingml/2006/table">
            <a:tbl>
              <a:tblPr bandRow="1">
                <a:noFill/>
                <a:tableStyleId>{6475CB33-74FA-4E0B-A67E-5448B8DA8A8F}</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26" name="Google Shape;726;p59"/>
          <p:cNvGraphicFramePr/>
          <p:nvPr/>
        </p:nvGraphicFramePr>
        <p:xfrm>
          <a:off x="4846629" y="2790257"/>
          <a:ext cx="3000000" cy="3000000"/>
        </p:xfrm>
        <a:graphic>
          <a:graphicData uri="http://schemas.openxmlformats.org/drawingml/2006/table">
            <a:tbl>
              <a:tblPr bandRow="1">
                <a:noFill/>
                <a:tableStyleId>{675C8497-C176-45A6-83B8-30CA08E94CDC}</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27" name="Google Shape;727;p59"/>
          <p:cNvGraphicFramePr/>
          <p:nvPr/>
        </p:nvGraphicFramePr>
        <p:xfrm>
          <a:off x="7420725" y="308260"/>
          <a:ext cx="3000000" cy="3000000"/>
        </p:xfrm>
        <a:graphic>
          <a:graphicData uri="http://schemas.openxmlformats.org/drawingml/2006/table">
            <a:tbl>
              <a:tblPr bandRow="1">
                <a:noFill/>
                <a:tableStyleId>{785E4EA9-965B-4A0B-8EB9-9F30A4BD861F}</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28" name="Google Shape;728;p59"/>
          <p:cNvGraphicFramePr/>
          <p:nvPr/>
        </p:nvGraphicFramePr>
        <p:xfrm>
          <a:off x="7425875" y="2790257"/>
          <a:ext cx="3000000" cy="3000000"/>
        </p:xfrm>
        <a:graphic>
          <a:graphicData uri="http://schemas.openxmlformats.org/drawingml/2006/table">
            <a:tbl>
              <a:tblPr bandRow="1">
                <a:no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sp>
        <p:nvSpPr>
          <p:cNvPr id="729" name="Google Shape;729;p59"/>
          <p:cNvSpPr txBox="1"/>
          <p:nvPr/>
        </p:nvSpPr>
        <p:spPr>
          <a:xfrm>
            <a:off x="762150" y="3645163"/>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dk1"/>
                </a:solidFill>
                <a:latin typeface="Arial"/>
                <a:ea typeface="Arial"/>
                <a:cs typeface="Arial"/>
                <a:sym typeface="Arial"/>
              </a:rPr>
              <a:t>Q</a:t>
            </a:r>
            <a:endParaRPr b="1" sz="1400">
              <a:solidFill>
                <a:schemeClr val="dk1"/>
              </a:solidFill>
              <a:latin typeface="Arial"/>
              <a:ea typeface="Arial"/>
              <a:cs typeface="Arial"/>
              <a:sym typeface="Arial"/>
            </a:endParaRPr>
          </a:p>
        </p:txBody>
      </p:sp>
      <p:sp>
        <p:nvSpPr>
          <p:cNvPr id="730" name="Google Shape;730;p59"/>
          <p:cNvSpPr txBox="1"/>
          <p:nvPr/>
        </p:nvSpPr>
        <p:spPr>
          <a:xfrm>
            <a:off x="2783117" y="1749278"/>
            <a:ext cx="546839"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dk1"/>
                </a:solidFill>
                <a:latin typeface="Arial"/>
                <a:ea typeface="Arial"/>
                <a:cs typeface="Arial"/>
                <a:sym typeface="Arial"/>
              </a:rPr>
              <a:t>K</a:t>
            </a:r>
            <a:r>
              <a:rPr b="1" baseline="30000" lang="en" sz="2700">
                <a:solidFill>
                  <a:schemeClr val="dk1"/>
                </a:solidFill>
                <a:latin typeface="Arial"/>
                <a:ea typeface="Arial"/>
                <a:cs typeface="Arial"/>
                <a:sym typeface="Arial"/>
              </a:rPr>
              <a:t>T</a:t>
            </a:r>
            <a:endParaRPr b="1" baseline="30000" sz="1400">
              <a:solidFill>
                <a:schemeClr val="dk1"/>
              </a:solidFill>
              <a:latin typeface="Arial"/>
              <a:ea typeface="Arial"/>
              <a:cs typeface="Arial"/>
              <a:sym typeface="Arial"/>
            </a:endParaRPr>
          </a:p>
        </p:txBody>
      </p:sp>
      <p:sp>
        <p:nvSpPr>
          <p:cNvPr id="731" name="Google Shape;731;p59"/>
          <p:cNvSpPr txBox="1"/>
          <p:nvPr/>
        </p:nvSpPr>
        <p:spPr>
          <a:xfrm>
            <a:off x="7803533" y="1206822"/>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dk1"/>
                </a:solidFill>
                <a:latin typeface="Arial"/>
                <a:ea typeface="Arial"/>
                <a:cs typeface="Arial"/>
                <a:sym typeface="Arial"/>
              </a:rPr>
              <a:t>V</a:t>
            </a:r>
            <a:endParaRPr b="1" sz="1400">
              <a:solidFill>
                <a:schemeClr val="dk1"/>
              </a:solidFill>
              <a:latin typeface="Arial"/>
              <a:ea typeface="Arial"/>
              <a:cs typeface="Arial"/>
              <a:sym typeface="Arial"/>
            </a:endParaRPr>
          </a:p>
        </p:txBody>
      </p:sp>
      <p:sp>
        <p:nvSpPr>
          <p:cNvPr id="732" name="Google Shape;732;p59"/>
          <p:cNvSpPr txBox="1"/>
          <p:nvPr/>
        </p:nvSpPr>
        <p:spPr>
          <a:xfrm>
            <a:off x="2646729" y="115754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33" name="Google Shape;733;p59"/>
          <p:cNvSpPr txBox="1"/>
          <p:nvPr/>
        </p:nvSpPr>
        <p:spPr>
          <a:xfrm>
            <a:off x="1388811" y="1841611"/>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34" name="Google Shape;734;p59"/>
          <p:cNvSpPr txBox="1"/>
          <p:nvPr/>
        </p:nvSpPr>
        <p:spPr>
          <a:xfrm>
            <a:off x="759516" y="2461424"/>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35" name="Google Shape;735;p59"/>
          <p:cNvSpPr txBox="1"/>
          <p:nvPr/>
        </p:nvSpPr>
        <p:spPr>
          <a:xfrm rot="-5400000">
            <a:off x="-290898"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36" name="Google Shape;736;p59"/>
          <p:cNvSpPr txBox="1"/>
          <p:nvPr/>
        </p:nvSpPr>
        <p:spPr>
          <a:xfrm>
            <a:off x="2646729" y="2547560"/>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37" name="Google Shape;737;p59"/>
          <p:cNvSpPr txBox="1"/>
          <p:nvPr/>
        </p:nvSpPr>
        <p:spPr>
          <a:xfrm rot="-5400000">
            <a:off x="1283716"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38" name="Google Shape;738;p59"/>
          <p:cNvSpPr txBox="1"/>
          <p:nvPr/>
        </p:nvSpPr>
        <p:spPr>
          <a:xfrm>
            <a:off x="5507852" y="2461424"/>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39" name="Google Shape;739;p59"/>
          <p:cNvSpPr txBox="1"/>
          <p:nvPr/>
        </p:nvSpPr>
        <p:spPr>
          <a:xfrm rot="-5400000">
            <a:off x="4144838" y="3546784"/>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40" name="Google Shape;740;p59"/>
          <p:cNvSpPr txBox="1"/>
          <p:nvPr/>
        </p:nvSpPr>
        <p:spPr>
          <a:xfrm rot="-5400000">
            <a:off x="6673857" y="1151570"/>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41" name="Google Shape;741;p59"/>
          <p:cNvSpPr txBox="1"/>
          <p:nvPr/>
        </p:nvSpPr>
        <p:spPr>
          <a:xfrm>
            <a:off x="7709743" y="-24626"/>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42" name="Google Shape;742;p59"/>
          <p:cNvSpPr txBox="1"/>
          <p:nvPr/>
        </p:nvSpPr>
        <p:spPr>
          <a:xfrm>
            <a:off x="7683078" y="2502821"/>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43" name="Google Shape;743;p59"/>
          <p:cNvSpPr txBox="1"/>
          <p:nvPr/>
        </p:nvSpPr>
        <p:spPr>
          <a:xfrm rot="-5400000">
            <a:off x="6735834" y="3495122"/>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44" name="Google Shape;744;p59"/>
          <p:cNvSpPr/>
          <p:nvPr/>
        </p:nvSpPr>
        <p:spPr>
          <a:xfrm rot="-5400000">
            <a:off x="3329002" y="3765029"/>
            <a:ext cx="2194559" cy="270306"/>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Softmax</a:t>
            </a:r>
            <a:endParaRPr sz="1400">
              <a:solidFill>
                <a:schemeClr val="lt1"/>
              </a:solidFill>
              <a:latin typeface="Arial"/>
              <a:ea typeface="Arial"/>
              <a:cs typeface="Arial"/>
              <a:sym typeface="Arial"/>
            </a:endParaRPr>
          </a:p>
        </p:txBody>
      </p:sp>
      <p:sp>
        <p:nvSpPr>
          <p:cNvPr id="745" name="Google Shape;745;p59"/>
          <p:cNvSpPr txBox="1"/>
          <p:nvPr/>
        </p:nvSpPr>
        <p:spPr>
          <a:xfrm>
            <a:off x="2412619" y="3365114"/>
            <a:ext cx="1257300" cy="1116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dk1"/>
                </a:solidFill>
                <a:latin typeface="Arial"/>
                <a:ea typeface="Arial"/>
                <a:cs typeface="Arial"/>
                <a:sym typeface="Arial"/>
              </a:rPr>
              <a:t>Attn</a:t>
            </a:r>
            <a:endParaRPr sz="1100">
              <a:solidFill>
                <a:schemeClr val="dk1"/>
              </a:solidFill>
            </a:endParaRPr>
          </a:p>
          <a:p>
            <a:pPr indent="0" lvl="0" marL="0" marR="0" rtl="0" algn="ctr">
              <a:spcBef>
                <a:spcPts val="0"/>
              </a:spcBef>
              <a:spcAft>
                <a:spcPts val="0"/>
              </a:spcAft>
              <a:buNone/>
            </a:pPr>
            <a:r>
              <a:rPr b="1" lang="en" sz="2700">
                <a:solidFill>
                  <a:schemeClr val="dk1"/>
                </a:solidFill>
                <a:latin typeface="Arial"/>
                <a:ea typeface="Arial"/>
                <a:cs typeface="Arial"/>
                <a:sym typeface="Arial"/>
              </a:rPr>
              <a:t>Score</a:t>
            </a:r>
            <a:endParaRPr b="1" sz="2700">
              <a:solidFill>
                <a:schemeClr val="dk1"/>
              </a:solidFill>
              <a:latin typeface="Arial"/>
              <a:ea typeface="Arial"/>
              <a:cs typeface="Arial"/>
              <a:sym typeface="Arial"/>
            </a:endParaRPr>
          </a:p>
          <a:p>
            <a:pPr indent="0" lvl="0" marL="0" marR="0" rtl="0" algn="l">
              <a:spcBef>
                <a:spcPts val="0"/>
              </a:spcBef>
              <a:spcAft>
                <a:spcPts val="0"/>
              </a:spcAft>
              <a:buNone/>
            </a:pPr>
            <a:r>
              <a:t/>
            </a:r>
            <a:endParaRPr b="1" sz="1400">
              <a:solidFill>
                <a:schemeClr val="dk1"/>
              </a:solidFill>
              <a:latin typeface="Arial"/>
              <a:ea typeface="Arial"/>
              <a:cs typeface="Arial"/>
              <a:sym typeface="Arial"/>
            </a:endParaRPr>
          </a:p>
        </p:txBody>
      </p:sp>
      <p:sp>
        <p:nvSpPr>
          <p:cNvPr id="746" name="Google Shape;746;p59"/>
          <p:cNvSpPr txBox="1"/>
          <p:nvPr/>
        </p:nvSpPr>
        <p:spPr>
          <a:xfrm>
            <a:off x="5254126" y="3377454"/>
            <a:ext cx="1397542" cy="9002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dk1"/>
                </a:solidFill>
                <a:latin typeface="Arial"/>
                <a:ea typeface="Arial"/>
                <a:cs typeface="Arial"/>
                <a:sym typeface="Arial"/>
              </a:rPr>
              <a:t>Attn</a:t>
            </a:r>
            <a:endParaRPr sz="1100">
              <a:solidFill>
                <a:schemeClr val="dk1"/>
              </a:solidFill>
            </a:endParaRPr>
          </a:p>
          <a:p>
            <a:pPr indent="0" lvl="0" marL="0" marR="0" rtl="0" algn="ctr">
              <a:spcBef>
                <a:spcPts val="0"/>
              </a:spcBef>
              <a:spcAft>
                <a:spcPts val="0"/>
              </a:spcAft>
              <a:buNone/>
            </a:pPr>
            <a:r>
              <a:rPr b="1" lang="en" sz="2700">
                <a:solidFill>
                  <a:schemeClr val="dk1"/>
                </a:solidFill>
                <a:latin typeface="Arial"/>
                <a:ea typeface="Arial"/>
                <a:cs typeface="Arial"/>
                <a:sym typeface="Arial"/>
              </a:rPr>
              <a:t>Weight</a:t>
            </a:r>
            <a:endParaRPr b="1" sz="1400">
              <a:solidFill>
                <a:schemeClr val="dk1"/>
              </a:solidFill>
              <a:latin typeface="Arial"/>
              <a:ea typeface="Arial"/>
              <a:cs typeface="Arial"/>
              <a:sym typeface="Arial"/>
            </a:endParaRPr>
          </a:p>
        </p:txBody>
      </p:sp>
      <p:sp>
        <p:nvSpPr>
          <p:cNvPr id="747" name="Google Shape;747;p59"/>
          <p:cNvSpPr txBox="1"/>
          <p:nvPr/>
        </p:nvSpPr>
        <p:spPr>
          <a:xfrm>
            <a:off x="7261954" y="3657808"/>
            <a:ext cx="1397542"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dk1"/>
                </a:solidFill>
                <a:latin typeface="Arial"/>
                <a:ea typeface="Arial"/>
                <a:cs typeface="Arial"/>
                <a:sym typeface="Arial"/>
              </a:rPr>
              <a:t>Out</a:t>
            </a:r>
            <a:endParaRPr b="1" sz="1400">
              <a:solidFill>
                <a:schemeClr val="dk1"/>
              </a:solidFill>
              <a:latin typeface="Arial"/>
              <a:ea typeface="Arial"/>
              <a:cs typeface="Arial"/>
              <a:sym typeface="Arial"/>
            </a:endParaRPr>
          </a:p>
        </p:txBody>
      </p:sp>
      <p:sp>
        <p:nvSpPr>
          <p:cNvPr id="748" name="Google Shape;748;p59"/>
          <p:cNvSpPr txBox="1"/>
          <p:nvPr/>
        </p:nvSpPr>
        <p:spPr>
          <a:xfrm>
            <a:off x="4182108" y="903825"/>
            <a:ext cx="2839142" cy="807914"/>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Large for long context</a:t>
            </a:r>
            <a:endParaRPr sz="1100"/>
          </a:p>
        </p:txBody>
      </p:sp>
      <p:cxnSp>
        <p:nvCxnSpPr>
          <p:cNvPr id="749" name="Google Shape;749;p59"/>
          <p:cNvCxnSpPr/>
          <p:nvPr/>
        </p:nvCxnSpPr>
        <p:spPr>
          <a:xfrm flipH="1" rot="10800000">
            <a:off x="4100601" y="1777934"/>
            <a:ext cx="836672" cy="1005056"/>
          </a:xfrm>
          <a:prstGeom prst="straightConnector1">
            <a:avLst/>
          </a:prstGeom>
          <a:noFill/>
          <a:ln cap="flat" cmpd="sng" w="57150">
            <a:solidFill>
              <a:srgbClr val="33006F"/>
            </a:solidFill>
            <a:prstDash val="solid"/>
            <a:miter lim="800000"/>
            <a:headEnd len="sm" w="sm" type="none"/>
            <a:tailEnd len="med" w="med" type="triangle"/>
          </a:ln>
        </p:spPr>
      </p:cxnSp>
      <p:cxnSp>
        <p:nvCxnSpPr>
          <p:cNvPr id="750" name="Google Shape;750;p59"/>
          <p:cNvCxnSpPr/>
          <p:nvPr/>
        </p:nvCxnSpPr>
        <p:spPr>
          <a:xfrm rot="10800000">
            <a:off x="5063485" y="1740489"/>
            <a:ext cx="318154" cy="1012229"/>
          </a:xfrm>
          <a:prstGeom prst="straightConnector1">
            <a:avLst/>
          </a:prstGeom>
          <a:noFill/>
          <a:ln cap="flat" cmpd="sng" w="57150">
            <a:solidFill>
              <a:srgbClr val="33006F"/>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500"/>
                                        <p:tgtEl>
                                          <p:spTgt spid="723"/>
                                        </p:tgtEl>
                                      </p:cBhvr>
                                    </p:animEffect>
                                  </p:childTnLst>
                                </p:cTn>
                              </p:par>
                              <p:par>
                                <p:cTn fill="hold" nodeType="with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500"/>
                                        <p:tgtEl>
                                          <p:spTgt spid="724"/>
                                        </p:tgtEl>
                                      </p:cBhvr>
                                    </p:animEffect>
                                  </p:childTnLst>
                                </p:cTn>
                              </p:par>
                              <p:par>
                                <p:cTn fill="hold" nodeType="with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par>
                                <p:cTn fill="hold" nodeType="with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500"/>
                                        <p:tgtEl>
                                          <p:spTgt spid="729"/>
                                        </p:tgtEl>
                                      </p:cBhvr>
                                    </p:animEffect>
                                  </p:childTnLst>
                                </p:cTn>
                              </p:par>
                              <p:par>
                                <p:cTn fill="hold" nodeType="with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par>
                                <p:cTn fill="hold" nodeType="with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500"/>
                                        <p:tgtEl>
                                          <p:spTgt spid="732"/>
                                        </p:tgtEl>
                                      </p:cBhvr>
                                    </p:animEffect>
                                  </p:childTnLst>
                                </p:cTn>
                              </p:par>
                              <p:par>
                                <p:cTn fill="hold" nodeType="with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par>
                                <p:cTn fill="hold" nodeType="with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par>
                                <p:cTn fill="hold" nodeType="with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500"/>
                                        <p:tgtEl>
                                          <p:spTgt spid="735"/>
                                        </p:tgtEl>
                                      </p:cBhvr>
                                    </p:animEffect>
                                  </p:childTnLst>
                                </p:cTn>
                              </p:par>
                              <p:par>
                                <p:cTn fill="hold" nodeType="with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500"/>
                                        <p:tgtEl>
                                          <p:spTgt spid="736"/>
                                        </p:tgtEl>
                                      </p:cBhvr>
                                    </p:animEffect>
                                  </p:childTnLst>
                                </p:cTn>
                              </p:par>
                              <p:par>
                                <p:cTn fill="hold" nodeType="with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500"/>
                                        <p:tgtEl>
                                          <p:spTgt spid="737"/>
                                        </p:tgtEl>
                                      </p:cBhvr>
                                    </p:animEffect>
                                  </p:childTnLst>
                                </p:cTn>
                              </p:par>
                              <p:par>
                                <p:cTn fill="hold" nodeType="with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500"/>
                                        <p:tgtEl>
                                          <p:spTgt spid="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par>
                                <p:cTn fill="hold" nodeType="with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500"/>
                                        <p:tgtEl>
                                          <p:spTgt spid="726"/>
                                        </p:tgtEl>
                                      </p:cBhvr>
                                    </p:animEffect>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500"/>
                                        <p:tgtEl>
                                          <p:spTgt spid="7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500"/>
                                        <p:tgtEl>
                                          <p:spTgt spid="727"/>
                                        </p:tgtEl>
                                      </p:cBhvr>
                                    </p:animEffect>
                                  </p:childTnLst>
                                </p:cTn>
                              </p:par>
                              <p:par>
                                <p:cTn fill="hold" nodeType="with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par>
                                <p:cTn fill="hold" nodeType="with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500"/>
                                        <p:tgtEl>
                                          <p:spTgt spid="743"/>
                                        </p:tgtEl>
                                      </p:cBhvr>
                                    </p:animEffect>
                                  </p:childTnLst>
                                </p:cTn>
                              </p:par>
                              <p:par>
                                <p:cTn fill="hold" nodeType="with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500"/>
                                        <p:tgtEl>
                                          <p:spTgt spid="742"/>
                                        </p:tgtEl>
                                      </p:cBhvr>
                                    </p:animEffect>
                                  </p:childTnLst>
                                </p:cTn>
                              </p:par>
                              <p:par>
                                <p:cTn fill="hold" nodeType="with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500"/>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500"/>
                                        <p:tgtEl>
                                          <p:spTgt spid="748"/>
                                        </p:tgtEl>
                                      </p:cBhvr>
                                    </p:animEffect>
                                  </p:childTnLst>
                                </p:cTn>
                              </p:par>
                              <p:par>
                                <p:cTn fill="hold" nodeType="with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par>
                                <p:cTn fill="hold" nodeType="with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p>
            <a:pPr indent="0" lvl="0" marL="0" rtl="0" algn="l">
              <a:lnSpc>
                <a:spcPct val="90000"/>
              </a:lnSpc>
              <a:spcBef>
                <a:spcPts val="0"/>
              </a:spcBef>
              <a:spcAft>
                <a:spcPts val="0"/>
              </a:spcAft>
              <a:buClr>
                <a:schemeClr val="dk1"/>
              </a:buClr>
              <a:buSzPts val="2100"/>
              <a:buFont typeface="Arial"/>
              <a:buNone/>
            </a:pPr>
            <a:r>
              <a:rPr lang="en" sz="2700"/>
              <a:t>Revisit Prefill Attention – Tiling like GEMM</a:t>
            </a:r>
            <a:endParaRPr sz="2700"/>
          </a:p>
        </p:txBody>
      </p:sp>
      <p:graphicFrame>
        <p:nvGraphicFramePr>
          <p:cNvPr id="756" name="Google Shape;756;p60"/>
          <p:cNvGraphicFramePr/>
          <p:nvPr/>
        </p:nvGraphicFramePr>
        <p:xfrm>
          <a:off x="442933" y="2790257"/>
          <a:ext cx="3000000" cy="3000000"/>
        </p:xfrm>
        <a:graphic>
          <a:graphicData uri="http://schemas.openxmlformats.org/drawingml/2006/table">
            <a:tbl>
              <a:tblPr bandRow="1">
                <a:no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r>
              <a:tr h="270000">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57" name="Google Shape;757;p60"/>
          <p:cNvGraphicFramePr/>
          <p:nvPr/>
        </p:nvGraphicFramePr>
        <p:xfrm>
          <a:off x="1948865" y="1443014"/>
          <a:ext cx="3000000" cy="3000000"/>
        </p:xfrm>
        <a:graphic>
          <a:graphicData uri="http://schemas.openxmlformats.org/drawingml/2006/table">
            <a:tbl>
              <a:tblPr bandRow="1">
                <a:noFill/>
                <a:tableStyleId>{6D6CBB51-25CD-4269-8C0D-CE281DC38EA4}</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58" name="Google Shape;758;p60"/>
          <p:cNvGraphicFramePr/>
          <p:nvPr/>
        </p:nvGraphicFramePr>
        <p:xfrm>
          <a:off x="1948865" y="2790257"/>
          <a:ext cx="3000000" cy="3000000"/>
        </p:xfrm>
        <a:graphic>
          <a:graphicData uri="http://schemas.openxmlformats.org/drawingml/2006/table">
            <a:tbl>
              <a:tblPr bandRow="1">
                <a:noFill/>
                <a:tableStyleId>{6475CB33-74FA-4E0B-A67E-5448B8DA8A8F}</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59" name="Google Shape;759;p60"/>
          <p:cNvGraphicFramePr/>
          <p:nvPr/>
        </p:nvGraphicFramePr>
        <p:xfrm>
          <a:off x="4846629" y="2790257"/>
          <a:ext cx="3000000" cy="3000000"/>
        </p:xfrm>
        <a:graphic>
          <a:graphicData uri="http://schemas.openxmlformats.org/drawingml/2006/table">
            <a:tbl>
              <a:tblPr bandRow="1">
                <a:noFill/>
                <a:tableStyleId>{675C8497-C176-45A6-83B8-30CA08E94CDC}</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60" name="Google Shape;760;p60"/>
          <p:cNvGraphicFramePr/>
          <p:nvPr/>
        </p:nvGraphicFramePr>
        <p:xfrm>
          <a:off x="7420725" y="308260"/>
          <a:ext cx="3000000" cy="3000000"/>
        </p:xfrm>
        <a:graphic>
          <a:graphicData uri="http://schemas.openxmlformats.org/drawingml/2006/table">
            <a:tbl>
              <a:tblPr bandRow="1">
                <a:noFill/>
                <a:tableStyleId>{785E4EA9-965B-4A0B-8EB9-9F30A4BD861F}</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761" name="Google Shape;761;p60"/>
          <p:cNvGraphicFramePr/>
          <p:nvPr/>
        </p:nvGraphicFramePr>
        <p:xfrm>
          <a:off x="7425875" y="2790257"/>
          <a:ext cx="3000000" cy="3000000"/>
        </p:xfrm>
        <a:graphic>
          <a:graphicData uri="http://schemas.openxmlformats.org/drawingml/2006/table">
            <a:tbl>
              <a:tblPr bandRow="1">
                <a:no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sp>
        <p:nvSpPr>
          <p:cNvPr id="762" name="Google Shape;762;p60"/>
          <p:cNvSpPr txBox="1"/>
          <p:nvPr/>
        </p:nvSpPr>
        <p:spPr>
          <a:xfrm>
            <a:off x="762150" y="3645163"/>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dk1"/>
                </a:solidFill>
                <a:latin typeface="Arial"/>
                <a:ea typeface="Arial"/>
                <a:cs typeface="Arial"/>
                <a:sym typeface="Arial"/>
              </a:rPr>
              <a:t>Q</a:t>
            </a:r>
            <a:endParaRPr b="1" sz="1400">
              <a:solidFill>
                <a:schemeClr val="dk1"/>
              </a:solidFill>
              <a:latin typeface="Arial"/>
              <a:ea typeface="Arial"/>
              <a:cs typeface="Arial"/>
              <a:sym typeface="Arial"/>
            </a:endParaRPr>
          </a:p>
        </p:txBody>
      </p:sp>
      <p:sp>
        <p:nvSpPr>
          <p:cNvPr id="763" name="Google Shape;763;p60"/>
          <p:cNvSpPr txBox="1"/>
          <p:nvPr/>
        </p:nvSpPr>
        <p:spPr>
          <a:xfrm>
            <a:off x="2783117" y="1749278"/>
            <a:ext cx="546839"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dk1"/>
                </a:solidFill>
                <a:latin typeface="Arial"/>
                <a:ea typeface="Arial"/>
                <a:cs typeface="Arial"/>
                <a:sym typeface="Arial"/>
              </a:rPr>
              <a:t>K</a:t>
            </a:r>
            <a:r>
              <a:rPr b="1" baseline="30000" lang="en" sz="2700">
                <a:solidFill>
                  <a:schemeClr val="dk1"/>
                </a:solidFill>
                <a:latin typeface="Arial"/>
                <a:ea typeface="Arial"/>
                <a:cs typeface="Arial"/>
                <a:sym typeface="Arial"/>
              </a:rPr>
              <a:t>T</a:t>
            </a:r>
            <a:endParaRPr b="1" baseline="30000" sz="1400">
              <a:solidFill>
                <a:schemeClr val="dk1"/>
              </a:solidFill>
              <a:latin typeface="Arial"/>
              <a:ea typeface="Arial"/>
              <a:cs typeface="Arial"/>
              <a:sym typeface="Arial"/>
            </a:endParaRPr>
          </a:p>
        </p:txBody>
      </p:sp>
      <p:sp>
        <p:nvSpPr>
          <p:cNvPr id="764" name="Google Shape;764;p60"/>
          <p:cNvSpPr txBox="1"/>
          <p:nvPr/>
        </p:nvSpPr>
        <p:spPr>
          <a:xfrm>
            <a:off x="7803533" y="1206822"/>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dk1"/>
                </a:solidFill>
                <a:latin typeface="Arial"/>
                <a:ea typeface="Arial"/>
                <a:cs typeface="Arial"/>
                <a:sym typeface="Arial"/>
              </a:rPr>
              <a:t>V</a:t>
            </a:r>
            <a:endParaRPr b="1" sz="1400">
              <a:solidFill>
                <a:schemeClr val="dk1"/>
              </a:solidFill>
              <a:latin typeface="Arial"/>
              <a:ea typeface="Arial"/>
              <a:cs typeface="Arial"/>
              <a:sym typeface="Arial"/>
            </a:endParaRPr>
          </a:p>
        </p:txBody>
      </p:sp>
      <p:sp>
        <p:nvSpPr>
          <p:cNvPr id="765" name="Google Shape;765;p60"/>
          <p:cNvSpPr txBox="1"/>
          <p:nvPr/>
        </p:nvSpPr>
        <p:spPr>
          <a:xfrm>
            <a:off x="2646729" y="115754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66" name="Google Shape;766;p60"/>
          <p:cNvSpPr txBox="1"/>
          <p:nvPr/>
        </p:nvSpPr>
        <p:spPr>
          <a:xfrm>
            <a:off x="1388811" y="1841611"/>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67" name="Google Shape;767;p60"/>
          <p:cNvSpPr txBox="1"/>
          <p:nvPr/>
        </p:nvSpPr>
        <p:spPr>
          <a:xfrm>
            <a:off x="759516" y="2461424"/>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68" name="Google Shape;768;p60"/>
          <p:cNvSpPr txBox="1"/>
          <p:nvPr/>
        </p:nvSpPr>
        <p:spPr>
          <a:xfrm rot="-5400000">
            <a:off x="-290898"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69" name="Google Shape;769;p60"/>
          <p:cNvSpPr txBox="1"/>
          <p:nvPr/>
        </p:nvSpPr>
        <p:spPr>
          <a:xfrm>
            <a:off x="2646729" y="2547560"/>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70" name="Google Shape;770;p60"/>
          <p:cNvSpPr txBox="1"/>
          <p:nvPr/>
        </p:nvSpPr>
        <p:spPr>
          <a:xfrm rot="-5400000">
            <a:off x="1283716"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71" name="Google Shape;771;p60"/>
          <p:cNvSpPr txBox="1"/>
          <p:nvPr/>
        </p:nvSpPr>
        <p:spPr>
          <a:xfrm>
            <a:off x="5507852" y="2461424"/>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72" name="Google Shape;772;p60"/>
          <p:cNvSpPr txBox="1"/>
          <p:nvPr/>
        </p:nvSpPr>
        <p:spPr>
          <a:xfrm rot="-5400000">
            <a:off x="4144838" y="3546784"/>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73" name="Google Shape;773;p60"/>
          <p:cNvSpPr txBox="1"/>
          <p:nvPr/>
        </p:nvSpPr>
        <p:spPr>
          <a:xfrm rot="-5400000">
            <a:off x="6673857" y="1151570"/>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74" name="Google Shape;774;p60"/>
          <p:cNvSpPr txBox="1"/>
          <p:nvPr/>
        </p:nvSpPr>
        <p:spPr>
          <a:xfrm>
            <a:off x="7709743" y="-24626"/>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75" name="Google Shape;775;p60"/>
          <p:cNvSpPr txBox="1"/>
          <p:nvPr/>
        </p:nvSpPr>
        <p:spPr>
          <a:xfrm>
            <a:off x="7683078" y="2502821"/>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776" name="Google Shape;776;p60"/>
          <p:cNvSpPr txBox="1"/>
          <p:nvPr/>
        </p:nvSpPr>
        <p:spPr>
          <a:xfrm rot="-5400000">
            <a:off x="6735834" y="3495122"/>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777" name="Google Shape;777;p60"/>
          <p:cNvSpPr/>
          <p:nvPr/>
        </p:nvSpPr>
        <p:spPr>
          <a:xfrm rot="-5400000">
            <a:off x="3329002" y="3765029"/>
            <a:ext cx="2194559" cy="270306"/>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Softmax</a:t>
            </a:r>
            <a:endParaRPr sz="1400">
              <a:solidFill>
                <a:schemeClr val="lt1"/>
              </a:solidFill>
              <a:latin typeface="Arial"/>
              <a:ea typeface="Arial"/>
              <a:cs typeface="Arial"/>
              <a:sym typeface="Arial"/>
            </a:endParaRPr>
          </a:p>
        </p:txBody>
      </p:sp>
      <p:sp>
        <p:nvSpPr>
          <p:cNvPr id="778" name="Google Shape;778;p60"/>
          <p:cNvSpPr txBox="1"/>
          <p:nvPr/>
        </p:nvSpPr>
        <p:spPr>
          <a:xfrm>
            <a:off x="2412619" y="3365114"/>
            <a:ext cx="1257300" cy="1116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dk1"/>
                </a:solidFill>
                <a:latin typeface="Arial"/>
                <a:ea typeface="Arial"/>
                <a:cs typeface="Arial"/>
                <a:sym typeface="Arial"/>
              </a:rPr>
              <a:t>Attn</a:t>
            </a:r>
            <a:endParaRPr sz="1100">
              <a:solidFill>
                <a:schemeClr val="dk1"/>
              </a:solidFill>
            </a:endParaRPr>
          </a:p>
          <a:p>
            <a:pPr indent="0" lvl="0" marL="0" marR="0" rtl="0" algn="ctr">
              <a:spcBef>
                <a:spcPts val="0"/>
              </a:spcBef>
              <a:spcAft>
                <a:spcPts val="0"/>
              </a:spcAft>
              <a:buNone/>
            </a:pPr>
            <a:r>
              <a:rPr b="1" lang="en" sz="2700">
                <a:solidFill>
                  <a:schemeClr val="dk1"/>
                </a:solidFill>
                <a:latin typeface="Arial"/>
                <a:ea typeface="Arial"/>
                <a:cs typeface="Arial"/>
                <a:sym typeface="Arial"/>
              </a:rPr>
              <a:t>Score</a:t>
            </a:r>
            <a:endParaRPr b="1" sz="2700">
              <a:solidFill>
                <a:schemeClr val="dk1"/>
              </a:solidFill>
              <a:latin typeface="Arial"/>
              <a:ea typeface="Arial"/>
              <a:cs typeface="Arial"/>
              <a:sym typeface="Arial"/>
            </a:endParaRPr>
          </a:p>
          <a:p>
            <a:pPr indent="0" lvl="0" marL="0" marR="0" rtl="0" algn="l">
              <a:spcBef>
                <a:spcPts val="0"/>
              </a:spcBef>
              <a:spcAft>
                <a:spcPts val="0"/>
              </a:spcAft>
              <a:buNone/>
            </a:pPr>
            <a:r>
              <a:t/>
            </a:r>
            <a:endParaRPr b="1" sz="1400">
              <a:solidFill>
                <a:schemeClr val="dk1"/>
              </a:solidFill>
              <a:latin typeface="Arial"/>
              <a:ea typeface="Arial"/>
              <a:cs typeface="Arial"/>
              <a:sym typeface="Arial"/>
            </a:endParaRPr>
          </a:p>
        </p:txBody>
      </p:sp>
      <p:sp>
        <p:nvSpPr>
          <p:cNvPr id="779" name="Google Shape;779;p60"/>
          <p:cNvSpPr txBox="1"/>
          <p:nvPr/>
        </p:nvSpPr>
        <p:spPr>
          <a:xfrm>
            <a:off x="5254126" y="3377454"/>
            <a:ext cx="1397542" cy="9002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dk1"/>
                </a:solidFill>
                <a:latin typeface="Arial"/>
                <a:ea typeface="Arial"/>
                <a:cs typeface="Arial"/>
                <a:sym typeface="Arial"/>
              </a:rPr>
              <a:t>Attn</a:t>
            </a:r>
            <a:endParaRPr sz="1100">
              <a:solidFill>
                <a:schemeClr val="dk1"/>
              </a:solidFill>
            </a:endParaRPr>
          </a:p>
          <a:p>
            <a:pPr indent="0" lvl="0" marL="0" marR="0" rtl="0" algn="ctr">
              <a:spcBef>
                <a:spcPts val="0"/>
              </a:spcBef>
              <a:spcAft>
                <a:spcPts val="0"/>
              </a:spcAft>
              <a:buNone/>
            </a:pPr>
            <a:r>
              <a:rPr b="1" lang="en" sz="2700">
                <a:solidFill>
                  <a:schemeClr val="dk1"/>
                </a:solidFill>
                <a:latin typeface="Arial"/>
                <a:ea typeface="Arial"/>
                <a:cs typeface="Arial"/>
                <a:sym typeface="Arial"/>
              </a:rPr>
              <a:t>Weight</a:t>
            </a:r>
            <a:endParaRPr b="1" sz="1400">
              <a:solidFill>
                <a:schemeClr val="dk1"/>
              </a:solidFill>
              <a:latin typeface="Arial"/>
              <a:ea typeface="Arial"/>
              <a:cs typeface="Arial"/>
              <a:sym typeface="Arial"/>
            </a:endParaRPr>
          </a:p>
        </p:txBody>
      </p:sp>
      <p:sp>
        <p:nvSpPr>
          <p:cNvPr id="780" name="Google Shape;780;p60"/>
          <p:cNvSpPr txBox="1"/>
          <p:nvPr/>
        </p:nvSpPr>
        <p:spPr>
          <a:xfrm>
            <a:off x="7261954" y="3657808"/>
            <a:ext cx="1397542"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dk1"/>
                </a:solidFill>
                <a:latin typeface="Arial"/>
                <a:ea typeface="Arial"/>
                <a:cs typeface="Arial"/>
                <a:sym typeface="Arial"/>
              </a:rPr>
              <a:t>Out</a:t>
            </a:r>
            <a:endParaRPr b="1" sz="1400">
              <a:solidFill>
                <a:schemeClr val="dk1"/>
              </a:solidFill>
              <a:latin typeface="Arial"/>
              <a:ea typeface="Arial"/>
              <a:cs typeface="Arial"/>
              <a:sym typeface="Arial"/>
            </a:endParaRPr>
          </a:p>
        </p:txBody>
      </p:sp>
      <p:sp>
        <p:nvSpPr>
          <p:cNvPr id="781" name="Google Shape;781;p60"/>
          <p:cNvSpPr txBox="1"/>
          <p:nvPr/>
        </p:nvSpPr>
        <p:spPr>
          <a:xfrm>
            <a:off x="4224674" y="1245544"/>
            <a:ext cx="2839142" cy="807914"/>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How to deal with Softmax?</a:t>
            </a:r>
            <a:endParaRPr sz="1100"/>
          </a:p>
        </p:txBody>
      </p:sp>
      <p:cxnSp>
        <p:nvCxnSpPr>
          <p:cNvPr id="782" name="Google Shape;782;p60"/>
          <p:cNvCxnSpPr>
            <a:stCxn id="777" idx="3"/>
          </p:cNvCxnSpPr>
          <p:nvPr/>
        </p:nvCxnSpPr>
        <p:spPr>
          <a:xfrm flipH="1" rot="10800000">
            <a:off x="4426282" y="2141703"/>
            <a:ext cx="968100" cy="661200"/>
          </a:xfrm>
          <a:prstGeom prst="straightConnector1">
            <a:avLst/>
          </a:prstGeom>
          <a:noFill/>
          <a:ln cap="flat" cmpd="sng" w="57150">
            <a:solidFill>
              <a:srgbClr val="33006F"/>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500"/>
                                        <p:tgtEl>
                                          <p:spTgt spid="781"/>
                                        </p:tgtEl>
                                      </p:cBhvr>
                                    </p:animEffect>
                                  </p:childTnLst>
                                </p:cTn>
                              </p:par>
                              <p:par>
                                <p:cTn fill="hold" nodeType="withEffect" presetClass="entr" presetID="10" presetSubtype="0">
                                  <p:stCondLst>
                                    <p:cond delay="0"/>
                                  </p:stCondLst>
                                  <p:childTnLst>
                                    <p:set>
                                      <p:cBhvr>
                                        <p:cTn dur="1" fill="hold">
                                          <p:stCondLst>
                                            <p:cond delay="0"/>
                                          </p:stCondLst>
                                        </p:cTn>
                                        <p:tgtEl>
                                          <p:spTgt spid="782"/>
                                        </p:tgtEl>
                                        <p:attrNameLst>
                                          <p:attrName>style.visibility</p:attrName>
                                        </p:attrNameLst>
                                      </p:cBhvr>
                                      <p:to>
                                        <p:strVal val="visible"/>
                                      </p:to>
                                    </p:set>
                                    <p:animEffect filter="fade" transition="in">
                                      <p:cBhvr>
                                        <p:cTn dur="500"/>
                                        <p:tgtEl>
                                          <p:spTgt spid="7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Original Attention Calculation:</a:t>
            </a:r>
            <a:endParaRPr/>
          </a:p>
        </p:txBody>
      </p:sp>
      <p:graphicFrame>
        <p:nvGraphicFramePr>
          <p:cNvPr id="788" name="Google Shape;788;p61"/>
          <p:cNvGraphicFramePr/>
          <p:nvPr/>
        </p:nvGraphicFramePr>
        <p:xfrm>
          <a:off x="58039" y="2921451"/>
          <a:ext cx="3000000" cy="3000000"/>
        </p:xfrm>
        <a:graphic>
          <a:graphicData uri="http://schemas.openxmlformats.org/drawingml/2006/table">
            <a:tbl>
              <a:tblPr bandRow="1">
                <a:noFill/>
                <a:tableStyleId>{EE193DD2-6E87-43B2-945D-4C0B9107F9EB}</a:tableStyleId>
              </a:tblPr>
              <a:tblGrid>
                <a:gridCol w="376975"/>
                <a:gridCol w="376975"/>
                <a:gridCol w="376975"/>
                <a:gridCol w="376975"/>
              </a:tblGrid>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bl>
          </a:graphicData>
        </a:graphic>
      </p:graphicFrame>
      <p:graphicFrame>
        <p:nvGraphicFramePr>
          <p:cNvPr id="789" name="Google Shape;789;p61"/>
          <p:cNvGraphicFramePr/>
          <p:nvPr/>
        </p:nvGraphicFramePr>
        <p:xfrm>
          <a:off x="1737614" y="1203249"/>
          <a:ext cx="3000000" cy="3000000"/>
        </p:xfrm>
        <a:graphic>
          <a:graphicData uri="http://schemas.openxmlformats.org/drawingml/2006/table">
            <a:tbl>
              <a:tblPr bandRow="1">
                <a:noFill/>
                <a:tableStyleId>{6D6CBB51-25CD-4269-8C0D-CE281DC38EA4}</a:tableStyleId>
              </a:tblPr>
              <a:tblGrid>
                <a:gridCol w="376975"/>
                <a:gridCol w="376975"/>
                <a:gridCol w="376975"/>
                <a:gridCol w="376975"/>
              </a:tblGrid>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34300" marB="34300" marR="68600" marL="68600" anchor="ctr">
                    <a:solidFill>
                      <a:srgbClr val="FAE2D5"/>
                    </a:solidFill>
                  </a:tcPr>
                </a:tc>
              </a:tr>
            </a:tbl>
          </a:graphicData>
        </a:graphic>
      </p:graphicFrame>
      <p:graphicFrame>
        <p:nvGraphicFramePr>
          <p:cNvPr id="790" name="Google Shape;790;p61"/>
          <p:cNvGraphicFramePr/>
          <p:nvPr/>
        </p:nvGraphicFramePr>
        <p:xfrm>
          <a:off x="1737614" y="2926755"/>
          <a:ext cx="3000000" cy="3000000"/>
        </p:xfrm>
        <a:graphic>
          <a:graphicData uri="http://schemas.openxmlformats.org/drawingml/2006/table">
            <a:tbl>
              <a:tblPr bandRow="1">
                <a:noFill/>
                <a:tableStyleId>{6475CB33-74FA-4E0B-A67E-5448B8DA8A8F}</a:tableStyleId>
              </a:tblPr>
              <a:tblGrid>
                <a:gridCol w="376975"/>
                <a:gridCol w="376975"/>
                <a:gridCol w="376975"/>
                <a:gridCol w="376975"/>
              </a:tblGrid>
              <a:tr h="364200">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lt1"/>
                          </a:solidFill>
                        </a:rPr>
                        <a:t>8</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0" marB="0" marR="0" marL="0" anchor="ctr">
                    <a:solidFill>
                      <a:srgbClr val="BEF2C7"/>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0" marB="0" marR="0" marL="0" anchor="ctr">
                    <a:solidFill>
                      <a:srgbClr val="BEF2C7"/>
                    </a:solidFill>
                  </a:tcPr>
                </a:tc>
              </a:tr>
              <a:tr h="364200">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dk1"/>
                          </a:solidFill>
                        </a:rPr>
                        <a:t>3</a:t>
                      </a:r>
                      <a:endParaRPr sz="1400">
                        <a:solidFill>
                          <a:schemeClr val="dk1"/>
                        </a:solidFill>
                      </a:endParaRPr>
                    </a:p>
                  </a:txBody>
                  <a:tcPr marT="0" marB="0" marR="0" marL="0" anchor="ctr">
                    <a:solidFill>
                      <a:srgbClr val="BEF2C7"/>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0" marB="0" marR="0" marL="0" anchor="ctr">
                    <a:solidFill>
                      <a:srgbClr val="BEF2C7"/>
                    </a:solidFill>
                  </a:tcPr>
                </a:tc>
              </a:tr>
            </a:tbl>
          </a:graphicData>
        </a:graphic>
      </p:graphicFrame>
      <p:graphicFrame>
        <p:nvGraphicFramePr>
          <p:cNvPr id="791" name="Google Shape;791;p61"/>
          <p:cNvGraphicFramePr/>
          <p:nvPr/>
        </p:nvGraphicFramePr>
        <p:xfrm>
          <a:off x="4442652" y="2938285"/>
          <a:ext cx="3000000" cy="3000000"/>
        </p:xfrm>
        <a:graphic>
          <a:graphicData uri="http://schemas.openxmlformats.org/drawingml/2006/table">
            <a:tbl>
              <a:tblPr bandRow="1">
                <a:noFill/>
                <a:tableStyleId>{6475CB33-74FA-4E0B-A67E-5448B8DA8A8F}</a:tableStyleId>
              </a:tblPr>
              <a:tblGrid>
                <a:gridCol w="329025"/>
                <a:gridCol w="329025"/>
                <a:gridCol w="329025"/>
                <a:gridCol w="329025"/>
              </a:tblGrid>
              <a:tr h="358425">
                <a:tc>
                  <a:txBody>
                    <a:bodyPr/>
                    <a:lstStyle/>
                    <a:p>
                      <a:pPr indent="0" lvl="0" marL="0" marR="0" rtl="0" algn="ctr">
                        <a:spcBef>
                          <a:spcPts val="0"/>
                        </a:spcBef>
                        <a:spcAft>
                          <a:spcPts val="0"/>
                        </a:spcAft>
                        <a:buNone/>
                      </a:pPr>
                      <a:r>
                        <a:rPr lang="en" sz="1500">
                          <a:solidFill>
                            <a:schemeClr val="lt1"/>
                          </a:solidFill>
                        </a:rPr>
                        <a:t>e</a:t>
                      </a:r>
                      <a:r>
                        <a:rPr baseline="30000" lang="en" sz="1500">
                          <a:solidFill>
                            <a:schemeClr val="lt1"/>
                          </a:solidFill>
                        </a:rPr>
                        <a:t>4-8</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8-8</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2-8</a:t>
                      </a:r>
                      <a:endParaRPr baseline="30000" sz="1500">
                        <a:solidFill>
                          <a:schemeClr val="dk1"/>
                        </a:solidFill>
                      </a:endParaRPr>
                    </a:p>
                  </a:txBody>
                  <a:tcPr marT="0" marB="0" marR="0" marL="0" anchor="ctr">
                    <a:solidFill>
                      <a:srgbClr val="BEF2C7"/>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en" sz="1400">
                          <a:solidFill>
                            <a:schemeClr val="dk1"/>
                          </a:solidFill>
                        </a:rPr>
                        <a:t>e</a:t>
                      </a:r>
                      <a:r>
                        <a:rPr baseline="30000" lang="en" sz="1400">
                          <a:solidFill>
                            <a:schemeClr val="dk1"/>
                          </a:solidFill>
                        </a:rPr>
                        <a:t>-1-8</a:t>
                      </a:r>
                      <a:endParaRPr baseline="30000" sz="1400">
                        <a:solidFill>
                          <a:schemeClr val="dk1"/>
                        </a:solidFill>
                      </a:endParaRPr>
                    </a:p>
                  </a:txBody>
                  <a:tcPr marT="0" marB="0" marR="0" marL="0" anchor="ctr">
                    <a:solidFill>
                      <a:srgbClr val="BEF2C7"/>
                    </a:solidFill>
                  </a:tcPr>
                </a:tc>
              </a:tr>
              <a:tr h="358425">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1-3</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2-3</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3-3</a:t>
                      </a:r>
                      <a:endParaRPr baseline="30000" sz="1500">
                        <a:solidFill>
                          <a:schemeClr val="dk1"/>
                        </a:solidFill>
                      </a:endParaRPr>
                    </a:p>
                  </a:txBody>
                  <a:tcPr marT="0" marB="0" marR="0" marL="0" anchor="ctr">
                    <a:solidFill>
                      <a:srgbClr val="BEF2C7"/>
                    </a:solidFill>
                  </a:tcPr>
                </a:tc>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0-3</a:t>
                      </a:r>
                      <a:endParaRPr baseline="30000" sz="1500">
                        <a:solidFill>
                          <a:schemeClr val="dk1"/>
                        </a:solidFill>
                      </a:endParaRPr>
                    </a:p>
                  </a:txBody>
                  <a:tcPr marT="0" marB="0" marR="0" marL="0" anchor="ctr">
                    <a:solidFill>
                      <a:srgbClr val="BEF2C7"/>
                    </a:solidFill>
                  </a:tcPr>
                </a:tc>
              </a:tr>
            </a:tbl>
          </a:graphicData>
        </a:graphic>
      </p:graphicFrame>
      <p:graphicFrame>
        <p:nvGraphicFramePr>
          <p:cNvPr id="792" name="Google Shape;792;p61"/>
          <p:cNvGraphicFramePr/>
          <p:nvPr/>
        </p:nvGraphicFramePr>
        <p:xfrm>
          <a:off x="6651433" y="1162322"/>
          <a:ext cx="3000000" cy="3000000"/>
        </p:xfrm>
        <a:graphic>
          <a:graphicData uri="http://schemas.openxmlformats.org/drawingml/2006/table">
            <a:tbl>
              <a:tblPr bandRow="1">
                <a:noFill/>
                <a:tableStyleId>{785E4EA9-965B-4A0B-8EB9-9F30A4BD861F}</a:tableStyleId>
              </a:tblPr>
              <a:tblGrid>
                <a:gridCol w="1166250"/>
                <a:gridCol w="1166250"/>
              </a:tblGrid>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0A3041"/>
                    </a:solidFill>
                  </a:tcPr>
                </a:tc>
              </a:tr>
              <a:tr h="370025">
                <a:tc>
                  <a:txBody>
                    <a:bodyPr/>
                    <a:lstStyle/>
                    <a:p>
                      <a:pPr indent="0" lvl="0" marL="0" marR="0" rtl="0" algn="ctr">
                        <a:spcBef>
                          <a:spcPts val="0"/>
                        </a:spcBef>
                        <a:spcAft>
                          <a:spcPts val="0"/>
                        </a:spcAft>
                        <a:buNone/>
                      </a:pPr>
                      <a:r>
                        <a:rPr lang="en" sz="1400">
                          <a:solidFill>
                            <a:schemeClr val="lt1"/>
                          </a:solidFill>
                        </a:rPr>
                        <a:t>3</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0A3041"/>
                    </a:solidFill>
                  </a:tcPr>
                </a:tc>
              </a:tr>
              <a:tr h="370025">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C0E4F5"/>
                    </a:solidFill>
                  </a:tcPr>
                </a:tc>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C0E4F5"/>
                    </a:solidFill>
                  </a:tcPr>
                </a:tc>
              </a:tr>
              <a:tr h="370025">
                <a:tc>
                  <a:txBody>
                    <a:bodyPr/>
                    <a:lstStyle/>
                    <a:p>
                      <a:pPr indent="0" lvl="0" marL="0" marR="0" rtl="0" algn="ctr">
                        <a:spcBef>
                          <a:spcPts val="0"/>
                        </a:spcBef>
                        <a:spcAft>
                          <a:spcPts val="0"/>
                        </a:spcAft>
                        <a:buNone/>
                      </a:pPr>
                      <a:r>
                        <a:rPr lang="en" sz="1400">
                          <a:solidFill>
                            <a:schemeClr val="dk1"/>
                          </a:solidFill>
                        </a:rPr>
                        <a:t>-3</a:t>
                      </a:r>
                      <a:endParaRPr sz="1400">
                        <a:solidFill>
                          <a:schemeClr val="dk1"/>
                        </a:solidFill>
                      </a:endParaRPr>
                    </a:p>
                  </a:txBody>
                  <a:tcPr marT="34300" marB="34300" marR="68600" marL="68600" anchor="ctr">
                    <a:solidFill>
                      <a:srgbClr val="C0E4F5"/>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C0E4F5"/>
                    </a:solidFill>
                  </a:tcPr>
                </a:tc>
              </a:tr>
            </a:tbl>
          </a:graphicData>
        </a:graphic>
      </p:graphicFrame>
      <p:graphicFrame>
        <p:nvGraphicFramePr>
          <p:cNvPr id="793" name="Google Shape;793;p61"/>
          <p:cNvGraphicFramePr/>
          <p:nvPr/>
        </p:nvGraphicFramePr>
        <p:xfrm>
          <a:off x="6651433" y="2838550"/>
          <a:ext cx="3000000" cy="3000000"/>
        </p:xfrm>
        <a:graphic>
          <a:graphicData uri="http://schemas.openxmlformats.org/drawingml/2006/table">
            <a:tbl>
              <a:tblPr bandRow="1">
                <a:noFill/>
                <a:tableStyleId>{EE193DD2-6E87-43B2-945D-4C0B9107F9EB}</a:tableStyleId>
              </a:tblPr>
              <a:tblGrid>
                <a:gridCol w="1166250"/>
                <a:gridCol w="1166250"/>
              </a:tblGrid>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4-8</a:t>
                      </a:r>
                      <a:r>
                        <a:rPr lang="en" sz="1400">
                          <a:solidFill>
                            <a:schemeClr val="lt1"/>
                          </a:solidFill>
                        </a:rPr>
                        <a:t>+3e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2-8</a:t>
                      </a:r>
                      <a:r>
                        <a:rPr lang="en" sz="1400">
                          <a:solidFill>
                            <a:schemeClr val="lt1"/>
                          </a:solidFill>
                        </a:rPr>
                        <a:t>-</a:t>
                      </a:r>
                      <a:r>
                        <a:rPr lang="en" sz="1400">
                          <a:solidFill>
                            <a:schemeClr val="lt1"/>
                          </a:solidFill>
                        </a:rPr>
                        <a:t>3e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4-8</a:t>
                      </a:r>
                      <a:r>
                        <a:rPr lang="en" sz="1400">
                          <a:solidFill>
                            <a:schemeClr val="lt1"/>
                          </a:solidFill>
                        </a:rPr>
                        <a:t>+4e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2-8</a:t>
                      </a:r>
                      <a:r>
                        <a:rPr lang="en" sz="1400">
                          <a:solidFill>
                            <a:schemeClr val="lt1"/>
                          </a:solidFill>
                        </a:rPr>
                        <a:t>+e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1-3</a:t>
                      </a:r>
                      <a:r>
                        <a:rPr lang="en" sz="1400">
                          <a:solidFill>
                            <a:schemeClr val="lt1"/>
                          </a:solidFill>
                        </a:rPr>
                        <a:t>+3e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3-3</a:t>
                      </a:r>
                      <a:r>
                        <a:rPr lang="en" sz="1400">
                          <a:solidFill>
                            <a:schemeClr val="lt1"/>
                          </a:solidFill>
                        </a:rPr>
                        <a:t>-</a:t>
                      </a:r>
                      <a:r>
                        <a:rPr lang="en" sz="1400">
                          <a:solidFill>
                            <a:schemeClr val="lt1"/>
                          </a:solidFill>
                        </a:rPr>
                        <a:t>3e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1-3</a:t>
                      </a:r>
                      <a:r>
                        <a:rPr lang="en" sz="1400">
                          <a:solidFill>
                            <a:schemeClr val="lt1"/>
                          </a:solidFill>
                        </a:rPr>
                        <a:t>+4e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3-3</a:t>
                      </a:r>
                      <a:r>
                        <a:rPr lang="en" sz="1400">
                          <a:solidFill>
                            <a:schemeClr val="lt1"/>
                          </a:solidFill>
                        </a:rPr>
                        <a:t>+e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r>
            </a:tbl>
          </a:graphicData>
        </a:graphic>
      </p:graphicFrame>
      <p:sp>
        <p:nvSpPr>
          <p:cNvPr id="794" name="Google Shape;794;p61"/>
          <p:cNvSpPr/>
          <p:nvPr/>
        </p:nvSpPr>
        <p:spPr>
          <a:xfrm>
            <a:off x="3353250" y="2981938"/>
            <a:ext cx="94443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RowMax = 8</a:t>
            </a:r>
            <a:endParaRPr sz="1100">
              <a:solidFill>
                <a:schemeClr val="lt1"/>
              </a:solidFill>
              <a:latin typeface="Arial"/>
              <a:ea typeface="Arial"/>
              <a:cs typeface="Arial"/>
              <a:sym typeface="Arial"/>
            </a:endParaRPr>
          </a:p>
        </p:txBody>
      </p:sp>
      <p:sp>
        <p:nvSpPr>
          <p:cNvPr id="795" name="Google Shape;795;p61"/>
          <p:cNvSpPr/>
          <p:nvPr/>
        </p:nvSpPr>
        <p:spPr>
          <a:xfrm>
            <a:off x="3353250" y="3345692"/>
            <a:ext cx="94443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RowMax = 3</a:t>
            </a:r>
            <a:endParaRPr sz="1100">
              <a:solidFill>
                <a:schemeClr val="lt1"/>
              </a:solidFill>
              <a:latin typeface="Arial"/>
              <a:ea typeface="Arial"/>
              <a:cs typeface="Arial"/>
              <a:sym typeface="Arial"/>
            </a:endParaRPr>
          </a:p>
        </p:txBody>
      </p:sp>
      <p:sp>
        <p:nvSpPr>
          <p:cNvPr id="796" name="Google Shape;796;p61"/>
          <p:cNvSpPr/>
          <p:nvPr/>
        </p:nvSpPr>
        <p:spPr>
          <a:xfrm>
            <a:off x="4251099" y="2596716"/>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797" name="Google Shape;797;p61"/>
          <p:cNvSpPr/>
          <p:nvPr/>
        </p:nvSpPr>
        <p:spPr>
          <a:xfrm>
            <a:off x="4251099" y="3739556"/>
            <a:ext cx="183728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798" name="Google Shape;798;p61"/>
          <p:cNvSpPr/>
          <p:nvPr/>
        </p:nvSpPr>
        <p:spPr>
          <a:xfrm>
            <a:off x="5847117" y="2992856"/>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S1</a:t>
            </a:r>
            <a:endParaRPr sz="1100">
              <a:solidFill>
                <a:schemeClr val="lt1"/>
              </a:solidFill>
              <a:latin typeface="Arial"/>
              <a:ea typeface="Arial"/>
              <a:cs typeface="Arial"/>
              <a:sym typeface="Arial"/>
            </a:endParaRPr>
          </a:p>
        </p:txBody>
      </p:sp>
      <p:sp>
        <p:nvSpPr>
          <p:cNvPr id="799" name="Google Shape;799;p61"/>
          <p:cNvSpPr/>
          <p:nvPr/>
        </p:nvSpPr>
        <p:spPr>
          <a:xfrm>
            <a:off x="5847117" y="3360747"/>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S2</a:t>
            </a:r>
            <a:endParaRPr sz="1100">
              <a:solidFill>
                <a:schemeClr val="lt1"/>
              </a:solidFill>
              <a:latin typeface="Arial"/>
              <a:ea typeface="Arial"/>
              <a:cs typeface="Arial"/>
              <a:sym typeface="Arial"/>
            </a:endParaRPr>
          </a:p>
        </p:txBody>
      </p:sp>
      <p:pic>
        <p:nvPicPr>
          <p:cNvPr id="800" name="Google Shape;800;p61"/>
          <p:cNvPicPr preferRelativeResize="0"/>
          <p:nvPr/>
        </p:nvPicPr>
        <p:blipFill rotWithShape="1">
          <a:blip r:embed="rId3">
            <a:alphaModFix/>
          </a:blip>
          <a:srcRect b="0" l="0" r="0" t="0"/>
          <a:stretch/>
        </p:blipFill>
        <p:spPr>
          <a:xfrm>
            <a:off x="3582861" y="1395792"/>
            <a:ext cx="2921486" cy="1120775"/>
          </a:xfrm>
          <a:prstGeom prst="rect">
            <a:avLst/>
          </a:prstGeom>
          <a:noFill/>
          <a:ln>
            <a:noFill/>
          </a:ln>
        </p:spPr>
      </p:pic>
      <p:sp>
        <p:nvSpPr>
          <p:cNvPr id="801" name="Google Shape;801;p61"/>
          <p:cNvSpPr txBox="1"/>
          <p:nvPr/>
        </p:nvSpPr>
        <p:spPr>
          <a:xfrm>
            <a:off x="220980" y="4329633"/>
            <a:ext cx="2945130"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Q*K</a:t>
            </a:r>
            <a:r>
              <a:rPr baseline="30000" lang="en" sz="2400">
                <a:solidFill>
                  <a:srgbClr val="33006F"/>
                </a:solidFill>
                <a:latin typeface="Arial"/>
                <a:ea typeface="Arial"/>
                <a:cs typeface="Arial"/>
                <a:sym typeface="Arial"/>
              </a:rPr>
              <a:t>T</a:t>
            </a:r>
            <a:r>
              <a:rPr lang="en" sz="2400">
                <a:solidFill>
                  <a:srgbClr val="33006F"/>
                </a:solidFill>
                <a:latin typeface="Arial"/>
                <a:ea typeface="Arial"/>
                <a:cs typeface="Arial"/>
                <a:sym typeface="Arial"/>
              </a:rPr>
              <a:t>/sqrt(D)</a:t>
            </a:r>
            <a:endParaRPr baseline="30000" sz="2400">
              <a:solidFill>
                <a:srgbClr val="33006F"/>
              </a:solidFill>
              <a:latin typeface="Arial"/>
              <a:ea typeface="Arial"/>
              <a:cs typeface="Arial"/>
              <a:sym typeface="Arial"/>
            </a:endParaRPr>
          </a:p>
        </p:txBody>
      </p:sp>
      <p:sp>
        <p:nvSpPr>
          <p:cNvPr id="802" name="Google Shape;802;p61"/>
          <p:cNvSpPr txBox="1"/>
          <p:nvPr/>
        </p:nvSpPr>
        <p:spPr>
          <a:xfrm>
            <a:off x="3353250" y="4329632"/>
            <a:ext cx="2789194"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Stable Softmax</a:t>
            </a:r>
            <a:endParaRPr baseline="30000" sz="2400">
              <a:solidFill>
                <a:srgbClr val="33006F"/>
              </a:solidFill>
              <a:latin typeface="Arial"/>
              <a:ea typeface="Arial"/>
              <a:cs typeface="Arial"/>
              <a:sym typeface="Arial"/>
            </a:endParaRPr>
          </a:p>
        </p:txBody>
      </p:sp>
      <p:sp>
        <p:nvSpPr>
          <p:cNvPr id="803" name="Google Shape;803;p61"/>
          <p:cNvSpPr txBox="1"/>
          <p:nvPr/>
        </p:nvSpPr>
        <p:spPr>
          <a:xfrm>
            <a:off x="6236333" y="4329633"/>
            <a:ext cx="2781938"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Softmax * V</a:t>
            </a:r>
            <a:endParaRPr baseline="30000" sz="2400">
              <a:solidFill>
                <a:srgbClr val="33006F"/>
              </a:solidFill>
              <a:latin typeface="Arial"/>
              <a:ea typeface="Arial"/>
              <a:cs typeface="Arial"/>
              <a:sym typeface="Arial"/>
            </a:endParaRPr>
          </a:p>
        </p:txBody>
      </p:sp>
      <p:sp>
        <p:nvSpPr>
          <p:cNvPr id="804" name="Google Shape;804;p61"/>
          <p:cNvSpPr/>
          <p:nvPr/>
        </p:nvSpPr>
        <p:spPr>
          <a:xfrm>
            <a:off x="8549128" y="2590739"/>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S1</a:t>
            </a:r>
            <a:endParaRPr sz="1100">
              <a:solidFill>
                <a:schemeClr val="lt1"/>
              </a:solidFill>
              <a:latin typeface="Arial"/>
              <a:ea typeface="Arial"/>
              <a:cs typeface="Arial"/>
              <a:sym typeface="Arial"/>
            </a:endParaRPr>
          </a:p>
        </p:txBody>
      </p:sp>
      <p:sp>
        <p:nvSpPr>
          <p:cNvPr id="805" name="Google Shape;805;p61"/>
          <p:cNvSpPr/>
          <p:nvPr/>
        </p:nvSpPr>
        <p:spPr>
          <a:xfrm>
            <a:off x="8549128" y="3670342"/>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S2</a:t>
            </a:r>
            <a:endParaRPr sz="11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500"/>
                                        <p:tgtEl>
                                          <p:spTgt spid="789"/>
                                        </p:tgtEl>
                                      </p:cBhvr>
                                    </p:animEffect>
                                  </p:childTnLst>
                                </p:cTn>
                              </p:par>
                              <p:par>
                                <p:cTn fill="hold" nodeType="with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500"/>
                                        <p:tgtEl>
                                          <p:spTgt spid="790"/>
                                        </p:tgtEl>
                                      </p:cBhvr>
                                    </p:animEffect>
                                  </p:childTnLst>
                                </p:cTn>
                              </p:par>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500"/>
                                        <p:tgtEl>
                                          <p:spTgt spid="8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500"/>
                                        <p:tgtEl>
                                          <p:spTgt spid="8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par>
                                <p:cTn fill="hold" nodeType="with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500"/>
                                        <p:tgtEl>
                                          <p:spTgt spid="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500"/>
                                        <p:tgtEl>
                                          <p:spTgt spid="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500"/>
                                        <p:tgtEl>
                                          <p:spTgt spid="796"/>
                                        </p:tgtEl>
                                      </p:cBhvr>
                                    </p:animEffect>
                                  </p:childTnLst>
                                </p:cTn>
                              </p:par>
                              <p:par>
                                <p:cTn fill="hold" nodeType="with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500"/>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500"/>
                                        <p:tgtEl>
                                          <p:spTgt spid="798"/>
                                        </p:tgtEl>
                                      </p:cBhvr>
                                    </p:animEffect>
                                  </p:childTnLst>
                                </p:cTn>
                              </p:par>
                              <p:par>
                                <p:cTn fill="hold" nodeType="with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500"/>
                                        <p:tgtEl>
                                          <p:spTgt spid="7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500"/>
                                        <p:tgtEl>
                                          <p:spTgt spid="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500"/>
                                        <p:tgtEl>
                                          <p:spTgt spid="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gtEl>
                                        <p:attrNameLst>
                                          <p:attrName>style.visibility</p:attrName>
                                        </p:attrNameLst>
                                      </p:cBhvr>
                                      <p:to>
                                        <p:strVal val="visible"/>
                                      </p:to>
                                    </p:set>
                                    <p:animEffect filter="fade" transition="in">
                                      <p:cBhvr>
                                        <p:cTn dur="500"/>
                                        <p:tgtEl>
                                          <p:spTgt spid="804"/>
                                        </p:tgtEl>
                                      </p:cBhvr>
                                    </p:animEffect>
                                  </p:childTnLst>
                                </p:cTn>
                              </p:par>
                              <p:par>
                                <p:cTn fill="hold" nodeType="with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500"/>
                                        <p:tgtEl>
                                          <p:spTgt spid="8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2"/>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 – Calculating the first block separately</a:t>
            </a:r>
            <a:endParaRPr/>
          </a:p>
        </p:txBody>
      </p:sp>
      <p:graphicFrame>
        <p:nvGraphicFramePr>
          <p:cNvPr id="812" name="Google Shape;812;p62"/>
          <p:cNvGraphicFramePr/>
          <p:nvPr/>
        </p:nvGraphicFramePr>
        <p:xfrm>
          <a:off x="2013101" y="1080590"/>
          <a:ext cx="3000000" cy="3000000"/>
        </p:xfrm>
        <a:graphic>
          <a:graphicData uri="http://schemas.openxmlformats.org/drawingml/2006/table">
            <a:tbl>
              <a:tblPr bandRow="1">
                <a:noFill/>
                <a:tableStyleId>{6D6CBB51-25CD-4269-8C0D-CE281DC38EA4}</a:tableStyleId>
              </a:tblPr>
              <a:tblGrid>
                <a:gridCol w="397725"/>
                <a:gridCol w="397725"/>
              </a:tblGrid>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bl>
          </a:graphicData>
        </a:graphic>
      </p:graphicFrame>
      <p:graphicFrame>
        <p:nvGraphicFramePr>
          <p:cNvPr id="813" name="Google Shape;813;p62"/>
          <p:cNvGraphicFramePr/>
          <p:nvPr/>
        </p:nvGraphicFramePr>
        <p:xfrm>
          <a:off x="2013101" y="2876714"/>
          <a:ext cx="3000000" cy="3000000"/>
        </p:xfrm>
        <a:graphic>
          <a:graphicData uri="http://schemas.openxmlformats.org/drawingml/2006/table">
            <a:tbl>
              <a:tblPr bandRow="1">
                <a:noFill/>
                <a:tableStyleId>{6475CB33-74FA-4E0B-A67E-5448B8DA8A8F}</a:tableStyleId>
              </a:tblPr>
              <a:tblGrid>
                <a:gridCol w="397725"/>
                <a:gridCol w="397725"/>
              </a:tblGrid>
              <a:tr h="364200">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lt1"/>
                          </a:solidFill>
                        </a:rPr>
                        <a:t>8</a:t>
                      </a:r>
                      <a:endParaRPr sz="1400">
                        <a:solidFill>
                          <a:schemeClr val="lt1"/>
                        </a:solidFill>
                      </a:endParaRPr>
                    </a:p>
                  </a:txBody>
                  <a:tcPr marT="0" marB="0" marR="0" marL="0" anchor="ctr">
                    <a:solidFill>
                      <a:srgbClr val="0C3512"/>
                    </a:solidFill>
                  </a:tcPr>
                </a:tc>
              </a:tr>
              <a:tr h="364200">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0" marB="0" marR="0" marL="0" anchor="ctr">
                    <a:solidFill>
                      <a:srgbClr val="0C3512"/>
                    </a:solidFill>
                  </a:tcPr>
                </a:tc>
              </a:tr>
            </a:tbl>
          </a:graphicData>
        </a:graphic>
      </p:graphicFrame>
      <p:sp>
        <p:nvSpPr>
          <p:cNvPr id="814" name="Google Shape;814;p62"/>
          <p:cNvSpPr/>
          <p:nvPr/>
        </p:nvSpPr>
        <p:spPr>
          <a:xfrm>
            <a:off x="2946949" y="2908463"/>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graphicFrame>
        <p:nvGraphicFramePr>
          <p:cNvPr id="815" name="Google Shape;815;p62"/>
          <p:cNvGraphicFramePr/>
          <p:nvPr/>
        </p:nvGraphicFramePr>
        <p:xfrm>
          <a:off x="4499126" y="2812424"/>
          <a:ext cx="3000000" cy="3000000"/>
        </p:xfrm>
        <a:graphic>
          <a:graphicData uri="http://schemas.openxmlformats.org/drawingml/2006/table">
            <a:tbl>
              <a:tblPr bandRow="1">
                <a:noFill/>
                <a:tableStyleId>{6475CB33-74FA-4E0B-A67E-5448B8DA8A8F}</a:tableStyleId>
              </a:tblPr>
              <a:tblGrid>
                <a:gridCol w="397725"/>
                <a:gridCol w="397725"/>
              </a:tblGrid>
              <a:tr h="364200">
                <a:tc>
                  <a:txBody>
                    <a:bodyPr/>
                    <a:lstStyle/>
                    <a:p>
                      <a:pPr indent="0" lvl="0" marL="0" marR="0" rtl="0" algn="ctr">
                        <a:spcBef>
                          <a:spcPts val="0"/>
                        </a:spcBef>
                        <a:spcAft>
                          <a:spcPts val="0"/>
                        </a:spcAft>
                        <a:buNone/>
                      </a:pPr>
                      <a:r>
                        <a:rPr lang="en" sz="1500">
                          <a:solidFill>
                            <a:schemeClr val="lt1"/>
                          </a:solidFill>
                        </a:rPr>
                        <a:t>e</a:t>
                      </a:r>
                      <a:r>
                        <a:rPr baseline="30000" lang="en" sz="1500">
                          <a:solidFill>
                            <a:schemeClr val="lt1"/>
                          </a:solidFill>
                        </a:rPr>
                        <a:t>4-8</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8-8</a:t>
                      </a:r>
                      <a:endParaRPr baseline="30000" sz="1500">
                        <a:solidFill>
                          <a:schemeClr val="lt1"/>
                        </a:solidFill>
                      </a:endParaRPr>
                    </a:p>
                  </a:txBody>
                  <a:tcPr marT="0" marB="0" marR="0" marL="0" anchor="ctr">
                    <a:solidFill>
                      <a:srgbClr val="0C3512"/>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1-2</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2-2</a:t>
                      </a:r>
                      <a:endParaRPr baseline="30000" sz="1500">
                        <a:solidFill>
                          <a:schemeClr val="lt1"/>
                        </a:solidFill>
                      </a:endParaRPr>
                    </a:p>
                  </a:txBody>
                  <a:tcPr marT="0" marB="0" marR="0" marL="0" anchor="ctr">
                    <a:solidFill>
                      <a:srgbClr val="0C3512"/>
                    </a:solidFill>
                  </a:tcPr>
                </a:tc>
              </a:tr>
            </a:tbl>
          </a:graphicData>
        </a:graphic>
      </p:graphicFrame>
      <p:sp>
        <p:nvSpPr>
          <p:cNvPr id="816" name="Google Shape;816;p62"/>
          <p:cNvSpPr/>
          <p:nvPr/>
        </p:nvSpPr>
        <p:spPr>
          <a:xfrm>
            <a:off x="2946950" y="3286289"/>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graphicFrame>
        <p:nvGraphicFramePr>
          <p:cNvPr id="817" name="Google Shape;817;p62"/>
          <p:cNvGraphicFramePr/>
          <p:nvPr/>
        </p:nvGraphicFramePr>
        <p:xfrm>
          <a:off x="6236333" y="1820650"/>
          <a:ext cx="3000000" cy="3000000"/>
        </p:xfrm>
        <a:graphic>
          <a:graphicData uri="http://schemas.openxmlformats.org/drawingml/2006/table">
            <a:tbl>
              <a:tblPr bandRow="1">
                <a:noFill/>
                <a:tableStyleId>{785E4EA9-965B-4A0B-8EB9-9F30A4BD861F}</a:tableStyleId>
              </a:tblPr>
              <a:tblGrid>
                <a:gridCol w="1086150"/>
                <a:gridCol w="1086150"/>
              </a:tblGrid>
              <a:tr h="393300">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0A3041"/>
                    </a:solidFill>
                  </a:tcPr>
                </a:tc>
              </a:tr>
              <a:tr h="393300">
                <a:tc>
                  <a:txBody>
                    <a:bodyPr/>
                    <a:lstStyle/>
                    <a:p>
                      <a:pPr indent="0" lvl="0" marL="0" marR="0" rtl="0" algn="ctr">
                        <a:spcBef>
                          <a:spcPts val="0"/>
                        </a:spcBef>
                        <a:spcAft>
                          <a:spcPts val="0"/>
                        </a:spcAft>
                        <a:buNone/>
                      </a:pPr>
                      <a:r>
                        <a:rPr lang="en" sz="1400">
                          <a:solidFill>
                            <a:schemeClr val="lt1"/>
                          </a:solidFill>
                        </a:rPr>
                        <a:t>3</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0A3041"/>
                    </a:solidFill>
                  </a:tcPr>
                </a:tc>
              </a:tr>
            </a:tbl>
          </a:graphicData>
        </a:graphic>
      </p:graphicFrame>
      <p:graphicFrame>
        <p:nvGraphicFramePr>
          <p:cNvPr id="818" name="Google Shape;818;p62"/>
          <p:cNvGraphicFramePr/>
          <p:nvPr/>
        </p:nvGraphicFramePr>
        <p:xfrm>
          <a:off x="6236333" y="2894194"/>
          <a:ext cx="3000000" cy="3000000"/>
        </p:xfrm>
        <a:graphic>
          <a:graphicData uri="http://schemas.openxmlformats.org/drawingml/2006/table">
            <a:tbl>
              <a:tblPr bandRow="1">
                <a:noFill/>
                <a:tableStyleId>{EE193DD2-6E87-43B2-945D-4C0B9107F9EB}</a:tableStyleId>
              </a:tblPr>
              <a:tblGrid>
                <a:gridCol w="1086150"/>
                <a:gridCol w="1086150"/>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r>
            </a:tbl>
          </a:graphicData>
        </a:graphic>
      </p:graphicFrame>
      <p:graphicFrame>
        <p:nvGraphicFramePr>
          <p:cNvPr id="819" name="Google Shape;819;p62"/>
          <p:cNvGraphicFramePr/>
          <p:nvPr/>
        </p:nvGraphicFramePr>
        <p:xfrm>
          <a:off x="220980" y="2882540"/>
          <a:ext cx="3000000" cy="3000000"/>
        </p:xfrm>
        <a:graphic>
          <a:graphicData uri="http://schemas.openxmlformats.org/drawingml/2006/table">
            <a:tbl>
              <a:tblPr bandRow="1">
                <a:noFill/>
                <a:tableStyleId>{EE193DD2-6E87-43B2-945D-4C0B9107F9EB}</a:tableStyleId>
              </a:tblPr>
              <a:tblGrid>
                <a:gridCol w="376975"/>
                <a:gridCol w="376975"/>
                <a:gridCol w="376975"/>
                <a:gridCol w="376975"/>
              </a:tblGrid>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bl>
          </a:graphicData>
        </a:graphic>
      </p:graphicFrame>
      <p:sp>
        <p:nvSpPr>
          <p:cNvPr id="820" name="Google Shape;820;p62"/>
          <p:cNvSpPr/>
          <p:nvPr/>
        </p:nvSpPr>
        <p:spPr>
          <a:xfrm>
            <a:off x="4081554" y="2478668"/>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endParaRPr baseline="30000" sz="1100">
              <a:solidFill>
                <a:schemeClr val="lt1"/>
              </a:solidFill>
              <a:latin typeface="Arial"/>
              <a:ea typeface="Arial"/>
              <a:cs typeface="Arial"/>
              <a:sym typeface="Arial"/>
            </a:endParaRPr>
          </a:p>
        </p:txBody>
      </p:sp>
      <p:sp>
        <p:nvSpPr>
          <p:cNvPr id="821" name="Google Shape;821;p62"/>
          <p:cNvSpPr/>
          <p:nvPr/>
        </p:nvSpPr>
        <p:spPr>
          <a:xfrm>
            <a:off x="4081554" y="3671456"/>
            <a:ext cx="183728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2-2</a:t>
            </a:r>
            <a:endParaRPr baseline="30000" sz="1100">
              <a:solidFill>
                <a:schemeClr val="lt1"/>
              </a:solidFill>
              <a:latin typeface="Arial"/>
              <a:ea typeface="Arial"/>
              <a:cs typeface="Arial"/>
              <a:sym typeface="Arial"/>
            </a:endParaRPr>
          </a:p>
        </p:txBody>
      </p:sp>
      <p:sp>
        <p:nvSpPr>
          <p:cNvPr id="822" name="Google Shape;822;p62"/>
          <p:cNvSpPr/>
          <p:nvPr/>
        </p:nvSpPr>
        <p:spPr>
          <a:xfrm>
            <a:off x="5435825" y="2894194"/>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S1</a:t>
            </a:r>
            <a:endParaRPr sz="1100">
              <a:solidFill>
                <a:schemeClr val="lt1"/>
              </a:solidFill>
              <a:latin typeface="Arial"/>
              <a:ea typeface="Arial"/>
              <a:cs typeface="Arial"/>
              <a:sym typeface="Arial"/>
            </a:endParaRPr>
          </a:p>
        </p:txBody>
      </p:sp>
      <p:sp>
        <p:nvSpPr>
          <p:cNvPr id="823" name="Google Shape;823;p62"/>
          <p:cNvSpPr/>
          <p:nvPr/>
        </p:nvSpPr>
        <p:spPr>
          <a:xfrm>
            <a:off x="5435825" y="3218234"/>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S2</a:t>
            </a:r>
            <a:endParaRPr sz="1100">
              <a:solidFill>
                <a:schemeClr val="lt1"/>
              </a:solidFill>
              <a:latin typeface="Arial"/>
              <a:ea typeface="Arial"/>
              <a:cs typeface="Arial"/>
              <a:sym typeface="Arial"/>
            </a:endParaRPr>
          </a:p>
        </p:txBody>
      </p:sp>
      <p:sp>
        <p:nvSpPr>
          <p:cNvPr id="824" name="Google Shape;824;p62"/>
          <p:cNvSpPr/>
          <p:nvPr/>
        </p:nvSpPr>
        <p:spPr>
          <a:xfrm>
            <a:off x="8483825" y="2962249"/>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S1</a:t>
            </a:r>
            <a:endParaRPr sz="1100">
              <a:solidFill>
                <a:schemeClr val="lt1"/>
              </a:solidFill>
              <a:latin typeface="Arial"/>
              <a:ea typeface="Arial"/>
              <a:cs typeface="Arial"/>
              <a:sym typeface="Arial"/>
            </a:endParaRPr>
          </a:p>
        </p:txBody>
      </p:sp>
      <p:sp>
        <p:nvSpPr>
          <p:cNvPr id="825" name="Google Shape;825;p62"/>
          <p:cNvSpPr/>
          <p:nvPr/>
        </p:nvSpPr>
        <p:spPr>
          <a:xfrm>
            <a:off x="8483825" y="3286289"/>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S2</a:t>
            </a:r>
            <a:endParaRPr sz="1100">
              <a:solidFill>
                <a:schemeClr val="lt1"/>
              </a:solidFill>
              <a:latin typeface="Arial"/>
              <a:ea typeface="Arial"/>
              <a:cs typeface="Arial"/>
              <a:sym typeface="Arial"/>
            </a:endParaRPr>
          </a:p>
        </p:txBody>
      </p:sp>
      <p:sp>
        <p:nvSpPr>
          <p:cNvPr id="826" name="Google Shape;826;p62"/>
          <p:cNvSpPr txBox="1"/>
          <p:nvPr/>
        </p:nvSpPr>
        <p:spPr>
          <a:xfrm>
            <a:off x="220980" y="4329633"/>
            <a:ext cx="2587625"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Q*K</a:t>
            </a:r>
            <a:r>
              <a:rPr baseline="30000" lang="en" sz="2400">
                <a:solidFill>
                  <a:srgbClr val="33006F"/>
                </a:solidFill>
                <a:latin typeface="Arial"/>
                <a:ea typeface="Arial"/>
                <a:cs typeface="Arial"/>
                <a:sym typeface="Arial"/>
              </a:rPr>
              <a:t>T</a:t>
            </a:r>
            <a:r>
              <a:rPr lang="en" sz="2400">
                <a:solidFill>
                  <a:srgbClr val="33006F"/>
                </a:solidFill>
                <a:latin typeface="Arial"/>
                <a:ea typeface="Arial"/>
                <a:cs typeface="Arial"/>
                <a:sym typeface="Arial"/>
              </a:rPr>
              <a:t>/sqrt(D)</a:t>
            </a:r>
            <a:endParaRPr baseline="30000" sz="2400">
              <a:solidFill>
                <a:srgbClr val="33006F"/>
              </a:solidFill>
              <a:latin typeface="Arial"/>
              <a:ea typeface="Arial"/>
              <a:cs typeface="Arial"/>
              <a:sym typeface="Arial"/>
            </a:endParaRPr>
          </a:p>
        </p:txBody>
      </p:sp>
      <p:sp>
        <p:nvSpPr>
          <p:cNvPr id="827" name="Google Shape;827;p62"/>
          <p:cNvSpPr txBox="1"/>
          <p:nvPr/>
        </p:nvSpPr>
        <p:spPr>
          <a:xfrm>
            <a:off x="2932432" y="4329632"/>
            <a:ext cx="3210011"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Stable Softmax</a:t>
            </a:r>
            <a:endParaRPr baseline="30000" sz="2400">
              <a:solidFill>
                <a:srgbClr val="33006F"/>
              </a:solidFill>
              <a:latin typeface="Arial"/>
              <a:ea typeface="Arial"/>
              <a:cs typeface="Arial"/>
              <a:sym typeface="Arial"/>
            </a:endParaRPr>
          </a:p>
        </p:txBody>
      </p:sp>
      <p:sp>
        <p:nvSpPr>
          <p:cNvPr id="828" name="Google Shape;828;p62"/>
          <p:cNvSpPr txBox="1"/>
          <p:nvPr/>
        </p:nvSpPr>
        <p:spPr>
          <a:xfrm>
            <a:off x="6236333" y="4329633"/>
            <a:ext cx="2781938"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Softmax * V</a:t>
            </a:r>
            <a:endParaRPr baseline="30000" sz="2400">
              <a:solidFill>
                <a:srgbClr val="33006F"/>
              </a:solidFill>
              <a:latin typeface="Arial"/>
              <a:ea typeface="Arial"/>
              <a:cs typeface="Arial"/>
              <a:sym typeface="Arial"/>
            </a:endParaRPr>
          </a:p>
        </p:txBody>
      </p:sp>
      <p:sp>
        <p:nvSpPr>
          <p:cNvPr id="829" name="Google Shape;829;p62"/>
          <p:cNvSpPr txBox="1"/>
          <p:nvPr/>
        </p:nvSpPr>
        <p:spPr>
          <a:xfrm>
            <a:off x="156992" y="4850902"/>
            <a:ext cx="8869880" cy="26545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300">
                <a:solidFill>
                  <a:srgbClr val="BFBFBF"/>
                </a:solidFill>
                <a:latin typeface="Arial"/>
                <a:ea typeface="Arial"/>
                <a:cs typeface="Arial"/>
                <a:sym typeface="Arial"/>
              </a:rPr>
              <a:t>Dao et al. FlashAttention: Fast and Memory-Efficient Exact Attention with IO-Awareness https://arxiv.org/abs/2205.14135</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500"/>
                                        <p:tgtEl>
                                          <p:spTgt spid="812"/>
                                        </p:tgtEl>
                                      </p:cBhvr>
                                    </p:animEffect>
                                  </p:childTnLst>
                                </p:cTn>
                              </p:par>
                              <p:par>
                                <p:cTn fill="hold" nodeType="with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500"/>
                                        <p:tgtEl>
                                          <p:spTgt spid="813"/>
                                        </p:tgtEl>
                                      </p:cBhvr>
                                    </p:animEffect>
                                  </p:childTnLst>
                                </p:cTn>
                              </p:par>
                              <p:par>
                                <p:cTn fill="hold" nodeType="with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500"/>
                                        <p:tgtEl>
                                          <p:spTgt spid="819"/>
                                        </p:tgtEl>
                                      </p:cBhvr>
                                    </p:animEffect>
                                  </p:childTnLst>
                                </p:cTn>
                              </p:par>
                              <p:par>
                                <p:cTn fill="hold" nodeType="with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5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500"/>
                                        <p:tgtEl>
                                          <p:spTgt spid="814"/>
                                        </p:tgtEl>
                                      </p:cBhvr>
                                    </p:animEffect>
                                  </p:childTnLst>
                                </p:cTn>
                              </p:par>
                              <p:par>
                                <p:cTn fill="hold" nodeType="with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500"/>
                                        <p:tgtEl>
                                          <p:spTgt spid="815"/>
                                        </p:tgtEl>
                                      </p:cBhvr>
                                    </p:animEffect>
                                  </p:childTnLst>
                                </p:cTn>
                              </p:par>
                              <p:par>
                                <p:cTn fill="hold" nodeType="withEffect" presetClass="entr" presetID="10" presetSubtype="0">
                                  <p:stCondLst>
                                    <p:cond delay="0"/>
                                  </p:stCondLst>
                                  <p:childTnLst>
                                    <p:set>
                                      <p:cBhvr>
                                        <p:cTn dur="1" fill="hold">
                                          <p:stCondLst>
                                            <p:cond delay="0"/>
                                          </p:stCondLst>
                                        </p:cTn>
                                        <p:tgtEl>
                                          <p:spTgt spid="816"/>
                                        </p:tgtEl>
                                        <p:attrNameLst>
                                          <p:attrName>style.visibility</p:attrName>
                                        </p:attrNameLst>
                                      </p:cBhvr>
                                      <p:to>
                                        <p:strVal val="visible"/>
                                      </p:to>
                                    </p:set>
                                    <p:animEffect filter="fade" transition="in">
                                      <p:cBhvr>
                                        <p:cTn dur="500"/>
                                        <p:tgtEl>
                                          <p:spTgt spid="816"/>
                                        </p:tgtEl>
                                      </p:cBhvr>
                                    </p:animEffect>
                                  </p:childTnLst>
                                </p:cTn>
                              </p:par>
                              <p:par>
                                <p:cTn fill="hold" nodeType="with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500"/>
                                        <p:tgtEl>
                                          <p:spTgt spid="820"/>
                                        </p:tgtEl>
                                      </p:cBhvr>
                                    </p:animEffect>
                                  </p:childTnLst>
                                </p:cTn>
                              </p:par>
                              <p:par>
                                <p:cTn fill="hold" nodeType="with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500"/>
                                        <p:tgtEl>
                                          <p:spTgt spid="821"/>
                                        </p:tgtEl>
                                      </p:cBhvr>
                                    </p:animEffect>
                                  </p:childTnLst>
                                </p:cTn>
                              </p:par>
                              <p:par>
                                <p:cTn fill="hold" nodeType="with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500"/>
                                        <p:tgtEl>
                                          <p:spTgt spid="822"/>
                                        </p:tgtEl>
                                      </p:cBhvr>
                                    </p:animEffect>
                                  </p:childTnLst>
                                </p:cTn>
                              </p:par>
                              <p:par>
                                <p:cTn fill="hold" nodeType="with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500"/>
                                        <p:tgtEl>
                                          <p:spTgt spid="823"/>
                                        </p:tgtEl>
                                      </p:cBhvr>
                                    </p:animEffect>
                                  </p:childTnLst>
                                </p:cTn>
                              </p:par>
                              <p:par>
                                <p:cTn fill="hold" nodeType="with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500"/>
                                        <p:tgtEl>
                                          <p:spTgt spid="8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par>
                                <p:cTn fill="hold" nodeType="with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500"/>
                                        <p:tgtEl>
                                          <p:spTgt spid="818"/>
                                        </p:tgtEl>
                                      </p:cBhvr>
                                    </p:animEffect>
                                  </p:childTnLst>
                                </p:cTn>
                              </p:par>
                              <p:par>
                                <p:cTn fill="hold" nodeType="with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par>
                                <p:cTn fill="hold" nodeType="with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par>
                                <p:cTn fill="hold" nodeType="with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6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Clr>
                <a:schemeClr val="dk1"/>
              </a:buClr>
              <a:buSzPts val="2100"/>
              <a:buFont typeface="Arial"/>
              <a:buNone/>
            </a:pPr>
            <a:r>
              <a:rPr lang="en" sz="2700"/>
              <a:t>FlashAttn – Calculating the second block separately</a:t>
            </a:r>
            <a:endParaRPr sz="2700"/>
          </a:p>
        </p:txBody>
      </p:sp>
      <p:graphicFrame>
        <p:nvGraphicFramePr>
          <p:cNvPr id="835" name="Google Shape;835;p63"/>
          <p:cNvGraphicFramePr/>
          <p:nvPr/>
        </p:nvGraphicFramePr>
        <p:xfrm>
          <a:off x="389670" y="2990256"/>
          <a:ext cx="3000000" cy="3000000"/>
        </p:xfrm>
        <a:graphic>
          <a:graphicData uri="http://schemas.openxmlformats.org/drawingml/2006/table">
            <a:tbl>
              <a:tblPr bandRow="1">
                <a:noFill/>
                <a:tableStyleId>{EE193DD2-6E87-43B2-945D-4C0B9107F9EB}</a:tableStyleId>
              </a:tblPr>
              <a:tblGrid>
                <a:gridCol w="376975"/>
                <a:gridCol w="376975"/>
                <a:gridCol w="376975"/>
                <a:gridCol w="376975"/>
              </a:tblGrid>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bl>
          </a:graphicData>
        </a:graphic>
      </p:graphicFrame>
      <p:graphicFrame>
        <p:nvGraphicFramePr>
          <p:cNvPr id="836" name="Google Shape;836;p63"/>
          <p:cNvGraphicFramePr/>
          <p:nvPr/>
        </p:nvGraphicFramePr>
        <p:xfrm>
          <a:off x="2199420" y="1272581"/>
          <a:ext cx="3000000" cy="3000000"/>
        </p:xfrm>
        <a:graphic>
          <a:graphicData uri="http://schemas.openxmlformats.org/drawingml/2006/table">
            <a:tbl>
              <a:tblPr bandRow="1">
                <a:noFill/>
                <a:tableStyleId>{6D6CBB51-25CD-4269-8C0D-CE281DC38EA4}</a:tableStyleId>
              </a:tblPr>
              <a:tblGrid>
                <a:gridCol w="376975"/>
                <a:gridCol w="376975"/>
              </a:tblGrid>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34300" marB="34300" marR="68600" marL="68600" anchor="ctr">
                    <a:solidFill>
                      <a:srgbClr val="FAE2D5"/>
                    </a:solidFill>
                  </a:tcPr>
                </a:tc>
              </a:tr>
            </a:tbl>
          </a:graphicData>
        </a:graphic>
      </p:graphicFrame>
      <p:graphicFrame>
        <p:nvGraphicFramePr>
          <p:cNvPr id="837" name="Google Shape;837;p63"/>
          <p:cNvGraphicFramePr/>
          <p:nvPr/>
        </p:nvGraphicFramePr>
        <p:xfrm>
          <a:off x="2199421" y="2996083"/>
          <a:ext cx="3000000" cy="3000000"/>
        </p:xfrm>
        <a:graphic>
          <a:graphicData uri="http://schemas.openxmlformats.org/drawingml/2006/table">
            <a:tbl>
              <a:tblPr bandRow="1">
                <a:noFill/>
                <a:tableStyleId>{6475CB33-74FA-4E0B-A67E-5448B8DA8A8F}</a:tableStyleId>
              </a:tblPr>
              <a:tblGrid>
                <a:gridCol w="376975"/>
                <a:gridCol w="376975"/>
              </a:tblGrid>
              <a:tr h="364200">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0" marB="0" marR="0" marL="0" anchor="ctr">
                    <a:solidFill>
                      <a:srgbClr val="BEF2C7"/>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0" marB="0" marR="0" marL="0" anchor="ctr">
                    <a:solidFill>
                      <a:srgbClr val="BEF2C7"/>
                    </a:solidFill>
                  </a:tcPr>
                </a:tc>
              </a:tr>
              <a:tr h="364200">
                <a:tc>
                  <a:txBody>
                    <a:bodyPr/>
                    <a:lstStyle/>
                    <a:p>
                      <a:pPr indent="0" lvl="0" marL="0" marR="0" rtl="0" algn="ctr">
                        <a:spcBef>
                          <a:spcPts val="0"/>
                        </a:spcBef>
                        <a:spcAft>
                          <a:spcPts val="0"/>
                        </a:spcAft>
                        <a:buNone/>
                      </a:pPr>
                      <a:r>
                        <a:rPr lang="en" sz="1400">
                          <a:solidFill>
                            <a:schemeClr val="dk1"/>
                          </a:solidFill>
                        </a:rPr>
                        <a:t>3</a:t>
                      </a:r>
                      <a:endParaRPr sz="1400">
                        <a:solidFill>
                          <a:schemeClr val="dk1"/>
                        </a:solidFill>
                      </a:endParaRPr>
                    </a:p>
                  </a:txBody>
                  <a:tcPr marT="0" marB="0" marR="0" marL="0" anchor="ctr">
                    <a:solidFill>
                      <a:srgbClr val="BEF2C7"/>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0" marB="0" marR="0" marL="0" anchor="ctr">
                    <a:solidFill>
                      <a:srgbClr val="BEF2C7"/>
                    </a:solidFill>
                  </a:tcPr>
                </a:tc>
              </a:tr>
            </a:tbl>
          </a:graphicData>
        </a:graphic>
      </p:graphicFrame>
      <p:graphicFrame>
        <p:nvGraphicFramePr>
          <p:cNvPr id="838" name="Google Shape;838;p63"/>
          <p:cNvGraphicFramePr/>
          <p:nvPr/>
        </p:nvGraphicFramePr>
        <p:xfrm>
          <a:off x="4519681" y="2996083"/>
          <a:ext cx="3000000" cy="3000000"/>
        </p:xfrm>
        <a:graphic>
          <a:graphicData uri="http://schemas.openxmlformats.org/drawingml/2006/table">
            <a:tbl>
              <a:tblPr bandRow="1">
                <a:noFill/>
                <a:tableStyleId>{6475CB33-74FA-4E0B-A67E-5448B8DA8A8F}</a:tableStyleId>
              </a:tblPr>
              <a:tblGrid>
                <a:gridCol w="329025"/>
                <a:gridCol w="329025"/>
              </a:tblGrid>
              <a:tr h="364200">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2-2</a:t>
                      </a:r>
                      <a:endParaRPr baseline="30000" sz="1500">
                        <a:solidFill>
                          <a:schemeClr val="dk1"/>
                        </a:solidFill>
                      </a:endParaRPr>
                    </a:p>
                  </a:txBody>
                  <a:tcPr marT="0" marB="0" marR="0" marL="0" anchor="ctr">
                    <a:solidFill>
                      <a:srgbClr val="BEF2C7"/>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en" sz="1400">
                          <a:solidFill>
                            <a:schemeClr val="dk1"/>
                          </a:solidFill>
                        </a:rPr>
                        <a:t>e</a:t>
                      </a:r>
                      <a:r>
                        <a:rPr baseline="30000" lang="en" sz="1400">
                          <a:solidFill>
                            <a:schemeClr val="dk1"/>
                          </a:solidFill>
                        </a:rPr>
                        <a:t>-1-2</a:t>
                      </a:r>
                      <a:endParaRPr baseline="30000" sz="1400">
                        <a:solidFill>
                          <a:schemeClr val="dk1"/>
                        </a:solidFill>
                      </a:endParaRPr>
                    </a:p>
                  </a:txBody>
                  <a:tcPr marT="0" marB="0" marR="0" marL="0" anchor="ctr">
                    <a:solidFill>
                      <a:srgbClr val="BEF2C7"/>
                    </a:solidFill>
                  </a:tcPr>
                </a:tc>
              </a:tr>
              <a:tr h="364200">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3-3</a:t>
                      </a:r>
                      <a:endParaRPr baseline="30000" sz="1500">
                        <a:solidFill>
                          <a:schemeClr val="dk1"/>
                        </a:solidFill>
                      </a:endParaRPr>
                    </a:p>
                  </a:txBody>
                  <a:tcPr marT="0" marB="0" marR="0" marL="0" anchor="ctr">
                    <a:solidFill>
                      <a:srgbClr val="BEF2C7"/>
                    </a:solidFill>
                  </a:tcPr>
                </a:tc>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0-3</a:t>
                      </a:r>
                      <a:endParaRPr baseline="30000" sz="1500">
                        <a:solidFill>
                          <a:schemeClr val="dk1"/>
                        </a:solidFill>
                      </a:endParaRPr>
                    </a:p>
                  </a:txBody>
                  <a:tcPr marT="0" marB="0" marR="0" marL="0" anchor="ctr">
                    <a:solidFill>
                      <a:srgbClr val="BEF2C7"/>
                    </a:solidFill>
                  </a:tcPr>
                </a:tc>
              </a:tr>
            </a:tbl>
          </a:graphicData>
        </a:graphic>
      </p:graphicFrame>
      <p:sp>
        <p:nvSpPr>
          <p:cNvPr id="839" name="Google Shape;839;p63"/>
          <p:cNvSpPr/>
          <p:nvPr/>
        </p:nvSpPr>
        <p:spPr>
          <a:xfrm>
            <a:off x="3120098" y="3025185"/>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840" name="Google Shape;840;p63"/>
          <p:cNvSpPr/>
          <p:nvPr/>
        </p:nvSpPr>
        <p:spPr>
          <a:xfrm>
            <a:off x="3120097" y="3434760"/>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graphicFrame>
        <p:nvGraphicFramePr>
          <p:cNvPr id="841" name="Google Shape;841;p63"/>
          <p:cNvGraphicFramePr/>
          <p:nvPr/>
        </p:nvGraphicFramePr>
        <p:xfrm>
          <a:off x="5920947" y="1979345"/>
          <a:ext cx="3000000" cy="3000000"/>
        </p:xfrm>
        <a:graphic>
          <a:graphicData uri="http://schemas.openxmlformats.org/drawingml/2006/table">
            <a:tbl>
              <a:tblPr bandRow="1">
                <a:noFill/>
                <a:tableStyleId>{785E4EA9-965B-4A0B-8EB9-9F30A4BD861F}</a:tableStyleId>
              </a:tblPr>
              <a:tblGrid>
                <a:gridCol w="1227400"/>
                <a:gridCol w="1227400"/>
              </a:tblGrid>
              <a:tr h="370025">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C0E4F5"/>
                    </a:solidFill>
                  </a:tcPr>
                </a:tc>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C0E4F5"/>
                    </a:solidFill>
                  </a:tcPr>
                </a:tc>
              </a:tr>
              <a:tr h="370025">
                <a:tc>
                  <a:txBody>
                    <a:bodyPr/>
                    <a:lstStyle/>
                    <a:p>
                      <a:pPr indent="0" lvl="0" marL="0" marR="0" rtl="0" algn="ctr">
                        <a:spcBef>
                          <a:spcPts val="0"/>
                        </a:spcBef>
                        <a:spcAft>
                          <a:spcPts val="0"/>
                        </a:spcAft>
                        <a:buNone/>
                      </a:pPr>
                      <a:r>
                        <a:rPr lang="en" sz="1400">
                          <a:solidFill>
                            <a:schemeClr val="dk1"/>
                          </a:solidFill>
                        </a:rPr>
                        <a:t>-3</a:t>
                      </a:r>
                      <a:endParaRPr sz="1400">
                        <a:solidFill>
                          <a:schemeClr val="dk1"/>
                        </a:solidFill>
                      </a:endParaRPr>
                    </a:p>
                  </a:txBody>
                  <a:tcPr marT="34300" marB="34300" marR="68600" marL="68600" anchor="ctr">
                    <a:solidFill>
                      <a:srgbClr val="C0E4F5"/>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C0E4F5"/>
                    </a:solidFill>
                  </a:tcPr>
                </a:tc>
              </a:tr>
            </a:tbl>
          </a:graphicData>
        </a:graphic>
      </p:graphicFrame>
      <p:graphicFrame>
        <p:nvGraphicFramePr>
          <p:cNvPr id="842" name="Google Shape;842;p63"/>
          <p:cNvGraphicFramePr/>
          <p:nvPr/>
        </p:nvGraphicFramePr>
        <p:xfrm>
          <a:off x="5911973" y="2963529"/>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-3e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r>
            </a:tbl>
          </a:graphicData>
        </a:graphic>
      </p:graphicFrame>
      <p:sp>
        <p:nvSpPr>
          <p:cNvPr id="843" name="Google Shape;843;p63"/>
          <p:cNvSpPr/>
          <p:nvPr/>
        </p:nvSpPr>
        <p:spPr>
          <a:xfrm>
            <a:off x="4316148" y="2579453"/>
            <a:ext cx="149351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2-2</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-1-2</a:t>
            </a:r>
            <a:endParaRPr baseline="30000" sz="1100">
              <a:solidFill>
                <a:schemeClr val="lt1"/>
              </a:solidFill>
              <a:latin typeface="Arial"/>
              <a:ea typeface="Arial"/>
              <a:cs typeface="Arial"/>
              <a:sym typeface="Arial"/>
            </a:endParaRPr>
          </a:p>
        </p:txBody>
      </p:sp>
      <p:sp>
        <p:nvSpPr>
          <p:cNvPr id="844" name="Google Shape;844;p63"/>
          <p:cNvSpPr/>
          <p:nvPr/>
        </p:nvSpPr>
        <p:spPr>
          <a:xfrm>
            <a:off x="4307547" y="3768340"/>
            <a:ext cx="146021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845" name="Google Shape;845;p63"/>
          <p:cNvSpPr/>
          <p:nvPr/>
        </p:nvSpPr>
        <p:spPr>
          <a:xfrm>
            <a:off x="5280088" y="3039475"/>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S1</a:t>
            </a:r>
            <a:endParaRPr sz="1100">
              <a:solidFill>
                <a:schemeClr val="lt1"/>
              </a:solidFill>
              <a:latin typeface="Arial"/>
              <a:ea typeface="Arial"/>
              <a:cs typeface="Arial"/>
              <a:sym typeface="Arial"/>
            </a:endParaRPr>
          </a:p>
        </p:txBody>
      </p:sp>
      <p:sp>
        <p:nvSpPr>
          <p:cNvPr id="846" name="Google Shape;846;p63"/>
          <p:cNvSpPr/>
          <p:nvPr/>
        </p:nvSpPr>
        <p:spPr>
          <a:xfrm>
            <a:off x="5280088" y="3411572"/>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S2</a:t>
            </a:r>
            <a:endParaRPr sz="1100">
              <a:solidFill>
                <a:schemeClr val="lt1"/>
              </a:solidFill>
              <a:latin typeface="Arial"/>
              <a:ea typeface="Arial"/>
              <a:cs typeface="Arial"/>
              <a:sym typeface="Arial"/>
            </a:endParaRPr>
          </a:p>
        </p:txBody>
      </p:sp>
      <p:sp>
        <p:nvSpPr>
          <p:cNvPr id="847" name="Google Shape;847;p63"/>
          <p:cNvSpPr/>
          <p:nvPr/>
        </p:nvSpPr>
        <p:spPr>
          <a:xfrm>
            <a:off x="8408099" y="3007763"/>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S1</a:t>
            </a:r>
            <a:endParaRPr sz="1100">
              <a:solidFill>
                <a:schemeClr val="lt1"/>
              </a:solidFill>
              <a:latin typeface="Arial"/>
              <a:ea typeface="Arial"/>
              <a:cs typeface="Arial"/>
              <a:sym typeface="Arial"/>
            </a:endParaRPr>
          </a:p>
        </p:txBody>
      </p:sp>
      <p:sp>
        <p:nvSpPr>
          <p:cNvPr id="848" name="Google Shape;848;p63"/>
          <p:cNvSpPr/>
          <p:nvPr/>
        </p:nvSpPr>
        <p:spPr>
          <a:xfrm>
            <a:off x="8408098" y="3379859"/>
            <a:ext cx="566344"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 S2</a:t>
            </a:r>
            <a:endParaRPr sz="1100">
              <a:solidFill>
                <a:schemeClr val="lt1"/>
              </a:solidFill>
              <a:latin typeface="Arial"/>
              <a:ea typeface="Arial"/>
              <a:cs typeface="Arial"/>
              <a:sym typeface="Arial"/>
            </a:endParaRPr>
          </a:p>
        </p:txBody>
      </p:sp>
      <p:sp>
        <p:nvSpPr>
          <p:cNvPr id="849" name="Google Shape;849;p63"/>
          <p:cNvSpPr txBox="1"/>
          <p:nvPr/>
        </p:nvSpPr>
        <p:spPr>
          <a:xfrm>
            <a:off x="220980" y="4329633"/>
            <a:ext cx="2587625"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Q*K</a:t>
            </a:r>
            <a:r>
              <a:rPr baseline="30000" lang="en" sz="2400">
                <a:solidFill>
                  <a:srgbClr val="33006F"/>
                </a:solidFill>
                <a:latin typeface="Arial"/>
                <a:ea typeface="Arial"/>
                <a:cs typeface="Arial"/>
                <a:sym typeface="Arial"/>
              </a:rPr>
              <a:t>T</a:t>
            </a:r>
            <a:r>
              <a:rPr lang="en" sz="2400">
                <a:solidFill>
                  <a:srgbClr val="33006F"/>
                </a:solidFill>
                <a:latin typeface="Arial"/>
                <a:ea typeface="Arial"/>
                <a:cs typeface="Arial"/>
                <a:sym typeface="Arial"/>
              </a:rPr>
              <a:t>/sqrt(D)</a:t>
            </a:r>
            <a:endParaRPr baseline="30000" sz="2400">
              <a:solidFill>
                <a:srgbClr val="33006F"/>
              </a:solidFill>
              <a:latin typeface="Arial"/>
              <a:ea typeface="Arial"/>
              <a:cs typeface="Arial"/>
              <a:sym typeface="Arial"/>
            </a:endParaRPr>
          </a:p>
        </p:txBody>
      </p:sp>
      <p:sp>
        <p:nvSpPr>
          <p:cNvPr id="850" name="Google Shape;850;p63"/>
          <p:cNvSpPr txBox="1"/>
          <p:nvPr/>
        </p:nvSpPr>
        <p:spPr>
          <a:xfrm>
            <a:off x="2932432" y="4329632"/>
            <a:ext cx="3210011"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Stable Softmax</a:t>
            </a:r>
            <a:endParaRPr baseline="30000" sz="2400">
              <a:solidFill>
                <a:srgbClr val="33006F"/>
              </a:solidFill>
              <a:latin typeface="Arial"/>
              <a:ea typeface="Arial"/>
              <a:cs typeface="Arial"/>
              <a:sym typeface="Arial"/>
            </a:endParaRPr>
          </a:p>
        </p:txBody>
      </p:sp>
      <p:sp>
        <p:nvSpPr>
          <p:cNvPr id="851" name="Google Shape;851;p63"/>
          <p:cNvSpPr txBox="1"/>
          <p:nvPr/>
        </p:nvSpPr>
        <p:spPr>
          <a:xfrm>
            <a:off x="6236333" y="4329633"/>
            <a:ext cx="2781938"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Softmax * V</a:t>
            </a:r>
            <a:endParaRPr baseline="30000" sz="2400">
              <a:solidFill>
                <a:srgbClr val="33006F"/>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6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 – Combine two blocks</a:t>
            </a:r>
            <a:endParaRPr/>
          </a:p>
        </p:txBody>
      </p:sp>
      <p:graphicFrame>
        <p:nvGraphicFramePr>
          <p:cNvPr id="857" name="Google Shape;857;p64"/>
          <p:cNvGraphicFramePr/>
          <p:nvPr/>
        </p:nvGraphicFramePr>
        <p:xfrm>
          <a:off x="3343499" y="1055960"/>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r>
            </a:tbl>
          </a:graphicData>
        </a:graphic>
      </p:graphicFrame>
      <p:sp>
        <p:nvSpPr>
          <p:cNvPr id="858" name="Google Shape;858;p64"/>
          <p:cNvSpPr/>
          <p:nvPr/>
        </p:nvSpPr>
        <p:spPr>
          <a:xfrm>
            <a:off x="1923773" y="1117616"/>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sp>
        <p:nvSpPr>
          <p:cNvPr id="859" name="Google Shape;859;p64"/>
          <p:cNvSpPr/>
          <p:nvPr/>
        </p:nvSpPr>
        <p:spPr>
          <a:xfrm>
            <a:off x="1923772" y="1527191"/>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860" name="Google Shape;860;p64"/>
          <p:cNvSpPr/>
          <p:nvPr/>
        </p:nvSpPr>
        <p:spPr>
          <a:xfrm>
            <a:off x="1923773" y="2315807"/>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861" name="Google Shape;861;p64"/>
          <p:cNvSpPr/>
          <p:nvPr/>
        </p:nvSpPr>
        <p:spPr>
          <a:xfrm>
            <a:off x="1923772" y="2725382"/>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graphicFrame>
        <p:nvGraphicFramePr>
          <p:cNvPr id="862" name="Google Shape;862;p64"/>
          <p:cNvGraphicFramePr/>
          <p:nvPr/>
        </p:nvGraphicFramePr>
        <p:xfrm>
          <a:off x="3347175" y="2282256"/>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-3e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r>
            </a:tbl>
          </a:graphicData>
        </a:graphic>
      </p:graphicFrame>
      <p:sp>
        <p:nvSpPr>
          <p:cNvPr id="863" name="Google Shape;863;p64"/>
          <p:cNvSpPr txBox="1"/>
          <p:nvPr/>
        </p:nvSpPr>
        <p:spPr>
          <a:xfrm>
            <a:off x="993031" y="1324751"/>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0</a:t>
            </a:r>
            <a:endParaRPr sz="1400">
              <a:solidFill>
                <a:schemeClr val="dk1"/>
              </a:solidFill>
              <a:latin typeface="Arial"/>
              <a:ea typeface="Arial"/>
              <a:cs typeface="Arial"/>
              <a:sym typeface="Arial"/>
            </a:endParaRPr>
          </a:p>
        </p:txBody>
      </p:sp>
      <p:sp>
        <p:nvSpPr>
          <p:cNvPr id="864" name="Google Shape;864;p64"/>
          <p:cNvSpPr txBox="1"/>
          <p:nvPr/>
        </p:nvSpPr>
        <p:spPr>
          <a:xfrm>
            <a:off x="1022033" y="2507960"/>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1</a:t>
            </a:r>
            <a:endParaRPr sz="1400">
              <a:solidFill>
                <a:schemeClr val="dk1"/>
              </a:solidFill>
              <a:latin typeface="Arial"/>
              <a:ea typeface="Arial"/>
              <a:cs typeface="Arial"/>
              <a:sym typeface="Arial"/>
            </a:endParaRPr>
          </a:p>
        </p:txBody>
      </p:sp>
      <p:graphicFrame>
        <p:nvGraphicFramePr>
          <p:cNvPr id="865" name="Google Shape;865;p64"/>
          <p:cNvGraphicFramePr/>
          <p:nvPr/>
        </p:nvGraphicFramePr>
        <p:xfrm>
          <a:off x="3343498" y="3600356"/>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4-8</a:t>
                      </a:r>
                      <a:r>
                        <a:rPr lang="en" sz="1400">
                          <a:solidFill>
                            <a:schemeClr val="lt1"/>
                          </a:solidFill>
                        </a:rPr>
                        <a:t>+3e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2-8</a:t>
                      </a:r>
                      <a:r>
                        <a:rPr lang="en" sz="1400">
                          <a:solidFill>
                            <a:schemeClr val="lt1"/>
                          </a:solidFill>
                        </a:rPr>
                        <a:t>-3e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4-8</a:t>
                      </a:r>
                      <a:r>
                        <a:rPr lang="en" sz="1400">
                          <a:solidFill>
                            <a:schemeClr val="lt1"/>
                          </a:solidFill>
                        </a:rPr>
                        <a:t>+4e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2-8</a:t>
                      </a:r>
                      <a:r>
                        <a:rPr lang="en" sz="1400">
                          <a:solidFill>
                            <a:schemeClr val="lt1"/>
                          </a:solidFill>
                        </a:rPr>
                        <a:t>+e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1-3</a:t>
                      </a:r>
                      <a:r>
                        <a:rPr lang="en" sz="1400">
                          <a:solidFill>
                            <a:schemeClr val="lt1"/>
                          </a:solidFill>
                        </a:rPr>
                        <a:t>+3e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3-3-</a:t>
                      </a:r>
                      <a:r>
                        <a:rPr lang="en" sz="1400">
                          <a:solidFill>
                            <a:schemeClr val="lt1"/>
                          </a:solidFill>
                        </a:rPr>
                        <a:t>3e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1-3</a:t>
                      </a:r>
                      <a:r>
                        <a:rPr lang="en" sz="1400">
                          <a:solidFill>
                            <a:schemeClr val="lt1"/>
                          </a:solidFill>
                        </a:rPr>
                        <a:t>+4e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3-3</a:t>
                      </a:r>
                      <a:r>
                        <a:rPr lang="en" sz="1400">
                          <a:solidFill>
                            <a:schemeClr val="lt1"/>
                          </a:solidFill>
                        </a:rPr>
                        <a:t>+e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r>
            </a:tbl>
          </a:graphicData>
        </a:graphic>
      </p:graphicFrame>
      <p:sp>
        <p:nvSpPr>
          <p:cNvPr id="866" name="Google Shape;866;p64"/>
          <p:cNvSpPr/>
          <p:nvPr/>
        </p:nvSpPr>
        <p:spPr>
          <a:xfrm>
            <a:off x="1923771" y="3712900"/>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sp>
        <p:nvSpPr>
          <p:cNvPr id="867" name="Google Shape;867;p64"/>
          <p:cNvSpPr/>
          <p:nvPr/>
        </p:nvSpPr>
        <p:spPr>
          <a:xfrm>
            <a:off x="1923771" y="4103425"/>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cxnSp>
        <p:nvCxnSpPr>
          <p:cNvPr id="868" name="Google Shape;868;p64"/>
          <p:cNvCxnSpPr/>
          <p:nvPr/>
        </p:nvCxnSpPr>
        <p:spPr>
          <a:xfrm>
            <a:off x="927324" y="3318941"/>
            <a:ext cx="6007100" cy="0"/>
          </a:xfrm>
          <a:prstGeom prst="straightConnector1">
            <a:avLst/>
          </a:prstGeom>
          <a:noFill/>
          <a:ln cap="flat" cmpd="sng" w="19050">
            <a:solidFill>
              <a:schemeClr val="accent1"/>
            </a:solidFill>
            <a:prstDash val="solid"/>
            <a:miter lim="800000"/>
            <a:headEnd len="sm" w="sm" type="none"/>
            <a:tailEnd len="sm" w="sm" type="none"/>
          </a:ln>
        </p:spPr>
      </p:cxnSp>
      <p:sp>
        <p:nvSpPr>
          <p:cNvPr id="869" name="Google Shape;869;p64"/>
          <p:cNvSpPr txBox="1"/>
          <p:nvPr/>
        </p:nvSpPr>
        <p:spPr>
          <a:xfrm>
            <a:off x="1063308" y="3873337"/>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Final</a:t>
            </a:r>
            <a:endParaRPr sz="1400">
              <a:solidFill>
                <a:schemeClr val="dk1"/>
              </a:solidFill>
              <a:latin typeface="Arial"/>
              <a:ea typeface="Arial"/>
              <a:cs typeface="Arial"/>
              <a:sym typeface="Arial"/>
            </a:endParaRPr>
          </a:p>
        </p:txBody>
      </p:sp>
      <p:sp>
        <p:nvSpPr>
          <p:cNvPr id="870" name="Google Shape;870;p64"/>
          <p:cNvSpPr/>
          <p:nvPr/>
        </p:nvSpPr>
        <p:spPr>
          <a:xfrm>
            <a:off x="6176008" y="2348276"/>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2-2</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-1-2</a:t>
            </a:r>
            <a:endParaRPr baseline="30000" sz="1100">
              <a:solidFill>
                <a:schemeClr val="lt1"/>
              </a:solidFill>
              <a:latin typeface="Arial"/>
              <a:ea typeface="Arial"/>
              <a:cs typeface="Arial"/>
              <a:sym typeface="Arial"/>
            </a:endParaRPr>
          </a:p>
        </p:txBody>
      </p:sp>
      <p:sp>
        <p:nvSpPr>
          <p:cNvPr id="871" name="Google Shape;871;p64"/>
          <p:cNvSpPr/>
          <p:nvPr/>
        </p:nvSpPr>
        <p:spPr>
          <a:xfrm>
            <a:off x="6176007" y="2711808"/>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872" name="Google Shape;872;p64"/>
          <p:cNvSpPr/>
          <p:nvPr/>
        </p:nvSpPr>
        <p:spPr>
          <a:xfrm>
            <a:off x="6226259" y="1085345"/>
            <a:ext cx="183728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endParaRPr baseline="30000" sz="1100">
              <a:solidFill>
                <a:schemeClr val="lt1"/>
              </a:solidFill>
              <a:latin typeface="Arial"/>
              <a:ea typeface="Arial"/>
              <a:cs typeface="Arial"/>
              <a:sym typeface="Arial"/>
            </a:endParaRPr>
          </a:p>
        </p:txBody>
      </p:sp>
      <p:sp>
        <p:nvSpPr>
          <p:cNvPr id="873" name="Google Shape;873;p64"/>
          <p:cNvSpPr/>
          <p:nvPr/>
        </p:nvSpPr>
        <p:spPr>
          <a:xfrm>
            <a:off x="6226259" y="1467450"/>
            <a:ext cx="183728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2-2</a:t>
            </a:r>
            <a:endParaRPr baseline="30000" sz="1100">
              <a:solidFill>
                <a:schemeClr val="lt1"/>
              </a:solidFill>
              <a:latin typeface="Arial"/>
              <a:ea typeface="Arial"/>
              <a:cs typeface="Arial"/>
              <a:sym typeface="Arial"/>
            </a:endParaRPr>
          </a:p>
        </p:txBody>
      </p:sp>
      <p:sp>
        <p:nvSpPr>
          <p:cNvPr id="874" name="Google Shape;874;p64"/>
          <p:cNvSpPr txBox="1"/>
          <p:nvPr/>
        </p:nvSpPr>
        <p:spPr>
          <a:xfrm>
            <a:off x="5912074" y="1017725"/>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875" name="Google Shape;875;p64"/>
          <p:cNvSpPr txBox="1"/>
          <p:nvPr/>
        </p:nvSpPr>
        <p:spPr>
          <a:xfrm>
            <a:off x="5896102" y="1381997"/>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876" name="Google Shape;876;p64"/>
          <p:cNvSpPr txBox="1"/>
          <p:nvPr/>
        </p:nvSpPr>
        <p:spPr>
          <a:xfrm>
            <a:off x="5896102" y="2239859"/>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877" name="Google Shape;877;p64"/>
          <p:cNvSpPr txBox="1"/>
          <p:nvPr/>
        </p:nvSpPr>
        <p:spPr>
          <a:xfrm>
            <a:off x="5880435" y="2629142"/>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878" name="Google Shape;878;p64"/>
          <p:cNvSpPr/>
          <p:nvPr/>
        </p:nvSpPr>
        <p:spPr>
          <a:xfrm>
            <a:off x="6184349" y="3682474"/>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879" name="Google Shape;879;p64"/>
          <p:cNvSpPr/>
          <p:nvPr/>
        </p:nvSpPr>
        <p:spPr>
          <a:xfrm>
            <a:off x="6184349" y="4135305"/>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880" name="Google Shape;880;p64"/>
          <p:cNvSpPr txBox="1"/>
          <p:nvPr/>
        </p:nvSpPr>
        <p:spPr>
          <a:xfrm>
            <a:off x="5920275" y="3610396"/>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881" name="Google Shape;881;p64"/>
          <p:cNvSpPr txBox="1"/>
          <p:nvPr/>
        </p:nvSpPr>
        <p:spPr>
          <a:xfrm>
            <a:off x="5904608" y="3999680"/>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882" name="Google Shape;882;p64"/>
          <p:cNvSpPr txBox="1"/>
          <p:nvPr/>
        </p:nvSpPr>
        <p:spPr>
          <a:xfrm>
            <a:off x="1740646" y="4654907"/>
            <a:ext cx="5662706" cy="438581"/>
          </a:xfrm>
          <a:prstGeom prst="rect">
            <a:avLst/>
          </a:prstGeom>
          <a:noFill/>
          <a:ln cap="flat" cmpd="sng" w="38100">
            <a:solidFill>
              <a:srgbClr val="33006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2400">
                <a:solidFill>
                  <a:srgbClr val="33006F"/>
                </a:solidFill>
                <a:latin typeface="Arial"/>
                <a:ea typeface="Arial"/>
                <a:cs typeface="Arial"/>
                <a:sym typeface="Arial"/>
              </a:rPr>
              <a:t>Similar but have wrong scaling</a:t>
            </a:r>
            <a:endParaRPr baseline="30000" sz="2400">
              <a:solidFill>
                <a:srgbClr val="33006F"/>
              </a:solidFill>
              <a:latin typeface="Arial"/>
              <a:ea typeface="Arial"/>
              <a:cs typeface="Arial"/>
              <a:sym typeface="Arial"/>
            </a:endParaRPr>
          </a:p>
        </p:txBody>
      </p:sp>
      <p:sp>
        <p:nvSpPr>
          <p:cNvPr id="883" name="Google Shape;883;p64"/>
          <p:cNvSpPr/>
          <p:nvPr/>
        </p:nvSpPr>
        <p:spPr>
          <a:xfrm>
            <a:off x="6895787" y="2320281"/>
            <a:ext cx="355018" cy="324621"/>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884" name="Google Shape;884;p64"/>
          <p:cNvSpPr/>
          <p:nvPr/>
        </p:nvSpPr>
        <p:spPr>
          <a:xfrm>
            <a:off x="7289442" y="3646947"/>
            <a:ext cx="355018" cy="324621"/>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885" name="Google Shape;885;p64"/>
          <p:cNvSpPr/>
          <p:nvPr/>
        </p:nvSpPr>
        <p:spPr>
          <a:xfrm>
            <a:off x="4872672" y="2314553"/>
            <a:ext cx="355018" cy="324621"/>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886" name="Google Shape;886;p64"/>
          <p:cNvSpPr/>
          <p:nvPr/>
        </p:nvSpPr>
        <p:spPr>
          <a:xfrm>
            <a:off x="4920963" y="3724153"/>
            <a:ext cx="355018" cy="324621"/>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500"/>
                                        <p:tgtEl>
                                          <p:spTgt spid="884"/>
                                        </p:tgtEl>
                                      </p:cBhvr>
                                    </p:animEffect>
                                  </p:childTnLst>
                                </p:cTn>
                              </p:par>
                              <p:par>
                                <p:cTn fill="hold" nodeType="with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500"/>
                                        <p:tgtEl>
                                          <p:spTgt spid="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par>
                                <p:cTn fill="hold" nodeType="with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6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Clr>
                <a:schemeClr val="dk1"/>
              </a:buClr>
              <a:buSzPts val="2100"/>
              <a:buFont typeface="Arial"/>
              <a:buNone/>
            </a:pPr>
            <a:r>
              <a:rPr lang="en" sz="2700"/>
              <a:t>FlashAttn – Rescaling numerator and denominator</a:t>
            </a:r>
            <a:endParaRPr sz="2700"/>
          </a:p>
        </p:txBody>
      </p:sp>
      <p:graphicFrame>
        <p:nvGraphicFramePr>
          <p:cNvPr id="892" name="Google Shape;892;p65"/>
          <p:cNvGraphicFramePr/>
          <p:nvPr/>
        </p:nvGraphicFramePr>
        <p:xfrm>
          <a:off x="2350468" y="1410494"/>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r>
            </a:tbl>
          </a:graphicData>
        </a:graphic>
      </p:graphicFrame>
      <p:sp>
        <p:nvSpPr>
          <p:cNvPr id="893" name="Google Shape;893;p65"/>
          <p:cNvSpPr/>
          <p:nvPr/>
        </p:nvSpPr>
        <p:spPr>
          <a:xfrm>
            <a:off x="930742" y="1472150"/>
            <a:ext cx="1187450" cy="257175"/>
          </a:xfrm>
          <a:prstGeom prst="rect">
            <a:avLst/>
          </a:prstGeom>
          <a:solidFill>
            <a:schemeClr val="accent6"/>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sp>
        <p:nvSpPr>
          <p:cNvPr id="894" name="Google Shape;894;p65"/>
          <p:cNvSpPr/>
          <p:nvPr/>
        </p:nvSpPr>
        <p:spPr>
          <a:xfrm>
            <a:off x="930741" y="1881725"/>
            <a:ext cx="1187450" cy="257175"/>
          </a:xfrm>
          <a:prstGeom prst="rect">
            <a:avLst/>
          </a:prstGeom>
          <a:solidFill>
            <a:schemeClr val="accent6"/>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895" name="Google Shape;895;p65"/>
          <p:cNvSpPr/>
          <p:nvPr/>
        </p:nvSpPr>
        <p:spPr>
          <a:xfrm>
            <a:off x="930742" y="2670341"/>
            <a:ext cx="1187450" cy="257175"/>
          </a:xfrm>
          <a:prstGeom prst="rect">
            <a:avLst/>
          </a:prstGeom>
          <a:solidFill>
            <a:schemeClr val="accent6"/>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896" name="Google Shape;896;p65"/>
          <p:cNvSpPr/>
          <p:nvPr/>
        </p:nvSpPr>
        <p:spPr>
          <a:xfrm>
            <a:off x="930741" y="3079916"/>
            <a:ext cx="1187450" cy="257175"/>
          </a:xfrm>
          <a:prstGeom prst="rect">
            <a:avLst/>
          </a:prstGeom>
          <a:solidFill>
            <a:schemeClr val="accent6"/>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graphicFrame>
        <p:nvGraphicFramePr>
          <p:cNvPr id="897" name="Google Shape;897;p65"/>
          <p:cNvGraphicFramePr/>
          <p:nvPr/>
        </p:nvGraphicFramePr>
        <p:xfrm>
          <a:off x="2354144" y="2636790"/>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-3e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r>
            </a:tbl>
          </a:graphicData>
        </a:graphic>
      </p:graphicFrame>
      <p:sp>
        <p:nvSpPr>
          <p:cNvPr id="898" name="Google Shape;898;p65"/>
          <p:cNvSpPr txBox="1"/>
          <p:nvPr/>
        </p:nvSpPr>
        <p:spPr>
          <a:xfrm>
            <a:off x="0" y="1679285"/>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0</a:t>
            </a:r>
            <a:endParaRPr sz="1400">
              <a:solidFill>
                <a:schemeClr val="dk1"/>
              </a:solidFill>
              <a:latin typeface="Arial"/>
              <a:ea typeface="Arial"/>
              <a:cs typeface="Arial"/>
              <a:sym typeface="Arial"/>
            </a:endParaRPr>
          </a:p>
        </p:txBody>
      </p:sp>
      <p:sp>
        <p:nvSpPr>
          <p:cNvPr id="899" name="Google Shape;899;p65"/>
          <p:cNvSpPr txBox="1"/>
          <p:nvPr/>
        </p:nvSpPr>
        <p:spPr>
          <a:xfrm>
            <a:off x="29002" y="2862493"/>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1</a:t>
            </a:r>
            <a:endParaRPr sz="1400">
              <a:solidFill>
                <a:schemeClr val="dk1"/>
              </a:solidFill>
              <a:latin typeface="Arial"/>
              <a:ea typeface="Arial"/>
              <a:cs typeface="Arial"/>
              <a:sym typeface="Arial"/>
            </a:endParaRPr>
          </a:p>
        </p:txBody>
      </p:sp>
      <p:graphicFrame>
        <p:nvGraphicFramePr>
          <p:cNvPr id="900" name="Google Shape;900;p65"/>
          <p:cNvGraphicFramePr/>
          <p:nvPr/>
        </p:nvGraphicFramePr>
        <p:xfrm>
          <a:off x="2350468" y="3954890"/>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4-8</a:t>
                      </a:r>
                      <a:r>
                        <a:rPr lang="en" sz="1400">
                          <a:solidFill>
                            <a:schemeClr val="lt1"/>
                          </a:solidFill>
                        </a:rPr>
                        <a:t>+3e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2-8-</a:t>
                      </a:r>
                      <a:r>
                        <a:rPr lang="en" sz="1400">
                          <a:solidFill>
                            <a:schemeClr val="lt1"/>
                          </a:solidFill>
                        </a:rPr>
                        <a:t>3e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4-8</a:t>
                      </a:r>
                      <a:r>
                        <a:rPr lang="en" sz="1400">
                          <a:solidFill>
                            <a:schemeClr val="lt1"/>
                          </a:solidFill>
                        </a:rPr>
                        <a:t>+4e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2-8</a:t>
                      </a:r>
                      <a:r>
                        <a:rPr lang="en" sz="1400">
                          <a:solidFill>
                            <a:schemeClr val="lt1"/>
                          </a:solidFill>
                        </a:rPr>
                        <a:t>+e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1-3</a:t>
                      </a:r>
                      <a:r>
                        <a:rPr lang="en" sz="1400">
                          <a:solidFill>
                            <a:schemeClr val="lt1"/>
                          </a:solidFill>
                        </a:rPr>
                        <a:t>+3e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3-3-</a:t>
                      </a:r>
                      <a:r>
                        <a:rPr lang="en" sz="1400">
                          <a:solidFill>
                            <a:schemeClr val="lt1"/>
                          </a:solidFill>
                        </a:rPr>
                        <a:t>3e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1-3</a:t>
                      </a:r>
                      <a:r>
                        <a:rPr lang="en" sz="1400">
                          <a:solidFill>
                            <a:schemeClr val="lt1"/>
                          </a:solidFill>
                        </a:rPr>
                        <a:t>+4e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3-3</a:t>
                      </a:r>
                      <a:r>
                        <a:rPr lang="en" sz="1400">
                          <a:solidFill>
                            <a:schemeClr val="lt1"/>
                          </a:solidFill>
                        </a:rPr>
                        <a:t>+e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r>
            </a:tbl>
          </a:graphicData>
        </a:graphic>
      </p:graphicFrame>
      <p:sp>
        <p:nvSpPr>
          <p:cNvPr id="901" name="Google Shape;901;p65"/>
          <p:cNvSpPr/>
          <p:nvPr/>
        </p:nvSpPr>
        <p:spPr>
          <a:xfrm>
            <a:off x="930740" y="4067434"/>
            <a:ext cx="1187450" cy="257175"/>
          </a:xfrm>
          <a:prstGeom prst="rect">
            <a:avLst/>
          </a:prstGeom>
          <a:solidFill>
            <a:schemeClr val="accent6"/>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sp>
        <p:nvSpPr>
          <p:cNvPr id="902" name="Google Shape;902;p65"/>
          <p:cNvSpPr/>
          <p:nvPr/>
        </p:nvSpPr>
        <p:spPr>
          <a:xfrm>
            <a:off x="930740" y="4457959"/>
            <a:ext cx="1187450" cy="257175"/>
          </a:xfrm>
          <a:prstGeom prst="rect">
            <a:avLst/>
          </a:prstGeom>
          <a:solidFill>
            <a:schemeClr val="accent6"/>
          </a:solidFill>
          <a:ln cap="flat" cmpd="sng" w="19050">
            <a:solidFill>
              <a:srgbClr val="20461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cxnSp>
        <p:nvCxnSpPr>
          <p:cNvPr id="903" name="Google Shape;903;p65"/>
          <p:cNvCxnSpPr/>
          <p:nvPr/>
        </p:nvCxnSpPr>
        <p:spPr>
          <a:xfrm>
            <a:off x="311700" y="3829050"/>
            <a:ext cx="8870950" cy="0"/>
          </a:xfrm>
          <a:prstGeom prst="straightConnector1">
            <a:avLst/>
          </a:prstGeom>
          <a:noFill/>
          <a:ln cap="flat" cmpd="sng" w="19050">
            <a:solidFill>
              <a:schemeClr val="accent1"/>
            </a:solidFill>
            <a:prstDash val="solid"/>
            <a:miter lim="800000"/>
            <a:headEnd len="sm" w="sm" type="none"/>
            <a:tailEnd len="sm" w="sm" type="none"/>
          </a:ln>
        </p:spPr>
      </p:cxnSp>
      <p:sp>
        <p:nvSpPr>
          <p:cNvPr id="904" name="Google Shape;904;p65"/>
          <p:cNvSpPr txBox="1"/>
          <p:nvPr/>
        </p:nvSpPr>
        <p:spPr>
          <a:xfrm>
            <a:off x="70277" y="4227871"/>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Final</a:t>
            </a:r>
            <a:endParaRPr sz="1400">
              <a:solidFill>
                <a:schemeClr val="dk1"/>
              </a:solidFill>
              <a:latin typeface="Arial"/>
              <a:ea typeface="Arial"/>
              <a:cs typeface="Arial"/>
              <a:sym typeface="Arial"/>
            </a:endParaRPr>
          </a:p>
        </p:txBody>
      </p:sp>
      <p:sp>
        <p:nvSpPr>
          <p:cNvPr id="905" name="Google Shape;905;p65"/>
          <p:cNvSpPr/>
          <p:nvPr/>
        </p:nvSpPr>
        <p:spPr>
          <a:xfrm>
            <a:off x="6228951" y="2681357"/>
            <a:ext cx="1299076" cy="257175"/>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8</a:t>
            </a:r>
            <a:endParaRPr sz="1400">
              <a:solidFill>
                <a:schemeClr val="lt1"/>
              </a:solidFill>
              <a:latin typeface="Arial"/>
              <a:ea typeface="Arial"/>
              <a:cs typeface="Arial"/>
              <a:sym typeface="Arial"/>
            </a:endParaRPr>
          </a:p>
        </p:txBody>
      </p:sp>
      <p:sp>
        <p:nvSpPr>
          <p:cNvPr id="906" name="Google Shape;906;p65"/>
          <p:cNvSpPr/>
          <p:nvPr/>
        </p:nvSpPr>
        <p:spPr>
          <a:xfrm>
            <a:off x="6228951" y="3087141"/>
            <a:ext cx="1299076" cy="257175"/>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3</a:t>
            </a:r>
            <a:endParaRPr sz="1400">
              <a:solidFill>
                <a:schemeClr val="lt1"/>
              </a:solidFill>
              <a:latin typeface="Arial"/>
              <a:ea typeface="Arial"/>
              <a:cs typeface="Arial"/>
              <a:sym typeface="Arial"/>
            </a:endParaRPr>
          </a:p>
        </p:txBody>
      </p:sp>
      <p:sp>
        <p:nvSpPr>
          <p:cNvPr id="907" name="Google Shape;907;p65"/>
          <p:cNvSpPr/>
          <p:nvPr/>
        </p:nvSpPr>
        <p:spPr>
          <a:xfrm>
            <a:off x="7769327" y="1452511"/>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8-8</a:t>
            </a:r>
            <a:endParaRPr sz="1400">
              <a:solidFill>
                <a:schemeClr val="lt1"/>
              </a:solidFill>
              <a:latin typeface="Arial"/>
              <a:ea typeface="Arial"/>
              <a:cs typeface="Arial"/>
              <a:sym typeface="Arial"/>
            </a:endParaRPr>
          </a:p>
        </p:txBody>
      </p:sp>
      <p:sp>
        <p:nvSpPr>
          <p:cNvPr id="908" name="Google Shape;908;p65"/>
          <p:cNvSpPr/>
          <p:nvPr/>
        </p:nvSpPr>
        <p:spPr>
          <a:xfrm>
            <a:off x="7769327" y="1881725"/>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2-3</a:t>
            </a:r>
            <a:endParaRPr sz="1400">
              <a:solidFill>
                <a:schemeClr val="lt1"/>
              </a:solidFill>
              <a:latin typeface="Arial"/>
              <a:ea typeface="Arial"/>
              <a:cs typeface="Arial"/>
              <a:sym typeface="Arial"/>
            </a:endParaRPr>
          </a:p>
        </p:txBody>
      </p:sp>
      <p:sp>
        <p:nvSpPr>
          <p:cNvPr id="909" name="Google Shape;909;p65"/>
          <p:cNvSpPr/>
          <p:nvPr/>
        </p:nvSpPr>
        <p:spPr>
          <a:xfrm>
            <a:off x="7769327" y="2681357"/>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2-8</a:t>
            </a:r>
            <a:endParaRPr sz="1400">
              <a:solidFill>
                <a:schemeClr val="lt1"/>
              </a:solidFill>
              <a:latin typeface="Arial"/>
              <a:ea typeface="Arial"/>
              <a:cs typeface="Arial"/>
              <a:sym typeface="Arial"/>
            </a:endParaRPr>
          </a:p>
        </p:txBody>
      </p:sp>
      <p:sp>
        <p:nvSpPr>
          <p:cNvPr id="910" name="Google Shape;910;p65"/>
          <p:cNvSpPr/>
          <p:nvPr/>
        </p:nvSpPr>
        <p:spPr>
          <a:xfrm>
            <a:off x="7763979" y="3087141"/>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3-3</a:t>
            </a:r>
            <a:endParaRPr sz="1400">
              <a:solidFill>
                <a:schemeClr val="lt1"/>
              </a:solidFill>
              <a:latin typeface="Arial"/>
              <a:ea typeface="Arial"/>
              <a:cs typeface="Arial"/>
              <a:sym typeface="Arial"/>
            </a:endParaRPr>
          </a:p>
        </p:txBody>
      </p:sp>
      <p:cxnSp>
        <p:nvCxnSpPr>
          <p:cNvPr id="911" name="Google Shape;911;p65"/>
          <p:cNvCxnSpPr>
            <a:stCxn id="893" idx="0"/>
            <a:endCxn id="907" idx="0"/>
          </p:cNvCxnSpPr>
          <p:nvPr/>
        </p:nvCxnSpPr>
        <p:spPr>
          <a:xfrm rot="-5400000">
            <a:off x="4961867" y="-1984750"/>
            <a:ext cx="19500" cy="6894300"/>
          </a:xfrm>
          <a:prstGeom prst="bentConnector3">
            <a:avLst>
              <a:gd fmla="val 976192" name="adj1"/>
            </a:avLst>
          </a:prstGeom>
          <a:noFill/>
          <a:ln cap="flat" cmpd="sng" w="19050">
            <a:solidFill>
              <a:schemeClr val="accent5"/>
            </a:solidFill>
            <a:prstDash val="solid"/>
            <a:miter lim="800000"/>
            <a:headEnd len="sm" w="sm" type="none"/>
            <a:tailEnd len="med" w="med" type="triangle"/>
          </a:ln>
        </p:spPr>
      </p:cxnSp>
      <p:cxnSp>
        <p:nvCxnSpPr>
          <p:cNvPr id="912" name="Google Shape;912;p65"/>
          <p:cNvCxnSpPr>
            <a:stCxn id="905" idx="0"/>
            <a:endCxn id="907" idx="1"/>
          </p:cNvCxnSpPr>
          <p:nvPr/>
        </p:nvCxnSpPr>
        <p:spPr>
          <a:xfrm rot="-5400000">
            <a:off x="6773639" y="1685806"/>
            <a:ext cx="1100400" cy="890700"/>
          </a:xfrm>
          <a:prstGeom prst="bentConnector2">
            <a:avLst/>
          </a:prstGeom>
          <a:noFill/>
          <a:ln cap="flat" cmpd="sng" w="19050">
            <a:solidFill>
              <a:schemeClr val="accent5"/>
            </a:solidFill>
            <a:prstDash val="solid"/>
            <a:miter lim="800000"/>
            <a:headEnd len="sm" w="sm" type="none"/>
            <a:tailEnd len="med" w="med" type="triangle"/>
          </a:ln>
        </p:spPr>
      </p:cxnSp>
      <p:sp>
        <p:nvSpPr>
          <p:cNvPr id="913" name="Google Shape;913;p65"/>
          <p:cNvSpPr/>
          <p:nvPr/>
        </p:nvSpPr>
        <p:spPr>
          <a:xfrm>
            <a:off x="5080808" y="2687444"/>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2-2</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-1-2</a:t>
            </a:r>
            <a:endParaRPr baseline="30000" sz="1100">
              <a:solidFill>
                <a:schemeClr val="lt1"/>
              </a:solidFill>
              <a:latin typeface="Arial"/>
              <a:ea typeface="Arial"/>
              <a:cs typeface="Arial"/>
              <a:sym typeface="Arial"/>
            </a:endParaRPr>
          </a:p>
        </p:txBody>
      </p:sp>
      <p:sp>
        <p:nvSpPr>
          <p:cNvPr id="914" name="Google Shape;914;p65"/>
          <p:cNvSpPr/>
          <p:nvPr/>
        </p:nvSpPr>
        <p:spPr>
          <a:xfrm>
            <a:off x="5080807" y="3050977"/>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915" name="Google Shape;915;p65"/>
          <p:cNvSpPr/>
          <p:nvPr/>
        </p:nvSpPr>
        <p:spPr>
          <a:xfrm>
            <a:off x="5131058" y="1424514"/>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endParaRPr baseline="30000" sz="1100">
              <a:solidFill>
                <a:schemeClr val="lt1"/>
              </a:solidFill>
              <a:latin typeface="Arial"/>
              <a:ea typeface="Arial"/>
              <a:cs typeface="Arial"/>
              <a:sym typeface="Arial"/>
            </a:endParaRPr>
          </a:p>
        </p:txBody>
      </p:sp>
      <p:sp>
        <p:nvSpPr>
          <p:cNvPr id="916" name="Google Shape;916;p65"/>
          <p:cNvSpPr/>
          <p:nvPr/>
        </p:nvSpPr>
        <p:spPr>
          <a:xfrm>
            <a:off x="5131058" y="1806619"/>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2-2</a:t>
            </a:r>
            <a:endParaRPr baseline="30000" sz="1100">
              <a:solidFill>
                <a:schemeClr val="lt1"/>
              </a:solidFill>
              <a:latin typeface="Arial"/>
              <a:ea typeface="Arial"/>
              <a:cs typeface="Arial"/>
              <a:sym typeface="Arial"/>
            </a:endParaRPr>
          </a:p>
        </p:txBody>
      </p:sp>
      <p:sp>
        <p:nvSpPr>
          <p:cNvPr id="917" name="Google Shape;917;p65"/>
          <p:cNvSpPr txBox="1"/>
          <p:nvPr/>
        </p:nvSpPr>
        <p:spPr>
          <a:xfrm>
            <a:off x="4908178" y="1385833"/>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18" name="Google Shape;918;p65"/>
          <p:cNvSpPr txBox="1"/>
          <p:nvPr/>
        </p:nvSpPr>
        <p:spPr>
          <a:xfrm>
            <a:off x="4892207" y="1750104"/>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19" name="Google Shape;919;p65"/>
          <p:cNvSpPr txBox="1"/>
          <p:nvPr/>
        </p:nvSpPr>
        <p:spPr>
          <a:xfrm>
            <a:off x="4892207" y="2607967"/>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20" name="Google Shape;920;p65"/>
          <p:cNvSpPr txBox="1"/>
          <p:nvPr/>
        </p:nvSpPr>
        <p:spPr>
          <a:xfrm>
            <a:off x="4876539" y="2997250"/>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21" name="Google Shape;921;p65"/>
          <p:cNvSpPr/>
          <p:nvPr/>
        </p:nvSpPr>
        <p:spPr>
          <a:xfrm>
            <a:off x="5180452" y="4050581"/>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922" name="Google Shape;922;p65"/>
          <p:cNvSpPr/>
          <p:nvPr/>
        </p:nvSpPr>
        <p:spPr>
          <a:xfrm>
            <a:off x="5180452" y="4503413"/>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923" name="Google Shape;923;p65"/>
          <p:cNvSpPr txBox="1"/>
          <p:nvPr/>
        </p:nvSpPr>
        <p:spPr>
          <a:xfrm>
            <a:off x="4916379" y="3978504"/>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24" name="Google Shape;924;p65"/>
          <p:cNvSpPr txBox="1"/>
          <p:nvPr/>
        </p:nvSpPr>
        <p:spPr>
          <a:xfrm>
            <a:off x="4900712" y="4367787"/>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cxnSp>
        <p:nvCxnSpPr>
          <p:cNvPr id="925" name="Google Shape;925;p65"/>
          <p:cNvCxnSpPr>
            <a:stCxn id="905" idx="2"/>
            <a:endCxn id="901" idx="0"/>
          </p:cNvCxnSpPr>
          <p:nvPr/>
        </p:nvCxnSpPr>
        <p:spPr>
          <a:xfrm flipH="1">
            <a:off x="1524389" y="2938532"/>
            <a:ext cx="5354100" cy="1128900"/>
          </a:xfrm>
          <a:prstGeom prst="straightConnector1">
            <a:avLst/>
          </a:prstGeom>
          <a:noFill/>
          <a:ln cap="flat" cmpd="sng" w="25400">
            <a:solidFill>
              <a:schemeClr val="accent2"/>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500"/>
                                        <p:tgtEl>
                                          <p:spTgt spid="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5"/>
                                        </p:tgtEl>
                                        <p:attrNameLst>
                                          <p:attrName>style.visibility</p:attrName>
                                        </p:attrNameLst>
                                      </p:cBhvr>
                                      <p:to>
                                        <p:strVal val="visible"/>
                                      </p:to>
                                    </p:set>
                                    <p:animEffect filter="fade" transition="in">
                                      <p:cBhvr>
                                        <p:cTn dur="500"/>
                                        <p:tgtEl>
                                          <p:spTgt spid="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500"/>
                                        <p:tgtEl>
                                          <p:spTgt spid="912"/>
                                        </p:tgtEl>
                                      </p:cBhvr>
                                    </p:animEffect>
                                  </p:childTnLst>
                                </p:cTn>
                              </p:par>
                              <p:par>
                                <p:cTn fill="hold" nodeType="with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500"/>
                                        <p:tgtEl>
                                          <p:spTgt spid="911"/>
                                        </p:tgtEl>
                                      </p:cBhvr>
                                    </p:animEffect>
                                  </p:childTnLst>
                                </p:cTn>
                              </p:par>
                              <p:par>
                                <p:cTn fill="hold" nodeType="with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500"/>
                                        <p:tgtEl>
                                          <p:spTgt spid="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500"/>
                                        <p:tgtEl>
                                          <p:spTgt spid="908"/>
                                        </p:tgtEl>
                                      </p:cBhvr>
                                    </p:animEffect>
                                  </p:childTnLst>
                                </p:cTn>
                              </p:par>
                              <p:par>
                                <p:cTn fill="hold" nodeType="with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par>
                                <p:cTn fill="hold" nodeType="with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500"/>
                                        <p:tgtEl>
                                          <p:spTgt spid="9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6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 – Rescaling numerator</a:t>
            </a:r>
            <a:endParaRPr/>
          </a:p>
        </p:txBody>
      </p:sp>
      <p:graphicFrame>
        <p:nvGraphicFramePr>
          <p:cNvPr id="932" name="Google Shape;932;p66"/>
          <p:cNvGraphicFramePr/>
          <p:nvPr/>
        </p:nvGraphicFramePr>
        <p:xfrm>
          <a:off x="2717800" y="1410494"/>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r>
            </a:tbl>
          </a:graphicData>
        </a:graphic>
      </p:graphicFrame>
      <p:graphicFrame>
        <p:nvGraphicFramePr>
          <p:cNvPr id="933" name="Google Shape;933;p66"/>
          <p:cNvGraphicFramePr/>
          <p:nvPr/>
        </p:nvGraphicFramePr>
        <p:xfrm>
          <a:off x="2721476" y="2636790"/>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-3e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2-2</a:t>
                      </a:r>
                      <a:r>
                        <a:rPr lang="en" sz="1500">
                          <a:solidFill>
                            <a:schemeClr val="lt1"/>
                          </a:solidFill>
                        </a:rPr>
                        <a:t>+e</a:t>
                      </a:r>
                      <a:r>
                        <a:rPr baseline="30000" lang="en" sz="1500">
                          <a:solidFill>
                            <a:schemeClr val="lt1"/>
                          </a:solidFill>
                        </a:rPr>
                        <a:t>-1-2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r>
            </a:tbl>
          </a:graphicData>
        </a:graphic>
      </p:graphicFrame>
      <p:sp>
        <p:nvSpPr>
          <p:cNvPr id="934" name="Google Shape;934;p66"/>
          <p:cNvSpPr txBox="1"/>
          <p:nvPr/>
        </p:nvSpPr>
        <p:spPr>
          <a:xfrm>
            <a:off x="367332" y="1679285"/>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0</a:t>
            </a:r>
            <a:endParaRPr sz="1400">
              <a:solidFill>
                <a:schemeClr val="dk1"/>
              </a:solidFill>
              <a:latin typeface="Arial"/>
              <a:ea typeface="Arial"/>
              <a:cs typeface="Arial"/>
              <a:sym typeface="Arial"/>
            </a:endParaRPr>
          </a:p>
        </p:txBody>
      </p:sp>
      <p:sp>
        <p:nvSpPr>
          <p:cNvPr id="935" name="Google Shape;935;p66"/>
          <p:cNvSpPr txBox="1"/>
          <p:nvPr/>
        </p:nvSpPr>
        <p:spPr>
          <a:xfrm>
            <a:off x="396334" y="2862493"/>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1</a:t>
            </a:r>
            <a:endParaRPr sz="1400">
              <a:solidFill>
                <a:schemeClr val="dk1"/>
              </a:solidFill>
              <a:latin typeface="Arial"/>
              <a:ea typeface="Arial"/>
              <a:cs typeface="Arial"/>
              <a:sym typeface="Arial"/>
            </a:endParaRPr>
          </a:p>
        </p:txBody>
      </p:sp>
      <p:graphicFrame>
        <p:nvGraphicFramePr>
          <p:cNvPr id="936" name="Google Shape;936;p66"/>
          <p:cNvGraphicFramePr/>
          <p:nvPr/>
        </p:nvGraphicFramePr>
        <p:xfrm>
          <a:off x="2717800" y="3954890"/>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4-8</a:t>
                      </a:r>
                      <a:r>
                        <a:rPr lang="en" sz="1400">
                          <a:solidFill>
                            <a:schemeClr val="lt1"/>
                          </a:solidFill>
                        </a:rPr>
                        <a:t>+3e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2-8-</a:t>
                      </a:r>
                      <a:r>
                        <a:rPr lang="en" sz="1400">
                          <a:solidFill>
                            <a:schemeClr val="lt1"/>
                          </a:solidFill>
                        </a:rPr>
                        <a:t>3e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4-8</a:t>
                      </a:r>
                      <a:r>
                        <a:rPr lang="en" sz="1400">
                          <a:solidFill>
                            <a:schemeClr val="lt1"/>
                          </a:solidFill>
                        </a:rPr>
                        <a:t>+4e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2-8</a:t>
                      </a:r>
                      <a:r>
                        <a:rPr lang="en" sz="1400">
                          <a:solidFill>
                            <a:schemeClr val="lt1"/>
                          </a:solidFill>
                        </a:rPr>
                        <a:t>+e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1-3</a:t>
                      </a:r>
                      <a:r>
                        <a:rPr lang="en" sz="1400">
                          <a:solidFill>
                            <a:schemeClr val="lt1"/>
                          </a:solidFill>
                        </a:rPr>
                        <a:t>+3e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3-3-</a:t>
                      </a:r>
                      <a:r>
                        <a:rPr lang="en" sz="1400">
                          <a:solidFill>
                            <a:schemeClr val="lt1"/>
                          </a:solidFill>
                        </a:rPr>
                        <a:t>3e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1-3</a:t>
                      </a:r>
                      <a:r>
                        <a:rPr lang="en" sz="1400">
                          <a:solidFill>
                            <a:schemeClr val="lt1"/>
                          </a:solidFill>
                        </a:rPr>
                        <a:t>+4e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3-3</a:t>
                      </a:r>
                      <a:r>
                        <a:rPr lang="en" sz="1400">
                          <a:solidFill>
                            <a:schemeClr val="lt1"/>
                          </a:solidFill>
                        </a:rPr>
                        <a:t>+e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r>
            </a:tbl>
          </a:graphicData>
        </a:graphic>
      </p:graphicFrame>
      <p:cxnSp>
        <p:nvCxnSpPr>
          <p:cNvPr id="937" name="Google Shape;937;p66"/>
          <p:cNvCxnSpPr/>
          <p:nvPr/>
        </p:nvCxnSpPr>
        <p:spPr>
          <a:xfrm>
            <a:off x="311700" y="3829050"/>
            <a:ext cx="8870950" cy="0"/>
          </a:xfrm>
          <a:prstGeom prst="straightConnector1">
            <a:avLst/>
          </a:prstGeom>
          <a:noFill/>
          <a:ln cap="flat" cmpd="sng" w="19050">
            <a:solidFill>
              <a:schemeClr val="accent1"/>
            </a:solidFill>
            <a:prstDash val="solid"/>
            <a:miter lim="800000"/>
            <a:headEnd len="sm" w="sm" type="none"/>
            <a:tailEnd len="sm" w="sm" type="none"/>
          </a:ln>
        </p:spPr>
      </p:cxnSp>
      <p:sp>
        <p:nvSpPr>
          <p:cNvPr id="938" name="Google Shape;938;p66"/>
          <p:cNvSpPr txBox="1"/>
          <p:nvPr/>
        </p:nvSpPr>
        <p:spPr>
          <a:xfrm>
            <a:off x="437609" y="4227871"/>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Final</a:t>
            </a:r>
            <a:endParaRPr sz="1400">
              <a:solidFill>
                <a:schemeClr val="dk1"/>
              </a:solidFill>
              <a:latin typeface="Arial"/>
              <a:ea typeface="Arial"/>
              <a:cs typeface="Arial"/>
              <a:sym typeface="Arial"/>
            </a:endParaRPr>
          </a:p>
        </p:txBody>
      </p:sp>
      <p:sp>
        <p:nvSpPr>
          <p:cNvPr id="939" name="Google Shape;939;p66"/>
          <p:cNvSpPr/>
          <p:nvPr/>
        </p:nvSpPr>
        <p:spPr>
          <a:xfrm>
            <a:off x="1179931" y="1452511"/>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8-8</a:t>
            </a:r>
            <a:endParaRPr sz="1400">
              <a:solidFill>
                <a:schemeClr val="lt1"/>
              </a:solidFill>
              <a:latin typeface="Arial"/>
              <a:ea typeface="Arial"/>
              <a:cs typeface="Arial"/>
              <a:sym typeface="Arial"/>
            </a:endParaRPr>
          </a:p>
        </p:txBody>
      </p:sp>
      <p:sp>
        <p:nvSpPr>
          <p:cNvPr id="940" name="Google Shape;940;p66"/>
          <p:cNvSpPr/>
          <p:nvPr/>
        </p:nvSpPr>
        <p:spPr>
          <a:xfrm>
            <a:off x="1179931" y="1881725"/>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2-3</a:t>
            </a:r>
            <a:endParaRPr sz="1400">
              <a:solidFill>
                <a:schemeClr val="lt1"/>
              </a:solidFill>
              <a:latin typeface="Arial"/>
              <a:ea typeface="Arial"/>
              <a:cs typeface="Arial"/>
              <a:sym typeface="Arial"/>
            </a:endParaRPr>
          </a:p>
        </p:txBody>
      </p:sp>
      <p:sp>
        <p:nvSpPr>
          <p:cNvPr id="941" name="Google Shape;941;p66"/>
          <p:cNvSpPr/>
          <p:nvPr/>
        </p:nvSpPr>
        <p:spPr>
          <a:xfrm>
            <a:off x="1179931" y="2681357"/>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2-8</a:t>
            </a:r>
            <a:endParaRPr sz="1400">
              <a:solidFill>
                <a:schemeClr val="lt1"/>
              </a:solidFill>
              <a:latin typeface="Arial"/>
              <a:ea typeface="Arial"/>
              <a:cs typeface="Arial"/>
              <a:sym typeface="Arial"/>
            </a:endParaRPr>
          </a:p>
        </p:txBody>
      </p:sp>
      <p:sp>
        <p:nvSpPr>
          <p:cNvPr id="942" name="Google Shape;942;p66"/>
          <p:cNvSpPr/>
          <p:nvPr/>
        </p:nvSpPr>
        <p:spPr>
          <a:xfrm>
            <a:off x="1174584" y="3087141"/>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3-3</a:t>
            </a:r>
            <a:endParaRPr sz="1400">
              <a:solidFill>
                <a:schemeClr val="lt1"/>
              </a:solidFill>
              <a:latin typeface="Arial"/>
              <a:ea typeface="Arial"/>
              <a:cs typeface="Arial"/>
              <a:sym typeface="Arial"/>
            </a:endParaRPr>
          </a:p>
        </p:txBody>
      </p:sp>
      <p:graphicFrame>
        <p:nvGraphicFramePr>
          <p:cNvPr id="943" name="Google Shape;943;p66"/>
          <p:cNvGraphicFramePr/>
          <p:nvPr/>
        </p:nvGraphicFramePr>
        <p:xfrm>
          <a:off x="5810249" y="1410494"/>
          <a:ext cx="3000000" cy="3000000"/>
        </p:xfrm>
        <a:graphic>
          <a:graphicData uri="http://schemas.openxmlformats.org/drawingml/2006/table">
            <a:tbl>
              <a:tblPr bandRow="1">
                <a:noFill/>
                <a:tableStyleId>{EE193DD2-6E87-43B2-945D-4C0B9107F9EB}</a:tableStyleId>
              </a:tblPr>
              <a:tblGrid>
                <a:gridCol w="1560500"/>
                <a:gridCol w="1560500"/>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8-8</a:t>
                      </a: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8-8</a:t>
                      </a: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a:t>
                      </a:r>
                      <a:r>
                        <a:rPr lang="en" sz="1500">
                          <a:solidFill>
                            <a:schemeClr val="lt1"/>
                          </a:solidFill>
                        </a:rPr>
                        <a:t>)</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2-3</a:t>
                      </a: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2-3</a:t>
                      </a: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r>
                        <a:rPr lang="en" sz="1500">
                          <a:solidFill>
                            <a:schemeClr val="lt1"/>
                          </a:solidFill>
                        </a:rPr>
                        <a:t>)</a:t>
                      </a:r>
                      <a:endParaRPr baseline="30000" sz="1500">
                        <a:solidFill>
                          <a:schemeClr val="lt1"/>
                        </a:solidFill>
                      </a:endParaRPr>
                    </a:p>
                  </a:txBody>
                  <a:tcPr marT="0" marB="0" marR="0" marL="0" anchor="ctr">
                    <a:solidFill>
                      <a:srgbClr val="0F4861"/>
                    </a:solidFill>
                  </a:tcPr>
                </a:tc>
              </a:tr>
            </a:tbl>
          </a:graphicData>
        </a:graphic>
      </p:graphicFrame>
      <p:graphicFrame>
        <p:nvGraphicFramePr>
          <p:cNvPr id="944" name="Google Shape;944;p66"/>
          <p:cNvGraphicFramePr/>
          <p:nvPr/>
        </p:nvGraphicFramePr>
        <p:xfrm>
          <a:off x="5810249" y="2636790"/>
          <a:ext cx="3000000" cy="3000000"/>
        </p:xfrm>
        <a:graphic>
          <a:graphicData uri="http://schemas.openxmlformats.org/drawingml/2006/table">
            <a:tbl>
              <a:tblPr bandRow="1">
                <a:noFill/>
                <a:tableStyleId>{EE193DD2-6E87-43B2-945D-4C0B9107F9EB}</a:tableStyleId>
              </a:tblPr>
              <a:tblGrid>
                <a:gridCol w="1560500"/>
                <a:gridCol w="1560500"/>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2-8</a:t>
                      </a:r>
                      <a:r>
                        <a:rPr lang="en" sz="1500">
                          <a:solidFill>
                            <a:schemeClr val="lt1"/>
                          </a:solidFill>
                        </a:rPr>
                        <a:t>(2e</a:t>
                      </a:r>
                      <a:r>
                        <a:rPr baseline="30000" lang="en" sz="1500">
                          <a:solidFill>
                            <a:schemeClr val="lt1"/>
                          </a:solidFill>
                        </a:rPr>
                        <a:t>2-2</a:t>
                      </a:r>
                      <a:r>
                        <a:rPr lang="en" sz="1500">
                          <a:solidFill>
                            <a:schemeClr val="lt1"/>
                          </a:solidFill>
                        </a:rPr>
                        <a:t>-3e</a:t>
                      </a:r>
                      <a:r>
                        <a:rPr baseline="30000" lang="en" sz="1500">
                          <a:solidFill>
                            <a:schemeClr val="lt1"/>
                          </a:solidFill>
                        </a:rPr>
                        <a:t>-1-2</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2-8</a:t>
                      </a:r>
                      <a:r>
                        <a:rPr lang="en" sz="1500">
                          <a:solidFill>
                            <a:schemeClr val="lt1"/>
                          </a:solidFill>
                        </a:rPr>
                        <a:t>(-2e</a:t>
                      </a:r>
                      <a:r>
                        <a:rPr baseline="30000" lang="en" sz="1500">
                          <a:solidFill>
                            <a:schemeClr val="lt1"/>
                          </a:solidFill>
                        </a:rPr>
                        <a:t>2-2</a:t>
                      </a:r>
                      <a:r>
                        <a:rPr lang="en" sz="1500">
                          <a:solidFill>
                            <a:schemeClr val="lt1"/>
                          </a:solidFill>
                        </a:rPr>
                        <a:t>+e</a:t>
                      </a:r>
                      <a:r>
                        <a:rPr baseline="30000" lang="en" sz="1500">
                          <a:solidFill>
                            <a:schemeClr val="lt1"/>
                          </a:solidFill>
                        </a:rPr>
                        <a:t>-1-2</a:t>
                      </a:r>
                      <a:r>
                        <a:rPr lang="en" sz="1500">
                          <a:solidFill>
                            <a:schemeClr val="lt1"/>
                          </a:solidFill>
                        </a:rPr>
                        <a:t>)</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3-3</a:t>
                      </a: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3-3</a:t>
                      </a: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a:t>
                      </a:r>
                      <a:r>
                        <a:rPr lang="en" sz="1500">
                          <a:solidFill>
                            <a:schemeClr val="lt1"/>
                          </a:solidFill>
                        </a:rPr>
                        <a:t>)</a:t>
                      </a:r>
                      <a:endParaRPr baseline="30000" sz="1500">
                        <a:solidFill>
                          <a:schemeClr val="lt1"/>
                        </a:solidFill>
                      </a:endParaRPr>
                    </a:p>
                  </a:txBody>
                  <a:tcPr marT="0" marB="0" marR="0" marL="0" anchor="ctr">
                    <a:solidFill>
                      <a:srgbClr val="0F4861"/>
                    </a:solidFill>
                  </a:tcPr>
                </a:tc>
              </a:tr>
            </a:tbl>
          </a:graphicData>
        </a:graphic>
      </p:graphicFrame>
      <p:sp>
        <p:nvSpPr>
          <p:cNvPr id="945" name="Google Shape;945;p66"/>
          <p:cNvSpPr/>
          <p:nvPr/>
        </p:nvSpPr>
        <p:spPr>
          <a:xfrm>
            <a:off x="5534783" y="4026968"/>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946" name="Google Shape;946;p66"/>
          <p:cNvSpPr/>
          <p:nvPr/>
        </p:nvSpPr>
        <p:spPr>
          <a:xfrm>
            <a:off x="5534783" y="4479799"/>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947" name="Google Shape;947;p66"/>
          <p:cNvSpPr txBox="1"/>
          <p:nvPr/>
        </p:nvSpPr>
        <p:spPr>
          <a:xfrm>
            <a:off x="5270709" y="3954890"/>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48" name="Google Shape;948;p66"/>
          <p:cNvSpPr txBox="1"/>
          <p:nvPr/>
        </p:nvSpPr>
        <p:spPr>
          <a:xfrm>
            <a:off x="5255042" y="4344173"/>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gtEl>
                                        <p:attrNameLst>
                                          <p:attrName>style.visibility</p:attrName>
                                        </p:attrNameLst>
                                      </p:cBhvr>
                                      <p:to>
                                        <p:strVal val="visible"/>
                                      </p:to>
                                    </p:set>
                                    <p:animEffect filter="fade" transition="in">
                                      <p:cBhvr>
                                        <p:cTn dur="500"/>
                                        <p:tgtEl>
                                          <p:spTgt spid="943"/>
                                        </p:tgtEl>
                                      </p:cBhvr>
                                    </p:animEffect>
                                  </p:childTnLst>
                                </p:cTn>
                              </p:par>
                              <p:par>
                                <p:cTn fill="hold" nodeType="with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500"/>
                                        <p:tgtEl>
                                          <p:spTgt spid="9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6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 – Rescaling the Numerator</a:t>
            </a:r>
            <a:endParaRPr/>
          </a:p>
        </p:txBody>
      </p:sp>
      <p:sp>
        <p:nvSpPr>
          <p:cNvPr id="954" name="Google Shape;954;p67"/>
          <p:cNvSpPr txBox="1"/>
          <p:nvPr/>
        </p:nvSpPr>
        <p:spPr>
          <a:xfrm>
            <a:off x="367332" y="1679285"/>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0</a:t>
            </a:r>
            <a:endParaRPr sz="1400">
              <a:solidFill>
                <a:schemeClr val="dk1"/>
              </a:solidFill>
              <a:latin typeface="Arial"/>
              <a:ea typeface="Arial"/>
              <a:cs typeface="Arial"/>
              <a:sym typeface="Arial"/>
            </a:endParaRPr>
          </a:p>
        </p:txBody>
      </p:sp>
      <p:sp>
        <p:nvSpPr>
          <p:cNvPr id="955" name="Google Shape;955;p67"/>
          <p:cNvSpPr txBox="1"/>
          <p:nvPr/>
        </p:nvSpPr>
        <p:spPr>
          <a:xfrm>
            <a:off x="396334" y="2862493"/>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1</a:t>
            </a:r>
            <a:endParaRPr sz="1400">
              <a:solidFill>
                <a:schemeClr val="dk1"/>
              </a:solidFill>
              <a:latin typeface="Arial"/>
              <a:ea typeface="Arial"/>
              <a:cs typeface="Arial"/>
              <a:sym typeface="Arial"/>
            </a:endParaRPr>
          </a:p>
        </p:txBody>
      </p:sp>
      <p:graphicFrame>
        <p:nvGraphicFramePr>
          <p:cNvPr id="956" name="Google Shape;956;p67"/>
          <p:cNvGraphicFramePr/>
          <p:nvPr/>
        </p:nvGraphicFramePr>
        <p:xfrm>
          <a:off x="5573712" y="4048404"/>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4-8</a:t>
                      </a:r>
                      <a:r>
                        <a:rPr lang="en" sz="1400">
                          <a:solidFill>
                            <a:schemeClr val="lt1"/>
                          </a:solidFill>
                        </a:rPr>
                        <a:t>+3e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2-8-</a:t>
                      </a:r>
                      <a:r>
                        <a:rPr lang="en" sz="1400">
                          <a:solidFill>
                            <a:schemeClr val="lt1"/>
                          </a:solidFill>
                        </a:rPr>
                        <a:t>3e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4-8</a:t>
                      </a:r>
                      <a:r>
                        <a:rPr lang="en" sz="1400">
                          <a:solidFill>
                            <a:schemeClr val="lt1"/>
                          </a:solidFill>
                        </a:rPr>
                        <a:t>+4e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2-8</a:t>
                      </a:r>
                      <a:r>
                        <a:rPr lang="en" sz="1400">
                          <a:solidFill>
                            <a:schemeClr val="lt1"/>
                          </a:solidFill>
                        </a:rPr>
                        <a:t>+e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1-3</a:t>
                      </a:r>
                      <a:r>
                        <a:rPr lang="en" sz="1400">
                          <a:solidFill>
                            <a:schemeClr val="lt1"/>
                          </a:solidFill>
                        </a:rPr>
                        <a:t>+3e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3-3-</a:t>
                      </a:r>
                      <a:r>
                        <a:rPr lang="en" sz="1400">
                          <a:solidFill>
                            <a:schemeClr val="lt1"/>
                          </a:solidFill>
                        </a:rPr>
                        <a:t>3e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1-3</a:t>
                      </a:r>
                      <a:r>
                        <a:rPr lang="en" sz="1400">
                          <a:solidFill>
                            <a:schemeClr val="lt1"/>
                          </a:solidFill>
                        </a:rPr>
                        <a:t>+4e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3-3</a:t>
                      </a:r>
                      <a:r>
                        <a:rPr lang="en" sz="1400">
                          <a:solidFill>
                            <a:schemeClr val="lt1"/>
                          </a:solidFill>
                        </a:rPr>
                        <a:t>+e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r>
            </a:tbl>
          </a:graphicData>
        </a:graphic>
      </p:graphicFrame>
      <p:cxnSp>
        <p:nvCxnSpPr>
          <p:cNvPr id="957" name="Google Shape;957;p67"/>
          <p:cNvCxnSpPr/>
          <p:nvPr/>
        </p:nvCxnSpPr>
        <p:spPr>
          <a:xfrm>
            <a:off x="311700" y="3829050"/>
            <a:ext cx="8870950" cy="0"/>
          </a:xfrm>
          <a:prstGeom prst="straightConnector1">
            <a:avLst/>
          </a:prstGeom>
          <a:noFill/>
          <a:ln cap="flat" cmpd="sng" w="19050">
            <a:solidFill>
              <a:schemeClr val="accent1"/>
            </a:solidFill>
            <a:prstDash val="solid"/>
            <a:miter lim="800000"/>
            <a:headEnd len="sm" w="sm" type="none"/>
            <a:tailEnd len="sm" w="sm" type="none"/>
          </a:ln>
        </p:spPr>
      </p:cxnSp>
      <p:sp>
        <p:nvSpPr>
          <p:cNvPr id="958" name="Google Shape;958;p67"/>
          <p:cNvSpPr txBox="1"/>
          <p:nvPr/>
        </p:nvSpPr>
        <p:spPr>
          <a:xfrm>
            <a:off x="437609" y="4227871"/>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Final</a:t>
            </a:r>
            <a:endParaRPr sz="1400">
              <a:solidFill>
                <a:schemeClr val="dk1"/>
              </a:solidFill>
              <a:latin typeface="Arial"/>
              <a:ea typeface="Arial"/>
              <a:cs typeface="Arial"/>
              <a:sym typeface="Arial"/>
            </a:endParaRPr>
          </a:p>
        </p:txBody>
      </p:sp>
      <p:graphicFrame>
        <p:nvGraphicFramePr>
          <p:cNvPr id="959" name="Google Shape;959;p67"/>
          <p:cNvGraphicFramePr/>
          <p:nvPr/>
        </p:nvGraphicFramePr>
        <p:xfrm>
          <a:off x="1612900" y="1404145"/>
          <a:ext cx="3000000" cy="3000000"/>
        </p:xfrm>
        <a:graphic>
          <a:graphicData uri="http://schemas.openxmlformats.org/drawingml/2006/table">
            <a:tbl>
              <a:tblPr bandRow="1">
                <a:noFill/>
                <a:tableStyleId>{EE193DD2-6E87-43B2-945D-4C0B9107F9EB}</a:tableStyleId>
              </a:tblPr>
              <a:tblGrid>
                <a:gridCol w="1560500"/>
                <a:gridCol w="1560500"/>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8-8</a:t>
                      </a: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8-8</a:t>
                      </a: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a:t>
                      </a:r>
                      <a:r>
                        <a:rPr lang="en" sz="1500">
                          <a:solidFill>
                            <a:schemeClr val="lt1"/>
                          </a:solidFill>
                        </a:rPr>
                        <a:t>)</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2-3</a:t>
                      </a: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2-3</a:t>
                      </a: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r>
                        <a:rPr lang="en" sz="1500">
                          <a:solidFill>
                            <a:schemeClr val="lt1"/>
                          </a:solidFill>
                        </a:rPr>
                        <a:t>)</a:t>
                      </a:r>
                      <a:endParaRPr baseline="30000" sz="1500">
                        <a:solidFill>
                          <a:schemeClr val="lt1"/>
                        </a:solidFill>
                      </a:endParaRPr>
                    </a:p>
                  </a:txBody>
                  <a:tcPr marT="0" marB="0" marR="0" marL="0" anchor="ctr">
                    <a:solidFill>
                      <a:srgbClr val="0F4861"/>
                    </a:solidFill>
                  </a:tcPr>
                </a:tc>
              </a:tr>
            </a:tbl>
          </a:graphicData>
        </a:graphic>
      </p:graphicFrame>
      <p:graphicFrame>
        <p:nvGraphicFramePr>
          <p:cNvPr id="960" name="Google Shape;960;p67"/>
          <p:cNvGraphicFramePr/>
          <p:nvPr/>
        </p:nvGraphicFramePr>
        <p:xfrm>
          <a:off x="1612900" y="2630441"/>
          <a:ext cx="3000000" cy="3000000"/>
        </p:xfrm>
        <a:graphic>
          <a:graphicData uri="http://schemas.openxmlformats.org/drawingml/2006/table">
            <a:tbl>
              <a:tblPr bandRow="1">
                <a:noFill/>
                <a:tableStyleId>{EE193DD2-6E87-43B2-945D-4C0B9107F9EB}</a:tableStyleId>
              </a:tblPr>
              <a:tblGrid>
                <a:gridCol w="1560500"/>
                <a:gridCol w="1560500"/>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2-8</a:t>
                      </a:r>
                      <a:r>
                        <a:rPr lang="en" sz="1500">
                          <a:solidFill>
                            <a:schemeClr val="lt1"/>
                          </a:solidFill>
                        </a:rPr>
                        <a:t>(2e</a:t>
                      </a:r>
                      <a:r>
                        <a:rPr baseline="30000" lang="en" sz="1500">
                          <a:solidFill>
                            <a:schemeClr val="lt1"/>
                          </a:solidFill>
                        </a:rPr>
                        <a:t>2-2</a:t>
                      </a:r>
                      <a:r>
                        <a:rPr lang="en" sz="1500">
                          <a:solidFill>
                            <a:schemeClr val="lt1"/>
                          </a:solidFill>
                        </a:rPr>
                        <a:t>-3e</a:t>
                      </a:r>
                      <a:r>
                        <a:rPr baseline="30000" lang="en" sz="1500">
                          <a:solidFill>
                            <a:schemeClr val="lt1"/>
                          </a:solidFill>
                        </a:rPr>
                        <a:t>-1-2</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2-8</a:t>
                      </a:r>
                      <a:r>
                        <a:rPr lang="en" sz="1500">
                          <a:solidFill>
                            <a:schemeClr val="lt1"/>
                          </a:solidFill>
                        </a:rPr>
                        <a:t>(-2e</a:t>
                      </a:r>
                      <a:r>
                        <a:rPr baseline="30000" lang="en" sz="1500">
                          <a:solidFill>
                            <a:schemeClr val="lt1"/>
                          </a:solidFill>
                        </a:rPr>
                        <a:t>2-2</a:t>
                      </a:r>
                      <a:r>
                        <a:rPr lang="en" sz="1500">
                          <a:solidFill>
                            <a:schemeClr val="lt1"/>
                          </a:solidFill>
                        </a:rPr>
                        <a:t>+e</a:t>
                      </a:r>
                      <a:r>
                        <a:rPr baseline="30000" lang="en" sz="1500">
                          <a:solidFill>
                            <a:schemeClr val="lt1"/>
                          </a:solidFill>
                        </a:rPr>
                        <a:t>-1-2</a:t>
                      </a:r>
                      <a:r>
                        <a:rPr lang="en" sz="1500">
                          <a:solidFill>
                            <a:schemeClr val="lt1"/>
                          </a:solidFill>
                        </a:rPr>
                        <a:t>)</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3-3</a:t>
                      </a: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a:t>
                      </a:r>
                      <a:r>
                        <a:rPr lang="en" sz="1500">
                          <a:solidFill>
                            <a:schemeClr val="lt1"/>
                          </a:solidFill>
                        </a:rPr>
                        <a:t>)</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3-3</a:t>
                      </a: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a:t>
                      </a:r>
                      <a:r>
                        <a:rPr lang="en" sz="1500">
                          <a:solidFill>
                            <a:schemeClr val="lt1"/>
                          </a:solidFill>
                        </a:rPr>
                        <a:t>)</a:t>
                      </a:r>
                      <a:endParaRPr baseline="30000" sz="1500">
                        <a:solidFill>
                          <a:schemeClr val="lt1"/>
                        </a:solidFill>
                      </a:endParaRPr>
                    </a:p>
                  </a:txBody>
                  <a:tcPr marT="0" marB="0" marR="0" marL="0" anchor="ctr">
                    <a:solidFill>
                      <a:srgbClr val="0F4861"/>
                    </a:solidFill>
                  </a:tcPr>
                </a:tc>
              </a:tr>
            </a:tbl>
          </a:graphicData>
        </a:graphic>
      </p:graphicFrame>
      <p:graphicFrame>
        <p:nvGraphicFramePr>
          <p:cNvPr id="961" name="Google Shape;961;p67"/>
          <p:cNvGraphicFramePr/>
          <p:nvPr/>
        </p:nvGraphicFramePr>
        <p:xfrm>
          <a:off x="5245100" y="1404145"/>
          <a:ext cx="3000000" cy="3000000"/>
        </p:xfrm>
        <a:graphic>
          <a:graphicData uri="http://schemas.openxmlformats.org/drawingml/2006/table">
            <a:tbl>
              <a:tblPr bandRow="1">
                <a:noFill/>
                <a:tableStyleId>{EE193DD2-6E87-43B2-945D-4C0B9107F9EB}</a:tableStyleId>
              </a:tblPr>
              <a:tblGrid>
                <a:gridCol w="1560500"/>
                <a:gridCol w="1560500"/>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1-3</a:t>
                      </a:r>
                      <a:r>
                        <a:rPr lang="en" sz="1500">
                          <a:solidFill>
                            <a:schemeClr val="lt1"/>
                          </a:solidFill>
                        </a:rPr>
                        <a:t>+3e</a:t>
                      </a:r>
                      <a:r>
                        <a:rPr baseline="30000" lang="en" sz="1500">
                          <a:solidFill>
                            <a:schemeClr val="lt1"/>
                          </a:solidFill>
                        </a:rPr>
                        <a:t>2-3</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1-3</a:t>
                      </a:r>
                      <a:r>
                        <a:rPr lang="en" sz="1500">
                          <a:solidFill>
                            <a:schemeClr val="lt1"/>
                          </a:solidFill>
                        </a:rPr>
                        <a:t>+4e</a:t>
                      </a:r>
                      <a:r>
                        <a:rPr baseline="30000" lang="en" sz="1500">
                          <a:solidFill>
                            <a:schemeClr val="lt1"/>
                          </a:solidFill>
                        </a:rPr>
                        <a:t>2-3</a:t>
                      </a:r>
                      <a:endParaRPr baseline="30000" sz="1500">
                        <a:solidFill>
                          <a:schemeClr val="lt1"/>
                        </a:solidFill>
                      </a:endParaRPr>
                    </a:p>
                  </a:txBody>
                  <a:tcPr marT="0" marB="0" marR="0" marL="0" anchor="ctr">
                    <a:solidFill>
                      <a:srgbClr val="0F4861"/>
                    </a:solidFill>
                  </a:tcPr>
                </a:tc>
              </a:tr>
            </a:tbl>
          </a:graphicData>
        </a:graphic>
      </p:graphicFrame>
      <p:graphicFrame>
        <p:nvGraphicFramePr>
          <p:cNvPr id="962" name="Google Shape;962;p67"/>
          <p:cNvGraphicFramePr/>
          <p:nvPr/>
        </p:nvGraphicFramePr>
        <p:xfrm>
          <a:off x="5245100" y="2630441"/>
          <a:ext cx="3000000" cy="3000000"/>
        </p:xfrm>
        <a:graphic>
          <a:graphicData uri="http://schemas.openxmlformats.org/drawingml/2006/table">
            <a:tbl>
              <a:tblPr bandRow="1">
                <a:noFill/>
                <a:tableStyleId>{EE193DD2-6E87-43B2-945D-4C0B9107F9EB}</a:tableStyleId>
              </a:tblPr>
              <a:tblGrid>
                <a:gridCol w="1560500"/>
                <a:gridCol w="1560500"/>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2-8</a:t>
                      </a:r>
                      <a:r>
                        <a:rPr lang="en" sz="1500">
                          <a:solidFill>
                            <a:schemeClr val="lt1"/>
                          </a:solidFill>
                        </a:rPr>
                        <a:t>-3e</a:t>
                      </a:r>
                      <a:r>
                        <a:rPr baseline="30000" lang="en" sz="1500">
                          <a:solidFill>
                            <a:schemeClr val="lt1"/>
                          </a:solidFill>
                        </a:rPr>
                        <a:t>-1-8</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2-8</a:t>
                      </a:r>
                      <a:r>
                        <a:rPr lang="en" sz="1500">
                          <a:solidFill>
                            <a:schemeClr val="lt1"/>
                          </a:solidFill>
                        </a:rPr>
                        <a:t>+e</a:t>
                      </a:r>
                      <a:r>
                        <a:rPr baseline="30000" lang="en" sz="1500">
                          <a:solidFill>
                            <a:schemeClr val="lt1"/>
                          </a:solidFill>
                        </a:rPr>
                        <a:t>-1-8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a:t>
                      </a:r>
                      <a:endParaRPr baseline="30000" sz="1500">
                        <a:solidFill>
                          <a:schemeClr val="lt1"/>
                        </a:solidFill>
                      </a:endParaRPr>
                    </a:p>
                  </a:txBody>
                  <a:tcPr marT="0" marB="0" marR="0" marL="0" anchor="ctr">
                    <a:solidFill>
                      <a:srgbClr val="0F4861"/>
                    </a:solidFill>
                  </a:tcPr>
                </a:tc>
              </a:tr>
            </a:tbl>
          </a:graphicData>
        </a:graphic>
      </p:graphicFrame>
      <p:sp>
        <p:nvSpPr>
          <p:cNvPr id="963" name="Google Shape;963;p67"/>
          <p:cNvSpPr txBox="1"/>
          <p:nvPr/>
        </p:nvSpPr>
        <p:spPr>
          <a:xfrm>
            <a:off x="6638925" y="2223040"/>
            <a:ext cx="1387475"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64" name="Google Shape;964;p67"/>
          <p:cNvSpPr/>
          <p:nvPr/>
        </p:nvSpPr>
        <p:spPr>
          <a:xfrm>
            <a:off x="5656184" y="2642680"/>
            <a:ext cx="355018" cy="324621"/>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965" name="Google Shape;965;p67"/>
          <p:cNvSpPr/>
          <p:nvPr/>
        </p:nvSpPr>
        <p:spPr>
          <a:xfrm>
            <a:off x="2179373" y="2656180"/>
            <a:ext cx="355019" cy="324621"/>
          </a:xfrm>
          <a:prstGeom prst="ellipse">
            <a:avLst/>
          </a:prstGeom>
          <a:noFill/>
          <a:ln cap="flat" cmpd="sng" w="57150">
            <a:solidFill>
              <a:srgbClr val="FFFF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500"/>
                                        <p:tgtEl>
                                          <p:spTgt spid="961"/>
                                        </p:tgtEl>
                                      </p:cBhvr>
                                    </p:animEffect>
                                  </p:childTnLst>
                                </p:cTn>
                              </p:par>
                              <p:par>
                                <p:cTn fill="hold" nodeType="withEffect" presetClass="entr" presetID="10" presetSubtype="0">
                                  <p:stCondLst>
                                    <p:cond delay="0"/>
                                  </p:stCondLst>
                                  <p:childTnLst>
                                    <p:set>
                                      <p:cBhvr>
                                        <p:cTn dur="1" fill="hold">
                                          <p:stCondLst>
                                            <p:cond delay="0"/>
                                          </p:stCondLst>
                                        </p:cTn>
                                        <p:tgtEl>
                                          <p:spTgt spid="962"/>
                                        </p:tgtEl>
                                        <p:attrNameLst>
                                          <p:attrName>style.visibility</p:attrName>
                                        </p:attrNameLst>
                                      </p:cBhvr>
                                      <p:to>
                                        <p:strVal val="visible"/>
                                      </p:to>
                                    </p:set>
                                    <p:animEffect filter="fade" transition="in">
                                      <p:cBhvr>
                                        <p:cTn dur="500"/>
                                        <p:tgtEl>
                                          <p:spTgt spid="962"/>
                                        </p:tgtEl>
                                      </p:cBhvr>
                                    </p:animEffect>
                                  </p:childTnLst>
                                </p:cTn>
                              </p:par>
                              <p:par>
                                <p:cTn fill="hold" nodeType="with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500"/>
                                        <p:tgtEl>
                                          <p:spTgt spid="9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500"/>
                                        <p:tgtEl>
                                          <p:spTgt spid="956"/>
                                        </p:tgtEl>
                                      </p:cBhvr>
                                    </p:animEffect>
                                  </p:childTnLst>
                                </p:cTn>
                              </p:par>
                              <p:par>
                                <p:cTn fill="hold" nodeType="with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500"/>
                                        <p:tgtEl>
                                          <p:spTgt spid="964"/>
                                        </p:tgtEl>
                                      </p:cBhvr>
                                    </p:animEffect>
                                  </p:childTnLst>
                                </p:cTn>
                              </p:par>
                              <p:par>
                                <p:cTn fill="hold" nodeType="withEffect" presetClass="entr" presetID="10" presetSubtype="0">
                                  <p:stCondLst>
                                    <p:cond delay="0"/>
                                  </p:stCondLst>
                                  <p:childTnLst>
                                    <p:set>
                                      <p:cBhvr>
                                        <p:cTn dur="1" fill="hold">
                                          <p:stCondLst>
                                            <p:cond delay="0"/>
                                          </p:stCondLst>
                                        </p:cTn>
                                        <p:tgtEl>
                                          <p:spTgt spid="965"/>
                                        </p:tgtEl>
                                        <p:attrNameLst>
                                          <p:attrName>style.visibility</p:attrName>
                                        </p:attrNameLst>
                                      </p:cBhvr>
                                      <p:to>
                                        <p:strVal val="visible"/>
                                      </p:to>
                                    </p:set>
                                    <p:animEffect filter="fade" transition="in">
                                      <p:cBhvr>
                                        <p:cTn dur="500"/>
                                        <p:tgtEl>
                                          <p:spTgt spid="9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6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 – Rescaling the Denominator</a:t>
            </a:r>
            <a:endParaRPr/>
          </a:p>
        </p:txBody>
      </p:sp>
      <p:sp>
        <p:nvSpPr>
          <p:cNvPr id="971" name="Google Shape;971;p68"/>
          <p:cNvSpPr txBox="1"/>
          <p:nvPr/>
        </p:nvSpPr>
        <p:spPr>
          <a:xfrm>
            <a:off x="367332" y="1679285"/>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0</a:t>
            </a:r>
            <a:endParaRPr sz="1400">
              <a:solidFill>
                <a:schemeClr val="dk1"/>
              </a:solidFill>
              <a:latin typeface="Arial"/>
              <a:ea typeface="Arial"/>
              <a:cs typeface="Arial"/>
              <a:sym typeface="Arial"/>
            </a:endParaRPr>
          </a:p>
        </p:txBody>
      </p:sp>
      <p:sp>
        <p:nvSpPr>
          <p:cNvPr id="972" name="Google Shape;972;p68"/>
          <p:cNvSpPr txBox="1"/>
          <p:nvPr/>
        </p:nvSpPr>
        <p:spPr>
          <a:xfrm>
            <a:off x="396334" y="2862493"/>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1</a:t>
            </a:r>
            <a:endParaRPr sz="1400">
              <a:solidFill>
                <a:schemeClr val="dk1"/>
              </a:solidFill>
              <a:latin typeface="Arial"/>
              <a:ea typeface="Arial"/>
              <a:cs typeface="Arial"/>
              <a:sym typeface="Arial"/>
            </a:endParaRPr>
          </a:p>
        </p:txBody>
      </p:sp>
      <p:cxnSp>
        <p:nvCxnSpPr>
          <p:cNvPr id="973" name="Google Shape;973;p68"/>
          <p:cNvCxnSpPr/>
          <p:nvPr/>
        </p:nvCxnSpPr>
        <p:spPr>
          <a:xfrm>
            <a:off x="311700" y="3829050"/>
            <a:ext cx="8870950" cy="0"/>
          </a:xfrm>
          <a:prstGeom prst="straightConnector1">
            <a:avLst/>
          </a:prstGeom>
          <a:noFill/>
          <a:ln cap="flat" cmpd="sng" w="19050">
            <a:solidFill>
              <a:schemeClr val="accent1"/>
            </a:solidFill>
            <a:prstDash val="solid"/>
            <a:miter lim="800000"/>
            <a:headEnd len="sm" w="sm" type="none"/>
            <a:tailEnd len="sm" w="sm" type="none"/>
          </a:ln>
        </p:spPr>
      </p:cxnSp>
      <p:sp>
        <p:nvSpPr>
          <p:cNvPr id="974" name="Google Shape;974;p68"/>
          <p:cNvSpPr txBox="1"/>
          <p:nvPr/>
        </p:nvSpPr>
        <p:spPr>
          <a:xfrm>
            <a:off x="437609" y="4227871"/>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Final</a:t>
            </a:r>
            <a:endParaRPr sz="1400">
              <a:solidFill>
                <a:schemeClr val="dk1"/>
              </a:solidFill>
              <a:latin typeface="Arial"/>
              <a:ea typeface="Arial"/>
              <a:cs typeface="Arial"/>
              <a:sym typeface="Arial"/>
            </a:endParaRPr>
          </a:p>
        </p:txBody>
      </p:sp>
      <p:sp>
        <p:nvSpPr>
          <p:cNvPr id="975" name="Google Shape;975;p68"/>
          <p:cNvSpPr/>
          <p:nvPr/>
        </p:nvSpPr>
        <p:spPr>
          <a:xfrm>
            <a:off x="1179931" y="1452511"/>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8-8</a:t>
            </a:r>
            <a:endParaRPr sz="1400">
              <a:solidFill>
                <a:schemeClr val="lt1"/>
              </a:solidFill>
              <a:latin typeface="Arial"/>
              <a:ea typeface="Arial"/>
              <a:cs typeface="Arial"/>
              <a:sym typeface="Arial"/>
            </a:endParaRPr>
          </a:p>
        </p:txBody>
      </p:sp>
      <p:sp>
        <p:nvSpPr>
          <p:cNvPr id="976" name="Google Shape;976;p68"/>
          <p:cNvSpPr/>
          <p:nvPr/>
        </p:nvSpPr>
        <p:spPr>
          <a:xfrm>
            <a:off x="1179931" y="1881725"/>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2-3</a:t>
            </a:r>
            <a:endParaRPr sz="1400">
              <a:solidFill>
                <a:schemeClr val="lt1"/>
              </a:solidFill>
              <a:latin typeface="Arial"/>
              <a:ea typeface="Arial"/>
              <a:cs typeface="Arial"/>
              <a:sym typeface="Arial"/>
            </a:endParaRPr>
          </a:p>
        </p:txBody>
      </p:sp>
      <p:sp>
        <p:nvSpPr>
          <p:cNvPr id="977" name="Google Shape;977;p68"/>
          <p:cNvSpPr/>
          <p:nvPr/>
        </p:nvSpPr>
        <p:spPr>
          <a:xfrm>
            <a:off x="1179931" y="2681357"/>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2-8</a:t>
            </a:r>
            <a:endParaRPr sz="1400">
              <a:solidFill>
                <a:schemeClr val="lt1"/>
              </a:solidFill>
              <a:latin typeface="Arial"/>
              <a:ea typeface="Arial"/>
              <a:cs typeface="Arial"/>
              <a:sym typeface="Arial"/>
            </a:endParaRPr>
          </a:p>
        </p:txBody>
      </p:sp>
      <p:sp>
        <p:nvSpPr>
          <p:cNvPr id="978" name="Google Shape;978;p68"/>
          <p:cNvSpPr/>
          <p:nvPr/>
        </p:nvSpPr>
        <p:spPr>
          <a:xfrm>
            <a:off x="1174584" y="3087141"/>
            <a:ext cx="1299076" cy="257175"/>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Scaling = e</a:t>
            </a:r>
            <a:r>
              <a:rPr baseline="30000" lang="en" sz="1400">
                <a:solidFill>
                  <a:schemeClr val="lt1"/>
                </a:solidFill>
                <a:latin typeface="Arial"/>
                <a:ea typeface="Arial"/>
                <a:cs typeface="Arial"/>
                <a:sym typeface="Arial"/>
              </a:rPr>
              <a:t>3-3</a:t>
            </a:r>
            <a:endParaRPr sz="1400">
              <a:solidFill>
                <a:schemeClr val="lt1"/>
              </a:solidFill>
              <a:latin typeface="Arial"/>
              <a:ea typeface="Arial"/>
              <a:cs typeface="Arial"/>
              <a:sym typeface="Arial"/>
            </a:endParaRPr>
          </a:p>
        </p:txBody>
      </p:sp>
      <p:sp>
        <p:nvSpPr>
          <p:cNvPr id="979" name="Google Shape;979;p68"/>
          <p:cNvSpPr/>
          <p:nvPr/>
        </p:nvSpPr>
        <p:spPr>
          <a:xfrm>
            <a:off x="5909891" y="4102277"/>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980" name="Google Shape;980;p68"/>
          <p:cNvSpPr/>
          <p:nvPr/>
        </p:nvSpPr>
        <p:spPr>
          <a:xfrm>
            <a:off x="5909891" y="4555108"/>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981" name="Google Shape;981;p68"/>
          <p:cNvSpPr/>
          <p:nvPr/>
        </p:nvSpPr>
        <p:spPr>
          <a:xfrm>
            <a:off x="2954630" y="2715441"/>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2-2</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-1-2</a:t>
            </a:r>
            <a:endParaRPr baseline="30000" sz="1100">
              <a:solidFill>
                <a:schemeClr val="lt1"/>
              </a:solidFill>
              <a:latin typeface="Arial"/>
              <a:ea typeface="Arial"/>
              <a:cs typeface="Arial"/>
              <a:sym typeface="Arial"/>
            </a:endParaRPr>
          </a:p>
        </p:txBody>
      </p:sp>
      <p:sp>
        <p:nvSpPr>
          <p:cNvPr id="982" name="Google Shape;982;p68"/>
          <p:cNvSpPr/>
          <p:nvPr/>
        </p:nvSpPr>
        <p:spPr>
          <a:xfrm>
            <a:off x="2954629" y="3078974"/>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983" name="Google Shape;983;p68"/>
          <p:cNvSpPr/>
          <p:nvPr/>
        </p:nvSpPr>
        <p:spPr>
          <a:xfrm>
            <a:off x="3004880" y="1452511"/>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endParaRPr baseline="30000" sz="1100">
              <a:solidFill>
                <a:schemeClr val="lt1"/>
              </a:solidFill>
              <a:latin typeface="Arial"/>
              <a:ea typeface="Arial"/>
              <a:cs typeface="Arial"/>
              <a:sym typeface="Arial"/>
            </a:endParaRPr>
          </a:p>
        </p:txBody>
      </p:sp>
      <p:sp>
        <p:nvSpPr>
          <p:cNvPr id="984" name="Google Shape;984;p68"/>
          <p:cNvSpPr/>
          <p:nvPr/>
        </p:nvSpPr>
        <p:spPr>
          <a:xfrm>
            <a:off x="3004880" y="1834615"/>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2-2</a:t>
            </a:r>
            <a:endParaRPr baseline="30000" sz="1100">
              <a:solidFill>
                <a:schemeClr val="lt1"/>
              </a:solidFill>
              <a:latin typeface="Arial"/>
              <a:ea typeface="Arial"/>
              <a:cs typeface="Arial"/>
              <a:sym typeface="Arial"/>
            </a:endParaRPr>
          </a:p>
        </p:txBody>
      </p:sp>
      <p:sp>
        <p:nvSpPr>
          <p:cNvPr id="985" name="Google Shape;985;p68"/>
          <p:cNvSpPr/>
          <p:nvPr/>
        </p:nvSpPr>
        <p:spPr>
          <a:xfrm>
            <a:off x="6330892" y="2724616"/>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986" name="Google Shape;986;p68"/>
          <p:cNvSpPr/>
          <p:nvPr/>
        </p:nvSpPr>
        <p:spPr>
          <a:xfrm>
            <a:off x="6330891" y="3088148"/>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987" name="Google Shape;987;p68"/>
          <p:cNvSpPr/>
          <p:nvPr/>
        </p:nvSpPr>
        <p:spPr>
          <a:xfrm>
            <a:off x="6330891" y="1459191"/>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endParaRPr baseline="30000" sz="1100">
              <a:solidFill>
                <a:schemeClr val="lt1"/>
              </a:solidFill>
              <a:latin typeface="Arial"/>
              <a:ea typeface="Arial"/>
              <a:cs typeface="Arial"/>
              <a:sym typeface="Arial"/>
            </a:endParaRPr>
          </a:p>
        </p:txBody>
      </p:sp>
      <p:sp>
        <p:nvSpPr>
          <p:cNvPr id="988" name="Google Shape;988;p68"/>
          <p:cNvSpPr/>
          <p:nvPr/>
        </p:nvSpPr>
        <p:spPr>
          <a:xfrm>
            <a:off x="6330891" y="1841296"/>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endParaRPr baseline="30000" sz="1100">
              <a:solidFill>
                <a:schemeClr val="lt1"/>
              </a:solidFill>
              <a:latin typeface="Arial"/>
              <a:ea typeface="Arial"/>
              <a:cs typeface="Arial"/>
              <a:sym typeface="Arial"/>
            </a:endParaRPr>
          </a:p>
        </p:txBody>
      </p:sp>
      <p:sp>
        <p:nvSpPr>
          <p:cNvPr id="989" name="Google Shape;989;p68"/>
          <p:cNvSpPr txBox="1"/>
          <p:nvPr/>
        </p:nvSpPr>
        <p:spPr>
          <a:xfrm>
            <a:off x="6693992" y="2225843"/>
            <a:ext cx="1387475"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990" name="Google Shape;990;p68"/>
          <p:cNvSpPr/>
          <p:nvPr/>
        </p:nvSpPr>
        <p:spPr>
          <a:xfrm>
            <a:off x="4350466" y="2723609"/>
            <a:ext cx="1559426"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2-8 </a:t>
            </a:r>
            <a:r>
              <a:rPr lang="en" sz="1100">
                <a:solidFill>
                  <a:schemeClr val="lt1"/>
                </a:solidFill>
                <a:latin typeface="Arial"/>
                <a:ea typeface="Arial"/>
                <a:cs typeface="Arial"/>
                <a:sym typeface="Arial"/>
              </a:rPr>
              <a:t>(</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2-2</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a:t>
            </a:r>
            <a:endParaRPr baseline="30000" sz="1100">
              <a:solidFill>
                <a:schemeClr val="lt1"/>
              </a:solidFill>
              <a:latin typeface="Arial"/>
              <a:ea typeface="Arial"/>
              <a:cs typeface="Arial"/>
              <a:sym typeface="Arial"/>
            </a:endParaRPr>
          </a:p>
        </p:txBody>
      </p:sp>
      <p:sp>
        <p:nvSpPr>
          <p:cNvPr id="991" name="Google Shape;991;p68"/>
          <p:cNvSpPr/>
          <p:nvPr/>
        </p:nvSpPr>
        <p:spPr>
          <a:xfrm>
            <a:off x="4350465" y="3087141"/>
            <a:ext cx="1559426"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 </a:t>
            </a:r>
            <a:r>
              <a:rPr lang="en" sz="1100">
                <a:solidFill>
                  <a:schemeClr val="lt1"/>
                </a:solidFill>
                <a:latin typeface="Arial"/>
                <a:ea typeface="Arial"/>
                <a:cs typeface="Arial"/>
                <a:sym typeface="Arial"/>
              </a:rPr>
              <a:t>(</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r>
              <a:rPr lang="en" sz="1100">
                <a:solidFill>
                  <a:schemeClr val="lt1"/>
                </a:solidFill>
                <a:latin typeface="Arial"/>
                <a:ea typeface="Arial"/>
                <a:cs typeface="Arial"/>
                <a:sym typeface="Arial"/>
              </a:rPr>
              <a:t> )</a:t>
            </a:r>
            <a:endParaRPr baseline="30000" sz="1100">
              <a:solidFill>
                <a:schemeClr val="lt1"/>
              </a:solidFill>
              <a:latin typeface="Arial"/>
              <a:ea typeface="Arial"/>
              <a:cs typeface="Arial"/>
              <a:sym typeface="Arial"/>
            </a:endParaRPr>
          </a:p>
        </p:txBody>
      </p:sp>
      <p:sp>
        <p:nvSpPr>
          <p:cNvPr id="992" name="Google Shape;992;p68"/>
          <p:cNvSpPr/>
          <p:nvPr/>
        </p:nvSpPr>
        <p:spPr>
          <a:xfrm>
            <a:off x="4350465" y="1460678"/>
            <a:ext cx="1559426"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8-8 </a:t>
            </a:r>
            <a:r>
              <a:rPr lang="en" sz="1100">
                <a:solidFill>
                  <a:schemeClr val="lt1"/>
                </a:solidFill>
                <a:latin typeface="Arial"/>
                <a:ea typeface="Arial"/>
                <a:cs typeface="Arial"/>
                <a:sym typeface="Arial"/>
              </a:rPr>
              <a:t>(</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 </a:t>
            </a:r>
            <a:r>
              <a:rPr lang="en" sz="1100">
                <a:solidFill>
                  <a:schemeClr val="lt1"/>
                </a:solidFill>
                <a:latin typeface="Arial"/>
                <a:ea typeface="Arial"/>
                <a:cs typeface="Arial"/>
                <a:sym typeface="Arial"/>
              </a:rPr>
              <a:t>)</a:t>
            </a:r>
            <a:endParaRPr baseline="30000" sz="1100">
              <a:solidFill>
                <a:schemeClr val="lt1"/>
              </a:solidFill>
              <a:latin typeface="Arial"/>
              <a:ea typeface="Arial"/>
              <a:cs typeface="Arial"/>
              <a:sym typeface="Arial"/>
            </a:endParaRPr>
          </a:p>
        </p:txBody>
      </p:sp>
      <p:sp>
        <p:nvSpPr>
          <p:cNvPr id="993" name="Google Shape;993;p68"/>
          <p:cNvSpPr/>
          <p:nvPr/>
        </p:nvSpPr>
        <p:spPr>
          <a:xfrm>
            <a:off x="4350465" y="1842783"/>
            <a:ext cx="1559426"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2-3 </a:t>
            </a:r>
            <a:r>
              <a:rPr lang="en" sz="1100">
                <a:solidFill>
                  <a:schemeClr val="lt1"/>
                </a:solidFill>
                <a:latin typeface="Arial"/>
                <a:ea typeface="Arial"/>
                <a:cs typeface="Arial"/>
                <a:sym typeface="Arial"/>
              </a:rPr>
              <a:t>(</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2-2</a:t>
            </a:r>
            <a:r>
              <a:rPr lang="en" sz="1100">
                <a:solidFill>
                  <a:schemeClr val="lt1"/>
                </a:solidFill>
                <a:latin typeface="Arial"/>
                <a:ea typeface="Arial"/>
                <a:cs typeface="Arial"/>
                <a:sym typeface="Arial"/>
              </a:rPr>
              <a:t> )</a:t>
            </a:r>
            <a:endParaRPr baseline="30000" sz="1100">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6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 – Combine two blocks</a:t>
            </a:r>
            <a:endParaRPr/>
          </a:p>
        </p:txBody>
      </p:sp>
      <p:sp>
        <p:nvSpPr>
          <p:cNvPr id="999" name="Google Shape;999;p69"/>
          <p:cNvSpPr/>
          <p:nvPr/>
        </p:nvSpPr>
        <p:spPr>
          <a:xfrm>
            <a:off x="1907674" y="1434050"/>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sp>
        <p:nvSpPr>
          <p:cNvPr id="1000" name="Google Shape;1000;p69"/>
          <p:cNvSpPr/>
          <p:nvPr/>
        </p:nvSpPr>
        <p:spPr>
          <a:xfrm>
            <a:off x="1907673" y="1843625"/>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1001" name="Google Shape;1001;p69"/>
          <p:cNvSpPr/>
          <p:nvPr/>
        </p:nvSpPr>
        <p:spPr>
          <a:xfrm>
            <a:off x="1907674" y="2632241"/>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1002" name="Google Shape;1002;p69"/>
          <p:cNvSpPr/>
          <p:nvPr/>
        </p:nvSpPr>
        <p:spPr>
          <a:xfrm>
            <a:off x="1907673" y="3041816"/>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sp>
        <p:nvSpPr>
          <p:cNvPr id="1003" name="Google Shape;1003;p69"/>
          <p:cNvSpPr txBox="1"/>
          <p:nvPr/>
        </p:nvSpPr>
        <p:spPr>
          <a:xfrm>
            <a:off x="976932" y="1641185"/>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0</a:t>
            </a:r>
            <a:endParaRPr sz="1400">
              <a:solidFill>
                <a:schemeClr val="dk1"/>
              </a:solidFill>
              <a:latin typeface="Arial"/>
              <a:ea typeface="Arial"/>
              <a:cs typeface="Arial"/>
              <a:sym typeface="Arial"/>
            </a:endParaRPr>
          </a:p>
        </p:txBody>
      </p:sp>
      <p:sp>
        <p:nvSpPr>
          <p:cNvPr id="1004" name="Google Shape;1004;p69"/>
          <p:cNvSpPr txBox="1"/>
          <p:nvPr/>
        </p:nvSpPr>
        <p:spPr>
          <a:xfrm>
            <a:off x="1005934" y="2824393"/>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Step 1</a:t>
            </a:r>
            <a:endParaRPr sz="1400">
              <a:solidFill>
                <a:schemeClr val="dk1"/>
              </a:solidFill>
              <a:latin typeface="Arial"/>
              <a:ea typeface="Arial"/>
              <a:cs typeface="Arial"/>
              <a:sym typeface="Arial"/>
            </a:endParaRPr>
          </a:p>
        </p:txBody>
      </p:sp>
      <p:graphicFrame>
        <p:nvGraphicFramePr>
          <p:cNvPr id="1005" name="Google Shape;1005;p69"/>
          <p:cNvGraphicFramePr/>
          <p:nvPr/>
        </p:nvGraphicFramePr>
        <p:xfrm>
          <a:off x="3327399" y="3916790"/>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4-8</a:t>
                      </a:r>
                      <a:r>
                        <a:rPr lang="en" sz="1400">
                          <a:solidFill>
                            <a:schemeClr val="lt1"/>
                          </a:solidFill>
                        </a:rPr>
                        <a:t>+3e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2-8-</a:t>
                      </a:r>
                      <a:r>
                        <a:rPr lang="en" sz="1400">
                          <a:solidFill>
                            <a:schemeClr val="lt1"/>
                          </a:solidFill>
                        </a:rPr>
                        <a:t>3e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4-8</a:t>
                      </a:r>
                      <a:r>
                        <a:rPr lang="en" sz="1400">
                          <a:solidFill>
                            <a:schemeClr val="lt1"/>
                          </a:solidFill>
                        </a:rPr>
                        <a:t>+4e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2-8</a:t>
                      </a:r>
                      <a:r>
                        <a:rPr lang="en" sz="1400">
                          <a:solidFill>
                            <a:schemeClr val="lt1"/>
                          </a:solidFill>
                        </a:rPr>
                        <a:t>+e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1-3</a:t>
                      </a:r>
                      <a:r>
                        <a:rPr lang="en" sz="1400">
                          <a:solidFill>
                            <a:schemeClr val="lt1"/>
                          </a:solidFill>
                        </a:rPr>
                        <a:t>+3e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3-3-</a:t>
                      </a:r>
                      <a:r>
                        <a:rPr lang="en" sz="1400">
                          <a:solidFill>
                            <a:schemeClr val="lt1"/>
                          </a:solidFill>
                        </a:rPr>
                        <a:t>3e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1-3</a:t>
                      </a:r>
                      <a:r>
                        <a:rPr lang="en" sz="1400">
                          <a:solidFill>
                            <a:schemeClr val="lt1"/>
                          </a:solidFill>
                        </a:rPr>
                        <a:t>+4e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3-3</a:t>
                      </a:r>
                      <a:r>
                        <a:rPr lang="en" sz="1400">
                          <a:solidFill>
                            <a:schemeClr val="lt1"/>
                          </a:solidFill>
                        </a:rPr>
                        <a:t>+e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r>
            </a:tbl>
          </a:graphicData>
        </a:graphic>
      </p:graphicFrame>
      <p:sp>
        <p:nvSpPr>
          <p:cNvPr id="1006" name="Google Shape;1006;p69"/>
          <p:cNvSpPr/>
          <p:nvPr/>
        </p:nvSpPr>
        <p:spPr>
          <a:xfrm>
            <a:off x="1907672" y="4029334"/>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sp>
        <p:nvSpPr>
          <p:cNvPr id="1007" name="Google Shape;1007;p69"/>
          <p:cNvSpPr/>
          <p:nvPr/>
        </p:nvSpPr>
        <p:spPr>
          <a:xfrm>
            <a:off x="1907672" y="4419859"/>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cxnSp>
        <p:nvCxnSpPr>
          <p:cNvPr id="1008" name="Google Shape;1008;p69"/>
          <p:cNvCxnSpPr/>
          <p:nvPr/>
        </p:nvCxnSpPr>
        <p:spPr>
          <a:xfrm>
            <a:off x="911225" y="3635375"/>
            <a:ext cx="7249795" cy="0"/>
          </a:xfrm>
          <a:prstGeom prst="straightConnector1">
            <a:avLst/>
          </a:prstGeom>
          <a:noFill/>
          <a:ln cap="flat" cmpd="sng" w="19050">
            <a:solidFill>
              <a:schemeClr val="accent1"/>
            </a:solidFill>
            <a:prstDash val="solid"/>
            <a:miter lim="800000"/>
            <a:headEnd len="sm" w="sm" type="none"/>
            <a:tailEnd len="sm" w="sm" type="none"/>
          </a:ln>
        </p:spPr>
      </p:cxnSp>
      <p:sp>
        <p:nvSpPr>
          <p:cNvPr id="1009" name="Google Shape;1009;p69"/>
          <p:cNvSpPr txBox="1"/>
          <p:nvPr/>
        </p:nvSpPr>
        <p:spPr>
          <a:xfrm>
            <a:off x="1047209" y="4189771"/>
            <a:ext cx="93074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Final</a:t>
            </a:r>
            <a:endParaRPr sz="1400">
              <a:solidFill>
                <a:schemeClr val="dk1"/>
              </a:solidFill>
              <a:latin typeface="Arial"/>
              <a:ea typeface="Arial"/>
              <a:cs typeface="Arial"/>
              <a:sym typeface="Arial"/>
            </a:endParaRPr>
          </a:p>
        </p:txBody>
      </p:sp>
      <p:sp>
        <p:nvSpPr>
          <p:cNvPr id="1010" name="Google Shape;1010;p69"/>
          <p:cNvSpPr/>
          <p:nvPr/>
        </p:nvSpPr>
        <p:spPr>
          <a:xfrm>
            <a:off x="6168250" y="3998908"/>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1011" name="Google Shape;1011;p69"/>
          <p:cNvSpPr/>
          <p:nvPr/>
        </p:nvSpPr>
        <p:spPr>
          <a:xfrm>
            <a:off x="6168250" y="4451739"/>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1012" name="Google Shape;1012;p69"/>
          <p:cNvSpPr txBox="1"/>
          <p:nvPr/>
        </p:nvSpPr>
        <p:spPr>
          <a:xfrm>
            <a:off x="5904176" y="3926830"/>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1013" name="Google Shape;1013;p69"/>
          <p:cNvSpPr txBox="1"/>
          <p:nvPr/>
        </p:nvSpPr>
        <p:spPr>
          <a:xfrm>
            <a:off x="5888509" y="4316113"/>
            <a:ext cx="26393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1014" name="Google Shape;1014;p69"/>
          <p:cNvSpPr/>
          <p:nvPr/>
        </p:nvSpPr>
        <p:spPr>
          <a:xfrm>
            <a:off x="6613748" y="2690425"/>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1015" name="Google Shape;1015;p69"/>
          <p:cNvSpPr/>
          <p:nvPr/>
        </p:nvSpPr>
        <p:spPr>
          <a:xfrm>
            <a:off x="6613748" y="3053957"/>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1016" name="Google Shape;1016;p69"/>
          <p:cNvSpPr/>
          <p:nvPr/>
        </p:nvSpPr>
        <p:spPr>
          <a:xfrm>
            <a:off x="6591209" y="1451609"/>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endParaRPr baseline="30000" sz="1100">
              <a:solidFill>
                <a:schemeClr val="lt1"/>
              </a:solidFill>
              <a:latin typeface="Arial"/>
              <a:ea typeface="Arial"/>
              <a:cs typeface="Arial"/>
              <a:sym typeface="Arial"/>
            </a:endParaRPr>
          </a:p>
        </p:txBody>
      </p:sp>
      <p:sp>
        <p:nvSpPr>
          <p:cNvPr id="1017" name="Google Shape;1017;p69"/>
          <p:cNvSpPr/>
          <p:nvPr/>
        </p:nvSpPr>
        <p:spPr>
          <a:xfrm>
            <a:off x="6591209" y="1833713"/>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endParaRPr baseline="30000" sz="1100">
              <a:solidFill>
                <a:schemeClr val="lt1"/>
              </a:solidFill>
              <a:latin typeface="Arial"/>
              <a:ea typeface="Arial"/>
              <a:cs typeface="Arial"/>
              <a:sym typeface="Arial"/>
            </a:endParaRPr>
          </a:p>
        </p:txBody>
      </p:sp>
      <p:graphicFrame>
        <p:nvGraphicFramePr>
          <p:cNvPr id="1018" name="Google Shape;1018;p69"/>
          <p:cNvGraphicFramePr/>
          <p:nvPr/>
        </p:nvGraphicFramePr>
        <p:xfrm>
          <a:off x="3327399" y="1395690"/>
          <a:ext cx="3000000" cy="3000000"/>
        </p:xfrm>
        <a:graphic>
          <a:graphicData uri="http://schemas.openxmlformats.org/drawingml/2006/table">
            <a:tbl>
              <a:tblPr bandRow="1">
                <a:noFill/>
                <a:tableStyleId>{EE193DD2-6E87-43B2-945D-4C0B9107F9EB}</a:tableStyleId>
              </a:tblPr>
              <a:tblGrid>
                <a:gridCol w="1319525"/>
                <a:gridCol w="131952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1-3</a:t>
                      </a:r>
                      <a:r>
                        <a:rPr lang="en" sz="1500">
                          <a:solidFill>
                            <a:schemeClr val="lt1"/>
                          </a:solidFill>
                        </a:rPr>
                        <a:t>+3e</a:t>
                      </a:r>
                      <a:r>
                        <a:rPr baseline="30000" lang="en" sz="1500">
                          <a:solidFill>
                            <a:schemeClr val="lt1"/>
                          </a:solidFill>
                        </a:rPr>
                        <a:t>2-3</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1-3</a:t>
                      </a:r>
                      <a:r>
                        <a:rPr lang="en" sz="1500">
                          <a:solidFill>
                            <a:schemeClr val="lt1"/>
                          </a:solidFill>
                        </a:rPr>
                        <a:t>+4e</a:t>
                      </a:r>
                      <a:r>
                        <a:rPr baseline="30000" lang="en" sz="1500">
                          <a:solidFill>
                            <a:schemeClr val="lt1"/>
                          </a:solidFill>
                        </a:rPr>
                        <a:t>2-3</a:t>
                      </a:r>
                      <a:endParaRPr baseline="30000" sz="1500">
                        <a:solidFill>
                          <a:schemeClr val="lt1"/>
                        </a:solidFill>
                      </a:endParaRPr>
                    </a:p>
                  </a:txBody>
                  <a:tcPr marT="0" marB="0" marR="0" marL="0" anchor="ctr">
                    <a:solidFill>
                      <a:srgbClr val="0F4861"/>
                    </a:solidFill>
                  </a:tcPr>
                </a:tc>
              </a:tr>
            </a:tbl>
          </a:graphicData>
        </a:graphic>
      </p:graphicFrame>
      <p:graphicFrame>
        <p:nvGraphicFramePr>
          <p:cNvPr id="1019" name="Google Shape;1019;p69"/>
          <p:cNvGraphicFramePr/>
          <p:nvPr/>
        </p:nvGraphicFramePr>
        <p:xfrm>
          <a:off x="3327399" y="2621986"/>
          <a:ext cx="3000000" cy="3000000"/>
        </p:xfrm>
        <a:graphic>
          <a:graphicData uri="http://schemas.openxmlformats.org/drawingml/2006/table">
            <a:tbl>
              <a:tblPr bandRow="1">
                <a:noFill/>
                <a:tableStyleId>{EE193DD2-6E87-43B2-945D-4C0B9107F9EB}</a:tableStyleId>
              </a:tblPr>
              <a:tblGrid>
                <a:gridCol w="1319525"/>
                <a:gridCol w="131952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2-8</a:t>
                      </a:r>
                      <a:r>
                        <a:rPr lang="en" sz="1500">
                          <a:solidFill>
                            <a:schemeClr val="lt1"/>
                          </a:solidFill>
                        </a:rPr>
                        <a:t>-3e</a:t>
                      </a:r>
                      <a:r>
                        <a:rPr baseline="30000" lang="en" sz="1500">
                          <a:solidFill>
                            <a:schemeClr val="lt1"/>
                          </a:solidFill>
                        </a:rPr>
                        <a:t>-1-8</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2-8</a:t>
                      </a:r>
                      <a:r>
                        <a:rPr lang="en" sz="1500">
                          <a:solidFill>
                            <a:schemeClr val="lt1"/>
                          </a:solidFill>
                        </a:rPr>
                        <a:t>+e</a:t>
                      </a:r>
                      <a:r>
                        <a:rPr baseline="30000" lang="en" sz="1500">
                          <a:solidFill>
                            <a:schemeClr val="lt1"/>
                          </a:solidFill>
                        </a:rPr>
                        <a:t>-1-8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a:t>
                      </a:r>
                      <a:endParaRPr baseline="30000" sz="1500">
                        <a:solidFill>
                          <a:schemeClr val="lt1"/>
                        </a:solidFill>
                      </a:endParaRPr>
                    </a:p>
                  </a:txBody>
                  <a:tcPr marT="0" marB="0" marR="0" marL="0" anchor="ctr">
                    <a:solidFill>
                      <a:srgbClr val="0F4861"/>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7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a:t>
            </a:r>
            <a:endParaRPr/>
          </a:p>
        </p:txBody>
      </p:sp>
      <p:graphicFrame>
        <p:nvGraphicFramePr>
          <p:cNvPr id="1025" name="Google Shape;1025;p70"/>
          <p:cNvGraphicFramePr/>
          <p:nvPr/>
        </p:nvGraphicFramePr>
        <p:xfrm>
          <a:off x="1922296" y="1112975"/>
          <a:ext cx="3000000" cy="3000000"/>
        </p:xfrm>
        <a:graphic>
          <a:graphicData uri="http://schemas.openxmlformats.org/drawingml/2006/table">
            <a:tbl>
              <a:tblPr bandRow="1">
                <a:noFill/>
                <a:tableStyleId>{6D6CBB51-25CD-4269-8C0D-CE281DC38EA4}</a:tableStyleId>
              </a:tblPr>
              <a:tblGrid>
                <a:gridCol w="397725"/>
                <a:gridCol w="397725"/>
              </a:tblGrid>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bl>
          </a:graphicData>
        </a:graphic>
      </p:graphicFrame>
      <p:graphicFrame>
        <p:nvGraphicFramePr>
          <p:cNvPr id="1026" name="Google Shape;1026;p70"/>
          <p:cNvGraphicFramePr/>
          <p:nvPr/>
        </p:nvGraphicFramePr>
        <p:xfrm>
          <a:off x="1922296" y="2909099"/>
          <a:ext cx="3000000" cy="3000000"/>
        </p:xfrm>
        <a:graphic>
          <a:graphicData uri="http://schemas.openxmlformats.org/drawingml/2006/table">
            <a:tbl>
              <a:tblPr bandRow="1">
                <a:noFill/>
                <a:tableStyleId>{6475CB33-74FA-4E0B-A67E-5448B8DA8A8F}</a:tableStyleId>
              </a:tblPr>
              <a:tblGrid>
                <a:gridCol w="397725"/>
                <a:gridCol w="397725"/>
              </a:tblGrid>
              <a:tr h="364200">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lt1"/>
                          </a:solidFill>
                        </a:rPr>
                        <a:t>8</a:t>
                      </a:r>
                      <a:endParaRPr sz="1400">
                        <a:solidFill>
                          <a:schemeClr val="lt1"/>
                        </a:solidFill>
                      </a:endParaRPr>
                    </a:p>
                  </a:txBody>
                  <a:tcPr marT="0" marB="0" marR="0" marL="0" anchor="ctr">
                    <a:solidFill>
                      <a:srgbClr val="0C3512"/>
                    </a:solidFill>
                  </a:tcPr>
                </a:tc>
              </a:tr>
              <a:tr h="364200">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0" marB="0" marR="0" marL="0" anchor="ctr">
                    <a:solidFill>
                      <a:srgbClr val="0C3512"/>
                    </a:solidFill>
                  </a:tcPr>
                </a:tc>
              </a:tr>
            </a:tbl>
          </a:graphicData>
        </a:graphic>
      </p:graphicFrame>
      <p:sp>
        <p:nvSpPr>
          <p:cNvPr id="1027" name="Google Shape;1027;p70"/>
          <p:cNvSpPr/>
          <p:nvPr/>
        </p:nvSpPr>
        <p:spPr>
          <a:xfrm>
            <a:off x="2856146" y="2909099"/>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8</a:t>
            </a:r>
            <a:endParaRPr sz="1400">
              <a:solidFill>
                <a:schemeClr val="lt1"/>
              </a:solidFill>
              <a:latin typeface="Arial"/>
              <a:ea typeface="Arial"/>
              <a:cs typeface="Arial"/>
              <a:sym typeface="Arial"/>
            </a:endParaRPr>
          </a:p>
        </p:txBody>
      </p:sp>
      <p:graphicFrame>
        <p:nvGraphicFramePr>
          <p:cNvPr id="1028" name="Google Shape;1028;p70"/>
          <p:cNvGraphicFramePr/>
          <p:nvPr/>
        </p:nvGraphicFramePr>
        <p:xfrm>
          <a:off x="5519571" y="2879478"/>
          <a:ext cx="3000000" cy="3000000"/>
        </p:xfrm>
        <a:graphic>
          <a:graphicData uri="http://schemas.openxmlformats.org/drawingml/2006/table">
            <a:tbl>
              <a:tblPr bandRow="1">
                <a:noFill/>
                <a:tableStyleId>{6475CB33-74FA-4E0B-A67E-5448B8DA8A8F}</a:tableStyleId>
              </a:tblPr>
              <a:tblGrid>
                <a:gridCol w="397725"/>
                <a:gridCol w="397725"/>
              </a:tblGrid>
              <a:tr h="364200">
                <a:tc>
                  <a:txBody>
                    <a:bodyPr/>
                    <a:lstStyle/>
                    <a:p>
                      <a:pPr indent="0" lvl="0" marL="0" marR="0" rtl="0" algn="ctr">
                        <a:spcBef>
                          <a:spcPts val="0"/>
                        </a:spcBef>
                        <a:spcAft>
                          <a:spcPts val="0"/>
                        </a:spcAft>
                        <a:buNone/>
                      </a:pPr>
                      <a:r>
                        <a:rPr lang="en" sz="1500">
                          <a:solidFill>
                            <a:schemeClr val="lt1"/>
                          </a:solidFill>
                        </a:rPr>
                        <a:t>e</a:t>
                      </a:r>
                      <a:r>
                        <a:rPr baseline="30000" lang="en" sz="1500">
                          <a:solidFill>
                            <a:schemeClr val="lt1"/>
                          </a:solidFill>
                        </a:rPr>
                        <a:t>4-8</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8-8</a:t>
                      </a:r>
                      <a:endParaRPr baseline="30000" sz="1500">
                        <a:solidFill>
                          <a:schemeClr val="lt1"/>
                        </a:solidFill>
                      </a:endParaRPr>
                    </a:p>
                  </a:txBody>
                  <a:tcPr marT="0" marB="0" marR="0" marL="0" anchor="ctr">
                    <a:solidFill>
                      <a:srgbClr val="0C3512"/>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1-2</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2-2</a:t>
                      </a:r>
                      <a:endParaRPr baseline="30000" sz="1500">
                        <a:solidFill>
                          <a:schemeClr val="lt1"/>
                        </a:solidFill>
                      </a:endParaRPr>
                    </a:p>
                  </a:txBody>
                  <a:tcPr marT="0" marB="0" marR="0" marL="0" anchor="ctr">
                    <a:solidFill>
                      <a:srgbClr val="0C3512"/>
                    </a:solidFill>
                  </a:tcPr>
                </a:tc>
              </a:tr>
            </a:tbl>
          </a:graphicData>
        </a:graphic>
      </p:graphicFrame>
      <p:sp>
        <p:nvSpPr>
          <p:cNvPr id="1029" name="Google Shape;1029;p70"/>
          <p:cNvSpPr/>
          <p:nvPr/>
        </p:nvSpPr>
        <p:spPr>
          <a:xfrm>
            <a:off x="2856145" y="3318674"/>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graphicFrame>
        <p:nvGraphicFramePr>
          <p:cNvPr id="1030" name="Google Shape;1030;p70"/>
          <p:cNvGraphicFramePr/>
          <p:nvPr/>
        </p:nvGraphicFramePr>
        <p:xfrm>
          <a:off x="6550022" y="1850774"/>
          <a:ext cx="3000000" cy="3000000"/>
        </p:xfrm>
        <a:graphic>
          <a:graphicData uri="http://schemas.openxmlformats.org/drawingml/2006/table">
            <a:tbl>
              <a:tblPr bandRow="1">
                <a:noFill/>
                <a:tableStyleId>{785E4EA9-965B-4A0B-8EB9-9F30A4BD861F}</a:tableStyleId>
              </a:tblPr>
              <a:tblGrid>
                <a:gridCol w="1231875"/>
                <a:gridCol w="1231875"/>
              </a:tblGrid>
              <a:tr h="393300">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0A3041"/>
                    </a:solidFill>
                  </a:tcPr>
                </a:tc>
              </a:tr>
              <a:tr h="393300">
                <a:tc>
                  <a:txBody>
                    <a:bodyPr/>
                    <a:lstStyle/>
                    <a:p>
                      <a:pPr indent="0" lvl="0" marL="0" marR="0" rtl="0" algn="ctr">
                        <a:spcBef>
                          <a:spcPts val="0"/>
                        </a:spcBef>
                        <a:spcAft>
                          <a:spcPts val="0"/>
                        </a:spcAft>
                        <a:buNone/>
                      </a:pPr>
                      <a:r>
                        <a:rPr lang="en" sz="1400">
                          <a:solidFill>
                            <a:schemeClr val="lt1"/>
                          </a:solidFill>
                        </a:rPr>
                        <a:t>3</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0A3041"/>
                    </a:solidFill>
                  </a:tcPr>
                </a:tc>
              </a:tr>
            </a:tbl>
          </a:graphicData>
        </a:graphic>
      </p:graphicFrame>
      <p:graphicFrame>
        <p:nvGraphicFramePr>
          <p:cNvPr id="1031" name="Google Shape;1031;p70"/>
          <p:cNvGraphicFramePr/>
          <p:nvPr/>
        </p:nvGraphicFramePr>
        <p:xfrm>
          <a:off x="6550022" y="2885305"/>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r>
            </a:tbl>
          </a:graphicData>
        </a:graphic>
      </p:graphicFrame>
      <p:graphicFrame>
        <p:nvGraphicFramePr>
          <p:cNvPr id="1032" name="Google Shape;1032;p70"/>
          <p:cNvGraphicFramePr/>
          <p:nvPr/>
        </p:nvGraphicFramePr>
        <p:xfrm>
          <a:off x="130175" y="2914925"/>
          <a:ext cx="3000000" cy="3000000"/>
        </p:xfrm>
        <a:graphic>
          <a:graphicData uri="http://schemas.openxmlformats.org/drawingml/2006/table">
            <a:tbl>
              <a:tblPr bandRow="1">
                <a:noFill/>
                <a:tableStyleId>{EE193DD2-6E87-43B2-945D-4C0B9107F9EB}</a:tableStyleId>
              </a:tblPr>
              <a:tblGrid>
                <a:gridCol w="376975"/>
                <a:gridCol w="376975"/>
                <a:gridCol w="376975"/>
                <a:gridCol w="376975"/>
              </a:tblGrid>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bl>
          </a:graphicData>
        </a:graphic>
      </p:graphicFrame>
      <p:sp>
        <p:nvSpPr>
          <p:cNvPr id="1033" name="Google Shape;1033;p70"/>
          <p:cNvSpPr txBox="1"/>
          <p:nvPr/>
        </p:nvSpPr>
        <p:spPr>
          <a:xfrm>
            <a:off x="4578353" y="3788859"/>
            <a:ext cx="116522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034" name="Google Shape;1034;p70"/>
          <p:cNvSpPr/>
          <p:nvPr/>
        </p:nvSpPr>
        <p:spPr>
          <a:xfrm>
            <a:off x="6396452" y="2732630"/>
            <a:ext cx="2696748" cy="100965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035" name="Google Shape;1035;p70"/>
          <p:cNvSpPr txBox="1"/>
          <p:nvPr/>
        </p:nvSpPr>
        <p:spPr>
          <a:xfrm>
            <a:off x="7683749" y="3810954"/>
            <a:ext cx="66650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036" name="Google Shape;1036;p70"/>
          <p:cNvSpPr/>
          <p:nvPr/>
        </p:nvSpPr>
        <p:spPr>
          <a:xfrm>
            <a:off x="4121775" y="2909100"/>
            <a:ext cx="1359300" cy="257100"/>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8</a:t>
            </a:r>
            <a:endParaRPr sz="1400">
              <a:solidFill>
                <a:schemeClr val="lt1"/>
              </a:solidFill>
              <a:latin typeface="Arial"/>
              <a:ea typeface="Arial"/>
              <a:cs typeface="Arial"/>
              <a:sym typeface="Arial"/>
            </a:endParaRPr>
          </a:p>
        </p:txBody>
      </p:sp>
      <p:sp>
        <p:nvSpPr>
          <p:cNvPr id="1037" name="Google Shape;1037;p70"/>
          <p:cNvSpPr/>
          <p:nvPr/>
        </p:nvSpPr>
        <p:spPr>
          <a:xfrm>
            <a:off x="4121775" y="3314879"/>
            <a:ext cx="1359300" cy="257100"/>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2</a:t>
            </a:r>
            <a:endParaRPr sz="1400">
              <a:solidFill>
                <a:schemeClr val="lt1"/>
              </a:solidFill>
              <a:latin typeface="Arial"/>
              <a:ea typeface="Arial"/>
              <a:cs typeface="Arial"/>
              <a:sym typeface="Arial"/>
            </a:endParaRPr>
          </a:p>
        </p:txBody>
      </p:sp>
      <p:sp>
        <p:nvSpPr>
          <p:cNvPr id="1038" name="Google Shape;1038;p70"/>
          <p:cNvSpPr/>
          <p:nvPr/>
        </p:nvSpPr>
        <p:spPr>
          <a:xfrm>
            <a:off x="4071935" y="2732555"/>
            <a:ext cx="1419300" cy="100980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00">
              <a:solidFill>
                <a:schemeClr val="dk1"/>
              </a:solidFill>
              <a:latin typeface="Arial"/>
              <a:ea typeface="Arial"/>
              <a:cs typeface="Arial"/>
              <a:sym typeface="Arial"/>
            </a:endParaRPr>
          </a:p>
        </p:txBody>
      </p:sp>
      <p:sp>
        <p:nvSpPr>
          <p:cNvPr id="1039" name="Google Shape;1039;p70"/>
          <p:cNvSpPr/>
          <p:nvPr/>
        </p:nvSpPr>
        <p:spPr>
          <a:xfrm>
            <a:off x="5363182" y="3837530"/>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endParaRPr baseline="30000" sz="1100">
              <a:solidFill>
                <a:schemeClr val="lt1"/>
              </a:solidFill>
              <a:latin typeface="Arial"/>
              <a:ea typeface="Arial"/>
              <a:cs typeface="Arial"/>
              <a:sym typeface="Arial"/>
            </a:endParaRPr>
          </a:p>
        </p:txBody>
      </p:sp>
      <p:sp>
        <p:nvSpPr>
          <p:cNvPr id="1040" name="Google Shape;1040;p70"/>
          <p:cNvSpPr/>
          <p:nvPr/>
        </p:nvSpPr>
        <p:spPr>
          <a:xfrm>
            <a:off x="5363182" y="4219634"/>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2-2</a:t>
            </a:r>
            <a:endParaRPr baseline="30000" sz="1100">
              <a:solidFill>
                <a:schemeClr val="lt1"/>
              </a:solidFill>
              <a:latin typeface="Arial"/>
              <a:ea typeface="Arial"/>
              <a:cs typeface="Arial"/>
              <a:sym typeface="Arial"/>
            </a:endParaRPr>
          </a:p>
        </p:txBody>
      </p:sp>
      <p:sp>
        <p:nvSpPr>
          <p:cNvPr id="1041" name="Google Shape;1041;p70"/>
          <p:cNvSpPr txBox="1"/>
          <p:nvPr/>
        </p:nvSpPr>
        <p:spPr>
          <a:xfrm>
            <a:off x="5657316" y="4725090"/>
            <a:ext cx="1165226"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042" name="Google Shape;1042;p70"/>
          <p:cNvSpPr/>
          <p:nvPr/>
        </p:nvSpPr>
        <p:spPr>
          <a:xfrm>
            <a:off x="5222198" y="3668860"/>
            <a:ext cx="1419365" cy="100965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500"/>
                                        <p:tgtEl>
                                          <p:spTgt spid="1038"/>
                                        </p:tgtEl>
                                      </p:cBhvr>
                                    </p:animEffect>
                                  </p:childTnLst>
                                </p:cTn>
                              </p:par>
                              <p:par>
                                <p:cTn fill="hold" nodeType="with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500"/>
                                        <p:tgtEl>
                                          <p:spTgt spid="1033"/>
                                        </p:tgtEl>
                                      </p:cBhvr>
                                    </p:animEffect>
                                  </p:childTnLst>
                                </p:cTn>
                              </p:par>
                              <p:par>
                                <p:cTn fill="hold" nodeType="with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par>
                                <p:cTn fill="hold" nodeType="with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500"/>
                                        <p:tgtEl>
                                          <p:spTgt spid="1041"/>
                                        </p:tgtEl>
                                      </p:cBhvr>
                                    </p:animEffect>
                                  </p:childTnLst>
                                </p:cTn>
                              </p:par>
                              <p:par>
                                <p:cTn fill="hold" nodeType="with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500"/>
                                        <p:tgtEl>
                                          <p:spTgt spid="1034"/>
                                        </p:tgtEl>
                                      </p:cBhvr>
                                    </p:animEffect>
                                  </p:childTnLst>
                                </p:cTn>
                              </p:par>
                              <p:par>
                                <p:cTn fill="hold" nodeType="with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500"/>
                                        <p:tgtEl>
                                          <p:spTgt spid="10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7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FlashAttn</a:t>
            </a:r>
            <a:endParaRPr/>
          </a:p>
        </p:txBody>
      </p:sp>
      <p:graphicFrame>
        <p:nvGraphicFramePr>
          <p:cNvPr id="1048" name="Google Shape;1048;p71"/>
          <p:cNvGraphicFramePr/>
          <p:nvPr/>
        </p:nvGraphicFramePr>
        <p:xfrm>
          <a:off x="203272" y="3058318"/>
          <a:ext cx="3000000" cy="3000000"/>
        </p:xfrm>
        <a:graphic>
          <a:graphicData uri="http://schemas.openxmlformats.org/drawingml/2006/table">
            <a:tbl>
              <a:tblPr bandRow="1">
                <a:noFill/>
                <a:tableStyleId>{EE193DD2-6E87-43B2-945D-4C0B9107F9EB}</a:tableStyleId>
              </a:tblPr>
              <a:tblGrid>
                <a:gridCol w="376975"/>
                <a:gridCol w="376975"/>
                <a:gridCol w="376975"/>
                <a:gridCol w="376975"/>
              </a:tblGrid>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bl>
          </a:graphicData>
        </a:graphic>
      </p:graphicFrame>
      <p:graphicFrame>
        <p:nvGraphicFramePr>
          <p:cNvPr id="1049" name="Google Shape;1049;p71"/>
          <p:cNvGraphicFramePr/>
          <p:nvPr/>
        </p:nvGraphicFramePr>
        <p:xfrm>
          <a:off x="2013023" y="1340643"/>
          <a:ext cx="3000000" cy="3000000"/>
        </p:xfrm>
        <a:graphic>
          <a:graphicData uri="http://schemas.openxmlformats.org/drawingml/2006/table">
            <a:tbl>
              <a:tblPr bandRow="1">
                <a:noFill/>
                <a:tableStyleId>{6D6CBB51-25CD-4269-8C0D-CE281DC38EA4}</a:tableStyleId>
              </a:tblPr>
              <a:tblGrid>
                <a:gridCol w="376975"/>
                <a:gridCol w="376975"/>
              </a:tblGrid>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r>
              <a:tr h="370025">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FAE2D5"/>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34300" marB="34300" marR="68600" marL="68600" anchor="ctr">
                    <a:solidFill>
                      <a:srgbClr val="FAE2D5"/>
                    </a:solidFill>
                  </a:tcPr>
                </a:tc>
              </a:tr>
            </a:tbl>
          </a:graphicData>
        </a:graphic>
      </p:graphicFrame>
      <p:graphicFrame>
        <p:nvGraphicFramePr>
          <p:cNvPr id="1050" name="Google Shape;1050;p71"/>
          <p:cNvGraphicFramePr/>
          <p:nvPr/>
        </p:nvGraphicFramePr>
        <p:xfrm>
          <a:off x="2013024" y="3064145"/>
          <a:ext cx="3000000" cy="3000000"/>
        </p:xfrm>
        <a:graphic>
          <a:graphicData uri="http://schemas.openxmlformats.org/drawingml/2006/table">
            <a:tbl>
              <a:tblPr bandRow="1">
                <a:noFill/>
                <a:tableStyleId>{6475CB33-74FA-4E0B-A67E-5448B8DA8A8F}</a:tableStyleId>
              </a:tblPr>
              <a:tblGrid>
                <a:gridCol w="376975"/>
                <a:gridCol w="376975"/>
              </a:tblGrid>
              <a:tr h="364200">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0" marB="0" marR="0" marL="0" anchor="ctr">
                    <a:solidFill>
                      <a:srgbClr val="BEF2C7"/>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0" marB="0" marR="0" marL="0" anchor="ctr">
                    <a:solidFill>
                      <a:srgbClr val="BEF2C7"/>
                    </a:solidFill>
                  </a:tcPr>
                </a:tc>
              </a:tr>
              <a:tr h="364200">
                <a:tc>
                  <a:txBody>
                    <a:bodyPr/>
                    <a:lstStyle/>
                    <a:p>
                      <a:pPr indent="0" lvl="0" marL="0" marR="0" rtl="0" algn="ctr">
                        <a:spcBef>
                          <a:spcPts val="0"/>
                        </a:spcBef>
                        <a:spcAft>
                          <a:spcPts val="0"/>
                        </a:spcAft>
                        <a:buNone/>
                      </a:pPr>
                      <a:r>
                        <a:rPr lang="en" sz="1400">
                          <a:solidFill>
                            <a:schemeClr val="dk1"/>
                          </a:solidFill>
                        </a:rPr>
                        <a:t>3</a:t>
                      </a:r>
                      <a:endParaRPr sz="1400">
                        <a:solidFill>
                          <a:schemeClr val="dk1"/>
                        </a:solidFill>
                      </a:endParaRPr>
                    </a:p>
                  </a:txBody>
                  <a:tcPr marT="0" marB="0" marR="0" marL="0" anchor="ctr">
                    <a:solidFill>
                      <a:srgbClr val="BEF2C7"/>
                    </a:solidFill>
                  </a:tcPr>
                </a:tc>
                <a:tc>
                  <a:txBody>
                    <a:bodyPr/>
                    <a:lstStyle/>
                    <a:p>
                      <a:pPr indent="0" lvl="0" marL="0" marR="0" rtl="0" algn="ctr">
                        <a:spcBef>
                          <a:spcPts val="0"/>
                        </a:spcBef>
                        <a:spcAft>
                          <a:spcPts val="0"/>
                        </a:spcAft>
                        <a:buNone/>
                      </a:pPr>
                      <a:r>
                        <a:rPr lang="en" sz="1400">
                          <a:solidFill>
                            <a:schemeClr val="dk1"/>
                          </a:solidFill>
                        </a:rPr>
                        <a:t>0</a:t>
                      </a:r>
                      <a:endParaRPr sz="1400">
                        <a:solidFill>
                          <a:schemeClr val="dk1"/>
                        </a:solidFill>
                      </a:endParaRPr>
                    </a:p>
                  </a:txBody>
                  <a:tcPr marT="0" marB="0" marR="0" marL="0" anchor="ctr">
                    <a:solidFill>
                      <a:srgbClr val="BEF2C7"/>
                    </a:solidFill>
                  </a:tcPr>
                </a:tc>
              </a:tr>
            </a:tbl>
          </a:graphicData>
        </a:graphic>
      </p:graphicFrame>
      <p:graphicFrame>
        <p:nvGraphicFramePr>
          <p:cNvPr id="1051" name="Google Shape;1051;p71"/>
          <p:cNvGraphicFramePr/>
          <p:nvPr/>
        </p:nvGraphicFramePr>
        <p:xfrm>
          <a:off x="5702433" y="3058318"/>
          <a:ext cx="3000000" cy="3000000"/>
        </p:xfrm>
        <a:graphic>
          <a:graphicData uri="http://schemas.openxmlformats.org/drawingml/2006/table">
            <a:tbl>
              <a:tblPr bandRow="1">
                <a:noFill/>
                <a:tableStyleId>{6475CB33-74FA-4E0B-A67E-5448B8DA8A8F}</a:tableStyleId>
              </a:tblPr>
              <a:tblGrid>
                <a:gridCol w="329025"/>
                <a:gridCol w="329025"/>
              </a:tblGrid>
              <a:tr h="364200">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2-</a:t>
                      </a:r>
                      <a:r>
                        <a:rPr b="1" baseline="30000" lang="en" sz="1500">
                          <a:solidFill>
                            <a:schemeClr val="dk1"/>
                          </a:solidFill>
                        </a:rPr>
                        <a:t>8</a:t>
                      </a:r>
                      <a:endParaRPr b="1" baseline="30000" sz="1500">
                        <a:solidFill>
                          <a:schemeClr val="dk1"/>
                        </a:solidFill>
                      </a:endParaRPr>
                    </a:p>
                  </a:txBody>
                  <a:tcPr marT="0" marB="0" marR="0" marL="0" anchor="ctr">
                    <a:solidFill>
                      <a:srgbClr val="BEF2C7"/>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en" sz="1400">
                          <a:solidFill>
                            <a:schemeClr val="dk1"/>
                          </a:solidFill>
                        </a:rPr>
                        <a:t>e</a:t>
                      </a:r>
                      <a:r>
                        <a:rPr baseline="30000" lang="en" sz="1400">
                          <a:solidFill>
                            <a:schemeClr val="dk1"/>
                          </a:solidFill>
                        </a:rPr>
                        <a:t>-1-</a:t>
                      </a:r>
                      <a:r>
                        <a:rPr b="1" baseline="30000" lang="en" sz="1400">
                          <a:solidFill>
                            <a:schemeClr val="dk1"/>
                          </a:solidFill>
                        </a:rPr>
                        <a:t>8</a:t>
                      </a:r>
                      <a:endParaRPr baseline="30000" sz="1400">
                        <a:solidFill>
                          <a:schemeClr val="dk1"/>
                        </a:solidFill>
                      </a:endParaRPr>
                    </a:p>
                  </a:txBody>
                  <a:tcPr marT="0" marB="0" marR="0" marL="0" anchor="ctr">
                    <a:solidFill>
                      <a:srgbClr val="BEF2C7"/>
                    </a:solidFill>
                  </a:tcPr>
                </a:tc>
              </a:tr>
              <a:tr h="364200">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3-3</a:t>
                      </a:r>
                      <a:endParaRPr baseline="30000" sz="1500">
                        <a:solidFill>
                          <a:schemeClr val="dk1"/>
                        </a:solidFill>
                      </a:endParaRPr>
                    </a:p>
                  </a:txBody>
                  <a:tcPr marT="0" marB="0" marR="0" marL="0" anchor="ctr">
                    <a:solidFill>
                      <a:srgbClr val="BEF2C7"/>
                    </a:solidFill>
                  </a:tcPr>
                </a:tc>
                <a:tc>
                  <a:txBody>
                    <a:bodyPr/>
                    <a:lstStyle/>
                    <a:p>
                      <a:pPr indent="0" lvl="0" marL="0" marR="0" rtl="0" algn="ctr">
                        <a:lnSpc>
                          <a:spcPct val="100000"/>
                        </a:lnSpc>
                        <a:spcBef>
                          <a:spcPts val="0"/>
                        </a:spcBef>
                        <a:spcAft>
                          <a:spcPts val="0"/>
                        </a:spcAft>
                        <a:buClr>
                          <a:schemeClr val="dk1"/>
                        </a:buClr>
                        <a:buSzPts val="1500"/>
                        <a:buFont typeface="Arial"/>
                        <a:buNone/>
                      </a:pPr>
                      <a:r>
                        <a:rPr lang="en" sz="1500">
                          <a:solidFill>
                            <a:schemeClr val="dk1"/>
                          </a:solidFill>
                        </a:rPr>
                        <a:t>e</a:t>
                      </a:r>
                      <a:r>
                        <a:rPr baseline="30000" lang="en" sz="1500">
                          <a:solidFill>
                            <a:schemeClr val="dk1"/>
                          </a:solidFill>
                        </a:rPr>
                        <a:t>0-3</a:t>
                      </a:r>
                      <a:endParaRPr baseline="30000" sz="1500">
                        <a:solidFill>
                          <a:schemeClr val="dk1"/>
                        </a:solidFill>
                      </a:endParaRPr>
                    </a:p>
                  </a:txBody>
                  <a:tcPr marT="0" marB="0" marR="0" marL="0" anchor="ctr">
                    <a:solidFill>
                      <a:srgbClr val="BEF2C7"/>
                    </a:solidFill>
                  </a:tcPr>
                </a:tc>
              </a:tr>
            </a:tbl>
          </a:graphicData>
        </a:graphic>
      </p:graphicFrame>
      <p:sp>
        <p:nvSpPr>
          <p:cNvPr id="1052" name="Google Shape;1052;p71"/>
          <p:cNvSpPr/>
          <p:nvPr/>
        </p:nvSpPr>
        <p:spPr>
          <a:xfrm>
            <a:off x="2933700" y="3093248"/>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sp>
        <p:nvSpPr>
          <p:cNvPr id="1053" name="Google Shape;1053;p71"/>
          <p:cNvSpPr/>
          <p:nvPr/>
        </p:nvSpPr>
        <p:spPr>
          <a:xfrm>
            <a:off x="2933699" y="3502823"/>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3</a:t>
            </a:r>
            <a:endParaRPr sz="1400">
              <a:solidFill>
                <a:schemeClr val="lt1"/>
              </a:solidFill>
              <a:latin typeface="Arial"/>
              <a:ea typeface="Arial"/>
              <a:cs typeface="Arial"/>
              <a:sym typeface="Arial"/>
            </a:endParaRPr>
          </a:p>
        </p:txBody>
      </p:sp>
      <p:graphicFrame>
        <p:nvGraphicFramePr>
          <p:cNvPr id="1054" name="Google Shape;1054;p71"/>
          <p:cNvGraphicFramePr/>
          <p:nvPr/>
        </p:nvGraphicFramePr>
        <p:xfrm>
          <a:off x="6563441" y="2085788"/>
          <a:ext cx="3000000" cy="3000000"/>
        </p:xfrm>
        <a:graphic>
          <a:graphicData uri="http://schemas.openxmlformats.org/drawingml/2006/table">
            <a:tbl>
              <a:tblPr bandRow="1">
                <a:noFill/>
                <a:tableStyleId>{785E4EA9-965B-4A0B-8EB9-9F30A4BD861F}</a:tableStyleId>
              </a:tblPr>
              <a:tblGrid>
                <a:gridCol w="1214975"/>
                <a:gridCol w="1214975"/>
              </a:tblGrid>
              <a:tr h="370025">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C0E4F5"/>
                    </a:solidFill>
                  </a:tcPr>
                </a:tc>
                <a:tc>
                  <a:txBody>
                    <a:bodyPr/>
                    <a:lstStyle/>
                    <a:p>
                      <a:pPr indent="0" lvl="0" marL="0" marR="0" rtl="0" algn="ctr">
                        <a:spcBef>
                          <a:spcPts val="0"/>
                        </a:spcBef>
                        <a:spcAft>
                          <a:spcPts val="0"/>
                        </a:spcAft>
                        <a:buNone/>
                      </a:pPr>
                      <a:r>
                        <a:rPr lang="en" sz="1400">
                          <a:solidFill>
                            <a:schemeClr val="dk1"/>
                          </a:solidFill>
                        </a:rPr>
                        <a:t>-2</a:t>
                      </a:r>
                      <a:endParaRPr sz="1400">
                        <a:solidFill>
                          <a:schemeClr val="dk1"/>
                        </a:solidFill>
                      </a:endParaRPr>
                    </a:p>
                  </a:txBody>
                  <a:tcPr marT="34300" marB="34300" marR="68600" marL="68600" anchor="ctr">
                    <a:solidFill>
                      <a:srgbClr val="C0E4F5"/>
                    </a:solidFill>
                  </a:tcPr>
                </a:tc>
              </a:tr>
              <a:tr h="370025">
                <a:tc>
                  <a:txBody>
                    <a:bodyPr/>
                    <a:lstStyle/>
                    <a:p>
                      <a:pPr indent="0" lvl="0" marL="0" marR="0" rtl="0" algn="ctr">
                        <a:spcBef>
                          <a:spcPts val="0"/>
                        </a:spcBef>
                        <a:spcAft>
                          <a:spcPts val="0"/>
                        </a:spcAft>
                        <a:buNone/>
                      </a:pPr>
                      <a:r>
                        <a:rPr lang="en" sz="1400">
                          <a:solidFill>
                            <a:schemeClr val="dk1"/>
                          </a:solidFill>
                        </a:rPr>
                        <a:t>-3</a:t>
                      </a:r>
                      <a:endParaRPr sz="1400">
                        <a:solidFill>
                          <a:schemeClr val="dk1"/>
                        </a:solidFill>
                      </a:endParaRPr>
                    </a:p>
                  </a:txBody>
                  <a:tcPr marT="34300" marB="34300" marR="68600" marL="68600" anchor="ctr">
                    <a:solidFill>
                      <a:srgbClr val="C0E4F5"/>
                    </a:solidFill>
                  </a:tcPr>
                </a:tc>
                <a:tc>
                  <a:txBody>
                    <a:bodyPr/>
                    <a:lstStyle/>
                    <a:p>
                      <a:pPr indent="0" lvl="0" marL="0" marR="0" rtl="0" algn="ctr">
                        <a:spcBef>
                          <a:spcPts val="0"/>
                        </a:spcBef>
                        <a:spcAft>
                          <a:spcPts val="0"/>
                        </a:spcAft>
                        <a:buNone/>
                      </a:pPr>
                      <a:r>
                        <a:rPr lang="en" sz="1400">
                          <a:solidFill>
                            <a:schemeClr val="dk1"/>
                          </a:solidFill>
                        </a:rPr>
                        <a:t>1</a:t>
                      </a:r>
                      <a:endParaRPr sz="1400">
                        <a:solidFill>
                          <a:schemeClr val="dk1"/>
                        </a:solidFill>
                      </a:endParaRPr>
                    </a:p>
                  </a:txBody>
                  <a:tcPr marT="34300" marB="34300" marR="68600" marL="68600" anchor="ctr">
                    <a:solidFill>
                      <a:srgbClr val="C0E4F5"/>
                    </a:solidFill>
                  </a:tcPr>
                </a:tc>
              </a:tr>
            </a:tbl>
          </a:graphicData>
        </a:graphic>
      </p:graphicFrame>
      <p:graphicFrame>
        <p:nvGraphicFramePr>
          <p:cNvPr id="1055" name="Google Shape;1055;p71"/>
          <p:cNvGraphicFramePr/>
          <p:nvPr/>
        </p:nvGraphicFramePr>
        <p:xfrm>
          <a:off x="6554466" y="3069972"/>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a:t>
                      </a:r>
                      <a:r>
                        <a:rPr b="1" baseline="30000" lang="en" sz="1500">
                          <a:solidFill>
                            <a:schemeClr val="lt1"/>
                          </a:solidFill>
                        </a:rPr>
                        <a:t>8</a:t>
                      </a:r>
                      <a:r>
                        <a:rPr lang="en" sz="1500">
                          <a:solidFill>
                            <a:schemeClr val="lt1"/>
                          </a:solidFill>
                        </a:rPr>
                        <a:t>-3e</a:t>
                      </a:r>
                      <a:r>
                        <a:rPr baseline="30000" lang="en" sz="1500">
                          <a:solidFill>
                            <a:schemeClr val="lt1"/>
                          </a:solidFill>
                        </a:rPr>
                        <a:t>-1-</a:t>
                      </a:r>
                      <a:r>
                        <a:rPr b="1" baseline="30000" lang="en" sz="1500">
                          <a:solidFill>
                            <a:schemeClr val="lt1"/>
                          </a:solidFill>
                        </a:rPr>
                        <a:t>8</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2-</a:t>
                      </a:r>
                      <a:r>
                        <a:rPr b="1" baseline="30000" lang="en" sz="1500">
                          <a:solidFill>
                            <a:schemeClr val="lt1"/>
                          </a:solidFill>
                        </a:rPr>
                        <a:t>8</a:t>
                      </a:r>
                      <a:r>
                        <a:rPr lang="en" sz="1500">
                          <a:solidFill>
                            <a:schemeClr val="lt1"/>
                          </a:solidFill>
                        </a:rPr>
                        <a:t>+e</a:t>
                      </a:r>
                      <a:r>
                        <a:rPr baseline="30000" lang="en" sz="1500">
                          <a:solidFill>
                            <a:schemeClr val="lt1"/>
                          </a:solidFill>
                        </a:rPr>
                        <a:t>-1-</a:t>
                      </a:r>
                      <a:r>
                        <a:rPr b="1" baseline="30000" lang="en" sz="1500">
                          <a:solidFill>
                            <a:schemeClr val="lt1"/>
                          </a:solidFill>
                        </a:rPr>
                        <a:t>8</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-3e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3-3</a:t>
                      </a:r>
                      <a:r>
                        <a:rPr lang="en" sz="1500">
                          <a:solidFill>
                            <a:schemeClr val="lt1"/>
                          </a:solidFill>
                        </a:rPr>
                        <a:t>+e</a:t>
                      </a:r>
                      <a:r>
                        <a:rPr baseline="30000" lang="en" sz="1500">
                          <a:solidFill>
                            <a:schemeClr val="lt1"/>
                          </a:solidFill>
                        </a:rPr>
                        <a:t>0-3 </a:t>
                      </a:r>
                      <a:endParaRPr baseline="30000" sz="1500">
                        <a:solidFill>
                          <a:schemeClr val="lt1"/>
                        </a:solidFill>
                      </a:endParaRPr>
                    </a:p>
                  </a:txBody>
                  <a:tcPr marT="0" marB="0" marR="0" marL="0" anchor="ctr">
                    <a:solidFill>
                      <a:srgbClr val="0F4861"/>
                    </a:solidFill>
                  </a:tcPr>
                </a:tc>
              </a:tr>
            </a:tbl>
          </a:graphicData>
        </a:graphic>
      </p:graphicFrame>
      <p:sp>
        <p:nvSpPr>
          <p:cNvPr id="1056" name="Google Shape;1056;p71"/>
          <p:cNvSpPr/>
          <p:nvPr/>
        </p:nvSpPr>
        <p:spPr>
          <a:xfrm>
            <a:off x="4168500" y="3081350"/>
            <a:ext cx="1340100" cy="257100"/>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8</a:t>
            </a:r>
            <a:endParaRPr sz="1400">
              <a:solidFill>
                <a:schemeClr val="lt1"/>
              </a:solidFill>
              <a:latin typeface="Arial"/>
              <a:ea typeface="Arial"/>
              <a:cs typeface="Arial"/>
              <a:sym typeface="Arial"/>
            </a:endParaRPr>
          </a:p>
        </p:txBody>
      </p:sp>
      <p:sp>
        <p:nvSpPr>
          <p:cNvPr id="1057" name="Google Shape;1057;p71"/>
          <p:cNvSpPr/>
          <p:nvPr/>
        </p:nvSpPr>
        <p:spPr>
          <a:xfrm>
            <a:off x="4168500" y="3487129"/>
            <a:ext cx="1340100" cy="257100"/>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3</a:t>
            </a:r>
            <a:endParaRPr sz="1400">
              <a:solidFill>
                <a:schemeClr val="lt1"/>
              </a:solidFill>
              <a:latin typeface="Arial"/>
              <a:ea typeface="Arial"/>
              <a:cs typeface="Arial"/>
              <a:sym typeface="Arial"/>
            </a:endParaRPr>
          </a:p>
        </p:txBody>
      </p:sp>
      <p:sp>
        <p:nvSpPr>
          <p:cNvPr id="1058" name="Google Shape;1058;p71"/>
          <p:cNvSpPr/>
          <p:nvPr/>
        </p:nvSpPr>
        <p:spPr>
          <a:xfrm>
            <a:off x="4209427" y="1933568"/>
            <a:ext cx="1299076" cy="257175"/>
          </a:xfrm>
          <a:prstGeom prst="rect">
            <a:avLst/>
          </a:prstGeom>
          <a:solidFill>
            <a:srgbClr val="F6C5AB"/>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Global Max = 8</a:t>
            </a:r>
            <a:endParaRPr sz="1400">
              <a:solidFill>
                <a:schemeClr val="dk1"/>
              </a:solidFill>
              <a:latin typeface="Arial"/>
              <a:ea typeface="Arial"/>
              <a:cs typeface="Arial"/>
              <a:sym typeface="Arial"/>
            </a:endParaRPr>
          </a:p>
        </p:txBody>
      </p:sp>
      <p:sp>
        <p:nvSpPr>
          <p:cNvPr id="1059" name="Google Shape;1059;p71"/>
          <p:cNvSpPr/>
          <p:nvPr/>
        </p:nvSpPr>
        <p:spPr>
          <a:xfrm>
            <a:off x="4209427" y="2339352"/>
            <a:ext cx="1299076" cy="257175"/>
          </a:xfrm>
          <a:prstGeom prst="rect">
            <a:avLst/>
          </a:prstGeom>
          <a:solidFill>
            <a:srgbClr val="F6C5AB"/>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Global Max = 2</a:t>
            </a:r>
            <a:endParaRPr sz="1400">
              <a:solidFill>
                <a:schemeClr val="dk1"/>
              </a:solidFill>
              <a:latin typeface="Arial"/>
              <a:ea typeface="Arial"/>
              <a:cs typeface="Arial"/>
              <a:sym typeface="Arial"/>
            </a:endParaRPr>
          </a:p>
        </p:txBody>
      </p:sp>
      <p:cxnSp>
        <p:nvCxnSpPr>
          <p:cNvPr id="1060" name="Google Shape;1060;p71"/>
          <p:cNvCxnSpPr>
            <a:stCxn id="1059" idx="2"/>
            <a:endCxn id="1056" idx="0"/>
          </p:cNvCxnSpPr>
          <p:nvPr/>
        </p:nvCxnSpPr>
        <p:spPr>
          <a:xfrm flipH="1">
            <a:off x="4838565" y="2596527"/>
            <a:ext cx="20400" cy="484800"/>
          </a:xfrm>
          <a:prstGeom prst="straightConnector1">
            <a:avLst/>
          </a:prstGeom>
          <a:noFill/>
          <a:ln cap="flat" cmpd="sng" w="38100">
            <a:solidFill>
              <a:schemeClr val="accent1"/>
            </a:solidFill>
            <a:prstDash val="solid"/>
            <a:miter lim="800000"/>
            <a:headEnd len="sm" w="sm" type="none"/>
            <a:tailEnd len="med" w="med" type="triangle"/>
          </a:ln>
        </p:spPr>
      </p:cxnSp>
      <p:graphicFrame>
        <p:nvGraphicFramePr>
          <p:cNvPr id="1061" name="Google Shape;1061;p71"/>
          <p:cNvGraphicFramePr/>
          <p:nvPr/>
        </p:nvGraphicFramePr>
        <p:xfrm>
          <a:off x="3428830" y="720343"/>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r>
            </a:tbl>
          </a:graphicData>
        </a:graphic>
      </p:graphicFrame>
      <p:graphicFrame>
        <p:nvGraphicFramePr>
          <p:cNvPr id="1062" name="Google Shape;1062;p71"/>
          <p:cNvGraphicFramePr/>
          <p:nvPr/>
        </p:nvGraphicFramePr>
        <p:xfrm>
          <a:off x="6554466" y="727827"/>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4-8</a:t>
                      </a:r>
                      <a:r>
                        <a:rPr lang="en" sz="1500">
                          <a:solidFill>
                            <a:schemeClr val="lt1"/>
                          </a:solidFill>
                        </a:rPr>
                        <a:t>+3e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4-8</a:t>
                      </a:r>
                      <a:r>
                        <a:rPr lang="en" sz="1500">
                          <a:solidFill>
                            <a:schemeClr val="lt1"/>
                          </a:solidFill>
                        </a:rPr>
                        <a:t>+4e</a:t>
                      </a:r>
                      <a:r>
                        <a:rPr baseline="30000" lang="en" sz="1500">
                          <a:solidFill>
                            <a:schemeClr val="lt1"/>
                          </a:solidFill>
                        </a:rPr>
                        <a:t>8-8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a:t>
                      </a:r>
                      <a:r>
                        <a:rPr b="1" baseline="30000" lang="en" sz="1500">
                          <a:solidFill>
                            <a:schemeClr val="lt1"/>
                          </a:solidFill>
                        </a:rPr>
                        <a:t>3</a:t>
                      </a:r>
                      <a:r>
                        <a:rPr lang="en" sz="1500">
                          <a:solidFill>
                            <a:schemeClr val="lt1"/>
                          </a:solidFill>
                        </a:rPr>
                        <a:t>+3e</a:t>
                      </a:r>
                      <a:r>
                        <a:rPr baseline="30000" lang="en" sz="1500">
                          <a:solidFill>
                            <a:schemeClr val="lt1"/>
                          </a:solidFill>
                        </a:rPr>
                        <a:t>2-</a:t>
                      </a:r>
                      <a:r>
                        <a:rPr b="1" baseline="30000" lang="en" sz="1500">
                          <a:solidFill>
                            <a:schemeClr val="lt1"/>
                          </a:solidFill>
                        </a:rPr>
                        <a:t>3</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a:t>
                      </a:r>
                      <a:r>
                        <a:rPr b="1" baseline="30000" lang="en" sz="1500">
                          <a:solidFill>
                            <a:schemeClr val="lt1"/>
                          </a:solidFill>
                        </a:rPr>
                        <a:t>3</a:t>
                      </a:r>
                      <a:r>
                        <a:rPr lang="en" sz="1500">
                          <a:solidFill>
                            <a:schemeClr val="lt1"/>
                          </a:solidFill>
                        </a:rPr>
                        <a:t>+4e</a:t>
                      </a:r>
                      <a:r>
                        <a:rPr baseline="30000" lang="en" sz="1500">
                          <a:solidFill>
                            <a:schemeClr val="lt1"/>
                          </a:solidFill>
                        </a:rPr>
                        <a:t>2-</a:t>
                      </a:r>
                      <a:r>
                        <a:rPr b="1" baseline="30000" lang="en" sz="1500">
                          <a:solidFill>
                            <a:schemeClr val="lt1"/>
                          </a:solidFill>
                        </a:rPr>
                        <a:t>3</a:t>
                      </a:r>
                      <a:r>
                        <a:rPr baseline="30000" lang="en" sz="1500">
                          <a:solidFill>
                            <a:schemeClr val="lt1"/>
                          </a:solidFill>
                        </a:rPr>
                        <a:t> </a:t>
                      </a:r>
                      <a:endParaRPr baseline="30000" sz="1500">
                        <a:solidFill>
                          <a:schemeClr val="lt1"/>
                        </a:solidFill>
                      </a:endParaRPr>
                    </a:p>
                  </a:txBody>
                  <a:tcPr marT="0" marB="0" marR="0" marL="0" anchor="ctr">
                    <a:solidFill>
                      <a:srgbClr val="0F4861"/>
                    </a:solidFill>
                  </a:tcPr>
                </a:tc>
              </a:tr>
            </a:tbl>
          </a:graphicData>
        </a:graphic>
      </p:graphicFrame>
      <p:cxnSp>
        <p:nvCxnSpPr>
          <p:cNvPr id="1063" name="Google Shape;1063;p71"/>
          <p:cNvCxnSpPr/>
          <p:nvPr/>
        </p:nvCxnSpPr>
        <p:spPr>
          <a:xfrm>
            <a:off x="5892632" y="1084547"/>
            <a:ext cx="661725" cy="7425"/>
          </a:xfrm>
          <a:prstGeom prst="straightConnector1">
            <a:avLst/>
          </a:prstGeom>
          <a:noFill/>
          <a:ln cap="flat" cmpd="sng" w="38100">
            <a:solidFill>
              <a:schemeClr val="accent1"/>
            </a:solidFill>
            <a:prstDash val="solid"/>
            <a:miter lim="800000"/>
            <a:headEnd len="sm" w="sm" type="none"/>
            <a:tailEnd len="med" w="med" type="triangle"/>
          </a:ln>
        </p:spPr>
      </p:cxnSp>
      <p:cxnSp>
        <p:nvCxnSpPr>
          <p:cNvPr id="1064" name="Google Shape;1064;p71"/>
          <p:cNvCxnSpPr>
            <a:stCxn id="1058" idx="3"/>
          </p:cNvCxnSpPr>
          <p:nvPr/>
        </p:nvCxnSpPr>
        <p:spPr>
          <a:xfrm flipH="1" rot="10800000">
            <a:off x="5508503" y="1091955"/>
            <a:ext cx="715200" cy="970200"/>
          </a:xfrm>
          <a:prstGeom prst="straightConnector1">
            <a:avLst/>
          </a:prstGeom>
          <a:noFill/>
          <a:ln cap="flat" cmpd="sng" w="38100">
            <a:solidFill>
              <a:schemeClr val="accent1"/>
            </a:solidFill>
            <a:prstDash val="solid"/>
            <a:miter lim="800000"/>
            <a:headEnd len="sm" w="sm" type="none"/>
            <a:tailEnd len="med" w="med" type="triangle"/>
          </a:ln>
        </p:spPr>
      </p:cxnSp>
      <p:cxnSp>
        <p:nvCxnSpPr>
          <p:cNvPr id="1065" name="Google Shape;1065;p71"/>
          <p:cNvCxnSpPr/>
          <p:nvPr/>
        </p:nvCxnSpPr>
        <p:spPr>
          <a:xfrm flipH="1" rot="10800000">
            <a:off x="5384932" y="1099514"/>
            <a:ext cx="838617" cy="1970459"/>
          </a:xfrm>
          <a:prstGeom prst="straightConnector1">
            <a:avLst/>
          </a:prstGeom>
          <a:noFill/>
          <a:ln cap="flat" cmpd="sng" w="38100">
            <a:solidFill>
              <a:schemeClr val="accent1"/>
            </a:solidFill>
            <a:prstDash val="solid"/>
            <a:miter lim="800000"/>
            <a:headEnd len="sm" w="sm" type="none"/>
            <a:tailEnd len="med" w="med" type="triangle"/>
          </a:ln>
        </p:spPr>
      </p:cxnSp>
      <p:cxnSp>
        <p:nvCxnSpPr>
          <p:cNvPr id="1066" name="Google Shape;1066;p71"/>
          <p:cNvCxnSpPr/>
          <p:nvPr/>
        </p:nvCxnSpPr>
        <p:spPr>
          <a:xfrm>
            <a:off x="6842125" y="1456233"/>
            <a:ext cx="558800" cy="2785567"/>
          </a:xfrm>
          <a:prstGeom prst="straightConnector1">
            <a:avLst/>
          </a:prstGeom>
          <a:noFill/>
          <a:ln cap="flat" cmpd="sng" w="38100">
            <a:solidFill>
              <a:schemeClr val="accent1"/>
            </a:solidFill>
            <a:prstDash val="solid"/>
            <a:miter lim="800000"/>
            <a:headEnd len="sm" w="sm" type="none"/>
            <a:tailEnd len="med" w="med" type="triangle"/>
          </a:ln>
        </p:spPr>
      </p:cxnSp>
      <p:cxnSp>
        <p:nvCxnSpPr>
          <p:cNvPr id="1067" name="Google Shape;1067;p71"/>
          <p:cNvCxnSpPr/>
          <p:nvPr/>
        </p:nvCxnSpPr>
        <p:spPr>
          <a:xfrm flipH="1">
            <a:off x="7594856" y="3786725"/>
            <a:ext cx="335341" cy="455075"/>
          </a:xfrm>
          <a:prstGeom prst="straightConnector1">
            <a:avLst/>
          </a:prstGeom>
          <a:noFill/>
          <a:ln cap="flat" cmpd="sng" w="38100">
            <a:solidFill>
              <a:schemeClr val="accent1"/>
            </a:solidFill>
            <a:prstDash val="solid"/>
            <a:miter lim="800000"/>
            <a:headEnd len="sm" w="sm" type="none"/>
            <a:tailEnd len="med" w="med" type="triangle"/>
          </a:ln>
        </p:spPr>
      </p:cxnSp>
      <p:graphicFrame>
        <p:nvGraphicFramePr>
          <p:cNvPr id="1068" name="Google Shape;1068;p71"/>
          <p:cNvGraphicFramePr/>
          <p:nvPr/>
        </p:nvGraphicFramePr>
        <p:xfrm>
          <a:off x="6546528" y="4268827"/>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4-8</a:t>
                      </a:r>
                      <a:r>
                        <a:rPr lang="en" sz="1400">
                          <a:solidFill>
                            <a:schemeClr val="lt1"/>
                          </a:solidFill>
                        </a:rPr>
                        <a:t>+3e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2-8-</a:t>
                      </a:r>
                      <a:r>
                        <a:rPr lang="en" sz="1400">
                          <a:solidFill>
                            <a:schemeClr val="lt1"/>
                          </a:solidFill>
                        </a:rPr>
                        <a:t>3e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4-8</a:t>
                      </a:r>
                      <a:r>
                        <a:rPr lang="en" sz="1400">
                          <a:solidFill>
                            <a:schemeClr val="lt1"/>
                          </a:solidFill>
                        </a:rPr>
                        <a:t>+4e</a:t>
                      </a:r>
                      <a:r>
                        <a:rPr baseline="30000" lang="en" sz="1400">
                          <a:solidFill>
                            <a:schemeClr val="lt1"/>
                          </a:solidFill>
                        </a:rPr>
                        <a:t>8-8</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2-8</a:t>
                      </a:r>
                      <a:r>
                        <a:rPr lang="en" sz="1400">
                          <a:solidFill>
                            <a:schemeClr val="lt1"/>
                          </a:solidFill>
                        </a:rPr>
                        <a:t>+e</a:t>
                      </a:r>
                      <a:r>
                        <a:rPr baseline="30000" lang="en" sz="1400">
                          <a:solidFill>
                            <a:schemeClr val="lt1"/>
                          </a:solidFill>
                        </a:rPr>
                        <a:t>-1-8 </a:t>
                      </a:r>
                      <a:endParaRPr baseline="30000" sz="14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1e</a:t>
                      </a:r>
                      <a:r>
                        <a:rPr baseline="30000" lang="en" sz="1400">
                          <a:solidFill>
                            <a:schemeClr val="lt1"/>
                          </a:solidFill>
                        </a:rPr>
                        <a:t>1-3</a:t>
                      </a:r>
                      <a:r>
                        <a:rPr lang="en" sz="1400">
                          <a:solidFill>
                            <a:schemeClr val="lt1"/>
                          </a:solidFill>
                        </a:rPr>
                        <a:t>+3e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3-3-</a:t>
                      </a:r>
                      <a:r>
                        <a:rPr lang="en" sz="1400">
                          <a:solidFill>
                            <a:schemeClr val="lt1"/>
                          </a:solidFill>
                        </a:rPr>
                        <a:t>3e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2e</a:t>
                      </a:r>
                      <a:r>
                        <a:rPr baseline="30000" lang="en" sz="1400">
                          <a:solidFill>
                            <a:schemeClr val="lt1"/>
                          </a:solidFill>
                        </a:rPr>
                        <a:t>1-3</a:t>
                      </a:r>
                      <a:r>
                        <a:rPr lang="en" sz="1400">
                          <a:solidFill>
                            <a:schemeClr val="lt1"/>
                          </a:solidFill>
                        </a:rPr>
                        <a:t>+4e</a:t>
                      </a:r>
                      <a:r>
                        <a:rPr baseline="30000" lang="en" sz="1400">
                          <a:solidFill>
                            <a:schemeClr val="lt1"/>
                          </a:solidFill>
                        </a:rPr>
                        <a:t>2-3 </a:t>
                      </a:r>
                      <a:endParaRPr sz="1100"/>
                    </a:p>
                    <a:p>
                      <a:pPr indent="0" lvl="0" marL="0" marR="0" rtl="0" algn="ctr">
                        <a:lnSpc>
                          <a:spcPct val="100000"/>
                        </a:lnSpc>
                        <a:spcBef>
                          <a:spcPts val="0"/>
                        </a:spcBef>
                        <a:spcAft>
                          <a:spcPts val="0"/>
                        </a:spcAft>
                        <a:buClr>
                          <a:schemeClr val="lt1"/>
                        </a:buClr>
                        <a:buSzPts val="1400"/>
                        <a:buFont typeface="Arial"/>
                        <a:buNone/>
                      </a:pPr>
                      <a:r>
                        <a:rPr lang="en" sz="1400">
                          <a:solidFill>
                            <a:schemeClr val="lt1"/>
                          </a:solidFill>
                        </a:rPr>
                        <a:t>-</a:t>
                      </a:r>
                      <a:r>
                        <a:rPr baseline="30000" lang="en" sz="1400">
                          <a:solidFill>
                            <a:schemeClr val="lt1"/>
                          </a:solidFill>
                        </a:rPr>
                        <a:t> </a:t>
                      </a:r>
                      <a:r>
                        <a:rPr lang="en" sz="1400">
                          <a:solidFill>
                            <a:schemeClr val="lt1"/>
                          </a:solidFill>
                        </a:rPr>
                        <a:t>2e</a:t>
                      </a:r>
                      <a:r>
                        <a:rPr baseline="30000" lang="en" sz="1400">
                          <a:solidFill>
                            <a:schemeClr val="lt1"/>
                          </a:solidFill>
                        </a:rPr>
                        <a:t>3-3</a:t>
                      </a:r>
                      <a:r>
                        <a:rPr lang="en" sz="1400">
                          <a:solidFill>
                            <a:schemeClr val="lt1"/>
                          </a:solidFill>
                        </a:rPr>
                        <a:t>+e</a:t>
                      </a:r>
                      <a:r>
                        <a:rPr baseline="30000" lang="en" sz="1400">
                          <a:solidFill>
                            <a:schemeClr val="lt1"/>
                          </a:solidFill>
                        </a:rPr>
                        <a:t>0-3</a:t>
                      </a:r>
                      <a:endParaRPr baseline="30000" sz="1400">
                        <a:solidFill>
                          <a:schemeClr val="lt1"/>
                        </a:solidFill>
                      </a:endParaRPr>
                    </a:p>
                  </a:txBody>
                  <a:tcPr marT="0" marB="0" marR="0" marL="0" anchor="ctr">
                    <a:solidFill>
                      <a:srgbClr val="0F4861"/>
                    </a:solidFill>
                  </a:tcPr>
                </a:tc>
              </a:tr>
            </a:tbl>
          </a:graphicData>
        </a:graphic>
      </p:graphicFrame>
      <p:sp>
        <p:nvSpPr>
          <p:cNvPr id="1069" name="Google Shape;1069;p71"/>
          <p:cNvSpPr/>
          <p:nvPr/>
        </p:nvSpPr>
        <p:spPr>
          <a:xfrm>
            <a:off x="6414152" y="4133850"/>
            <a:ext cx="2696748" cy="100965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070" name="Google Shape;1070;p71"/>
          <p:cNvSpPr txBox="1"/>
          <p:nvPr/>
        </p:nvSpPr>
        <p:spPr>
          <a:xfrm>
            <a:off x="5712507" y="4517142"/>
            <a:ext cx="66650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071" name="Google Shape;1071;p71"/>
          <p:cNvSpPr/>
          <p:nvPr/>
        </p:nvSpPr>
        <p:spPr>
          <a:xfrm>
            <a:off x="3968876" y="2913869"/>
            <a:ext cx="1759800" cy="100980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072" name="Google Shape;1072;p71"/>
          <p:cNvSpPr txBox="1"/>
          <p:nvPr/>
        </p:nvSpPr>
        <p:spPr>
          <a:xfrm>
            <a:off x="4572000" y="3913159"/>
            <a:ext cx="66650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073" name="Google Shape;1073;p71"/>
          <p:cNvSpPr/>
          <p:nvPr/>
        </p:nvSpPr>
        <p:spPr>
          <a:xfrm>
            <a:off x="1119587" y="4296124"/>
            <a:ext cx="1033270" cy="257175"/>
          </a:xfrm>
          <a:prstGeom prst="rect">
            <a:avLst/>
          </a:prstGeom>
          <a:solidFill>
            <a:srgbClr val="C0E4F5"/>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dk1"/>
                </a:solidFill>
                <a:latin typeface="Arial"/>
                <a:ea typeface="Arial"/>
                <a:cs typeface="Arial"/>
                <a:sym typeface="Arial"/>
              </a:rPr>
              <a:t>S1 = e</a:t>
            </a:r>
            <a:r>
              <a:rPr baseline="30000" lang="en" sz="1100">
                <a:solidFill>
                  <a:schemeClr val="dk1"/>
                </a:solidFill>
                <a:latin typeface="Arial"/>
                <a:ea typeface="Arial"/>
                <a:cs typeface="Arial"/>
                <a:sym typeface="Arial"/>
              </a:rPr>
              <a:t>4-8</a:t>
            </a:r>
            <a:r>
              <a:rPr lang="en" sz="1100">
                <a:solidFill>
                  <a:schemeClr val="dk1"/>
                </a:solidFill>
                <a:latin typeface="Arial"/>
                <a:ea typeface="Arial"/>
                <a:cs typeface="Arial"/>
                <a:sym typeface="Arial"/>
              </a:rPr>
              <a:t> + e</a:t>
            </a:r>
            <a:r>
              <a:rPr baseline="30000" lang="en" sz="1100">
                <a:solidFill>
                  <a:schemeClr val="dk1"/>
                </a:solidFill>
                <a:latin typeface="Arial"/>
                <a:ea typeface="Arial"/>
                <a:cs typeface="Arial"/>
                <a:sym typeface="Arial"/>
              </a:rPr>
              <a:t>8-8</a:t>
            </a:r>
            <a:endParaRPr baseline="30000" sz="1100">
              <a:solidFill>
                <a:schemeClr val="dk1"/>
              </a:solidFill>
              <a:latin typeface="Arial"/>
              <a:ea typeface="Arial"/>
              <a:cs typeface="Arial"/>
              <a:sym typeface="Arial"/>
            </a:endParaRPr>
          </a:p>
        </p:txBody>
      </p:sp>
      <p:sp>
        <p:nvSpPr>
          <p:cNvPr id="1074" name="Google Shape;1074;p71"/>
          <p:cNvSpPr/>
          <p:nvPr/>
        </p:nvSpPr>
        <p:spPr>
          <a:xfrm>
            <a:off x="1119587" y="4678229"/>
            <a:ext cx="1033270" cy="257175"/>
          </a:xfrm>
          <a:prstGeom prst="rect">
            <a:avLst/>
          </a:prstGeom>
          <a:solidFill>
            <a:srgbClr val="C0E4F5"/>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dk1"/>
                </a:solidFill>
                <a:latin typeface="Arial"/>
                <a:ea typeface="Arial"/>
                <a:cs typeface="Arial"/>
                <a:sym typeface="Arial"/>
              </a:rPr>
              <a:t>S2 = e</a:t>
            </a:r>
            <a:r>
              <a:rPr baseline="30000" lang="en" sz="1100">
                <a:solidFill>
                  <a:schemeClr val="dk1"/>
                </a:solidFill>
                <a:latin typeface="Arial"/>
                <a:ea typeface="Arial"/>
                <a:cs typeface="Arial"/>
                <a:sym typeface="Arial"/>
              </a:rPr>
              <a:t>1-2</a:t>
            </a:r>
            <a:r>
              <a:rPr lang="en" sz="1100">
                <a:solidFill>
                  <a:schemeClr val="dk1"/>
                </a:solidFill>
                <a:latin typeface="Arial"/>
                <a:ea typeface="Arial"/>
                <a:cs typeface="Arial"/>
                <a:sym typeface="Arial"/>
              </a:rPr>
              <a:t> + e</a:t>
            </a:r>
            <a:r>
              <a:rPr baseline="30000" lang="en" sz="1100">
                <a:solidFill>
                  <a:schemeClr val="dk1"/>
                </a:solidFill>
                <a:latin typeface="Arial"/>
                <a:ea typeface="Arial"/>
                <a:cs typeface="Arial"/>
                <a:sym typeface="Arial"/>
              </a:rPr>
              <a:t>2-2</a:t>
            </a:r>
            <a:endParaRPr baseline="30000" sz="1100">
              <a:solidFill>
                <a:schemeClr val="dk1"/>
              </a:solidFill>
              <a:latin typeface="Arial"/>
              <a:ea typeface="Arial"/>
              <a:cs typeface="Arial"/>
              <a:sym typeface="Arial"/>
            </a:endParaRPr>
          </a:p>
        </p:txBody>
      </p:sp>
      <p:sp>
        <p:nvSpPr>
          <p:cNvPr id="1075" name="Google Shape;1075;p71"/>
          <p:cNvSpPr/>
          <p:nvPr/>
        </p:nvSpPr>
        <p:spPr>
          <a:xfrm>
            <a:off x="2419162" y="4310697"/>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1076" name="Google Shape;1076;p71"/>
          <p:cNvSpPr/>
          <p:nvPr/>
        </p:nvSpPr>
        <p:spPr>
          <a:xfrm>
            <a:off x="2419161" y="4674230"/>
            <a:ext cx="10568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1077" name="Google Shape;1077;p71"/>
          <p:cNvSpPr/>
          <p:nvPr/>
        </p:nvSpPr>
        <p:spPr>
          <a:xfrm>
            <a:off x="3680265" y="4319203"/>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8-8</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1078" name="Google Shape;1078;p71"/>
          <p:cNvSpPr/>
          <p:nvPr/>
        </p:nvSpPr>
        <p:spPr>
          <a:xfrm>
            <a:off x="3680265" y="4674230"/>
            <a:ext cx="187919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2-3</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1079" name="Google Shape;1079;p71"/>
          <p:cNvSpPr/>
          <p:nvPr/>
        </p:nvSpPr>
        <p:spPr>
          <a:xfrm>
            <a:off x="3608377" y="4241025"/>
            <a:ext cx="2053045" cy="840599"/>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500"/>
                                        <p:tgtEl>
                                          <p:spTgt spid="1049"/>
                                        </p:tgtEl>
                                      </p:cBhvr>
                                    </p:animEffect>
                                  </p:childTnLst>
                                </p:cTn>
                              </p:par>
                              <p:par>
                                <p:cTn fill="hold" nodeType="with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500"/>
                                        <p:tgtEl>
                                          <p:spTgt spid="1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500"/>
                                        <p:tgtEl>
                                          <p:spTgt spid="1052"/>
                                        </p:tgtEl>
                                      </p:cBhvr>
                                    </p:animEffect>
                                  </p:childTnLst>
                                </p:cTn>
                              </p:par>
                              <p:par>
                                <p:cTn fill="hold" nodeType="with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500"/>
                                        <p:tgtEl>
                                          <p:spTgt spid="10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gtEl>
                                        <p:attrNameLst>
                                          <p:attrName>style.visibility</p:attrName>
                                        </p:attrNameLst>
                                      </p:cBhvr>
                                      <p:to>
                                        <p:strVal val="visible"/>
                                      </p:to>
                                    </p:set>
                                    <p:animEffect filter="fade" transition="in">
                                      <p:cBhvr>
                                        <p:cTn dur="500"/>
                                        <p:tgtEl>
                                          <p:spTgt spid="1056"/>
                                        </p:tgtEl>
                                      </p:cBhvr>
                                    </p:animEffect>
                                  </p:childTnLst>
                                </p:cTn>
                              </p:par>
                              <p:par>
                                <p:cTn fill="hold" nodeType="withEffect" presetClass="entr" presetID="10" presetSubtype="0">
                                  <p:stCondLst>
                                    <p:cond delay="0"/>
                                  </p:stCondLst>
                                  <p:childTnLst>
                                    <p:set>
                                      <p:cBhvr>
                                        <p:cTn dur="1" fill="hold">
                                          <p:stCondLst>
                                            <p:cond delay="0"/>
                                          </p:stCondLst>
                                        </p:cTn>
                                        <p:tgtEl>
                                          <p:spTgt spid="1057"/>
                                        </p:tgtEl>
                                        <p:attrNameLst>
                                          <p:attrName>style.visibility</p:attrName>
                                        </p:attrNameLst>
                                      </p:cBhvr>
                                      <p:to>
                                        <p:strVal val="visible"/>
                                      </p:to>
                                    </p:set>
                                    <p:animEffect filter="fade" transition="in">
                                      <p:cBhvr>
                                        <p:cTn dur="500"/>
                                        <p:tgtEl>
                                          <p:spTgt spid="1057"/>
                                        </p:tgtEl>
                                      </p:cBhvr>
                                    </p:animEffect>
                                  </p:childTnLst>
                                </p:cTn>
                              </p:par>
                              <p:par>
                                <p:cTn fill="hold" nodeType="with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500"/>
                                        <p:tgtEl>
                                          <p:spTgt spid="1058"/>
                                        </p:tgtEl>
                                      </p:cBhvr>
                                    </p:animEffect>
                                  </p:childTnLst>
                                </p:cTn>
                              </p:par>
                              <p:par>
                                <p:cTn fill="hold" nodeType="withEffect" presetClass="entr" presetID="10" presetSubtype="0">
                                  <p:stCondLst>
                                    <p:cond delay="0"/>
                                  </p:stCondLst>
                                  <p:childTnLst>
                                    <p:set>
                                      <p:cBhvr>
                                        <p:cTn dur="1" fill="hold">
                                          <p:stCondLst>
                                            <p:cond delay="0"/>
                                          </p:stCondLst>
                                        </p:cTn>
                                        <p:tgtEl>
                                          <p:spTgt spid="1059"/>
                                        </p:tgtEl>
                                        <p:attrNameLst>
                                          <p:attrName>style.visibility</p:attrName>
                                        </p:attrNameLst>
                                      </p:cBhvr>
                                      <p:to>
                                        <p:strVal val="visible"/>
                                      </p:to>
                                    </p:set>
                                    <p:animEffect filter="fade" transition="in">
                                      <p:cBhvr>
                                        <p:cTn dur="500"/>
                                        <p:tgtEl>
                                          <p:spTgt spid="1059"/>
                                        </p:tgtEl>
                                      </p:cBhvr>
                                    </p:animEffect>
                                  </p:childTnLst>
                                </p:cTn>
                              </p:par>
                              <p:par>
                                <p:cTn fill="hold" nodeType="with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500"/>
                                        <p:tgtEl>
                                          <p:spTgt spid="10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500"/>
                                        <p:tgtEl>
                                          <p:spTgt spid="10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500"/>
                                        <p:tgtEl>
                                          <p:spTgt spid="1054"/>
                                        </p:tgtEl>
                                      </p:cBhvr>
                                    </p:animEffect>
                                  </p:childTnLst>
                                </p:cTn>
                              </p:par>
                              <p:par>
                                <p:cTn fill="hold" nodeType="withEffect" presetClass="entr" presetID="10" presetSubtype="0">
                                  <p:stCondLst>
                                    <p:cond delay="0"/>
                                  </p:stCondLst>
                                  <p:childTnLst>
                                    <p:set>
                                      <p:cBhvr>
                                        <p:cTn dur="1" fill="hold">
                                          <p:stCondLst>
                                            <p:cond delay="0"/>
                                          </p:stCondLst>
                                        </p:cTn>
                                        <p:tgtEl>
                                          <p:spTgt spid="1055"/>
                                        </p:tgtEl>
                                        <p:attrNameLst>
                                          <p:attrName>style.visibility</p:attrName>
                                        </p:attrNameLst>
                                      </p:cBhvr>
                                      <p:to>
                                        <p:strVal val="visible"/>
                                      </p:to>
                                    </p:set>
                                    <p:animEffect filter="fade" transition="in">
                                      <p:cBhvr>
                                        <p:cTn dur="500"/>
                                        <p:tgtEl>
                                          <p:spTgt spid="10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par>
                                <p:cTn fill="hold" nodeType="with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par>
                                <p:cTn fill="hold" nodeType="with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500"/>
                                        <p:tgtEl>
                                          <p:spTgt spid="1063"/>
                                        </p:tgtEl>
                                      </p:cBhvr>
                                    </p:animEffect>
                                  </p:childTnLst>
                                </p:cTn>
                              </p:par>
                              <p:par>
                                <p:cTn fill="hold" nodeType="with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500"/>
                                        <p:tgtEl>
                                          <p:spTgt spid="1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
                                        </p:tgtEl>
                                        <p:attrNameLst>
                                          <p:attrName>style.visibility</p:attrName>
                                        </p:attrNameLst>
                                      </p:cBhvr>
                                      <p:to>
                                        <p:strVal val="visible"/>
                                      </p:to>
                                    </p:set>
                                    <p:animEffect filter="fade" transition="in">
                                      <p:cBhvr>
                                        <p:cTn dur="500"/>
                                        <p:tgtEl>
                                          <p:spTgt spid="10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par>
                                <p:cTn fill="hold" nodeType="with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500"/>
                                        <p:tgtEl>
                                          <p:spTgt spid="1068"/>
                                        </p:tgtEl>
                                      </p:cBhvr>
                                    </p:animEffect>
                                  </p:childTnLst>
                                </p:cTn>
                              </p:par>
                              <p:par>
                                <p:cTn fill="hold" nodeType="with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500"/>
                                        <p:tgtEl>
                                          <p:spTgt spid="10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par>
                                <p:cTn fill="hold" nodeType="with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par>
                                <p:cTn fill="hold" nodeType="with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500"/>
                                        <p:tgtEl>
                                          <p:spTgt spid="10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500"/>
                                        <p:tgtEl>
                                          <p:spTgt spid="1077"/>
                                        </p:tgtEl>
                                      </p:cBhvr>
                                    </p:animEffect>
                                  </p:childTnLst>
                                </p:cTn>
                              </p:par>
                              <p:par>
                                <p:cTn fill="hold" nodeType="with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500"/>
                                        <p:tgtEl>
                                          <p:spTgt spid="10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par>
                                <p:cTn fill="hold" nodeType="with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par>
                                <p:cTn fill="hold" nodeType="with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par>
                                <p:cTn fill="hold" nodeType="with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par>
                                <p:cTn fill="hold" nodeType="with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500"/>
                                        <p:tgtEl>
                                          <p:spTgt spid="10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72"/>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Revisit Prefill Attention</a:t>
            </a:r>
            <a:endParaRPr/>
          </a:p>
        </p:txBody>
      </p:sp>
      <p:graphicFrame>
        <p:nvGraphicFramePr>
          <p:cNvPr id="1085" name="Google Shape;1085;p72"/>
          <p:cNvGraphicFramePr/>
          <p:nvPr/>
        </p:nvGraphicFramePr>
        <p:xfrm>
          <a:off x="442933" y="2790257"/>
          <a:ext cx="3000000" cy="3000000"/>
        </p:xfrm>
        <a:graphic>
          <a:graphicData uri="http://schemas.openxmlformats.org/drawingml/2006/table">
            <a:tbl>
              <a:tblPr bandRow="1">
                <a:no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r>
              <a:tr h="270000">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c>
                  <a:txBody>
                    <a:bodyPr/>
                    <a:lstStyle/>
                    <a:p>
                      <a:pPr indent="0" lvl="0" marL="0" marR="0" rtl="0" algn="l">
                        <a:spcBef>
                          <a:spcPts val="0"/>
                        </a:spcBef>
                        <a:spcAft>
                          <a:spcPts val="0"/>
                        </a:spcAft>
                        <a:buNone/>
                      </a:pPr>
                      <a:r>
                        <a:t/>
                      </a:r>
                      <a:endParaRPr sz="1400"/>
                    </a:p>
                  </a:txBody>
                  <a:tcPr marT="34300" marB="34300" marR="68600" marL="68600">
                    <a:solidFill>
                      <a:srgbClr val="143C64"/>
                    </a:solidFill>
                  </a:tcPr>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1086" name="Google Shape;1086;p72"/>
          <p:cNvGraphicFramePr/>
          <p:nvPr/>
        </p:nvGraphicFramePr>
        <p:xfrm>
          <a:off x="1948865" y="1443014"/>
          <a:ext cx="3000000" cy="3000000"/>
        </p:xfrm>
        <a:graphic>
          <a:graphicData uri="http://schemas.openxmlformats.org/drawingml/2006/table">
            <a:tbl>
              <a:tblPr bandRow="1">
                <a:noFill/>
                <a:tableStyleId>{6D6CBB51-25CD-4269-8C0D-CE281DC38EA4}</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7F340D"/>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solidFill>
                      <a:srgbClr val="FAE2D5"/>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1087" name="Google Shape;1087;p72"/>
          <p:cNvGraphicFramePr/>
          <p:nvPr/>
        </p:nvGraphicFramePr>
        <p:xfrm>
          <a:off x="1948865" y="2790257"/>
          <a:ext cx="3000000" cy="3000000"/>
        </p:xfrm>
        <a:graphic>
          <a:graphicData uri="http://schemas.openxmlformats.org/drawingml/2006/table">
            <a:tbl>
              <a:tblPr bandRow="1">
                <a:noFill/>
                <a:tableStyleId>{6475CB33-74FA-4E0B-A67E-5448B8DA8A8F}</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1088" name="Google Shape;1088;p72"/>
          <p:cNvGraphicFramePr/>
          <p:nvPr/>
        </p:nvGraphicFramePr>
        <p:xfrm>
          <a:off x="4846629" y="2790257"/>
          <a:ext cx="3000000" cy="3000000"/>
        </p:xfrm>
        <a:graphic>
          <a:graphicData uri="http://schemas.openxmlformats.org/drawingml/2006/table">
            <a:tbl>
              <a:tblPr bandRow="1">
                <a:noFill/>
                <a:tableStyleId>{675C8497-C176-45A6-83B8-30CA08E94CDC}</a:tableStyleId>
              </a:tblPr>
              <a:tblGrid>
                <a:gridCol w="270000"/>
                <a:gridCol w="270000"/>
                <a:gridCol w="270000"/>
                <a:gridCol w="270000"/>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0C3512"/>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solidFill>
                      <a:srgbClr val="BEF2C7"/>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1089" name="Google Shape;1089;p72"/>
          <p:cNvGraphicFramePr/>
          <p:nvPr/>
        </p:nvGraphicFramePr>
        <p:xfrm>
          <a:off x="7420725" y="308260"/>
          <a:ext cx="3000000" cy="3000000"/>
        </p:xfrm>
        <a:graphic>
          <a:graphicData uri="http://schemas.openxmlformats.org/drawingml/2006/table">
            <a:tbl>
              <a:tblPr bandRow="1">
                <a:noFill/>
                <a:tableStyleId>{785E4EA9-965B-4A0B-8EB9-9F30A4BD861F}</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solidFill>
                      <a:srgbClr val="0A3041"/>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solidFill>
                      <a:srgbClr val="D9E5F8"/>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graphicFrame>
        <p:nvGraphicFramePr>
          <p:cNvPr id="1090" name="Google Shape;1090;p72"/>
          <p:cNvGraphicFramePr/>
          <p:nvPr/>
        </p:nvGraphicFramePr>
        <p:xfrm>
          <a:off x="7425875" y="2790257"/>
          <a:ext cx="3000000" cy="3000000"/>
        </p:xfrm>
        <a:graphic>
          <a:graphicData uri="http://schemas.openxmlformats.org/drawingml/2006/table">
            <a:tbl>
              <a:tblPr bandRow="1">
                <a:noFill/>
                <a:tableStyleId>{EE193DD2-6E87-43B2-945D-4C0B9107F9EB}</a:tableStyleId>
              </a:tblPr>
              <a:tblGrid>
                <a:gridCol w="270000"/>
                <a:gridCol w="270000"/>
                <a:gridCol w="270000"/>
                <a:gridCol w="270000"/>
              </a:tblGrid>
              <a:tr h="270000">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solidFill>
                      <a:srgbClr val="1F5C99"/>
                    </a:solidFill>
                  </a:tcPr>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r h="270000">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r>
            </a:tbl>
          </a:graphicData>
        </a:graphic>
      </p:graphicFrame>
      <p:sp>
        <p:nvSpPr>
          <p:cNvPr id="1091" name="Google Shape;1091;p72"/>
          <p:cNvSpPr txBox="1"/>
          <p:nvPr/>
        </p:nvSpPr>
        <p:spPr>
          <a:xfrm>
            <a:off x="762150" y="3645163"/>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Arial"/>
                <a:ea typeface="Arial"/>
                <a:cs typeface="Arial"/>
                <a:sym typeface="Arial"/>
              </a:rPr>
              <a:t>Q</a:t>
            </a:r>
            <a:endParaRPr b="1" sz="1400">
              <a:solidFill>
                <a:schemeClr val="lt1"/>
              </a:solidFill>
              <a:latin typeface="Arial"/>
              <a:ea typeface="Arial"/>
              <a:cs typeface="Arial"/>
              <a:sym typeface="Arial"/>
            </a:endParaRPr>
          </a:p>
        </p:txBody>
      </p:sp>
      <p:sp>
        <p:nvSpPr>
          <p:cNvPr id="1092" name="Google Shape;1092;p72"/>
          <p:cNvSpPr txBox="1"/>
          <p:nvPr/>
        </p:nvSpPr>
        <p:spPr>
          <a:xfrm>
            <a:off x="2783117" y="1749278"/>
            <a:ext cx="546839"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Arial"/>
                <a:ea typeface="Arial"/>
                <a:cs typeface="Arial"/>
                <a:sym typeface="Arial"/>
              </a:rPr>
              <a:t>K</a:t>
            </a:r>
            <a:r>
              <a:rPr b="1" baseline="30000" lang="en" sz="2700">
                <a:solidFill>
                  <a:schemeClr val="lt1"/>
                </a:solidFill>
                <a:latin typeface="Arial"/>
                <a:ea typeface="Arial"/>
                <a:cs typeface="Arial"/>
                <a:sym typeface="Arial"/>
              </a:rPr>
              <a:t>T</a:t>
            </a:r>
            <a:endParaRPr b="1" baseline="30000" sz="1400">
              <a:solidFill>
                <a:schemeClr val="lt1"/>
              </a:solidFill>
              <a:latin typeface="Arial"/>
              <a:ea typeface="Arial"/>
              <a:cs typeface="Arial"/>
              <a:sym typeface="Arial"/>
            </a:endParaRPr>
          </a:p>
        </p:txBody>
      </p:sp>
      <p:sp>
        <p:nvSpPr>
          <p:cNvPr id="1093" name="Google Shape;1093;p72"/>
          <p:cNvSpPr txBox="1"/>
          <p:nvPr/>
        </p:nvSpPr>
        <p:spPr>
          <a:xfrm>
            <a:off x="7803533" y="1206822"/>
            <a:ext cx="448951"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700">
                <a:solidFill>
                  <a:schemeClr val="lt1"/>
                </a:solidFill>
                <a:latin typeface="Arial"/>
                <a:ea typeface="Arial"/>
                <a:cs typeface="Arial"/>
                <a:sym typeface="Arial"/>
              </a:rPr>
              <a:t>V</a:t>
            </a:r>
            <a:endParaRPr b="1" sz="1400">
              <a:solidFill>
                <a:schemeClr val="lt1"/>
              </a:solidFill>
              <a:latin typeface="Arial"/>
              <a:ea typeface="Arial"/>
              <a:cs typeface="Arial"/>
              <a:sym typeface="Arial"/>
            </a:endParaRPr>
          </a:p>
        </p:txBody>
      </p:sp>
      <p:sp>
        <p:nvSpPr>
          <p:cNvPr id="1094" name="Google Shape;1094;p72"/>
          <p:cNvSpPr txBox="1"/>
          <p:nvPr/>
        </p:nvSpPr>
        <p:spPr>
          <a:xfrm>
            <a:off x="2646729" y="115754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095" name="Google Shape;1095;p72"/>
          <p:cNvSpPr txBox="1"/>
          <p:nvPr/>
        </p:nvSpPr>
        <p:spPr>
          <a:xfrm>
            <a:off x="1388811" y="1841611"/>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1096" name="Google Shape;1096;p72"/>
          <p:cNvSpPr txBox="1"/>
          <p:nvPr/>
        </p:nvSpPr>
        <p:spPr>
          <a:xfrm>
            <a:off x="759516" y="2461424"/>
            <a:ext cx="7634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1097" name="Google Shape;1097;p72"/>
          <p:cNvSpPr txBox="1"/>
          <p:nvPr/>
        </p:nvSpPr>
        <p:spPr>
          <a:xfrm rot="-5400000">
            <a:off x="-290898"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098" name="Google Shape;1098;p72"/>
          <p:cNvSpPr txBox="1"/>
          <p:nvPr/>
        </p:nvSpPr>
        <p:spPr>
          <a:xfrm>
            <a:off x="2646729" y="2547560"/>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099" name="Google Shape;1099;p72"/>
          <p:cNvSpPr txBox="1"/>
          <p:nvPr/>
        </p:nvSpPr>
        <p:spPr>
          <a:xfrm rot="-5400000">
            <a:off x="1283716" y="3632921"/>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100" name="Google Shape;1100;p72"/>
          <p:cNvSpPr txBox="1"/>
          <p:nvPr/>
        </p:nvSpPr>
        <p:spPr>
          <a:xfrm>
            <a:off x="5507852" y="2461424"/>
            <a:ext cx="108000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101" name="Google Shape;1101;p72"/>
          <p:cNvSpPr txBox="1"/>
          <p:nvPr/>
        </p:nvSpPr>
        <p:spPr>
          <a:xfrm rot="-5400000">
            <a:off x="4144838" y="3546784"/>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102" name="Google Shape;1102;p72"/>
          <p:cNvSpPr txBox="1"/>
          <p:nvPr/>
        </p:nvSpPr>
        <p:spPr>
          <a:xfrm rot="-5400000">
            <a:off x="6673857" y="1151570"/>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103" name="Google Shape;1103;p72"/>
          <p:cNvSpPr txBox="1"/>
          <p:nvPr/>
        </p:nvSpPr>
        <p:spPr>
          <a:xfrm>
            <a:off x="7709743" y="-24626"/>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1104" name="Google Shape;1104;p72"/>
          <p:cNvSpPr txBox="1"/>
          <p:nvPr/>
        </p:nvSpPr>
        <p:spPr>
          <a:xfrm>
            <a:off x="7683078" y="2502821"/>
            <a:ext cx="763418"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H</a:t>
            </a:r>
            <a:r>
              <a:rPr b="1" baseline="-25000" lang="en" sz="1500">
                <a:solidFill>
                  <a:schemeClr val="dk1"/>
                </a:solidFill>
                <a:latin typeface="Arial"/>
                <a:ea typeface="Arial"/>
                <a:cs typeface="Arial"/>
                <a:sym typeface="Arial"/>
              </a:rPr>
              <a:t>dim</a:t>
            </a:r>
            <a:endParaRPr b="1" baseline="-25000" sz="1500">
              <a:solidFill>
                <a:schemeClr val="dk1"/>
              </a:solidFill>
              <a:latin typeface="Arial"/>
              <a:ea typeface="Arial"/>
              <a:cs typeface="Arial"/>
              <a:sym typeface="Arial"/>
            </a:endParaRPr>
          </a:p>
        </p:txBody>
      </p:sp>
      <p:sp>
        <p:nvSpPr>
          <p:cNvPr id="1105" name="Google Shape;1105;p72"/>
          <p:cNvSpPr txBox="1"/>
          <p:nvPr/>
        </p:nvSpPr>
        <p:spPr>
          <a:xfrm rot="-5400000">
            <a:off x="6735834" y="3495122"/>
            <a:ext cx="108000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chemeClr val="dk1"/>
                </a:solidFill>
                <a:latin typeface="Arial"/>
                <a:ea typeface="Arial"/>
                <a:cs typeface="Arial"/>
                <a:sym typeface="Arial"/>
              </a:rPr>
              <a:t>Seq Len</a:t>
            </a:r>
            <a:endParaRPr b="1" sz="1500">
              <a:solidFill>
                <a:schemeClr val="dk1"/>
              </a:solidFill>
              <a:latin typeface="Arial"/>
              <a:ea typeface="Arial"/>
              <a:cs typeface="Arial"/>
              <a:sym typeface="Arial"/>
            </a:endParaRPr>
          </a:p>
        </p:txBody>
      </p:sp>
      <p:sp>
        <p:nvSpPr>
          <p:cNvPr id="1106" name="Google Shape;1106;p72"/>
          <p:cNvSpPr/>
          <p:nvPr/>
        </p:nvSpPr>
        <p:spPr>
          <a:xfrm rot="-5400000">
            <a:off x="3329002" y="3765029"/>
            <a:ext cx="2194559" cy="270306"/>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Softmax</a:t>
            </a:r>
            <a:endParaRPr sz="1400">
              <a:solidFill>
                <a:schemeClr val="lt1"/>
              </a:solidFill>
              <a:latin typeface="Arial"/>
              <a:ea typeface="Arial"/>
              <a:cs typeface="Arial"/>
              <a:sym typeface="Arial"/>
            </a:endParaRPr>
          </a:p>
        </p:txBody>
      </p:sp>
      <p:sp>
        <p:nvSpPr>
          <p:cNvPr id="1107" name="Google Shape;1107;p72"/>
          <p:cNvSpPr txBox="1"/>
          <p:nvPr/>
        </p:nvSpPr>
        <p:spPr>
          <a:xfrm>
            <a:off x="2412619" y="3365114"/>
            <a:ext cx="1257385" cy="1107996"/>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lt1"/>
                </a:solidFill>
                <a:latin typeface="Arial"/>
                <a:ea typeface="Arial"/>
                <a:cs typeface="Arial"/>
                <a:sym typeface="Arial"/>
              </a:rPr>
              <a:t>Attn</a:t>
            </a:r>
            <a:endParaRPr sz="1100"/>
          </a:p>
          <a:p>
            <a:pPr indent="0" lvl="0" marL="0" marR="0" rtl="0" algn="ctr">
              <a:spcBef>
                <a:spcPts val="0"/>
              </a:spcBef>
              <a:spcAft>
                <a:spcPts val="0"/>
              </a:spcAft>
              <a:buNone/>
            </a:pPr>
            <a:r>
              <a:rPr b="1" lang="en" sz="2700">
                <a:solidFill>
                  <a:schemeClr val="lt1"/>
                </a:solidFill>
                <a:latin typeface="Arial"/>
                <a:ea typeface="Arial"/>
                <a:cs typeface="Arial"/>
                <a:sym typeface="Arial"/>
              </a:rPr>
              <a:t>Score</a:t>
            </a:r>
            <a:endParaRPr b="1" sz="2700">
              <a:solidFill>
                <a:schemeClr val="lt1"/>
              </a:solidFill>
              <a:latin typeface="Arial"/>
              <a:ea typeface="Arial"/>
              <a:cs typeface="Arial"/>
              <a:sym typeface="Arial"/>
            </a:endParaRPr>
          </a:p>
          <a:p>
            <a:pPr indent="0" lvl="0" marL="0" marR="0" rtl="0" algn="l">
              <a:spcBef>
                <a:spcPts val="0"/>
              </a:spcBef>
              <a:spcAft>
                <a:spcPts val="0"/>
              </a:spcAft>
              <a:buNone/>
            </a:pPr>
            <a:r>
              <a:t/>
            </a:r>
            <a:endParaRPr b="1" sz="1400">
              <a:solidFill>
                <a:schemeClr val="lt1"/>
              </a:solidFill>
              <a:latin typeface="Arial"/>
              <a:ea typeface="Arial"/>
              <a:cs typeface="Arial"/>
              <a:sym typeface="Arial"/>
            </a:endParaRPr>
          </a:p>
        </p:txBody>
      </p:sp>
      <p:sp>
        <p:nvSpPr>
          <p:cNvPr id="1108" name="Google Shape;1108;p72"/>
          <p:cNvSpPr txBox="1"/>
          <p:nvPr/>
        </p:nvSpPr>
        <p:spPr>
          <a:xfrm>
            <a:off x="5254126" y="3377454"/>
            <a:ext cx="1397542" cy="9002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lt1"/>
                </a:solidFill>
                <a:latin typeface="Arial"/>
                <a:ea typeface="Arial"/>
                <a:cs typeface="Arial"/>
                <a:sym typeface="Arial"/>
              </a:rPr>
              <a:t>Attn</a:t>
            </a:r>
            <a:endParaRPr sz="1100"/>
          </a:p>
          <a:p>
            <a:pPr indent="0" lvl="0" marL="0" marR="0" rtl="0" algn="ctr">
              <a:spcBef>
                <a:spcPts val="0"/>
              </a:spcBef>
              <a:spcAft>
                <a:spcPts val="0"/>
              </a:spcAft>
              <a:buNone/>
            </a:pPr>
            <a:r>
              <a:rPr b="1" lang="en" sz="2700">
                <a:solidFill>
                  <a:schemeClr val="lt1"/>
                </a:solidFill>
                <a:latin typeface="Arial"/>
                <a:ea typeface="Arial"/>
                <a:cs typeface="Arial"/>
                <a:sym typeface="Arial"/>
              </a:rPr>
              <a:t>Weight</a:t>
            </a:r>
            <a:endParaRPr b="1" sz="1400">
              <a:solidFill>
                <a:schemeClr val="lt1"/>
              </a:solidFill>
              <a:latin typeface="Arial"/>
              <a:ea typeface="Arial"/>
              <a:cs typeface="Arial"/>
              <a:sym typeface="Arial"/>
            </a:endParaRPr>
          </a:p>
        </p:txBody>
      </p:sp>
      <p:sp>
        <p:nvSpPr>
          <p:cNvPr id="1109" name="Google Shape;1109;p72"/>
          <p:cNvSpPr txBox="1"/>
          <p:nvPr/>
        </p:nvSpPr>
        <p:spPr>
          <a:xfrm>
            <a:off x="7261954" y="3657808"/>
            <a:ext cx="1397542"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700">
                <a:solidFill>
                  <a:schemeClr val="lt1"/>
                </a:solidFill>
                <a:latin typeface="Arial"/>
                <a:ea typeface="Arial"/>
                <a:cs typeface="Arial"/>
                <a:sym typeface="Arial"/>
              </a:rPr>
              <a:t>Out</a:t>
            </a:r>
            <a:endParaRPr b="1" sz="1400">
              <a:solidFill>
                <a:schemeClr val="lt1"/>
              </a:solidFill>
              <a:latin typeface="Arial"/>
              <a:ea typeface="Arial"/>
              <a:cs typeface="Arial"/>
              <a:sym typeface="Arial"/>
            </a:endParaRPr>
          </a:p>
        </p:txBody>
      </p:sp>
      <p:sp>
        <p:nvSpPr>
          <p:cNvPr id="1110" name="Google Shape;1110;p72"/>
          <p:cNvSpPr/>
          <p:nvPr/>
        </p:nvSpPr>
        <p:spPr>
          <a:xfrm>
            <a:off x="2475971" y="4322962"/>
            <a:ext cx="1070356"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Temp</a:t>
            </a:r>
            <a:endParaRPr b="1" sz="1400">
              <a:solidFill>
                <a:schemeClr val="dk1"/>
              </a:solidFill>
              <a:latin typeface="Arial"/>
              <a:ea typeface="Arial"/>
              <a:cs typeface="Arial"/>
              <a:sym typeface="Arial"/>
            </a:endParaRPr>
          </a:p>
        </p:txBody>
      </p:sp>
      <p:sp>
        <p:nvSpPr>
          <p:cNvPr id="1111" name="Google Shape;1111;p72"/>
          <p:cNvSpPr/>
          <p:nvPr/>
        </p:nvSpPr>
        <p:spPr>
          <a:xfrm>
            <a:off x="5391451" y="4348362"/>
            <a:ext cx="1070357"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Temp</a:t>
            </a:r>
            <a:endParaRPr b="1" sz="1400">
              <a:solidFill>
                <a:schemeClr val="dk1"/>
              </a:solidFill>
              <a:latin typeface="Arial"/>
              <a:ea typeface="Arial"/>
              <a:cs typeface="Arial"/>
              <a:sym typeface="Arial"/>
            </a:endParaRPr>
          </a:p>
        </p:txBody>
      </p:sp>
      <p:sp>
        <p:nvSpPr>
          <p:cNvPr id="1112" name="Google Shape;1112;p72"/>
          <p:cNvSpPr/>
          <p:nvPr/>
        </p:nvSpPr>
        <p:spPr>
          <a:xfrm>
            <a:off x="7430697" y="4355815"/>
            <a:ext cx="1070357"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Reg</a:t>
            </a:r>
            <a:endParaRPr b="1" sz="1400">
              <a:solidFill>
                <a:schemeClr val="dk1"/>
              </a:solidFill>
              <a:latin typeface="Arial"/>
              <a:ea typeface="Arial"/>
              <a:cs typeface="Arial"/>
              <a:sym typeface="Arial"/>
            </a:endParaRPr>
          </a:p>
        </p:txBody>
      </p:sp>
      <p:sp>
        <p:nvSpPr>
          <p:cNvPr id="1113" name="Google Shape;1113;p72"/>
          <p:cNvSpPr/>
          <p:nvPr/>
        </p:nvSpPr>
        <p:spPr>
          <a:xfrm>
            <a:off x="7425875" y="559604"/>
            <a:ext cx="1070357"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Shared</a:t>
            </a:r>
            <a:endParaRPr b="1" sz="1400">
              <a:solidFill>
                <a:schemeClr val="dk1"/>
              </a:solidFill>
              <a:latin typeface="Arial"/>
              <a:ea typeface="Arial"/>
              <a:cs typeface="Arial"/>
              <a:sym typeface="Arial"/>
            </a:endParaRPr>
          </a:p>
        </p:txBody>
      </p:sp>
      <p:sp>
        <p:nvSpPr>
          <p:cNvPr id="1114" name="Google Shape;1114;p72"/>
          <p:cNvSpPr/>
          <p:nvPr/>
        </p:nvSpPr>
        <p:spPr>
          <a:xfrm>
            <a:off x="7420725" y="1764790"/>
            <a:ext cx="1070357"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Global</a:t>
            </a:r>
            <a:endParaRPr b="1" sz="1400">
              <a:solidFill>
                <a:schemeClr val="dk1"/>
              </a:solidFill>
              <a:latin typeface="Arial"/>
              <a:ea typeface="Arial"/>
              <a:cs typeface="Arial"/>
              <a:sym typeface="Arial"/>
            </a:endParaRPr>
          </a:p>
        </p:txBody>
      </p:sp>
      <p:sp>
        <p:nvSpPr>
          <p:cNvPr id="1115" name="Google Shape;1115;p72"/>
          <p:cNvSpPr/>
          <p:nvPr/>
        </p:nvSpPr>
        <p:spPr>
          <a:xfrm>
            <a:off x="455851" y="3031639"/>
            <a:ext cx="1070357"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Shared</a:t>
            </a:r>
            <a:endParaRPr b="1" sz="1400">
              <a:solidFill>
                <a:schemeClr val="dk1"/>
              </a:solidFill>
              <a:latin typeface="Arial"/>
              <a:ea typeface="Arial"/>
              <a:cs typeface="Arial"/>
              <a:sym typeface="Arial"/>
            </a:endParaRPr>
          </a:p>
        </p:txBody>
      </p:sp>
      <p:sp>
        <p:nvSpPr>
          <p:cNvPr id="1116" name="Google Shape;1116;p72"/>
          <p:cNvSpPr/>
          <p:nvPr/>
        </p:nvSpPr>
        <p:spPr>
          <a:xfrm>
            <a:off x="450701" y="4236826"/>
            <a:ext cx="1070357"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Global</a:t>
            </a:r>
            <a:endParaRPr b="1" sz="1400">
              <a:solidFill>
                <a:schemeClr val="dk1"/>
              </a:solidFill>
              <a:latin typeface="Arial"/>
              <a:ea typeface="Arial"/>
              <a:cs typeface="Arial"/>
              <a:sym typeface="Arial"/>
            </a:endParaRPr>
          </a:p>
        </p:txBody>
      </p:sp>
      <p:sp>
        <p:nvSpPr>
          <p:cNvPr id="1117" name="Google Shape;1117;p72"/>
          <p:cNvSpPr/>
          <p:nvPr/>
        </p:nvSpPr>
        <p:spPr>
          <a:xfrm>
            <a:off x="1986180" y="2020456"/>
            <a:ext cx="842497"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Shared</a:t>
            </a:r>
            <a:endParaRPr b="1" sz="1400">
              <a:solidFill>
                <a:schemeClr val="dk1"/>
              </a:solidFill>
              <a:latin typeface="Arial"/>
              <a:ea typeface="Arial"/>
              <a:cs typeface="Arial"/>
              <a:sym typeface="Arial"/>
            </a:endParaRPr>
          </a:p>
        </p:txBody>
      </p:sp>
      <p:sp>
        <p:nvSpPr>
          <p:cNvPr id="1118" name="Google Shape;1118;p72"/>
          <p:cNvSpPr/>
          <p:nvPr/>
        </p:nvSpPr>
        <p:spPr>
          <a:xfrm>
            <a:off x="3253583" y="2030089"/>
            <a:ext cx="832841"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Global</a:t>
            </a:r>
            <a:endParaRPr b="1" sz="1400">
              <a:solidFill>
                <a:schemeClr val="dk1"/>
              </a:solidFill>
              <a:latin typeface="Arial"/>
              <a:ea typeface="Arial"/>
              <a:cs typeface="Arial"/>
              <a:sym typeface="Arial"/>
            </a:endParaRPr>
          </a:p>
        </p:txBody>
      </p:sp>
      <p:sp>
        <p:nvSpPr>
          <p:cNvPr id="1119" name="Google Shape;1119;p72"/>
          <p:cNvSpPr/>
          <p:nvPr/>
        </p:nvSpPr>
        <p:spPr>
          <a:xfrm>
            <a:off x="4834880" y="1667444"/>
            <a:ext cx="1737139" cy="257175"/>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Global Max</a:t>
            </a:r>
            <a:endParaRPr sz="1400">
              <a:solidFill>
                <a:schemeClr val="lt1"/>
              </a:solidFill>
              <a:latin typeface="Arial"/>
              <a:ea typeface="Arial"/>
              <a:cs typeface="Arial"/>
              <a:sym typeface="Arial"/>
            </a:endParaRPr>
          </a:p>
        </p:txBody>
      </p:sp>
      <p:sp>
        <p:nvSpPr>
          <p:cNvPr id="1120" name="Google Shape;1120;p72"/>
          <p:cNvSpPr/>
          <p:nvPr/>
        </p:nvSpPr>
        <p:spPr>
          <a:xfrm>
            <a:off x="4834880" y="1930006"/>
            <a:ext cx="1737139" cy="257175"/>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Global Max</a:t>
            </a:r>
            <a:endParaRPr sz="1400">
              <a:solidFill>
                <a:schemeClr val="lt1"/>
              </a:solidFill>
              <a:latin typeface="Arial"/>
              <a:ea typeface="Arial"/>
              <a:cs typeface="Arial"/>
              <a:sym typeface="Arial"/>
            </a:endParaRPr>
          </a:p>
        </p:txBody>
      </p:sp>
      <p:sp>
        <p:nvSpPr>
          <p:cNvPr id="1121" name="Google Shape;1121;p72"/>
          <p:cNvSpPr/>
          <p:nvPr/>
        </p:nvSpPr>
        <p:spPr>
          <a:xfrm>
            <a:off x="6006672" y="1687600"/>
            <a:ext cx="487423"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Reg</a:t>
            </a:r>
            <a:endParaRPr b="1" sz="1400">
              <a:solidFill>
                <a:schemeClr val="dk1"/>
              </a:solidFill>
              <a:latin typeface="Arial"/>
              <a:ea typeface="Arial"/>
              <a:cs typeface="Arial"/>
              <a:sym typeface="Arial"/>
            </a:endParaRPr>
          </a:p>
        </p:txBody>
      </p:sp>
      <p:sp>
        <p:nvSpPr>
          <p:cNvPr id="1122" name="Google Shape;1122;p72"/>
          <p:cNvSpPr/>
          <p:nvPr/>
        </p:nvSpPr>
        <p:spPr>
          <a:xfrm>
            <a:off x="4834880" y="961101"/>
            <a:ext cx="17371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2-8</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-1-8</a:t>
            </a:r>
            <a:endParaRPr baseline="30000" sz="1100">
              <a:solidFill>
                <a:schemeClr val="lt1"/>
              </a:solidFill>
              <a:latin typeface="Arial"/>
              <a:ea typeface="Arial"/>
              <a:cs typeface="Arial"/>
              <a:sym typeface="Arial"/>
            </a:endParaRPr>
          </a:p>
        </p:txBody>
      </p:sp>
      <p:sp>
        <p:nvSpPr>
          <p:cNvPr id="1123" name="Google Shape;1123;p72"/>
          <p:cNvSpPr/>
          <p:nvPr/>
        </p:nvSpPr>
        <p:spPr>
          <a:xfrm>
            <a:off x="4834880" y="1235801"/>
            <a:ext cx="1737139"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3-3</a:t>
            </a:r>
            <a:r>
              <a:rPr lang="en" sz="1100">
                <a:solidFill>
                  <a:schemeClr val="lt1"/>
                </a:solidFill>
                <a:latin typeface="Arial"/>
                <a:ea typeface="Arial"/>
                <a:cs typeface="Arial"/>
                <a:sym typeface="Arial"/>
              </a:rPr>
              <a:t> +</a:t>
            </a:r>
            <a:r>
              <a:rPr baseline="30000" lang="en" sz="1100">
                <a:solidFill>
                  <a:schemeClr val="lt1"/>
                </a:solidFill>
                <a:latin typeface="Arial"/>
                <a:ea typeface="Arial"/>
                <a:cs typeface="Arial"/>
                <a:sym typeface="Arial"/>
              </a:rPr>
              <a:t> </a:t>
            </a:r>
            <a:r>
              <a:rPr lang="en" sz="1100">
                <a:solidFill>
                  <a:schemeClr val="lt1"/>
                </a:solidFill>
                <a:latin typeface="Arial"/>
                <a:ea typeface="Arial"/>
                <a:cs typeface="Arial"/>
                <a:sym typeface="Arial"/>
              </a:rPr>
              <a:t>e</a:t>
            </a:r>
            <a:r>
              <a:rPr baseline="30000" lang="en" sz="1100">
                <a:solidFill>
                  <a:schemeClr val="lt1"/>
                </a:solidFill>
                <a:latin typeface="Arial"/>
                <a:ea typeface="Arial"/>
                <a:cs typeface="Arial"/>
                <a:sym typeface="Arial"/>
              </a:rPr>
              <a:t>0-3</a:t>
            </a:r>
            <a:endParaRPr baseline="30000" sz="1100">
              <a:solidFill>
                <a:schemeClr val="lt1"/>
              </a:solidFill>
              <a:latin typeface="Arial"/>
              <a:ea typeface="Arial"/>
              <a:cs typeface="Arial"/>
              <a:sym typeface="Arial"/>
            </a:endParaRPr>
          </a:p>
        </p:txBody>
      </p:sp>
      <p:sp>
        <p:nvSpPr>
          <p:cNvPr id="1124" name="Google Shape;1124;p72"/>
          <p:cNvSpPr/>
          <p:nvPr/>
        </p:nvSpPr>
        <p:spPr>
          <a:xfrm>
            <a:off x="6006672" y="992939"/>
            <a:ext cx="487423" cy="479425"/>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Reg</a:t>
            </a:r>
            <a:endParaRPr b="1" sz="1400">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7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Causal Mask</a:t>
            </a:r>
            <a:endParaRPr/>
          </a:p>
        </p:txBody>
      </p:sp>
      <p:graphicFrame>
        <p:nvGraphicFramePr>
          <p:cNvPr id="1130" name="Google Shape;1130;p73"/>
          <p:cNvGraphicFramePr/>
          <p:nvPr/>
        </p:nvGraphicFramePr>
        <p:xfrm>
          <a:off x="1922296" y="1112975"/>
          <a:ext cx="3000000" cy="3000000"/>
        </p:xfrm>
        <a:graphic>
          <a:graphicData uri="http://schemas.openxmlformats.org/drawingml/2006/table">
            <a:tbl>
              <a:tblPr bandRow="1">
                <a:noFill/>
                <a:tableStyleId>{6D6CBB51-25CD-4269-8C0D-CE281DC38EA4}</a:tableStyleId>
              </a:tblPr>
              <a:tblGrid>
                <a:gridCol w="397725"/>
                <a:gridCol w="397725"/>
              </a:tblGrid>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r h="370025">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7F340D"/>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7F340D"/>
                    </a:solidFill>
                  </a:tcPr>
                </a:tc>
              </a:tr>
            </a:tbl>
          </a:graphicData>
        </a:graphic>
      </p:graphicFrame>
      <p:graphicFrame>
        <p:nvGraphicFramePr>
          <p:cNvPr id="1131" name="Google Shape;1131;p73"/>
          <p:cNvGraphicFramePr/>
          <p:nvPr/>
        </p:nvGraphicFramePr>
        <p:xfrm>
          <a:off x="1922296" y="2909099"/>
          <a:ext cx="3000000" cy="3000000"/>
        </p:xfrm>
        <a:graphic>
          <a:graphicData uri="http://schemas.openxmlformats.org/drawingml/2006/table">
            <a:tbl>
              <a:tblPr bandRow="1">
                <a:noFill/>
                <a:tableStyleId>{6475CB33-74FA-4E0B-A67E-5448B8DA8A8F}</a:tableStyleId>
              </a:tblPr>
              <a:tblGrid>
                <a:gridCol w="397725"/>
                <a:gridCol w="397725"/>
              </a:tblGrid>
              <a:tr h="364200">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dk1"/>
                          </a:solidFill>
                        </a:rPr>
                        <a:t>-Inf</a:t>
                      </a:r>
                      <a:endParaRPr sz="1400">
                        <a:solidFill>
                          <a:schemeClr val="dk1"/>
                        </a:solidFill>
                      </a:endParaRPr>
                    </a:p>
                  </a:txBody>
                  <a:tcPr marT="0" marB="0" marR="0" marL="0" anchor="ctr">
                    <a:solidFill>
                      <a:srgbClr val="BEF2C7"/>
                    </a:solidFill>
                  </a:tcPr>
                </a:tc>
              </a:tr>
              <a:tr h="364200">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0" marB="0" marR="0" marL="0" anchor="ctr">
                    <a:solidFill>
                      <a:srgbClr val="0C3512"/>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0" marB="0" marR="0" marL="0" anchor="ctr">
                    <a:solidFill>
                      <a:srgbClr val="0C3512"/>
                    </a:solidFill>
                  </a:tcPr>
                </a:tc>
              </a:tr>
            </a:tbl>
          </a:graphicData>
        </a:graphic>
      </p:graphicFrame>
      <p:sp>
        <p:nvSpPr>
          <p:cNvPr id="1132" name="Google Shape;1132;p73"/>
          <p:cNvSpPr/>
          <p:nvPr/>
        </p:nvSpPr>
        <p:spPr>
          <a:xfrm>
            <a:off x="2856146" y="2909099"/>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4</a:t>
            </a:r>
            <a:endParaRPr sz="1400">
              <a:solidFill>
                <a:schemeClr val="lt1"/>
              </a:solidFill>
              <a:latin typeface="Arial"/>
              <a:ea typeface="Arial"/>
              <a:cs typeface="Arial"/>
              <a:sym typeface="Arial"/>
            </a:endParaRPr>
          </a:p>
        </p:txBody>
      </p:sp>
      <p:graphicFrame>
        <p:nvGraphicFramePr>
          <p:cNvPr id="1133" name="Google Shape;1133;p73"/>
          <p:cNvGraphicFramePr/>
          <p:nvPr/>
        </p:nvGraphicFramePr>
        <p:xfrm>
          <a:off x="5519571" y="2879478"/>
          <a:ext cx="3000000" cy="3000000"/>
        </p:xfrm>
        <a:graphic>
          <a:graphicData uri="http://schemas.openxmlformats.org/drawingml/2006/table">
            <a:tbl>
              <a:tblPr bandRow="1">
                <a:noFill/>
                <a:tableStyleId>{6475CB33-74FA-4E0B-A67E-5448B8DA8A8F}</a:tableStyleId>
              </a:tblPr>
              <a:tblGrid>
                <a:gridCol w="397725"/>
                <a:gridCol w="397725"/>
              </a:tblGrid>
              <a:tr h="364200">
                <a:tc>
                  <a:txBody>
                    <a:bodyPr/>
                    <a:lstStyle/>
                    <a:p>
                      <a:pPr indent="0" lvl="0" marL="0" marR="0" rtl="0" algn="ctr">
                        <a:spcBef>
                          <a:spcPts val="0"/>
                        </a:spcBef>
                        <a:spcAft>
                          <a:spcPts val="0"/>
                        </a:spcAft>
                        <a:buNone/>
                      </a:pPr>
                      <a:r>
                        <a:rPr lang="en" sz="1500">
                          <a:solidFill>
                            <a:schemeClr val="lt1"/>
                          </a:solidFill>
                        </a:rPr>
                        <a:t>e</a:t>
                      </a:r>
                      <a:r>
                        <a:rPr baseline="30000" lang="en" sz="1500">
                          <a:solidFill>
                            <a:schemeClr val="lt1"/>
                          </a:solidFill>
                        </a:rPr>
                        <a:t>4-4</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dk1"/>
                        </a:buClr>
                        <a:buSzPts val="1500"/>
                        <a:buFont typeface="Arial"/>
                        <a:buNone/>
                      </a:pPr>
                      <a:r>
                        <a:rPr b="0" lang="en" sz="1500">
                          <a:solidFill>
                            <a:schemeClr val="dk1"/>
                          </a:solidFill>
                        </a:rPr>
                        <a:t>0</a:t>
                      </a:r>
                      <a:endParaRPr b="0" baseline="30000" sz="1500">
                        <a:solidFill>
                          <a:schemeClr val="dk1"/>
                        </a:solidFill>
                      </a:endParaRPr>
                    </a:p>
                  </a:txBody>
                  <a:tcPr marT="0" marB="0" marR="0" marL="0" anchor="ctr">
                    <a:solidFill>
                      <a:srgbClr val="BEF2C7"/>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1-2</a:t>
                      </a:r>
                      <a:endParaRPr baseline="30000" sz="1500">
                        <a:solidFill>
                          <a:schemeClr val="lt1"/>
                        </a:solidFill>
                      </a:endParaRPr>
                    </a:p>
                  </a:txBody>
                  <a:tcPr marT="0" marB="0" marR="0" marL="0" anchor="ctr">
                    <a:solidFill>
                      <a:srgbClr val="0C3512"/>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e</a:t>
                      </a:r>
                      <a:r>
                        <a:rPr baseline="30000" lang="en" sz="1500">
                          <a:solidFill>
                            <a:schemeClr val="lt1"/>
                          </a:solidFill>
                        </a:rPr>
                        <a:t>2-2</a:t>
                      </a:r>
                      <a:endParaRPr baseline="30000" sz="1500">
                        <a:solidFill>
                          <a:schemeClr val="lt1"/>
                        </a:solidFill>
                      </a:endParaRPr>
                    </a:p>
                  </a:txBody>
                  <a:tcPr marT="0" marB="0" marR="0" marL="0" anchor="ctr">
                    <a:solidFill>
                      <a:srgbClr val="0C3512"/>
                    </a:solidFill>
                  </a:tcPr>
                </a:tc>
              </a:tr>
            </a:tbl>
          </a:graphicData>
        </a:graphic>
      </p:graphicFrame>
      <p:sp>
        <p:nvSpPr>
          <p:cNvPr id="1134" name="Google Shape;1134;p73"/>
          <p:cNvSpPr/>
          <p:nvPr/>
        </p:nvSpPr>
        <p:spPr>
          <a:xfrm>
            <a:off x="2856145" y="3318674"/>
            <a:ext cx="1187450" cy="257175"/>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RowMax = 2</a:t>
            </a:r>
            <a:endParaRPr sz="1400">
              <a:solidFill>
                <a:schemeClr val="lt1"/>
              </a:solidFill>
              <a:latin typeface="Arial"/>
              <a:ea typeface="Arial"/>
              <a:cs typeface="Arial"/>
              <a:sym typeface="Arial"/>
            </a:endParaRPr>
          </a:p>
        </p:txBody>
      </p:sp>
      <p:graphicFrame>
        <p:nvGraphicFramePr>
          <p:cNvPr id="1135" name="Google Shape;1135;p73"/>
          <p:cNvGraphicFramePr/>
          <p:nvPr/>
        </p:nvGraphicFramePr>
        <p:xfrm>
          <a:off x="6550022" y="1850774"/>
          <a:ext cx="3000000" cy="3000000"/>
        </p:xfrm>
        <a:graphic>
          <a:graphicData uri="http://schemas.openxmlformats.org/drawingml/2006/table">
            <a:tbl>
              <a:tblPr bandRow="1">
                <a:noFill/>
                <a:tableStyleId>{785E4EA9-965B-4A0B-8EB9-9F30A4BD861F}</a:tableStyleId>
              </a:tblPr>
              <a:tblGrid>
                <a:gridCol w="1231875"/>
                <a:gridCol w="1231875"/>
              </a:tblGrid>
              <a:tr h="393300">
                <a:tc>
                  <a:txBody>
                    <a:bodyPr/>
                    <a:lstStyle/>
                    <a:p>
                      <a:pPr indent="0" lvl="0" marL="0" marR="0" rtl="0" algn="ctr">
                        <a:spcBef>
                          <a:spcPts val="0"/>
                        </a:spcBef>
                        <a:spcAft>
                          <a:spcPts val="0"/>
                        </a:spcAft>
                        <a:buNone/>
                      </a:pPr>
                      <a:r>
                        <a:rPr lang="en" sz="1400">
                          <a:solidFill>
                            <a:schemeClr val="lt1"/>
                          </a:solidFill>
                        </a:rPr>
                        <a:t>1</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0A3041"/>
                    </a:solidFill>
                  </a:tcPr>
                </a:tc>
              </a:tr>
              <a:tr h="393300">
                <a:tc>
                  <a:txBody>
                    <a:bodyPr/>
                    <a:lstStyle/>
                    <a:p>
                      <a:pPr indent="0" lvl="0" marL="0" marR="0" rtl="0" algn="ctr">
                        <a:spcBef>
                          <a:spcPts val="0"/>
                        </a:spcBef>
                        <a:spcAft>
                          <a:spcPts val="0"/>
                        </a:spcAft>
                        <a:buNone/>
                      </a:pPr>
                      <a:r>
                        <a:rPr lang="en" sz="1400">
                          <a:solidFill>
                            <a:schemeClr val="lt1"/>
                          </a:solidFill>
                        </a:rPr>
                        <a:t>3</a:t>
                      </a:r>
                      <a:endParaRPr sz="1400">
                        <a:solidFill>
                          <a:schemeClr val="lt1"/>
                        </a:solidFill>
                      </a:endParaRPr>
                    </a:p>
                  </a:txBody>
                  <a:tcPr marT="34300" marB="34300" marR="68600" marL="68600" anchor="ctr">
                    <a:solidFill>
                      <a:srgbClr val="0A3041"/>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0A3041"/>
                    </a:solidFill>
                  </a:tcPr>
                </a:tc>
              </a:tr>
            </a:tbl>
          </a:graphicData>
        </a:graphic>
      </p:graphicFrame>
      <p:graphicFrame>
        <p:nvGraphicFramePr>
          <p:cNvPr id="1136" name="Google Shape;1136;p73"/>
          <p:cNvGraphicFramePr/>
          <p:nvPr/>
        </p:nvGraphicFramePr>
        <p:xfrm>
          <a:off x="6550022" y="2885305"/>
          <a:ext cx="3000000" cy="3000000"/>
        </p:xfrm>
        <a:graphic>
          <a:graphicData uri="http://schemas.openxmlformats.org/drawingml/2006/table">
            <a:tbl>
              <a:tblPr bandRow="1">
                <a:noFill/>
                <a:tableStyleId>{EE193DD2-6E87-43B2-945D-4C0B9107F9EB}</a:tableStyleId>
              </a:tblPr>
              <a:tblGrid>
                <a:gridCol w="1231875"/>
                <a:gridCol w="1231875"/>
              </a:tblGrid>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4-4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4-4 </a:t>
                      </a:r>
                      <a:endParaRPr baseline="30000" sz="1500">
                        <a:solidFill>
                          <a:schemeClr val="lt1"/>
                        </a:solidFill>
                      </a:endParaRPr>
                    </a:p>
                  </a:txBody>
                  <a:tcPr marT="0" marB="0" marR="0" marL="0" anchor="ctr">
                    <a:solidFill>
                      <a:srgbClr val="0F4861"/>
                    </a:solidFill>
                  </a:tcPr>
                </a:tc>
              </a:tr>
              <a:tr h="364200">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1e</a:t>
                      </a:r>
                      <a:r>
                        <a:rPr baseline="30000" lang="en" sz="1500">
                          <a:solidFill>
                            <a:schemeClr val="lt1"/>
                          </a:solidFill>
                        </a:rPr>
                        <a:t>1-2</a:t>
                      </a:r>
                      <a:r>
                        <a:rPr lang="en" sz="1500">
                          <a:solidFill>
                            <a:schemeClr val="lt1"/>
                          </a:solidFill>
                        </a:rPr>
                        <a:t>+3e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c>
                  <a:txBody>
                    <a:bodyPr/>
                    <a:lstStyle/>
                    <a:p>
                      <a:pPr indent="0" lvl="0" marL="0" marR="0" rtl="0" algn="ctr">
                        <a:lnSpc>
                          <a:spcPct val="100000"/>
                        </a:lnSpc>
                        <a:spcBef>
                          <a:spcPts val="0"/>
                        </a:spcBef>
                        <a:spcAft>
                          <a:spcPts val="0"/>
                        </a:spcAft>
                        <a:buClr>
                          <a:schemeClr val="lt1"/>
                        </a:buClr>
                        <a:buSzPts val="1500"/>
                        <a:buFont typeface="Arial"/>
                        <a:buNone/>
                      </a:pPr>
                      <a:r>
                        <a:rPr lang="en" sz="1500">
                          <a:solidFill>
                            <a:schemeClr val="lt1"/>
                          </a:solidFill>
                        </a:rPr>
                        <a:t>2e</a:t>
                      </a:r>
                      <a:r>
                        <a:rPr baseline="30000" lang="en" sz="1500">
                          <a:solidFill>
                            <a:schemeClr val="lt1"/>
                          </a:solidFill>
                        </a:rPr>
                        <a:t>1-2</a:t>
                      </a:r>
                      <a:r>
                        <a:rPr lang="en" sz="1500">
                          <a:solidFill>
                            <a:schemeClr val="lt1"/>
                          </a:solidFill>
                        </a:rPr>
                        <a:t>+4e</a:t>
                      </a:r>
                      <a:r>
                        <a:rPr baseline="30000" lang="en" sz="1500">
                          <a:solidFill>
                            <a:schemeClr val="lt1"/>
                          </a:solidFill>
                        </a:rPr>
                        <a:t>2-2 </a:t>
                      </a:r>
                      <a:endParaRPr baseline="30000" sz="1500">
                        <a:solidFill>
                          <a:schemeClr val="lt1"/>
                        </a:solidFill>
                      </a:endParaRPr>
                    </a:p>
                  </a:txBody>
                  <a:tcPr marT="0" marB="0" marR="0" marL="0" anchor="ctr">
                    <a:solidFill>
                      <a:srgbClr val="0F4861"/>
                    </a:solidFill>
                  </a:tcPr>
                </a:tc>
              </a:tr>
            </a:tbl>
          </a:graphicData>
        </a:graphic>
      </p:graphicFrame>
      <p:graphicFrame>
        <p:nvGraphicFramePr>
          <p:cNvPr id="1137" name="Google Shape;1137;p73"/>
          <p:cNvGraphicFramePr/>
          <p:nvPr/>
        </p:nvGraphicFramePr>
        <p:xfrm>
          <a:off x="130175" y="2914925"/>
          <a:ext cx="3000000" cy="3000000"/>
        </p:xfrm>
        <a:graphic>
          <a:graphicData uri="http://schemas.openxmlformats.org/drawingml/2006/table">
            <a:tbl>
              <a:tblPr bandRow="1">
                <a:noFill/>
                <a:tableStyleId>{EE193DD2-6E87-43B2-945D-4C0B9107F9EB}</a:tableStyleId>
              </a:tblPr>
              <a:tblGrid>
                <a:gridCol w="376975"/>
                <a:gridCol w="376975"/>
                <a:gridCol w="376975"/>
                <a:gridCol w="376975"/>
              </a:tblGrid>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r h="370025">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4</a:t>
                      </a:r>
                      <a:endParaRPr sz="1400">
                        <a:solidFill>
                          <a:schemeClr val="lt1"/>
                        </a:solidFill>
                      </a:endParaRPr>
                    </a:p>
                  </a:txBody>
                  <a:tcPr marT="34300" marB="34300" marR="68600" marL="68600" anchor="ctr">
                    <a:solidFill>
                      <a:srgbClr val="143C64"/>
                    </a:solidFill>
                  </a:tcPr>
                </a:tc>
                <a:tc>
                  <a:txBody>
                    <a:bodyPr/>
                    <a:lstStyle/>
                    <a:p>
                      <a:pPr indent="0" lvl="0" marL="0" marR="0" rtl="0" algn="ctr">
                        <a:spcBef>
                          <a:spcPts val="0"/>
                        </a:spcBef>
                        <a:spcAft>
                          <a:spcPts val="0"/>
                        </a:spcAft>
                        <a:buNone/>
                      </a:pPr>
                      <a:r>
                        <a:rPr lang="en" sz="1400">
                          <a:solidFill>
                            <a:schemeClr val="lt1"/>
                          </a:solidFill>
                        </a:rPr>
                        <a:t>-2</a:t>
                      </a:r>
                      <a:endParaRPr sz="1400">
                        <a:solidFill>
                          <a:schemeClr val="lt1"/>
                        </a:solidFill>
                      </a:endParaRPr>
                    </a:p>
                  </a:txBody>
                  <a:tcPr marT="34300" marB="34300" marR="68600" marL="68600" anchor="ctr">
                    <a:solidFill>
                      <a:srgbClr val="143C64"/>
                    </a:solidFill>
                  </a:tcPr>
                </a:tc>
              </a:tr>
            </a:tbl>
          </a:graphicData>
        </a:graphic>
      </p:graphicFrame>
      <p:sp>
        <p:nvSpPr>
          <p:cNvPr id="1138" name="Google Shape;1138;p73"/>
          <p:cNvSpPr txBox="1"/>
          <p:nvPr/>
        </p:nvSpPr>
        <p:spPr>
          <a:xfrm>
            <a:off x="4578353" y="3788859"/>
            <a:ext cx="116522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139" name="Google Shape;1139;p73"/>
          <p:cNvSpPr/>
          <p:nvPr/>
        </p:nvSpPr>
        <p:spPr>
          <a:xfrm>
            <a:off x="6396452" y="2732630"/>
            <a:ext cx="2696748" cy="100965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40" name="Google Shape;1140;p73"/>
          <p:cNvSpPr txBox="1"/>
          <p:nvPr/>
        </p:nvSpPr>
        <p:spPr>
          <a:xfrm>
            <a:off x="7683749" y="3810954"/>
            <a:ext cx="666500"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141" name="Google Shape;1141;p73"/>
          <p:cNvSpPr/>
          <p:nvPr/>
        </p:nvSpPr>
        <p:spPr>
          <a:xfrm>
            <a:off x="4126100" y="2909100"/>
            <a:ext cx="1354800" cy="257100"/>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4</a:t>
            </a:r>
            <a:endParaRPr sz="1400">
              <a:solidFill>
                <a:schemeClr val="lt1"/>
              </a:solidFill>
              <a:latin typeface="Arial"/>
              <a:ea typeface="Arial"/>
              <a:cs typeface="Arial"/>
              <a:sym typeface="Arial"/>
            </a:endParaRPr>
          </a:p>
        </p:txBody>
      </p:sp>
      <p:sp>
        <p:nvSpPr>
          <p:cNvPr id="1142" name="Google Shape;1142;p73"/>
          <p:cNvSpPr/>
          <p:nvPr/>
        </p:nvSpPr>
        <p:spPr>
          <a:xfrm>
            <a:off x="4126100" y="3314879"/>
            <a:ext cx="1354800" cy="257100"/>
          </a:xfrm>
          <a:prstGeom prst="rect">
            <a:avLst/>
          </a:prstGeom>
          <a:solidFill>
            <a:schemeClr val="accent2"/>
          </a:solidFill>
          <a:ln cap="flat" cmpd="sng" w="19050">
            <a:solidFill>
              <a:srgbClr val="622F1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Max = 2</a:t>
            </a:r>
            <a:endParaRPr sz="1400">
              <a:solidFill>
                <a:schemeClr val="lt1"/>
              </a:solidFill>
              <a:latin typeface="Arial"/>
              <a:ea typeface="Arial"/>
              <a:cs typeface="Arial"/>
              <a:sym typeface="Arial"/>
            </a:endParaRPr>
          </a:p>
        </p:txBody>
      </p:sp>
      <p:sp>
        <p:nvSpPr>
          <p:cNvPr id="1143" name="Google Shape;1143;p73"/>
          <p:cNvSpPr/>
          <p:nvPr/>
        </p:nvSpPr>
        <p:spPr>
          <a:xfrm>
            <a:off x="4126110" y="2702805"/>
            <a:ext cx="1419300" cy="100980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44" name="Google Shape;1144;p73"/>
          <p:cNvSpPr/>
          <p:nvPr/>
        </p:nvSpPr>
        <p:spPr>
          <a:xfrm>
            <a:off x="5363182" y="3837530"/>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S1 = e</a:t>
            </a:r>
            <a:r>
              <a:rPr baseline="30000" lang="en" sz="1100">
                <a:solidFill>
                  <a:schemeClr val="lt1"/>
                </a:solidFill>
                <a:latin typeface="Arial"/>
                <a:ea typeface="Arial"/>
                <a:cs typeface="Arial"/>
                <a:sym typeface="Arial"/>
              </a:rPr>
              <a:t>4-4</a:t>
            </a:r>
            <a:r>
              <a:rPr lang="en" sz="1100">
                <a:solidFill>
                  <a:schemeClr val="lt1"/>
                </a:solidFill>
                <a:latin typeface="Arial"/>
                <a:ea typeface="Arial"/>
                <a:cs typeface="Arial"/>
                <a:sym typeface="Arial"/>
              </a:rPr>
              <a:t> </a:t>
            </a:r>
            <a:endParaRPr baseline="30000" sz="1100">
              <a:solidFill>
                <a:schemeClr val="lt1"/>
              </a:solidFill>
              <a:latin typeface="Arial"/>
              <a:ea typeface="Arial"/>
              <a:cs typeface="Arial"/>
              <a:sym typeface="Arial"/>
            </a:endParaRPr>
          </a:p>
        </p:txBody>
      </p:sp>
      <p:sp>
        <p:nvSpPr>
          <p:cNvPr id="1145" name="Google Shape;1145;p73"/>
          <p:cNvSpPr/>
          <p:nvPr/>
        </p:nvSpPr>
        <p:spPr>
          <a:xfrm>
            <a:off x="5363182" y="4219634"/>
            <a:ext cx="1033270" cy="257175"/>
          </a:xfrm>
          <a:prstGeom prst="rect">
            <a:avLst/>
          </a:prstGeom>
          <a:solidFill>
            <a:schemeClr val="accent4"/>
          </a:solidFill>
          <a:ln cap="flat" cmpd="sng" w="19050">
            <a:solidFill>
              <a:srgbClr val="06425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lt1"/>
                </a:solidFill>
                <a:latin typeface="Arial"/>
                <a:ea typeface="Arial"/>
                <a:cs typeface="Arial"/>
                <a:sym typeface="Arial"/>
              </a:rPr>
              <a:t>S2 = e</a:t>
            </a:r>
            <a:r>
              <a:rPr baseline="30000" lang="en" sz="1100">
                <a:solidFill>
                  <a:schemeClr val="lt1"/>
                </a:solidFill>
                <a:latin typeface="Arial"/>
                <a:ea typeface="Arial"/>
                <a:cs typeface="Arial"/>
                <a:sym typeface="Arial"/>
              </a:rPr>
              <a:t>1-2</a:t>
            </a:r>
            <a:r>
              <a:rPr lang="en" sz="1100">
                <a:solidFill>
                  <a:schemeClr val="lt1"/>
                </a:solidFill>
                <a:latin typeface="Arial"/>
                <a:ea typeface="Arial"/>
                <a:cs typeface="Arial"/>
                <a:sym typeface="Arial"/>
              </a:rPr>
              <a:t> + e</a:t>
            </a:r>
            <a:r>
              <a:rPr baseline="30000" lang="en" sz="1100">
                <a:solidFill>
                  <a:schemeClr val="lt1"/>
                </a:solidFill>
                <a:latin typeface="Arial"/>
                <a:ea typeface="Arial"/>
                <a:cs typeface="Arial"/>
                <a:sym typeface="Arial"/>
              </a:rPr>
              <a:t>2-2</a:t>
            </a:r>
            <a:endParaRPr baseline="30000" sz="1100">
              <a:solidFill>
                <a:schemeClr val="lt1"/>
              </a:solidFill>
              <a:latin typeface="Arial"/>
              <a:ea typeface="Arial"/>
              <a:cs typeface="Arial"/>
              <a:sym typeface="Arial"/>
            </a:endParaRPr>
          </a:p>
        </p:txBody>
      </p:sp>
      <p:sp>
        <p:nvSpPr>
          <p:cNvPr id="1146" name="Google Shape;1146;p73"/>
          <p:cNvSpPr txBox="1"/>
          <p:nvPr/>
        </p:nvSpPr>
        <p:spPr>
          <a:xfrm>
            <a:off x="5657316" y="4725090"/>
            <a:ext cx="1165226"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C000"/>
                </a:solidFill>
                <a:latin typeface="Arial"/>
                <a:ea typeface="Arial"/>
                <a:cs typeface="Arial"/>
                <a:sym typeface="Arial"/>
              </a:rPr>
              <a:t>Keep</a:t>
            </a:r>
            <a:endParaRPr b="1" sz="1400">
              <a:solidFill>
                <a:srgbClr val="FFC000"/>
              </a:solidFill>
              <a:latin typeface="Arial"/>
              <a:ea typeface="Arial"/>
              <a:cs typeface="Arial"/>
              <a:sym typeface="Arial"/>
            </a:endParaRPr>
          </a:p>
        </p:txBody>
      </p:sp>
      <p:sp>
        <p:nvSpPr>
          <p:cNvPr id="1147" name="Google Shape;1147;p73"/>
          <p:cNvSpPr/>
          <p:nvPr/>
        </p:nvSpPr>
        <p:spPr>
          <a:xfrm>
            <a:off x="5222198" y="3668860"/>
            <a:ext cx="1419365" cy="1009650"/>
          </a:xfrm>
          <a:prstGeom prst="ellipse">
            <a:avLst/>
          </a:prstGeom>
          <a:noFill/>
          <a:ln cap="flat" cmpd="sng" w="57150">
            <a:solidFill>
              <a:srgbClr val="FFC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74"/>
          <p:cNvSpPr txBox="1"/>
          <p:nvPr>
            <p:ph type="title"/>
          </p:nvPr>
        </p:nvSpPr>
        <p:spPr>
          <a:xfrm>
            <a:off x="429361" y="135053"/>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Grouped Query Attention of size 2</a:t>
            </a:r>
            <a:endParaRPr/>
          </a:p>
        </p:txBody>
      </p:sp>
      <p:sp>
        <p:nvSpPr>
          <p:cNvPr id="1153" name="Google Shape;1153;p74"/>
          <p:cNvSpPr/>
          <p:nvPr/>
        </p:nvSpPr>
        <p:spPr>
          <a:xfrm>
            <a:off x="3042677" y="3397412"/>
            <a:ext cx="1422400" cy="57150"/>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154" name="Google Shape;1154;p74"/>
          <p:cNvGrpSpPr/>
          <p:nvPr/>
        </p:nvGrpSpPr>
        <p:grpSpPr>
          <a:xfrm>
            <a:off x="1968324" y="397798"/>
            <a:ext cx="6169164" cy="4486329"/>
            <a:chOff x="2454103" y="301797"/>
            <a:chExt cx="8225552" cy="5981772"/>
          </a:xfrm>
        </p:grpSpPr>
        <p:pic>
          <p:nvPicPr>
            <p:cNvPr descr="A screenshot of a computer&#10;&#10;AI-generated content may be incorrect." id="1155" name="Google Shape;1155;p74"/>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56" name="Google Shape;1156;p74"/>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57" name="Google Shape;1157;p74"/>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sp>
        <p:nvSpPr>
          <p:cNvPr id="1158" name="Google Shape;1158;p74"/>
          <p:cNvSpPr/>
          <p:nvPr/>
        </p:nvSpPr>
        <p:spPr>
          <a:xfrm>
            <a:off x="610068" y="2047980"/>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0</a:t>
            </a:r>
            <a:endParaRPr sz="1100"/>
          </a:p>
        </p:txBody>
      </p:sp>
      <p:sp>
        <p:nvSpPr>
          <p:cNvPr id="1159" name="Google Shape;1159;p74"/>
          <p:cNvSpPr/>
          <p:nvPr/>
        </p:nvSpPr>
        <p:spPr>
          <a:xfrm>
            <a:off x="610068" y="2372039"/>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1</a:t>
            </a:r>
            <a:endParaRPr sz="1100"/>
          </a:p>
        </p:txBody>
      </p:sp>
      <p:sp>
        <p:nvSpPr>
          <p:cNvPr id="1160" name="Google Shape;1160;p74"/>
          <p:cNvSpPr/>
          <p:nvPr/>
        </p:nvSpPr>
        <p:spPr>
          <a:xfrm>
            <a:off x="610068" y="2696099"/>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2</a:t>
            </a:r>
            <a:endParaRPr sz="1100"/>
          </a:p>
        </p:txBody>
      </p:sp>
      <p:sp>
        <p:nvSpPr>
          <p:cNvPr id="1161" name="Google Shape;1161;p74"/>
          <p:cNvSpPr/>
          <p:nvPr/>
        </p:nvSpPr>
        <p:spPr>
          <a:xfrm>
            <a:off x="610068" y="3017688"/>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3</a:t>
            </a:r>
            <a:endParaRPr sz="1100"/>
          </a:p>
        </p:txBody>
      </p:sp>
      <p:sp>
        <p:nvSpPr>
          <p:cNvPr id="1162" name="Google Shape;1162;p74"/>
          <p:cNvSpPr/>
          <p:nvPr/>
        </p:nvSpPr>
        <p:spPr>
          <a:xfrm>
            <a:off x="610068" y="3590360"/>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4</a:t>
            </a:r>
            <a:endParaRPr sz="1100"/>
          </a:p>
        </p:txBody>
      </p:sp>
      <p:sp>
        <p:nvSpPr>
          <p:cNvPr id="1163" name="Google Shape;1163;p74"/>
          <p:cNvSpPr/>
          <p:nvPr/>
        </p:nvSpPr>
        <p:spPr>
          <a:xfrm>
            <a:off x="610068" y="3914419"/>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5</a:t>
            </a:r>
            <a:endParaRPr sz="1100"/>
          </a:p>
        </p:txBody>
      </p:sp>
      <p:sp>
        <p:nvSpPr>
          <p:cNvPr id="1164" name="Google Shape;1164;p74"/>
          <p:cNvSpPr/>
          <p:nvPr/>
        </p:nvSpPr>
        <p:spPr>
          <a:xfrm>
            <a:off x="610068" y="4238478"/>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6</a:t>
            </a:r>
            <a:endParaRPr sz="1100"/>
          </a:p>
        </p:txBody>
      </p:sp>
      <p:sp>
        <p:nvSpPr>
          <p:cNvPr id="1165" name="Google Shape;1165;p74"/>
          <p:cNvSpPr/>
          <p:nvPr/>
        </p:nvSpPr>
        <p:spPr>
          <a:xfrm>
            <a:off x="610068" y="4560068"/>
            <a:ext cx="1160585" cy="32405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Block 7</a:t>
            </a:r>
            <a:endParaRPr sz="1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7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Arial"/>
              <a:buNone/>
            </a:pPr>
            <a:r>
              <a:rPr lang="en"/>
              <a:t>Expanding to all KV heads</a:t>
            </a:r>
            <a:endParaRPr/>
          </a:p>
        </p:txBody>
      </p:sp>
      <p:grpSp>
        <p:nvGrpSpPr>
          <p:cNvPr id="1171" name="Google Shape;1171;p75"/>
          <p:cNvGrpSpPr/>
          <p:nvPr/>
        </p:nvGrpSpPr>
        <p:grpSpPr>
          <a:xfrm>
            <a:off x="311700" y="1371600"/>
            <a:ext cx="2117533" cy="1539908"/>
            <a:chOff x="2454103" y="301797"/>
            <a:chExt cx="8225552" cy="5981772"/>
          </a:xfrm>
        </p:grpSpPr>
        <p:pic>
          <p:nvPicPr>
            <p:cNvPr descr="A screenshot of a computer&#10;&#10;AI-generated content may be incorrect." id="1172" name="Google Shape;1172;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73" name="Google Shape;1173;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74" name="Google Shape;1174;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grpSp>
        <p:nvGrpSpPr>
          <p:cNvPr id="1175" name="Google Shape;1175;p75"/>
          <p:cNvGrpSpPr/>
          <p:nvPr/>
        </p:nvGrpSpPr>
        <p:grpSpPr>
          <a:xfrm>
            <a:off x="2483399" y="1371600"/>
            <a:ext cx="2117533" cy="1539908"/>
            <a:chOff x="2454103" y="301797"/>
            <a:chExt cx="8225552" cy="5981772"/>
          </a:xfrm>
        </p:grpSpPr>
        <p:pic>
          <p:nvPicPr>
            <p:cNvPr descr="A screenshot of a computer&#10;&#10;AI-generated content may be incorrect." id="1176" name="Google Shape;1176;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77" name="Google Shape;1177;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78" name="Google Shape;1178;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grpSp>
        <p:nvGrpSpPr>
          <p:cNvPr id="1179" name="Google Shape;1179;p75"/>
          <p:cNvGrpSpPr/>
          <p:nvPr/>
        </p:nvGrpSpPr>
        <p:grpSpPr>
          <a:xfrm>
            <a:off x="4655099" y="1373484"/>
            <a:ext cx="2117533" cy="1539908"/>
            <a:chOff x="2454103" y="301797"/>
            <a:chExt cx="8225552" cy="5981772"/>
          </a:xfrm>
        </p:grpSpPr>
        <p:pic>
          <p:nvPicPr>
            <p:cNvPr descr="A screenshot of a computer&#10;&#10;AI-generated content may be incorrect." id="1180" name="Google Shape;1180;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81" name="Google Shape;1181;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82" name="Google Shape;1182;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grpSp>
        <p:nvGrpSpPr>
          <p:cNvPr id="1183" name="Google Shape;1183;p75"/>
          <p:cNvGrpSpPr/>
          <p:nvPr/>
        </p:nvGrpSpPr>
        <p:grpSpPr>
          <a:xfrm>
            <a:off x="6826798" y="1373484"/>
            <a:ext cx="2117533" cy="1539908"/>
            <a:chOff x="2454103" y="301797"/>
            <a:chExt cx="8225552" cy="5981772"/>
          </a:xfrm>
        </p:grpSpPr>
        <p:pic>
          <p:nvPicPr>
            <p:cNvPr descr="A screenshot of a computer&#10;&#10;AI-generated content may be incorrect." id="1184" name="Google Shape;1184;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85" name="Google Shape;1185;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86" name="Google Shape;1186;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grpSp>
        <p:nvGrpSpPr>
          <p:cNvPr id="1187" name="Google Shape;1187;p75"/>
          <p:cNvGrpSpPr/>
          <p:nvPr/>
        </p:nvGrpSpPr>
        <p:grpSpPr>
          <a:xfrm>
            <a:off x="311700" y="3063208"/>
            <a:ext cx="2117533" cy="1539908"/>
            <a:chOff x="2454103" y="301797"/>
            <a:chExt cx="8225552" cy="5981772"/>
          </a:xfrm>
        </p:grpSpPr>
        <p:pic>
          <p:nvPicPr>
            <p:cNvPr descr="A screenshot of a computer&#10;&#10;AI-generated content may be incorrect." id="1188" name="Google Shape;1188;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89" name="Google Shape;1189;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90" name="Google Shape;1190;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grpSp>
        <p:nvGrpSpPr>
          <p:cNvPr id="1191" name="Google Shape;1191;p75"/>
          <p:cNvGrpSpPr/>
          <p:nvPr/>
        </p:nvGrpSpPr>
        <p:grpSpPr>
          <a:xfrm>
            <a:off x="2483399" y="3063208"/>
            <a:ext cx="2117533" cy="1539908"/>
            <a:chOff x="2454103" y="301797"/>
            <a:chExt cx="8225552" cy="5981772"/>
          </a:xfrm>
        </p:grpSpPr>
        <p:pic>
          <p:nvPicPr>
            <p:cNvPr descr="A screenshot of a computer&#10;&#10;AI-generated content may be incorrect." id="1192" name="Google Shape;1192;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93" name="Google Shape;1193;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94" name="Google Shape;1194;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grpSp>
        <p:nvGrpSpPr>
          <p:cNvPr id="1195" name="Google Shape;1195;p75"/>
          <p:cNvGrpSpPr/>
          <p:nvPr/>
        </p:nvGrpSpPr>
        <p:grpSpPr>
          <a:xfrm>
            <a:off x="4655099" y="3065092"/>
            <a:ext cx="2117533" cy="1539908"/>
            <a:chOff x="2454103" y="301797"/>
            <a:chExt cx="8225552" cy="5981772"/>
          </a:xfrm>
        </p:grpSpPr>
        <p:pic>
          <p:nvPicPr>
            <p:cNvPr descr="A screenshot of a computer&#10;&#10;AI-generated content may be incorrect." id="1196" name="Google Shape;1196;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197" name="Google Shape;1197;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198" name="Google Shape;1198;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grpSp>
        <p:nvGrpSpPr>
          <p:cNvPr id="1199" name="Google Shape;1199;p75"/>
          <p:cNvGrpSpPr/>
          <p:nvPr/>
        </p:nvGrpSpPr>
        <p:grpSpPr>
          <a:xfrm>
            <a:off x="6826798" y="3065092"/>
            <a:ext cx="2117533" cy="1539908"/>
            <a:chOff x="2454103" y="301797"/>
            <a:chExt cx="8225552" cy="5981772"/>
          </a:xfrm>
        </p:grpSpPr>
        <p:pic>
          <p:nvPicPr>
            <p:cNvPr descr="A screenshot of a computer&#10;&#10;AI-generated content may be incorrect." id="1200" name="Google Shape;1200;p75"/>
            <p:cNvPicPr preferRelativeResize="0"/>
            <p:nvPr/>
          </p:nvPicPr>
          <p:blipFill rotWithShape="1">
            <a:blip r:embed="rId3">
              <a:alphaModFix/>
            </a:blip>
            <a:srcRect b="0" l="0" r="0" t="0"/>
            <a:stretch/>
          </p:blipFill>
          <p:spPr>
            <a:xfrm>
              <a:off x="2454103" y="301797"/>
              <a:ext cx="6667777" cy="3925266"/>
            </a:xfrm>
            <a:prstGeom prst="rect">
              <a:avLst/>
            </a:prstGeom>
            <a:noFill/>
            <a:ln>
              <a:noFill/>
            </a:ln>
          </p:spPr>
        </p:pic>
        <p:pic>
          <p:nvPicPr>
            <p:cNvPr descr="A screenshot of a computer&#10;&#10;AI-generated content may be incorrect." id="1201" name="Google Shape;1201;p75"/>
            <p:cNvPicPr preferRelativeResize="0"/>
            <p:nvPr/>
          </p:nvPicPr>
          <p:blipFill rotWithShape="1">
            <a:blip r:embed="rId3">
              <a:alphaModFix/>
            </a:blip>
            <a:srcRect b="0" l="0" r="0" t="51153"/>
            <a:stretch/>
          </p:blipFill>
          <p:spPr>
            <a:xfrm>
              <a:off x="2454103" y="4369015"/>
              <a:ext cx="6658009" cy="1914554"/>
            </a:xfrm>
            <a:prstGeom prst="rect">
              <a:avLst/>
            </a:prstGeom>
            <a:noFill/>
            <a:ln>
              <a:noFill/>
            </a:ln>
          </p:spPr>
        </p:pic>
        <p:pic>
          <p:nvPicPr>
            <p:cNvPr descr="A screenshot of a computer&#10;&#10;AI-generated content may be incorrect." id="1202" name="Google Shape;1202;p75"/>
            <p:cNvPicPr preferRelativeResize="0"/>
            <p:nvPr/>
          </p:nvPicPr>
          <p:blipFill rotWithShape="1">
            <a:blip r:embed="rId3">
              <a:alphaModFix/>
            </a:blip>
            <a:srcRect b="52693" l="53531" r="22960" t="15308"/>
            <a:stretch/>
          </p:blipFill>
          <p:spPr>
            <a:xfrm>
              <a:off x="9112112" y="4811485"/>
              <a:ext cx="1567543" cy="1256044"/>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自定义 2">
      <a:dk1>
        <a:srgbClr val="000000"/>
      </a:dk1>
      <a:lt1>
        <a:srgbClr val="000000"/>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themeOverride>
</file>