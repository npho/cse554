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themeOverride+xml" PartName="/ppt/theme/themeOverr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5"/>
    <p:sldMasterId id="2147483675" r:id="rId6"/>
    <p:sldMasterId id="214748367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y="5143500" cx="9144000"/>
  <p:notesSz cx="6858000" cy="9144000"/>
  <p:embeddedFontLst>
    <p:embeddedFont>
      <p:font typeface="Roboto"/>
      <p:regular r:id="rId26"/>
      <p:bold r:id="rId27"/>
      <p:italic r:id="rId28"/>
      <p:boldItalic r:id="rId29"/>
    </p:embeddedFont>
    <p:embeddedFont>
      <p:font typeface="Encode Sans"/>
      <p:regular r:id="rId30"/>
      <p:bold r:id="rId31"/>
    </p:embeddedFont>
    <p:embeddedFont>
      <p:font typeface="Encode Sans Black"/>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5155439-83E4-41F6-8512-8A3E43A996AD}">
  <a:tblStyle styleId="{15155439-83E4-41F6-8512-8A3E43A996A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Roboto-regular.fntdata"/><Relationship Id="rId25" Type="http://schemas.openxmlformats.org/officeDocument/2006/relationships/slide" Target="slides/slide17.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Italic.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EncodeSans-bold.fntdata"/><Relationship Id="rId30" Type="http://schemas.openxmlformats.org/officeDocument/2006/relationships/font" Target="fonts/EncodeSans-regular.fntdata"/><Relationship Id="rId11" Type="http://schemas.openxmlformats.org/officeDocument/2006/relationships/slide" Target="slides/slide3.xml"/><Relationship Id="rId10" Type="http://schemas.openxmlformats.org/officeDocument/2006/relationships/slide" Target="slides/slide2.xml"/><Relationship Id="rId32" Type="http://schemas.openxmlformats.org/officeDocument/2006/relationships/font" Target="fonts/EncodeSansBlack-bold.fntdata"/><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abb05ce7b_0_34:notes"/>
          <p:cNvSpPr/>
          <p:nvPr>
            <p:ph idx="2" type="sldImg"/>
          </p:nvPr>
        </p:nvSpPr>
        <p:spPr>
          <a:xfrm>
            <a:off x="464456" y="1143179"/>
            <a:ext cx="5928900" cy="3086400"/>
          </a:xfrm>
          <a:custGeom>
            <a:rect b="b" l="l" r="r" t="t"/>
            <a:pathLst>
              <a:path extrusionOk="0" h="120000" w="120000">
                <a:moveTo>
                  <a:pt x="0" y="0"/>
                </a:moveTo>
                <a:lnTo>
                  <a:pt x="120000" y="0"/>
                </a:lnTo>
                <a:lnTo>
                  <a:pt x="120000" y="120000"/>
                </a:lnTo>
                <a:lnTo>
                  <a:pt x="0" y="120000"/>
                </a:lnTo>
                <a:close/>
              </a:path>
            </a:pathLst>
          </a:custGeom>
          <a:noFill/>
          <a:ln cap="flat" cmpd="sng" w="11950">
            <a:solidFill>
              <a:srgbClr val="000000"/>
            </a:solidFill>
            <a:prstDash val="solid"/>
            <a:round/>
            <a:headEnd len="sm" w="sm" type="none"/>
            <a:tailEnd len="sm" w="sm" type="none"/>
          </a:ln>
        </p:spPr>
      </p:sp>
      <p:sp>
        <p:nvSpPr>
          <p:cNvPr id="113" name="Google Shape;113;g3babb05ce7b_0_34:notes"/>
          <p:cNvSpPr txBox="1"/>
          <p:nvPr>
            <p:ph idx="1" type="body"/>
          </p:nvPr>
        </p:nvSpPr>
        <p:spPr>
          <a:xfrm>
            <a:off x="685800" y="4400555"/>
            <a:ext cx="5486400" cy="3600600"/>
          </a:xfrm>
          <a:prstGeom prst="rect">
            <a:avLst/>
          </a:prstGeom>
          <a:noFill/>
          <a:ln>
            <a:noFill/>
          </a:ln>
        </p:spPr>
        <p:txBody>
          <a:bodyPr anchorCtr="0" anchor="t" bIns="46625" lIns="93250" spcFirstLastPara="1" rIns="93250" wrap="square" tIns="46625">
            <a:noAutofit/>
          </a:bodyPr>
          <a:lstStyle/>
          <a:p>
            <a:pPr indent="0" lvl="0" marL="0" rtl="0" algn="l">
              <a:spcBef>
                <a:spcPts val="0"/>
              </a:spcBef>
              <a:spcAft>
                <a:spcPts val="0"/>
              </a:spcAft>
              <a:buNone/>
            </a:pPr>
            <a:r>
              <a:t/>
            </a:r>
            <a:endParaRPr/>
          </a:p>
        </p:txBody>
      </p:sp>
      <p:sp>
        <p:nvSpPr>
          <p:cNvPr id="114" name="Google Shape;114;g3babb05ce7b_0_34:notes"/>
          <p:cNvSpPr txBox="1"/>
          <p:nvPr>
            <p:ph idx="12" type="sldNum"/>
          </p:nvPr>
        </p:nvSpPr>
        <p:spPr>
          <a:xfrm>
            <a:off x="3884613" y="8685225"/>
            <a:ext cx="2971800" cy="459000"/>
          </a:xfrm>
          <a:prstGeom prst="rect">
            <a:avLst/>
          </a:prstGeom>
          <a:noFill/>
          <a:ln>
            <a:noFill/>
          </a:ln>
        </p:spPr>
        <p:txBody>
          <a:bodyPr anchorCtr="0" anchor="b" bIns="46625" lIns="93250" spcFirstLastPara="1" rIns="93250" wrap="square" tIns="46625">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be62098b8_2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4be62098b8_2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be62098b8_2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4be62098b8_2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be62098b8_2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4be62098b8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TODO: fix so multi-head attention is clearer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4be62098b8_2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4be62098b8_2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Llama architecture is quite similar to what I discussed last time and showed on the last slide. Even the FFN here on the actual Llama diagram doesn’t show the two parallel paths, if you expand the feed forward network it’s actually two parallel paths.</a:t>
            </a:r>
            <a:endParaRPr/>
          </a:p>
          <a:p>
            <a:pPr indent="-298450" lvl="0" marL="457200" rtl="0" algn="l">
              <a:lnSpc>
                <a:spcPct val="100000"/>
              </a:lnSpc>
              <a:spcBef>
                <a:spcPts val="0"/>
              </a:spcBef>
              <a:spcAft>
                <a:spcPts val="0"/>
              </a:spcAft>
              <a:buSzPts val="1100"/>
              <a:buChar char="●"/>
            </a:pPr>
            <a:r>
              <a:t/>
            </a:r>
            <a:endParaRPr/>
          </a:p>
          <a:p>
            <a:pPr indent="-298450" lvl="0" marL="457200" rtl="0" algn="l">
              <a:lnSpc>
                <a:spcPct val="100000"/>
              </a:lnSpc>
              <a:spcBef>
                <a:spcPts val="0"/>
              </a:spcBef>
              <a:spcAft>
                <a:spcPts val="0"/>
              </a:spcAft>
              <a:buSzPts val="1100"/>
              <a:buChar char="●"/>
            </a:pPr>
            <a:r>
              <a:rPr lang="en"/>
              <a:t>One difference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be62098b8_2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4be62098b8_2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Let’s zoom in on the transformer architecture a little more. The prefill and decode requests we just talked about are first converted into token embeddings, which are vector representations of the requests.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b="1" lang="en"/>
              <a:t>&lt;click&gt; </a:t>
            </a:r>
            <a:r>
              <a:rPr lang="en"/>
              <a:t>These then go through a transformer layer, &lt;click&gt; and  then through multiple transformer layers to generate a final output token through a process &lt;click&gt; called sampling. There are different strategies to go about wrt sampling, but we won’t cover that in detail necessarily.</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b="1" lang="en"/>
              <a:t>&lt;click&gt;</a:t>
            </a:r>
            <a:r>
              <a:rPr lang="en"/>
              <a:t> The inputs get transformed as they go through the layers and various networks, so we refer to these as the activations that get passed along the layers.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
              <a:t>The number of layers varies from model to model, but for example in the GPT-3 model, there are 96 transformer layers.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be62098b8_2_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4be62098b8_2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t>If we further zoom in on one of the layers, we see that it comprises an attention block and a feed forward network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4be62098b8_2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4be62098b8_2_14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4be62098b8_2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34be62098b8_2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 let’s look at this GPU memory diagram again, where we can see that not only the KV-cache occupies a large space as determined empirically by most existing work, it also primarily determines the size of input batches.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Why is that? &lt;click&gt; Recall that, each batch is processed by multiple transformer layers and heads, and each request in a batch has a corresponding KV cache entry per attention head.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4be62098b8_2_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 name="Google Shape;285;g34be62098b8_2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idea in GQA is…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4be62098b8_2_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34be62098b8_2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for multiple query heads to share a KV cache, which of course means that attention operation is somewhat weakened since we don’t have individual keys and values for each query head, but it turns out that not to a degree that matters much in terms of accuracy.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&lt;click&gt;</a:t>
            </a:r>
            <a:r>
              <a:rPr lang="en"/>
              <a:t> Here, I show a group size of 4, which means 4 heads share a KV cache.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&lt;click&gt;</a:t>
            </a:r>
            <a:r>
              <a:rPr lang="en"/>
              <a:t> So what does this mean then? It means that we can accommodate 4 times more heads, which would correspond to a 4 times larger input batch!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&lt;click&gt; </a:t>
            </a:r>
            <a:r>
              <a:rPr b="0" lang="en"/>
              <a:t>So GQA allows increasing the batch size by a factor of its group size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4be62098b8_2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g34be62098b8_2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G is our “</a:t>
            </a:r>
            <a:r>
              <a:rPr b="0" lang="en">
                <a:solidFill>
                  <a:srgbClr val="CE9178"/>
                </a:solidFill>
                <a:latin typeface="Arial"/>
                <a:ea typeface="Arial"/>
                <a:cs typeface="Arial"/>
                <a:sym typeface="Arial"/>
              </a:rPr>
              <a:t>layernormAttn_weight</a:t>
            </a:r>
            <a:r>
              <a:rPr lang="en"/>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bdf5dad3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bdf5dad3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4be62098b8_2_2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g34be62098b8_2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Font typeface="Arial"/>
              <a:buNone/>
            </a:pPr>
            <a:r>
              <a:rPr lang="en"/>
              <a:t>The actual attention formula looks like this, where there is a softmax operations that operates on a scaled-down version of the dot product. The scaling is needed so the softmax output is stable. </a:t>
            </a:r>
            <a:endParaRPr/>
          </a:p>
          <a:p>
            <a:pPr indent="0" lvl="0" marL="158750" rtl="0" algn="l">
              <a:lnSpc>
                <a:spcPct val="100000"/>
              </a:lnSpc>
              <a:spcBef>
                <a:spcPts val="0"/>
              </a:spcBef>
              <a:spcAft>
                <a:spcPts val="0"/>
              </a:spcAft>
              <a:buSzPts val="1100"/>
              <a:buFont typeface="Arial"/>
              <a:buNone/>
            </a:pPr>
            <a:r>
              <a:t/>
            </a:r>
            <a:endParaRPr/>
          </a:p>
          <a:p>
            <a:pPr indent="0" lvl="0" marL="158750" rtl="0" algn="l">
              <a:lnSpc>
                <a:spcPct val="100000"/>
              </a:lnSpc>
              <a:spcBef>
                <a:spcPts val="0"/>
              </a:spcBef>
              <a:spcAft>
                <a:spcPts val="0"/>
              </a:spcAft>
              <a:buSzPts val="1100"/>
              <a:buFont typeface="Arial"/>
              <a:buNone/>
            </a:pPr>
            <a:r>
              <a:rPr lang="en"/>
              <a:t>Softmax of an element xi in a vector x is computed with this formula.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4be62098b8_2_3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34be62098b8_2_3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Font typeface="Arial"/>
              <a:buNone/>
            </a:pPr>
            <a:r>
              <a:rPr lang="en"/>
              <a:t>In order to avoid this, we perform what’s called causal self attention using masking.</a:t>
            </a:r>
            <a:endParaRPr/>
          </a:p>
          <a:p>
            <a:pPr indent="0" lvl="0" marL="158750" rtl="0" algn="l">
              <a:lnSpc>
                <a:spcPct val="100000"/>
              </a:lnSpc>
              <a:spcBef>
                <a:spcPts val="0"/>
              </a:spcBef>
              <a:spcAft>
                <a:spcPts val="0"/>
              </a:spcAft>
              <a:buSzPts val="1100"/>
              <a:buFont typeface="Arial"/>
              <a:buNone/>
            </a:pPr>
            <a:r>
              <a:t/>
            </a:r>
            <a:endParaRPr/>
          </a:p>
          <a:p>
            <a:pPr indent="0" lvl="0" marL="158750" rtl="0" algn="l">
              <a:lnSpc>
                <a:spcPct val="100000"/>
              </a:lnSpc>
              <a:spcBef>
                <a:spcPts val="0"/>
              </a:spcBef>
              <a:spcAft>
                <a:spcPts val="0"/>
              </a:spcAft>
              <a:buSzPts val="1100"/>
              <a:buFont typeface="Arial"/>
              <a:buNone/>
            </a:pPr>
            <a:r>
              <a:rPr lang="en"/>
              <a:t>Recall the attention formula &lt;click&gt; and also the softmax equation. An easy way to implement the effect of masking out these entries is to set them to –infinity before the softmax, so that they become 0 after the softmax.</a:t>
            </a:r>
            <a:endParaRPr/>
          </a:p>
          <a:p>
            <a:pPr indent="0" lvl="0" marL="158750" rtl="0" algn="l">
              <a:lnSpc>
                <a:spcPct val="100000"/>
              </a:lnSpc>
              <a:spcBef>
                <a:spcPts val="0"/>
              </a:spcBef>
              <a:spcAft>
                <a:spcPts val="0"/>
              </a:spcAft>
              <a:buSzPts val="1100"/>
              <a:buFont typeface="Arial"/>
              <a:buNone/>
            </a:pPr>
            <a:r>
              <a:t/>
            </a:r>
            <a:endParaRPr/>
          </a:p>
          <a:p>
            <a:pPr indent="0" lvl="0" marL="158750" rtl="0" algn="l">
              <a:lnSpc>
                <a:spcPct val="100000"/>
              </a:lnSpc>
              <a:spcBef>
                <a:spcPts val="0"/>
              </a:spcBef>
              <a:spcAft>
                <a:spcPts val="0"/>
              </a:spcAft>
              <a:buSzPts val="1100"/>
              <a:buFont typeface="Arial"/>
              <a:buNone/>
            </a:pPr>
            <a:r>
              <a:rPr lang="en"/>
              <a:t>Why don’t we want to set them to 0 after the softmax?</a:t>
            </a:r>
            <a:endParaRPr/>
          </a:p>
          <a:p>
            <a:pPr indent="0" lvl="0" marL="158750" rtl="0" algn="l">
              <a:lnSpc>
                <a:spcPct val="100000"/>
              </a:lnSpc>
              <a:spcBef>
                <a:spcPts val="0"/>
              </a:spcBef>
              <a:spcAft>
                <a:spcPts val="0"/>
              </a:spcAft>
              <a:buSzPts val="1100"/>
              <a:buFont typeface="Arial"/>
              <a:buNone/>
            </a:pPr>
            <a:r>
              <a:rPr lang="en"/>
              <a:t>	- Because we’d like to keep the property of sofmax with the individual probabilities adding up to 1, since we want the distribution to accurately represent the probabilities that a key is answering a particular query.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4be62098b8_2_4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g34be62098b8_2_4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4be62098b8_2_4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g34be62098b8_2_4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a:t>TODO: fix so multi-head attention is clearer</a:t>
            </a:r>
            <a:endParaRPr/>
          </a:p>
          <a:p>
            <a:pPr indent="-228600" lvl="0" marL="45720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en"/>
              <a:t>Swish-Gated Linear Unit: SiLU with a Gate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p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6" name="Google Shape;5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7" name="Shape 57"/>
        <p:cNvGrpSpPr/>
        <p:nvPr/>
      </p:nvGrpSpPr>
      <p:grpSpPr>
        <a:xfrm>
          <a:off x="0" y="0"/>
          <a:ext cx="0" cy="0"/>
          <a:chOff x="0" y="0"/>
          <a:chExt cx="0" cy="0"/>
        </a:xfrm>
      </p:grpSpPr>
      <p:sp>
        <p:nvSpPr>
          <p:cNvPr id="58" name="Google Shape;5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9" name="Google Shape;59;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solidFill>
                  <a:schemeClr val="dk1"/>
                </a:solidFill>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6" name="Google Shape;66;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7" name="Google Shape;6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4" name="Google Shape;7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3" name="Google Shape;8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6" name="Google Shape;8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0" name="Google Shape;9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lt2"/>
        </a:solidFill>
      </p:bgPr>
    </p:bg>
    <p:spTree>
      <p:nvGrpSpPr>
        <p:cNvPr id="92" name="Shape 92"/>
        <p:cNvGrpSpPr/>
        <p:nvPr/>
      </p:nvGrpSpPr>
      <p:grpSpPr>
        <a:xfrm>
          <a:off x="0" y="0"/>
          <a:ext cx="0" cy="0"/>
          <a:chOff x="0" y="0"/>
          <a:chExt cx="0" cy="0"/>
        </a:xfrm>
      </p:grpSpPr>
      <p:sp>
        <p:nvSpPr>
          <p:cNvPr id="93" name="Google Shape;93;p25"/>
          <p:cNvSpPr txBox="1"/>
          <p:nvPr>
            <p:ph type="title"/>
          </p:nvPr>
        </p:nvSpPr>
        <p:spPr>
          <a:xfrm>
            <a:off x="1085850" y="655385"/>
            <a:ext cx="6972300" cy="2641800"/>
          </a:xfrm>
          <a:prstGeom prst="rect">
            <a:avLst/>
          </a:prstGeom>
          <a:noFill/>
          <a:ln>
            <a:noFill/>
          </a:ln>
        </p:spPr>
        <p:txBody>
          <a:bodyPr anchorCtr="0" anchor="b" bIns="34275" lIns="68575" spcFirstLastPara="1" rIns="68575" wrap="square" tIns="34275">
            <a:noAutofit/>
          </a:bodyPr>
          <a:lstStyle>
            <a:lvl1pPr lvl="0" marR="0" algn="ctr">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pic>
        <p:nvPicPr>
          <p:cNvPr id="94" name="Google Shape;94;p25"/>
          <p:cNvPicPr preferRelativeResize="0"/>
          <p:nvPr/>
        </p:nvPicPr>
        <p:blipFill rotWithShape="1">
          <a:blip r:embed="rId2">
            <a:alphaModFix/>
          </a:blip>
          <a:srcRect b="0" l="0" r="0" t="0"/>
          <a:stretch/>
        </p:blipFill>
        <p:spPr>
          <a:xfrm>
            <a:off x="568082" y="4598607"/>
            <a:ext cx="2416272" cy="213486"/>
          </a:xfrm>
          <a:prstGeom prst="rect">
            <a:avLst/>
          </a:prstGeom>
          <a:noFill/>
          <a:ln>
            <a:noFill/>
          </a:ln>
        </p:spPr>
      </p:pic>
      <p:pic>
        <p:nvPicPr>
          <p:cNvPr id="95" name="Google Shape;95;p25"/>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26"/>
          <p:cNvSpPr txBox="1"/>
          <p:nvPr>
            <p:ph type="title"/>
          </p:nvPr>
        </p:nvSpPr>
        <p:spPr>
          <a:xfrm>
            <a:off x="311700" y="2150850"/>
            <a:ext cx="8520600" cy="841800"/>
          </a:xfrm>
          <a:prstGeom prst="rect">
            <a:avLst/>
          </a:prstGeom>
          <a:noFill/>
          <a:ln>
            <a:noFill/>
          </a:ln>
        </p:spPr>
        <p:txBody>
          <a:bodyPr anchorCtr="0" anchor="ctr" bIns="68575" lIns="68575" spcFirstLastPara="1" rIns="68575" wrap="square" tIns="68575">
            <a:normAutofit/>
          </a:bodyPr>
          <a:lstStyle>
            <a:lvl1pPr lvl="0" marR="0" algn="ctr">
              <a:spcBef>
                <a:spcPts val="0"/>
              </a:spcBef>
              <a:spcAft>
                <a:spcPts val="0"/>
              </a:spcAft>
              <a:buClr>
                <a:schemeClr val="dk1"/>
              </a:buClr>
              <a:buSzPts val="2700"/>
              <a:buFont typeface="Arial"/>
              <a:buNone/>
              <a:defRPr b="0" i="0" sz="3600" u="none" cap="none" strike="noStrike">
                <a:solidFill>
                  <a:schemeClr val="dk1"/>
                </a:solidFill>
                <a:latin typeface="Arial"/>
                <a:ea typeface="Arial"/>
                <a:cs typeface="Arial"/>
                <a:sym typeface="Arial"/>
              </a:defRPr>
            </a:lvl1pPr>
            <a:lvl2pPr lvl="1" algn="ctr">
              <a:spcBef>
                <a:spcPts val="0"/>
              </a:spcBef>
              <a:spcAft>
                <a:spcPts val="0"/>
              </a:spcAft>
              <a:buSzPts val="2700"/>
              <a:buFont typeface="Arial"/>
              <a:buNone/>
              <a:defRPr sz="3600"/>
            </a:lvl2pPr>
            <a:lvl3pPr lvl="2" algn="ctr">
              <a:spcBef>
                <a:spcPts val="0"/>
              </a:spcBef>
              <a:spcAft>
                <a:spcPts val="0"/>
              </a:spcAft>
              <a:buSzPts val="2700"/>
              <a:buFont typeface="Arial"/>
              <a:buNone/>
              <a:defRPr sz="3600"/>
            </a:lvl3pPr>
            <a:lvl4pPr lvl="3" algn="ctr">
              <a:spcBef>
                <a:spcPts val="0"/>
              </a:spcBef>
              <a:spcAft>
                <a:spcPts val="0"/>
              </a:spcAft>
              <a:buSzPts val="2700"/>
              <a:buFont typeface="Arial"/>
              <a:buNone/>
              <a:defRPr sz="3600"/>
            </a:lvl4pPr>
            <a:lvl5pPr lvl="4" algn="ctr">
              <a:spcBef>
                <a:spcPts val="0"/>
              </a:spcBef>
              <a:spcAft>
                <a:spcPts val="0"/>
              </a:spcAft>
              <a:buSzPts val="2700"/>
              <a:buFont typeface="Arial"/>
              <a:buNone/>
              <a:defRPr sz="3600"/>
            </a:lvl5pPr>
            <a:lvl6pPr lvl="5" algn="ctr">
              <a:spcBef>
                <a:spcPts val="0"/>
              </a:spcBef>
              <a:spcAft>
                <a:spcPts val="0"/>
              </a:spcAft>
              <a:buSzPts val="2700"/>
              <a:buFont typeface="Arial"/>
              <a:buNone/>
              <a:defRPr sz="3600"/>
            </a:lvl6pPr>
            <a:lvl7pPr lvl="6" algn="ctr">
              <a:spcBef>
                <a:spcPts val="0"/>
              </a:spcBef>
              <a:spcAft>
                <a:spcPts val="0"/>
              </a:spcAft>
              <a:buSzPts val="2700"/>
              <a:buFont typeface="Arial"/>
              <a:buNone/>
              <a:defRPr sz="3600"/>
            </a:lvl7pPr>
            <a:lvl8pPr lvl="7" algn="ctr">
              <a:spcBef>
                <a:spcPts val="0"/>
              </a:spcBef>
              <a:spcAft>
                <a:spcPts val="0"/>
              </a:spcAft>
              <a:buSzPts val="2700"/>
              <a:buFont typeface="Arial"/>
              <a:buNone/>
              <a:defRPr sz="3600"/>
            </a:lvl8pPr>
            <a:lvl9pPr lvl="8" algn="ctr">
              <a:spcBef>
                <a:spcPts val="0"/>
              </a:spcBef>
              <a:spcAft>
                <a:spcPts val="0"/>
              </a:spcAft>
              <a:buSzPts val="2700"/>
              <a:buFont typeface="Arial"/>
              <a:buNone/>
              <a:defRPr sz="3600"/>
            </a:lvl9pPr>
          </a:lstStyle>
          <a:p/>
        </p:txBody>
      </p:sp>
      <p:sp>
        <p:nvSpPr>
          <p:cNvPr id="98" name="Google Shape;98;p26"/>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 name="Shape 99"/>
        <p:cNvGrpSpPr/>
        <p:nvPr/>
      </p:nvGrpSpPr>
      <p:grpSpPr>
        <a:xfrm>
          <a:off x="0" y="0"/>
          <a:ext cx="0" cy="0"/>
          <a:chOff x="0" y="0"/>
          <a:chExt cx="0" cy="0"/>
        </a:xfrm>
      </p:grpSpPr>
      <p:sp>
        <p:nvSpPr>
          <p:cNvPr id="100" name="Google Shape;100;p27"/>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ctr">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101" name="Google Shape;101;p27"/>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lt1"/>
              </a:buClr>
              <a:buSzPts val="1100"/>
              <a:buFont typeface="Arial"/>
              <a:buChar char="○"/>
              <a:defRPr b="0" i="0" sz="2100" u="none" cap="none" strike="noStrike">
                <a:solidFill>
                  <a:schemeClr val="lt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
        <p:nvSpPr>
          <p:cNvPr id="102" name="Google Shape;102;p27"/>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lt1"/>
              </a:buClr>
              <a:buSzPts val="1400"/>
              <a:buFont typeface="Arial"/>
              <a:buNone/>
              <a:defRPr b="0" i="0" sz="1400" u="none" cap="none" strike="noStrike">
                <a:solidFill>
                  <a:schemeClr val="lt1"/>
                </a:solidFill>
                <a:latin typeface="Arial"/>
                <a:ea typeface="Arial"/>
                <a:cs typeface="Arial"/>
                <a:sym typeface="Arial"/>
              </a:defRPr>
            </a:lvl1pPr>
            <a:lvl2pPr indent="0" lvl="1" marL="0" marR="0" algn="r">
              <a:buClr>
                <a:schemeClr val="lt1"/>
              </a:buClr>
              <a:buSzPts val="1400"/>
              <a:buFont typeface="Arial"/>
              <a:buNone/>
              <a:defRPr b="0" i="0" sz="1400" u="none" cap="none" strike="noStrike">
                <a:solidFill>
                  <a:schemeClr val="lt1"/>
                </a:solidFill>
                <a:latin typeface="Arial"/>
                <a:ea typeface="Arial"/>
                <a:cs typeface="Arial"/>
                <a:sym typeface="Arial"/>
              </a:defRPr>
            </a:lvl2pPr>
            <a:lvl3pPr indent="0" lvl="2" marL="0" marR="0" algn="r">
              <a:buClr>
                <a:schemeClr val="lt1"/>
              </a:buClr>
              <a:buSzPts val="1400"/>
              <a:buFont typeface="Arial"/>
              <a:buNone/>
              <a:defRPr b="0" i="0" sz="1400" u="none" cap="none" strike="noStrike">
                <a:solidFill>
                  <a:schemeClr val="lt1"/>
                </a:solidFill>
                <a:latin typeface="Arial"/>
                <a:ea typeface="Arial"/>
                <a:cs typeface="Arial"/>
                <a:sym typeface="Arial"/>
              </a:defRPr>
            </a:lvl3pPr>
            <a:lvl4pPr indent="0" lvl="3" marL="0" marR="0" algn="r">
              <a:buClr>
                <a:schemeClr val="lt1"/>
              </a:buClr>
              <a:buSzPts val="1400"/>
              <a:buFont typeface="Arial"/>
              <a:buNone/>
              <a:defRPr b="0" i="0" sz="1400" u="none" cap="none" strike="noStrike">
                <a:solidFill>
                  <a:schemeClr val="lt1"/>
                </a:solidFill>
                <a:latin typeface="Arial"/>
                <a:ea typeface="Arial"/>
                <a:cs typeface="Arial"/>
                <a:sym typeface="Arial"/>
              </a:defRPr>
            </a:lvl4pPr>
            <a:lvl5pPr indent="0" lvl="4" marL="0" marR="0" algn="r">
              <a:buClr>
                <a:schemeClr val="lt1"/>
              </a:buClr>
              <a:buSzPts val="1400"/>
              <a:buFont typeface="Arial"/>
              <a:buNone/>
              <a:defRPr b="0" i="0" sz="1400" u="none" cap="none" strike="noStrike">
                <a:solidFill>
                  <a:schemeClr val="lt1"/>
                </a:solidFill>
                <a:latin typeface="Arial"/>
                <a:ea typeface="Arial"/>
                <a:cs typeface="Arial"/>
                <a:sym typeface="Arial"/>
              </a:defRPr>
            </a:lvl5pPr>
            <a:lvl6pPr indent="0" lvl="5" marL="0" marR="0" algn="r">
              <a:buClr>
                <a:schemeClr val="lt1"/>
              </a:buClr>
              <a:buSzPts val="1400"/>
              <a:buFont typeface="Arial"/>
              <a:buNone/>
              <a:defRPr b="0" i="0" sz="1400" u="none" cap="none" strike="noStrike">
                <a:solidFill>
                  <a:schemeClr val="lt1"/>
                </a:solidFill>
                <a:latin typeface="Arial"/>
                <a:ea typeface="Arial"/>
                <a:cs typeface="Arial"/>
                <a:sym typeface="Arial"/>
              </a:defRPr>
            </a:lvl6pPr>
            <a:lvl7pPr indent="0" lvl="6" marL="0" marR="0" algn="r">
              <a:buClr>
                <a:schemeClr val="lt1"/>
              </a:buClr>
              <a:buSzPts val="1400"/>
              <a:buFont typeface="Arial"/>
              <a:buNone/>
              <a:defRPr b="0" i="0" sz="1400" u="none" cap="none" strike="noStrike">
                <a:solidFill>
                  <a:schemeClr val="lt1"/>
                </a:solidFill>
                <a:latin typeface="Arial"/>
                <a:ea typeface="Arial"/>
                <a:cs typeface="Arial"/>
                <a:sym typeface="Arial"/>
              </a:defRPr>
            </a:lvl7pPr>
            <a:lvl8pPr indent="0" lvl="7" marL="0" marR="0" algn="r">
              <a:buClr>
                <a:schemeClr val="lt1"/>
              </a:buClr>
              <a:buSzPts val="1400"/>
              <a:buFont typeface="Arial"/>
              <a:buNone/>
              <a:defRPr b="0" i="0" sz="1400" u="none" cap="none" strike="noStrike">
                <a:solidFill>
                  <a:schemeClr val="lt1"/>
                </a:solidFill>
                <a:latin typeface="Arial"/>
                <a:ea typeface="Arial"/>
                <a:cs typeface="Arial"/>
                <a:sym typeface="Arial"/>
              </a:defRPr>
            </a:lvl8pPr>
            <a:lvl9pPr indent="0" lvl="8" marL="0" marR="0" algn="r">
              <a:buClr>
                <a:schemeClr val="lt1"/>
              </a:buClr>
              <a:buSzPts val="1400"/>
              <a:buFont typeface="Arial"/>
              <a:buNone/>
              <a:defRPr b="0" i="0" sz="14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103" name="Shape 103"/>
        <p:cNvGrpSpPr/>
        <p:nvPr/>
      </p:nvGrpSpPr>
      <p:grpSpPr>
        <a:xfrm>
          <a:off x="0" y="0"/>
          <a:ext cx="0" cy="0"/>
          <a:chOff x="0" y="0"/>
          <a:chExt cx="0" cy="0"/>
        </a:xfrm>
      </p:grpSpPr>
      <p:sp>
        <p:nvSpPr>
          <p:cNvPr id="104" name="Google Shape;104;p28"/>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l">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105" name="Google Shape;105;p28"/>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lt1"/>
              </a:buClr>
              <a:buSzPts val="1100"/>
              <a:buFont typeface="Arial"/>
              <a:buChar char="○"/>
              <a:defRPr b="0" i="0" sz="2100" u="none" cap="none" strike="noStrike">
                <a:solidFill>
                  <a:schemeClr val="lt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eader + Subheader + Content">
  <p:cSld name="1_Header + Subheader + Content">
    <p:bg>
      <p:bgPr>
        <a:solidFill>
          <a:schemeClr val="lt2"/>
        </a:solidFill>
      </p:bgPr>
    </p:bg>
    <p:spTree>
      <p:nvGrpSpPr>
        <p:cNvPr id="106" name="Shape 106"/>
        <p:cNvGrpSpPr/>
        <p:nvPr/>
      </p:nvGrpSpPr>
      <p:grpSpPr>
        <a:xfrm>
          <a:off x="0" y="0"/>
          <a:ext cx="0" cy="0"/>
          <a:chOff x="0" y="0"/>
          <a:chExt cx="0" cy="0"/>
        </a:xfrm>
      </p:grpSpPr>
      <p:pic>
        <p:nvPicPr>
          <p:cNvPr id="107" name="Google Shape;107;p29"/>
          <p:cNvPicPr preferRelativeResize="0"/>
          <p:nvPr/>
        </p:nvPicPr>
        <p:blipFill rotWithShape="1">
          <a:blip r:embed="rId2">
            <a:alphaModFix/>
          </a:blip>
          <a:srcRect b="0" l="0" r="0" t="0"/>
          <a:stretch/>
        </p:blipFill>
        <p:spPr>
          <a:xfrm>
            <a:off x="8639469" y="4681862"/>
            <a:ext cx="482876" cy="326388"/>
          </a:xfrm>
          <a:prstGeom prst="rect">
            <a:avLst/>
          </a:prstGeom>
          <a:noFill/>
          <a:ln>
            <a:noFill/>
          </a:ln>
        </p:spPr>
      </p:pic>
      <p:sp>
        <p:nvSpPr>
          <p:cNvPr id="108" name="Google Shape;108;p29"/>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rmAutofit/>
          </a:bodyPr>
          <a:lstStyle>
            <a:lvl1pPr lvl="0" marR="0" algn="ctr">
              <a:spcBef>
                <a:spcPts val="0"/>
              </a:spcBef>
              <a:spcAft>
                <a:spcPts val="0"/>
              </a:spcAft>
              <a:buClr>
                <a:schemeClr val="dk1"/>
              </a:buClr>
              <a:buSzPts val="2100"/>
              <a:buFont typeface="Arial"/>
              <a:buNone/>
              <a:defRPr b="0" i="0" sz="2700" u="none" cap="none" strike="noStrike">
                <a:solidFill>
                  <a:schemeClr val="dk1"/>
                </a:solidFill>
                <a:latin typeface="Arial"/>
                <a:ea typeface="Arial"/>
                <a:cs typeface="Arial"/>
                <a:sym typeface="Arial"/>
              </a:defRPr>
            </a:lvl1pPr>
            <a:lvl2pPr lvl="1">
              <a:spcBef>
                <a:spcPts val="0"/>
              </a:spcBef>
              <a:spcAft>
                <a:spcPts val="0"/>
              </a:spcAft>
              <a:buSzPts val="2100"/>
              <a:buFont typeface="Arial"/>
              <a:buNone/>
              <a:defRPr sz="1400"/>
            </a:lvl2pPr>
            <a:lvl3pPr lvl="2">
              <a:spcBef>
                <a:spcPts val="0"/>
              </a:spcBef>
              <a:spcAft>
                <a:spcPts val="0"/>
              </a:spcAft>
              <a:buSzPts val="2100"/>
              <a:buFont typeface="Arial"/>
              <a:buNone/>
              <a:defRPr sz="1400"/>
            </a:lvl3pPr>
            <a:lvl4pPr lvl="3">
              <a:spcBef>
                <a:spcPts val="0"/>
              </a:spcBef>
              <a:spcAft>
                <a:spcPts val="0"/>
              </a:spcAft>
              <a:buSzPts val="2100"/>
              <a:buFont typeface="Arial"/>
              <a:buNone/>
              <a:defRPr sz="1400"/>
            </a:lvl4pPr>
            <a:lvl5pPr lvl="4">
              <a:spcBef>
                <a:spcPts val="0"/>
              </a:spcBef>
              <a:spcAft>
                <a:spcPts val="0"/>
              </a:spcAft>
              <a:buSzPts val="2100"/>
              <a:buFont typeface="Arial"/>
              <a:buNone/>
              <a:defRPr sz="1400"/>
            </a:lvl5pPr>
            <a:lvl6pPr lvl="5">
              <a:spcBef>
                <a:spcPts val="0"/>
              </a:spcBef>
              <a:spcAft>
                <a:spcPts val="0"/>
              </a:spcAft>
              <a:buSzPts val="2100"/>
              <a:buFont typeface="Arial"/>
              <a:buNone/>
              <a:defRPr sz="1400"/>
            </a:lvl6pPr>
            <a:lvl7pPr lvl="6">
              <a:spcBef>
                <a:spcPts val="0"/>
              </a:spcBef>
              <a:spcAft>
                <a:spcPts val="0"/>
              </a:spcAft>
              <a:buSzPts val="2100"/>
              <a:buFont typeface="Arial"/>
              <a:buNone/>
              <a:defRPr sz="1400"/>
            </a:lvl7pPr>
            <a:lvl8pPr lvl="7">
              <a:spcBef>
                <a:spcPts val="0"/>
              </a:spcBef>
              <a:spcAft>
                <a:spcPts val="0"/>
              </a:spcAft>
              <a:buSzPts val="2100"/>
              <a:buFont typeface="Arial"/>
              <a:buNone/>
              <a:defRPr sz="1400"/>
            </a:lvl8pPr>
            <a:lvl9pPr lvl="8">
              <a:spcBef>
                <a:spcPts val="0"/>
              </a:spcBef>
              <a:spcAft>
                <a:spcPts val="0"/>
              </a:spcAft>
              <a:buSzPts val="2100"/>
              <a:buFont typeface="Arial"/>
              <a:buNone/>
              <a:defRPr sz="1400"/>
            </a:lvl9pPr>
          </a:lstStyle>
          <a:p/>
        </p:txBody>
      </p:sp>
      <p:sp>
        <p:nvSpPr>
          <p:cNvPr id="109" name="Google Shape;109;p29"/>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rmAutofit/>
          </a:bodyPr>
          <a:lstStyle>
            <a:lvl1pPr indent="-317500" lvl="0" marL="457200" marR="0" algn="l">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1pPr>
            <a:lvl2pPr indent="-298450" lvl="1" marL="914400" marR="0" algn="l">
              <a:spcBef>
                <a:spcPts val="0"/>
              </a:spcBef>
              <a:spcAft>
                <a:spcPts val="0"/>
              </a:spcAft>
              <a:buClr>
                <a:schemeClr val="dk1"/>
              </a:buClr>
              <a:buSzPts val="1100"/>
              <a:buFont typeface="Arial"/>
              <a:buChar char="○"/>
              <a:defRPr b="0" i="0" sz="2100" u="none" cap="none" strike="noStrike">
                <a:solidFill>
                  <a:schemeClr val="dk1"/>
                </a:solidFill>
                <a:latin typeface="Arial"/>
                <a:ea typeface="Arial"/>
                <a:cs typeface="Arial"/>
                <a:sym typeface="Arial"/>
              </a:defRPr>
            </a:lvl2pPr>
            <a:lvl3pPr indent="-298450" lvl="2" marL="1371600" marR="0" algn="l">
              <a:spcBef>
                <a:spcPts val="0"/>
              </a:spcBef>
              <a:spcAft>
                <a:spcPts val="0"/>
              </a:spcAft>
              <a:buClr>
                <a:schemeClr val="lt1"/>
              </a:buClr>
              <a:buSzPts val="1100"/>
              <a:buFont typeface="Arial"/>
              <a:buChar char="■"/>
              <a:defRPr b="0" i="0" sz="1800" u="none" cap="none" strike="noStrike">
                <a:solidFill>
                  <a:schemeClr val="lt1"/>
                </a:solidFill>
                <a:latin typeface="Arial"/>
                <a:ea typeface="Arial"/>
                <a:cs typeface="Arial"/>
                <a:sym typeface="Arial"/>
              </a:defRPr>
            </a:lvl3pPr>
            <a:lvl4pPr indent="-298450" lvl="3" marL="1828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4pPr>
            <a:lvl5pPr indent="-298450" lvl="4" marL="22860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5pPr>
            <a:lvl6pPr indent="-298450" lvl="5" marL="27432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6pPr>
            <a:lvl7pPr indent="-298450" lvl="6" marL="32004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7pPr>
            <a:lvl8pPr indent="-298450" lvl="7" marL="36576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8pPr>
            <a:lvl9pPr indent="-298450" lvl="8" marL="4114800" marR="0" algn="l">
              <a:spcBef>
                <a:spcPts val="0"/>
              </a:spcBef>
              <a:spcAft>
                <a:spcPts val="0"/>
              </a:spcAft>
              <a:buClr>
                <a:schemeClr val="lt1"/>
              </a:buClr>
              <a:buSzPts val="1100"/>
              <a:buFont typeface="Arial"/>
              <a:buChar char="■"/>
              <a:defRPr b="0" i="0" sz="1500" u="none" cap="none" strike="noStrike">
                <a:solidFill>
                  <a:schemeClr val="lt1"/>
                </a:solidFill>
                <a:latin typeface="Arial"/>
                <a:ea typeface="Arial"/>
                <a:cs typeface="Arial"/>
                <a:sym typeface="Arial"/>
              </a:defRPr>
            </a:lvl9pPr>
          </a:lstStyle>
          <a:p/>
        </p:txBody>
      </p:sp>
      <p:sp>
        <p:nvSpPr>
          <p:cNvPr id="110" name="Google Shape;110;p29"/>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rmAutofit/>
          </a:bodyPr>
          <a:lstStyle>
            <a:lvl1pPr indent="0" lvl="0" marL="0" marR="0" algn="r">
              <a:buClr>
                <a:schemeClr val="dk1"/>
              </a:buClr>
              <a:buSzPts val="1400"/>
              <a:buFont typeface="Arial"/>
              <a:buNone/>
              <a:defRPr sz="1400">
                <a:solidFill>
                  <a:schemeClr val="dk1"/>
                </a:solidFill>
                <a:latin typeface="Arial"/>
                <a:ea typeface="Arial"/>
                <a:cs typeface="Arial"/>
                <a:sym typeface="Arial"/>
              </a:defRPr>
            </a:lvl1pPr>
            <a:lvl2pPr indent="0" lvl="1" marL="0" marR="0" algn="r">
              <a:buClr>
                <a:schemeClr val="dk1"/>
              </a:buClr>
              <a:buSzPts val="1400"/>
              <a:buFont typeface="Arial"/>
              <a:buNone/>
              <a:defRPr sz="1400">
                <a:solidFill>
                  <a:schemeClr val="dk1"/>
                </a:solidFill>
                <a:latin typeface="Arial"/>
                <a:ea typeface="Arial"/>
                <a:cs typeface="Arial"/>
                <a:sym typeface="Arial"/>
              </a:defRPr>
            </a:lvl2pPr>
            <a:lvl3pPr indent="0" lvl="2" marL="0" marR="0" algn="r">
              <a:buClr>
                <a:schemeClr val="dk1"/>
              </a:buClr>
              <a:buSzPts val="1400"/>
              <a:buFont typeface="Arial"/>
              <a:buNone/>
              <a:defRPr sz="1400">
                <a:solidFill>
                  <a:schemeClr val="dk1"/>
                </a:solidFill>
                <a:latin typeface="Arial"/>
                <a:ea typeface="Arial"/>
                <a:cs typeface="Arial"/>
                <a:sym typeface="Arial"/>
              </a:defRPr>
            </a:lvl3pPr>
            <a:lvl4pPr indent="0" lvl="3" marL="0" marR="0" algn="r">
              <a:buClr>
                <a:schemeClr val="dk1"/>
              </a:buClr>
              <a:buSzPts val="1400"/>
              <a:buFont typeface="Arial"/>
              <a:buNone/>
              <a:defRPr sz="1400">
                <a:solidFill>
                  <a:schemeClr val="dk1"/>
                </a:solidFill>
                <a:latin typeface="Arial"/>
                <a:ea typeface="Arial"/>
                <a:cs typeface="Arial"/>
                <a:sym typeface="Arial"/>
              </a:defRPr>
            </a:lvl4pPr>
            <a:lvl5pPr indent="0" lvl="4" marL="0" marR="0" algn="r">
              <a:buClr>
                <a:schemeClr val="dk1"/>
              </a:buClr>
              <a:buSzPts val="1400"/>
              <a:buFont typeface="Arial"/>
              <a:buNone/>
              <a:defRPr sz="1400">
                <a:solidFill>
                  <a:schemeClr val="dk1"/>
                </a:solidFill>
                <a:latin typeface="Arial"/>
                <a:ea typeface="Arial"/>
                <a:cs typeface="Arial"/>
                <a:sym typeface="Arial"/>
              </a:defRPr>
            </a:lvl5pPr>
            <a:lvl6pPr indent="0" lvl="5" marL="0" marR="0" algn="r">
              <a:buClr>
                <a:schemeClr val="dk1"/>
              </a:buClr>
              <a:buSzPts val="1400"/>
              <a:buFont typeface="Arial"/>
              <a:buNone/>
              <a:defRPr sz="1400">
                <a:solidFill>
                  <a:schemeClr val="dk1"/>
                </a:solidFill>
                <a:latin typeface="Arial"/>
                <a:ea typeface="Arial"/>
                <a:cs typeface="Arial"/>
                <a:sym typeface="Arial"/>
              </a:defRPr>
            </a:lvl6pPr>
            <a:lvl7pPr indent="0" lvl="6" marL="0" marR="0" algn="r">
              <a:buClr>
                <a:schemeClr val="dk1"/>
              </a:buClr>
              <a:buSzPts val="1400"/>
              <a:buFont typeface="Arial"/>
              <a:buNone/>
              <a:defRPr sz="1400">
                <a:solidFill>
                  <a:schemeClr val="dk1"/>
                </a:solidFill>
                <a:latin typeface="Arial"/>
                <a:ea typeface="Arial"/>
                <a:cs typeface="Arial"/>
                <a:sym typeface="Arial"/>
              </a:defRPr>
            </a:lvl7pPr>
            <a:lvl8pPr indent="0" lvl="7" marL="0" marR="0" algn="r">
              <a:buClr>
                <a:schemeClr val="dk1"/>
              </a:buClr>
              <a:buSzPts val="1400"/>
              <a:buFont typeface="Arial"/>
              <a:buNone/>
              <a:defRPr sz="1400">
                <a:solidFill>
                  <a:schemeClr val="dk1"/>
                </a:solidFill>
                <a:latin typeface="Arial"/>
                <a:ea typeface="Arial"/>
                <a:cs typeface="Arial"/>
                <a:sym typeface="Arial"/>
              </a:defRPr>
            </a:lvl8pPr>
            <a:lvl9pPr indent="0" lvl="8" marL="0" marR="0" algn="r">
              <a:buClr>
                <a:schemeClr val="dk1"/>
              </a:buClr>
              <a:buSzPts val="1400"/>
              <a:buFont typeface="Arial"/>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3.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1" name="Shape 9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9.png"/><Relationship Id="rId4" Type="http://schemas.openxmlformats.org/officeDocument/2006/relationships/image" Target="../media/image9.png"/><Relationship Id="rId9"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9.png"/><Relationship Id="rId9"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0"/>
          <p:cNvSpPr txBox="1"/>
          <p:nvPr>
            <p:ph type="title"/>
          </p:nvPr>
        </p:nvSpPr>
        <p:spPr>
          <a:xfrm>
            <a:off x="481430" y="105674"/>
            <a:ext cx="8662500" cy="15813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4100"/>
              <a:buFont typeface="Arial"/>
              <a:buNone/>
            </a:pPr>
            <a:r>
              <a:rPr lang="en" sz="4100"/>
              <a:t>CSE 554 Machine Learning Systems</a:t>
            </a:r>
            <a:endParaRPr sz="4100"/>
          </a:p>
        </p:txBody>
      </p:sp>
      <p:sp>
        <p:nvSpPr>
          <p:cNvPr id="117" name="Google Shape;117;p30"/>
          <p:cNvSpPr txBox="1"/>
          <p:nvPr/>
        </p:nvSpPr>
        <p:spPr>
          <a:xfrm>
            <a:off x="477361" y="2400067"/>
            <a:ext cx="8232300" cy="7665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chemeClr val="lt2"/>
              </a:buClr>
              <a:buSzPts val="1800"/>
              <a:buFont typeface="Encode Sans Black"/>
              <a:buNone/>
            </a:pPr>
            <a:r>
              <a:t/>
            </a:r>
            <a:endParaRPr b="0" i="0" sz="1800" u="none" cap="none" strike="noStrike">
              <a:solidFill>
                <a:schemeClr val="lt2"/>
              </a:solidFill>
              <a:latin typeface="Encode Sans"/>
              <a:ea typeface="Encode Sans"/>
              <a:cs typeface="Encode Sans"/>
              <a:sym typeface="Encode Sans"/>
            </a:endParaRPr>
          </a:p>
        </p:txBody>
      </p:sp>
      <p:sp>
        <p:nvSpPr>
          <p:cNvPr id="118" name="Google Shape;118;p30"/>
          <p:cNvSpPr txBox="1"/>
          <p:nvPr/>
        </p:nvSpPr>
        <p:spPr>
          <a:xfrm>
            <a:off x="352304" y="1687546"/>
            <a:ext cx="8662500" cy="15813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chemeClr val="lt2"/>
              </a:buClr>
              <a:buSzPts val="2100"/>
              <a:buFont typeface="Encode Sans Black"/>
              <a:buNone/>
            </a:pPr>
            <a:r>
              <a:rPr b="0" i="0" lang="en" sz="2100" u="none" cap="none" strike="noStrike">
                <a:solidFill>
                  <a:schemeClr val="lt2"/>
                </a:solidFill>
                <a:latin typeface="Encode Sans Black"/>
                <a:ea typeface="Encode Sans Black"/>
                <a:cs typeface="Encode Sans Black"/>
                <a:sym typeface="Encode Sans Black"/>
              </a:rPr>
              <a:t>Week 1 Lecture 1 </a:t>
            </a:r>
            <a:endParaRPr sz="1100"/>
          </a:p>
        </p:txBody>
      </p:sp>
      <p:sp>
        <p:nvSpPr>
          <p:cNvPr id="119" name="Google Shape;119;p30"/>
          <p:cNvSpPr txBox="1"/>
          <p:nvPr/>
        </p:nvSpPr>
        <p:spPr>
          <a:xfrm>
            <a:off x="434340" y="1691356"/>
            <a:ext cx="8662500" cy="10902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2700"/>
              <a:buFont typeface="Encode Sans Black"/>
              <a:buNone/>
            </a:pPr>
            <a:r>
              <a:rPr lang="en" sz="2700">
                <a:solidFill>
                  <a:schemeClr val="dk1"/>
                </a:solidFill>
              </a:rPr>
              <a:t>Lecture 6 – </a:t>
            </a:r>
            <a:r>
              <a:rPr lang="en" sz="2700">
                <a:solidFill>
                  <a:schemeClr val="dk1"/>
                </a:solidFill>
              </a:rPr>
              <a:t>Transformer Implementation</a:t>
            </a:r>
            <a:endParaRPr sz="2700">
              <a:solidFill>
                <a:schemeClr val="dk1"/>
              </a:solidFill>
            </a:endParaRPr>
          </a:p>
        </p:txBody>
      </p:sp>
      <p:pic>
        <p:nvPicPr>
          <p:cNvPr id="120" name="Google Shape;120;p30"/>
          <p:cNvPicPr preferRelativeResize="0"/>
          <p:nvPr/>
        </p:nvPicPr>
        <p:blipFill rotWithShape="1">
          <a:blip r:embed="rId3">
            <a:alphaModFix/>
          </a:blip>
          <a:srcRect b="0" l="0" r="0" t="0"/>
          <a:stretch/>
        </p:blipFill>
        <p:spPr>
          <a:xfrm>
            <a:off x="4015262" y="3575257"/>
            <a:ext cx="1113465" cy="714082"/>
          </a:xfrm>
          <a:prstGeom prst="rect">
            <a:avLst/>
          </a:prstGeom>
          <a:noFill/>
          <a:ln>
            <a:noFill/>
          </a:ln>
        </p:spPr>
      </p:pic>
      <p:sp>
        <p:nvSpPr>
          <p:cNvPr id="121" name="Google Shape;121;p30"/>
          <p:cNvSpPr txBox="1"/>
          <p:nvPr/>
        </p:nvSpPr>
        <p:spPr>
          <a:xfrm>
            <a:off x="3504650" y="3039475"/>
            <a:ext cx="2177700" cy="4086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2700"/>
              <a:buFont typeface="Encode Sans Black"/>
              <a:buNone/>
            </a:pPr>
            <a:r>
              <a:rPr lang="en" sz="2000">
                <a:solidFill>
                  <a:schemeClr val="dk1"/>
                </a:solidFill>
              </a:rPr>
              <a:t>Baris Kasikci</a:t>
            </a:r>
            <a:endParaRPr sz="2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solidFill>
                  <a:schemeClr val="lt1"/>
                </a:solidFill>
              </a:rPr>
              <a:t>Class Overview</a:t>
            </a:r>
            <a:endParaRPr/>
          </a:p>
        </p:txBody>
      </p:sp>
      <p:sp>
        <p:nvSpPr>
          <p:cNvPr id="127" name="Google Shape;127;p31"/>
          <p:cNvSpPr txBox="1"/>
          <p:nvPr>
            <p:ph idx="1" type="body"/>
          </p:nvPr>
        </p:nvSpPr>
        <p:spPr>
          <a:xfrm>
            <a:off x="311700" y="1017726"/>
            <a:ext cx="8520600" cy="3904342"/>
          </a:xfrm>
          <a:prstGeom prst="rect">
            <a:avLst/>
          </a:prstGeom>
          <a:noFill/>
          <a:ln>
            <a:noFill/>
          </a:ln>
        </p:spPr>
        <p:txBody>
          <a:bodyPr anchorCtr="0" anchor="t" bIns="91425" lIns="91425" spcFirstLastPara="1" rIns="91425" wrap="square" tIns="91425">
            <a:normAutofit fontScale="92500" lnSpcReduction="20000"/>
          </a:bodyPr>
          <a:lstStyle/>
          <a:p>
            <a:pPr indent="-385763" lvl="0" marL="499585" rtl="0" algn="l">
              <a:lnSpc>
                <a:spcPct val="115000"/>
              </a:lnSpc>
              <a:spcBef>
                <a:spcPts val="0"/>
              </a:spcBef>
              <a:spcAft>
                <a:spcPts val="0"/>
              </a:spcAft>
              <a:buSzPct val="92664"/>
              <a:buAutoNum type="arabicPeriod"/>
            </a:pPr>
            <a:r>
              <a:rPr lang="en" sz="2100">
                <a:solidFill>
                  <a:srgbClr val="BFBFBF"/>
                </a:solidFill>
              </a:rPr>
              <a:t>GPU architecture and programming</a:t>
            </a:r>
            <a:endParaRPr>
              <a:solidFill>
                <a:srgbClr val="BFBFBF"/>
              </a:solidFill>
            </a:endParaRPr>
          </a:p>
          <a:p>
            <a:pPr indent="-385763" lvl="0" marL="499585" rtl="0" algn="l">
              <a:lnSpc>
                <a:spcPct val="115000"/>
              </a:lnSpc>
              <a:spcBef>
                <a:spcPts val="0"/>
              </a:spcBef>
              <a:spcAft>
                <a:spcPts val="0"/>
              </a:spcAft>
              <a:buSzPct val="92664"/>
              <a:buAutoNum type="arabicPeriod"/>
            </a:pPr>
            <a:r>
              <a:rPr b="1" lang="en" sz="2100">
                <a:solidFill>
                  <a:schemeClr val="dk1"/>
                </a:solidFill>
              </a:rPr>
              <a:t>Transformers (Architecture and Implementation)  </a:t>
            </a:r>
            <a:endParaRPr b="1" sz="2100">
              <a:solidFill>
                <a:schemeClr val="dk1"/>
              </a:solidFill>
            </a:endParaRPr>
          </a:p>
          <a:p>
            <a:pPr indent="-385763" lvl="0" marL="499585" rtl="0" algn="l">
              <a:lnSpc>
                <a:spcPct val="115000"/>
              </a:lnSpc>
              <a:spcBef>
                <a:spcPts val="0"/>
              </a:spcBef>
              <a:spcAft>
                <a:spcPts val="0"/>
              </a:spcAft>
              <a:buSzPct val="92664"/>
              <a:buAutoNum type="arabicPeriod"/>
            </a:pPr>
            <a:r>
              <a:rPr lang="en" sz="2100">
                <a:solidFill>
                  <a:schemeClr val="dk1"/>
                </a:solidFill>
              </a:rPr>
              <a:t>Performance </a:t>
            </a:r>
            <a:r>
              <a:rPr lang="en" sz="2100"/>
              <a:t>m</a:t>
            </a:r>
            <a:r>
              <a:rPr lang="en" sz="2100">
                <a:solidFill>
                  <a:schemeClr val="dk1"/>
                </a:solidFill>
              </a:rPr>
              <a:t>odeling  </a:t>
            </a:r>
            <a:endParaRPr sz="2100">
              <a:solidFill>
                <a:schemeClr val="dk1"/>
              </a:solidFill>
            </a:endParaRPr>
          </a:p>
          <a:p>
            <a:pPr indent="-385763" lvl="0" marL="499585" rtl="0" algn="l">
              <a:lnSpc>
                <a:spcPct val="115000"/>
              </a:lnSpc>
              <a:spcBef>
                <a:spcPts val="0"/>
              </a:spcBef>
              <a:spcAft>
                <a:spcPts val="0"/>
              </a:spcAft>
              <a:buSzPct val="92664"/>
              <a:buAutoNum type="arabicPeriod"/>
            </a:pPr>
            <a:r>
              <a:rPr lang="en" sz="2100">
                <a:solidFill>
                  <a:schemeClr val="dk1"/>
                </a:solidFill>
              </a:rPr>
              <a:t>Quantization and Sparsity</a:t>
            </a:r>
            <a:endParaRPr/>
          </a:p>
          <a:p>
            <a:pPr indent="-385763" lvl="0" marL="499585" rtl="0" algn="l">
              <a:lnSpc>
                <a:spcPct val="115000"/>
              </a:lnSpc>
              <a:spcBef>
                <a:spcPts val="0"/>
              </a:spcBef>
              <a:spcAft>
                <a:spcPts val="0"/>
              </a:spcAft>
              <a:buSzPct val="92664"/>
              <a:buAutoNum type="arabicPeriod"/>
            </a:pPr>
            <a:r>
              <a:rPr lang="en" sz="2100">
                <a:solidFill>
                  <a:schemeClr val="dk1"/>
                </a:solidFill>
              </a:rPr>
              <a:t>Memory management</a:t>
            </a:r>
            <a:endParaRPr sz="2100">
              <a:solidFill>
                <a:schemeClr val="dk1"/>
              </a:solidFill>
            </a:endParaRPr>
          </a:p>
          <a:p>
            <a:pPr indent="-385763" lvl="0" marL="499585" rtl="0" algn="l">
              <a:lnSpc>
                <a:spcPct val="115000"/>
              </a:lnSpc>
              <a:spcBef>
                <a:spcPts val="0"/>
              </a:spcBef>
              <a:spcAft>
                <a:spcPts val="0"/>
              </a:spcAft>
              <a:buSzPct val="92664"/>
              <a:buAutoNum type="arabicPeriod"/>
            </a:pPr>
            <a:r>
              <a:rPr lang="en" sz="2100">
                <a:solidFill>
                  <a:schemeClr val="dk1"/>
                </a:solidFill>
              </a:rPr>
              <a:t>Mixture of Experts (MoE)</a:t>
            </a:r>
            <a:endParaRPr sz="2100">
              <a:solidFill>
                <a:schemeClr val="dk1"/>
              </a:solidFill>
            </a:endParaRPr>
          </a:p>
          <a:p>
            <a:pPr indent="-385763" lvl="0" marL="499585" rtl="0" algn="l">
              <a:lnSpc>
                <a:spcPct val="115000"/>
              </a:lnSpc>
              <a:spcBef>
                <a:spcPts val="0"/>
              </a:spcBef>
              <a:spcAft>
                <a:spcPts val="0"/>
              </a:spcAft>
              <a:buSzPct val="92664"/>
              <a:buAutoNum type="arabicPeriod"/>
            </a:pPr>
            <a:r>
              <a:rPr lang="en" sz="2100">
                <a:solidFill>
                  <a:schemeClr val="dk1"/>
                </a:solidFill>
              </a:rPr>
              <a:t>Retrieval-Augmented Generation (RAG)</a:t>
            </a:r>
            <a:endParaRPr/>
          </a:p>
          <a:p>
            <a:pPr indent="-385763" lvl="0" marL="499585" rtl="0" algn="l">
              <a:lnSpc>
                <a:spcPct val="115000"/>
              </a:lnSpc>
              <a:spcBef>
                <a:spcPts val="0"/>
              </a:spcBef>
              <a:spcAft>
                <a:spcPts val="0"/>
              </a:spcAft>
              <a:buSzPct val="92664"/>
              <a:buAutoNum type="arabicPeriod"/>
            </a:pPr>
            <a:r>
              <a:rPr lang="en" sz="2100">
                <a:solidFill>
                  <a:schemeClr val="dk1"/>
                </a:solidFill>
              </a:rPr>
              <a:t>Batching</a:t>
            </a:r>
            <a:endParaRPr/>
          </a:p>
          <a:p>
            <a:pPr indent="-385763" lvl="0" marL="499585" rtl="0" algn="l">
              <a:lnSpc>
                <a:spcPct val="115000"/>
              </a:lnSpc>
              <a:spcBef>
                <a:spcPts val="0"/>
              </a:spcBef>
              <a:spcAft>
                <a:spcPts val="0"/>
              </a:spcAft>
              <a:buSzPct val="92664"/>
              <a:buAutoNum type="arabicPeriod"/>
            </a:pPr>
            <a:r>
              <a:rPr lang="en" sz="2100">
                <a:solidFill>
                  <a:schemeClr val="dk1"/>
                </a:solidFill>
              </a:rPr>
              <a:t>Speculative decoding</a:t>
            </a:r>
            <a:endParaRPr/>
          </a:p>
          <a:p>
            <a:pPr indent="-385763" lvl="0" marL="499585" rtl="0" algn="l">
              <a:lnSpc>
                <a:spcPct val="115000"/>
              </a:lnSpc>
              <a:spcBef>
                <a:spcPts val="0"/>
              </a:spcBef>
              <a:spcAft>
                <a:spcPts val="0"/>
              </a:spcAft>
              <a:buSzPct val="92664"/>
              <a:buAutoNum type="arabicPeriod"/>
            </a:pPr>
            <a:r>
              <a:rPr lang="en" sz="2100">
                <a:solidFill>
                  <a:schemeClr val="dk1"/>
                </a:solidFill>
              </a:rPr>
              <a:t>Parallelism</a:t>
            </a:r>
            <a:endParaRPr/>
          </a:p>
          <a:p>
            <a:pPr indent="-385763" lvl="0" marL="499585" rtl="0" algn="l">
              <a:lnSpc>
                <a:spcPct val="115000"/>
              </a:lnSpc>
              <a:spcBef>
                <a:spcPts val="0"/>
              </a:spcBef>
              <a:spcAft>
                <a:spcPts val="0"/>
              </a:spcAft>
              <a:buSzPct val="92664"/>
              <a:buAutoNum type="arabicPeriod"/>
            </a:pPr>
            <a:r>
              <a:rPr lang="en" sz="2100">
                <a:solidFill>
                  <a:schemeClr val="dk1"/>
                </a:solidFill>
              </a:rPr>
              <a:t>End-to-end serving </a:t>
            </a:r>
            <a:endParaRPr/>
          </a:p>
          <a:p>
            <a:pPr indent="-385763" lvl="0" marL="499585" rtl="0" algn="l">
              <a:lnSpc>
                <a:spcPct val="115000"/>
              </a:lnSpc>
              <a:spcBef>
                <a:spcPts val="0"/>
              </a:spcBef>
              <a:spcAft>
                <a:spcPts val="0"/>
              </a:spcAft>
              <a:buSzPct val="92664"/>
              <a:buAutoNum type="arabicPeriod"/>
            </a:pPr>
            <a:r>
              <a:rPr lang="en" sz="2100">
                <a:solidFill>
                  <a:schemeClr val="dk1"/>
                </a:solidFill>
              </a:rPr>
              <a:t>Agentic systems</a:t>
            </a:r>
            <a:endParaRPr/>
          </a:p>
          <a:p>
            <a:pPr indent="-385763" lvl="0" marL="499585" rtl="0" algn="l">
              <a:lnSpc>
                <a:spcPct val="115000"/>
              </a:lnSpc>
              <a:spcBef>
                <a:spcPts val="0"/>
              </a:spcBef>
              <a:spcAft>
                <a:spcPts val="0"/>
              </a:spcAft>
              <a:buSzPct val="92664"/>
              <a:buAutoNum type="arabicPeriod"/>
            </a:pPr>
            <a:r>
              <a:rPr lang="en" sz="2100">
                <a:solidFill>
                  <a:schemeClr val="dk1"/>
                </a:solidFill>
              </a:rPr>
              <a:t>Large-scale deployment</a:t>
            </a:r>
            <a:endParaRPr/>
          </a:p>
        </p:txBody>
      </p:sp>
      <p:sp>
        <p:nvSpPr>
          <p:cNvPr id="128" name="Google Shape;12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9" name="Google Shape;129;p31"/>
          <p:cNvSpPr txBox="1"/>
          <p:nvPr/>
        </p:nvSpPr>
        <p:spPr>
          <a:xfrm>
            <a:off x="464100" y="348480"/>
            <a:ext cx="8520600" cy="572700"/>
          </a:xfrm>
          <a:prstGeom prst="rect">
            <a:avLst/>
          </a:prstGeom>
          <a:noFill/>
          <a:ln>
            <a:noFill/>
          </a:ln>
        </p:spPr>
        <p:txBody>
          <a:bodyPr anchorCtr="0" anchor="t" bIns="91425" lIns="91425" spcFirstLastPara="1" rIns="91425" wrap="square" tIns="91425">
            <a:normAutofit fontScale="97500" lnSpcReduction="10000"/>
          </a:bodyPr>
          <a:lstStyle/>
          <a:p>
            <a:pPr indent="0" lvl="0" marL="0" marR="0" rtl="0" algn="l">
              <a:lnSpc>
                <a:spcPct val="100000"/>
              </a:lnSpc>
              <a:spcBef>
                <a:spcPts val="0"/>
              </a:spcBef>
              <a:spcAft>
                <a:spcPts val="0"/>
              </a:spcAft>
              <a:buClr>
                <a:schemeClr val="dk1"/>
              </a:buClr>
              <a:buSzPct val="102564"/>
              <a:buFont typeface="Arial"/>
              <a:buNone/>
            </a:pPr>
            <a:r>
              <a:rPr b="0" i="0" lang="en" sz="2800" u="none" cap="none" strike="noStrike">
                <a:solidFill>
                  <a:schemeClr val="dk1"/>
                </a:solidFill>
                <a:latin typeface="Arial"/>
                <a:ea typeface="Arial"/>
                <a:cs typeface="Arial"/>
                <a:sym typeface="Arial"/>
              </a:rPr>
              <a:t>Class 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Today</a:t>
            </a:r>
            <a:endParaRPr/>
          </a:p>
        </p:txBody>
      </p:sp>
      <p:sp>
        <p:nvSpPr>
          <p:cNvPr id="135" name="Google Shape;135;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solidFill>
                  <a:schemeClr val="dk1"/>
                </a:solidFill>
              </a:rPr>
              <a:t>Transformer Implementation</a:t>
            </a:r>
            <a:endParaRPr/>
          </a:p>
          <a:p>
            <a:pPr indent="-317500" lvl="1" marL="914400" rtl="0" algn="l">
              <a:lnSpc>
                <a:spcPct val="115000"/>
              </a:lnSpc>
              <a:spcBef>
                <a:spcPts val="0"/>
              </a:spcBef>
              <a:spcAft>
                <a:spcPts val="0"/>
              </a:spcAft>
              <a:buSzPts val="1400"/>
              <a:buChar char="○"/>
            </a:pPr>
            <a:r>
              <a:rPr lang="en">
                <a:solidFill>
                  <a:schemeClr val="dk1"/>
                </a:solidFill>
              </a:rPr>
              <a:t>Coding session</a:t>
            </a:r>
            <a:endParaRPr/>
          </a:p>
        </p:txBody>
      </p:sp>
      <p:sp>
        <p:nvSpPr>
          <p:cNvPr id="136" name="Google Shape;136;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3"/>
          <p:cNvSpPr txBox="1"/>
          <p:nvPr>
            <p:ph type="title"/>
          </p:nvPr>
        </p:nvSpPr>
        <p:spPr>
          <a:xfrm>
            <a:off x="311700" y="190752"/>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Last Time – Decoder-Only Transformer Architecture</a:t>
            </a:r>
            <a:endParaRPr/>
          </a:p>
        </p:txBody>
      </p:sp>
      <p:sp>
        <p:nvSpPr>
          <p:cNvPr id="142" name="Google Shape;142;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43" name="Google Shape;143;p33"/>
          <p:cNvPicPr preferRelativeResize="0"/>
          <p:nvPr/>
        </p:nvPicPr>
        <p:blipFill rotWithShape="1">
          <a:blip r:embed="rId3">
            <a:alphaModFix/>
          </a:blip>
          <a:srcRect b="0" l="0" r="0" t="0"/>
          <a:stretch/>
        </p:blipFill>
        <p:spPr>
          <a:xfrm>
            <a:off x="97974" y="1130934"/>
            <a:ext cx="9046026" cy="2492604"/>
          </a:xfrm>
          <a:prstGeom prst="rect">
            <a:avLst/>
          </a:prstGeom>
          <a:noFill/>
          <a:ln>
            <a:noFill/>
          </a:ln>
        </p:spPr>
      </p:pic>
      <p:pic>
        <p:nvPicPr>
          <p:cNvPr id="144" name="Google Shape;144;p33"/>
          <p:cNvPicPr preferRelativeResize="0"/>
          <p:nvPr/>
        </p:nvPicPr>
        <p:blipFill rotWithShape="1">
          <a:blip r:embed="rId4">
            <a:alphaModFix/>
          </a:blip>
          <a:srcRect b="0" l="0" r="0" t="0"/>
          <a:stretch/>
        </p:blipFill>
        <p:spPr>
          <a:xfrm>
            <a:off x="4235687" y="1543322"/>
            <a:ext cx="1423481" cy="1653428"/>
          </a:xfrm>
          <a:prstGeom prst="rect">
            <a:avLst/>
          </a:prstGeom>
          <a:noFill/>
          <a:ln>
            <a:noFill/>
          </a:ln>
        </p:spPr>
      </p:pic>
      <p:pic>
        <p:nvPicPr>
          <p:cNvPr id="145" name="Google Shape;145;p33"/>
          <p:cNvPicPr preferRelativeResize="0"/>
          <p:nvPr/>
        </p:nvPicPr>
        <p:blipFill rotWithShape="1">
          <a:blip r:embed="rId5">
            <a:alphaModFix/>
          </a:blip>
          <a:srcRect b="0" l="0" r="0" t="0"/>
          <a:stretch/>
        </p:blipFill>
        <p:spPr>
          <a:xfrm>
            <a:off x="5343703" y="1678005"/>
            <a:ext cx="2083930" cy="902665"/>
          </a:xfrm>
          <a:prstGeom prst="rect">
            <a:avLst/>
          </a:prstGeom>
          <a:noFill/>
          <a:ln>
            <a:noFill/>
          </a:ln>
        </p:spPr>
      </p:pic>
      <p:pic>
        <p:nvPicPr>
          <p:cNvPr id="146" name="Google Shape;146;p33"/>
          <p:cNvPicPr preferRelativeResize="0"/>
          <p:nvPr/>
        </p:nvPicPr>
        <p:blipFill rotWithShape="1">
          <a:blip r:embed="rId6">
            <a:alphaModFix/>
          </a:blip>
          <a:srcRect b="0" l="0" r="0" t="0"/>
          <a:stretch/>
        </p:blipFill>
        <p:spPr>
          <a:xfrm>
            <a:off x="5342359" y="2167750"/>
            <a:ext cx="2095075" cy="824657"/>
          </a:xfrm>
          <a:prstGeom prst="rect">
            <a:avLst/>
          </a:prstGeom>
          <a:noFill/>
          <a:ln>
            <a:noFill/>
          </a:ln>
        </p:spPr>
      </p:pic>
      <p:pic>
        <p:nvPicPr>
          <p:cNvPr id="147" name="Google Shape;147;p33"/>
          <p:cNvPicPr preferRelativeResize="0"/>
          <p:nvPr/>
        </p:nvPicPr>
        <p:blipFill rotWithShape="1">
          <a:blip r:embed="rId7">
            <a:alphaModFix/>
          </a:blip>
          <a:srcRect b="0" l="0" r="0" t="0"/>
          <a:stretch/>
        </p:blipFill>
        <p:spPr>
          <a:xfrm>
            <a:off x="7105650" y="1543322"/>
            <a:ext cx="457805" cy="1656818"/>
          </a:xfrm>
          <a:prstGeom prst="rect">
            <a:avLst/>
          </a:prstGeom>
          <a:noFill/>
          <a:ln>
            <a:noFill/>
          </a:ln>
        </p:spPr>
      </p:pic>
      <p:pic>
        <p:nvPicPr>
          <p:cNvPr id="148" name="Google Shape;148;p33"/>
          <p:cNvPicPr preferRelativeResize="0"/>
          <p:nvPr/>
        </p:nvPicPr>
        <p:blipFill rotWithShape="1">
          <a:blip r:embed="rId8">
            <a:alphaModFix/>
          </a:blip>
          <a:srcRect b="0" l="0" r="0" t="0"/>
          <a:stretch/>
        </p:blipFill>
        <p:spPr>
          <a:xfrm>
            <a:off x="7257954" y="1507718"/>
            <a:ext cx="1718694" cy="1653428"/>
          </a:xfrm>
          <a:prstGeom prst="rect">
            <a:avLst/>
          </a:prstGeom>
          <a:noFill/>
          <a:ln>
            <a:noFill/>
          </a:ln>
        </p:spPr>
      </p:pic>
      <p:grpSp>
        <p:nvGrpSpPr>
          <p:cNvPr id="149" name="Google Shape;149;p33"/>
          <p:cNvGrpSpPr/>
          <p:nvPr/>
        </p:nvGrpSpPr>
        <p:grpSpPr>
          <a:xfrm>
            <a:off x="744183" y="2262892"/>
            <a:ext cx="7777571" cy="1057849"/>
            <a:chOff x="744183" y="2262892"/>
            <a:chExt cx="7777571" cy="1057849"/>
          </a:xfrm>
        </p:grpSpPr>
        <p:cxnSp>
          <p:nvCxnSpPr>
            <p:cNvPr id="150" name="Google Shape;150;p33"/>
            <p:cNvCxnSpPr/>
            <p:nvPr/>
          </p:nvCxnSpPr>
          <p:spPr>
            <a:xfrm>
              <a:off x="4956437" y="2372154"/>
              <a:ext cx="105517" cy="0"/>
            </a:xfrm>
            <a:prstGeom prst="straightConnector1">
              <a:avLst/>
            </a:prstGeom>
            <a:noFill/>
            <a:ln cap="flat" cmpd="sng" w="12700">
              <a:solidFill>
                <a:schemeClr val="dk1"/>
              </a:solidFill>
              <a:prstDash val="solid"/>
              <a:round/>
              <a:headEnd len="sm" w="sm" type="none"/>
              <a:tailEnd len="med" w="med" type="stealth"/>
            </a:ln>
          </p:spPr>
        </p:cxnSp>
        <p:cxnSp>
          <p:nvCxnSpPr>
            <p:cNvPr id="151" name="Google Shape;151;p33"/>
            <p:cNvCxnSpPr/>
            <p:nvPr/>
          </p:nvCxnSpPr>
          <p:spPr>
            <a:xfrm>
              <a:off x="744183" y="3320716"/>
              <a:ext cx="4389120" cy="0"/>
            </a:xfrm>
            <a:prstGeom prst="straightConnector1">
              <a:avLst/>
            </a:prstGeom>
            <a:noFill/>
            <a:ln cap="flat" cmpd="sng" w="12700">
              <a:solidFill>
                <a:schemeClr val="dk1"/>
              </a:solidFill>
              <a:prstDash val="solid"/>
              <a:round/>
              <a:headEnd len="sm" w="sm" type="none"/>
              <a:tailEnd len="sm" w="sm" type="none"/>
            </a:ln>
          </p:spPr>
        </p:cxnSp>
        <p:cxnSp>
          <p:nvCxnSpPr>
            <p:cNvPr id="152" name="Google Shape;152;p33"/>
            <p:cNvCxnSpPr/>
            <p:nvPr/>
          </p:nvCxnSpPr>
          <p:spPr>
            <a:xfrm rot="10800000">
              <a:off x="748397" y="2378562"/>
              <a:ext cx="0" cy="942154"/>
            </a:xfrm>
            <a:prstGeom prst="straightConnector1">
              <a:avLst/>
            </a:prstGeom>
            <a:noFill/>
            <a:ln cap="flat" cmpd="sng" w="12700">
              <a:solidFill>
                <a:schemeClr val="dk1"/>
              </a:solidFill>
              <a:prstDash val="solid"/>
              <a:round/>
              <a:headEnd len="sm" w="sm" type="none"/>
              <a:tailEnd len="sm" w="sm" type="none"/>
            </a:ln>
          </p:spPr>
        </p:cxnSp>
        <p:cxnSp>
          <p:nvCxnSpPr>
            <p:cNvPr id="153" name="Google Shape;153;p33"/>
            <p:cNvCxnSpPr/>
            <p:nvPr/>
          </p:nvCxnSpPr>
          <p:spPr>
            <a:xfrm rot="10800000">
              <a:off x="5125781" y="2429564"/>
              <a:ext cx="2892" cy="891152"/>
            </a:xfrm>
            <a:prstGeom prst="straightConnector1">
              <a:avLst/>
            </a:prstGeom>
            <a:noFill/>
            <a:ln cap="flat" cmpd="sng" w="12700">
              <a:solidFill>
                <a:schemeClr val="dk1"/>
              </a:solidFill>
              <a:prstDash val="solid"/>
              <a:round/>
              <a:headEnd len="sm" w="sm" type="none"/>
              <a:tailEnd len="med" w="med" type="stealth"/>
            </a:ln>
          </p:spPr>
        </p:cxnSp>
        <p:cxnSp>
          <p:nvCxnSpPr>
            <p:cNvPr id="154" name="Google Shape;154;p33"/>
            <p:cNvCxnSpPr>
              <a:endCxn id="155" idx="4"/>
            </p:cNvCxnSpPr>
            <p:nvPr/>
          </p:nvCxnSpPr>
          <p:spPr>
            <a:xfrm rot="10800000">
              <a:off x="8459030" y="2388341"/>
              <a:ext cx="2700" cy="932400"/>
            </a:xfrm>
            <a:prstGeom prst="straightConnector1">
              <a:avLst/>
            </a:prstGeom>
            <a:noFill/>
            <a:ln cap="flat" cmpd="sng" w="12700">
              <a:solidFill>
                <a:schemeClr val="dk1"/>
              </a:solidFill>
              <a:prstDash val="solid"/>
              <a:round/>
              <a:headEnd len="sm" w="sm" type="none"/>
              <a:tailEnd len="med" w="med" type="stealth"/>
            </a:ln>
          </p:spPr>
        </p:cxnSp>
        <p:sp>
          <p:nvSpPr>
            <p:cNvPr id="156" name="Google Shape;156;p33"/>
            <p:cNvSpPr/>
            <p:nvPr/>
          </p:nvSpPr>
          <p:spPr>
            <a:xfrm>
              <a:off x="5061954" y="2304115"/>
              <a:ext cx="125449" cy="125449"/>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a:p>
          </p:txBody>
        </p:sp>
        <p:cxnSp>
          <p:nvCxnSpPr>
            <p:cNvPr id="157" name="Google Shape;157;p33"/>
            <p:cNvCxnSpPr/>
            <p:nvPr/>
          </p:nvCxnSpPr>
          <p:spPr>
            <a:xfrm>
              <a:off x="5203954" y="3320716"/>
              <a:ext cx="3265238" cy="0"/>
            </a:xfrm>
            <a:prstGeom prst="straightConnector1">
              <a:avLst/>
            </a:prstGeom>
            <a:noFill/>
            <a:ln cap="flat" cmpd="sng" w="12700">
              <a:solidFill>
                <a:schemeClr val="dk1"/>
              </a:solidFill>
              <a:prstDash val="solid"/>
              <a:round/>
              <a:headEnd len="sm" w="sm" type="none"/>
              <a:tailEnd len="sm" w="sm" type="none"/>
            </a:ln>
          </p:spPr>
        </p:cxnSp>
        <p:cxnSp>
          <p:nvCxnSpPr>
            <p:cNvPr id="158" name="Google Shape;158;p33"/>
            <p:cNvCxnSpPr/>
            <p:nvPr/>
          </p:nvCxnSpPr>
          <p:spPr>
            <a:xfrm rot="10800000">
              <a:off x="5206766" y="2374348"/>
              <a:ext cx="0" cy="946368"/>
            </a:xfrm>
            <a:prstGeom prst="straightConnector1">
              <a:avLst/>
            </a:prstGeom>
            <a:noFill/>
            <a:ln cap="flat" cmpd="sng" w="12700">
              <a:solidFill>
                <a:schemeClr val="dk1"/>
              </a:solidFill>
              <a:prstDash val="solid"/>
              <a:round/>
              <a:headEnd len="sm" w="sm" type="none"/>
              <a:tailEnd len="sm" w="sm" type="none"/>
            </a:ln>
          </p:spPr>
        </p:cxnSp>
        <p:sp>
          <p:nvSpPr>
            <p:cNvPr id="155" name="Google Shape;155;p33"/>
            <p:cNvSpPr/>
            <p:nvPr/>
          </p:nvSpPr>
          <p:spPr>
            <a:xfrm>
              <a:off x="8396305" y="2262892"/>
              <a:ext cx="125449" cy="125449"/>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a:p>
          </p:txBody>
        </p:sp>
        <p:cxnSp>
          <p:nvCxnSpPr>
            <p:cNvPr id="159" name="Google Shape;159;p33"/>
            <p:cNvCxnSpPr/>
            <p:nvPr/>
          </p:nvCxnSpPr>
          <p:spPr>
            <a:xfrm>
              <a:off x="8299590" y="2329574"/>
              <a:ext cx="105517" cy="0"/>
            </a:xfrm>
            <a:prstGeom prst="straightConnector1">
              <a:avLst/>
            </a:prstGeom>
            <a:noFill/>
            <a:ln cap="flat" cmpd="sng" w="12700">
              <a:solidFill>
                <a:schemeClr val="dk1"/>
              </a:solidFill>
              <a:prstDash val="solid"/>
              <a:round/>
              <a:headEnd len="sm" w="sm" type="none"/>
              <a:tailEnd len="med" w="med" type="stealth"/>
            </a:ln>
          </p:spPr>
        </p:cxnSp>
      </p:grpSp>
      <p:pic>
        <p:nvPicPr>
          <p:cNvPr descr="Blank Yin Yang Clip Art at Clker.com - vector clip art online, royalty free  &amp; public domain" id="160" name="Google Shape;160;p33"/>
          <p:cNvPicPr preferRelativeResize="0"/>
          <p:nvPr/>
        </p:nvPicPr>
        <p:blipFill rotWithShape="1">
          <a:blip r:embed="rId9">
            <a:alphaModFix/>
          </a:blip>
          <a:srcRect b="0" l="0" r="0" t="0"/>
          <a:stretch/>
        </p:blipFill>
        <p:spPr>
          <a:xfrm rot="5400000">
            <a:off x="2176663" y="1620406"/>
            <a:ext cx="169793" cy="169793"/>
          </a:xfrm>
          <a:prstGeom prst="rect">
            <a:avLst/>
          </a:prstGeom>
          <a:noFill/>
          <a:ln>
            <a:noFill/>
          </a:ln>
        </p:spPr>
      </p:pic>
      <p:pic>
        <p:nvPicPr>
          <p:cNvPr descr="Blank Yin Yang Clip Art at Clker.com - vector clip art online, royalty free  &amp; public domain" id="161" name="Google Shape;161;p33"/>
          <p:cNvPicPr preferRelativeResize="0"/>
          <p:nvPr/>
        </p:nvPicPr>
        <p:blipFill rotWithShape="1">
          <a:blip r:embed="rId9">
            <a:alphaModFix/>
          </a:blip>
          <a:srcRect b="0" l="0" r="0" t="0"/>
          <a:stretch/>
        </p:blipFill>
        <p:spPr>
          <a:xfrm rot="5400000">
            <a:off x="2176663" y="2143999"/>
            <a:ext cx="169793" cy="169793"/>
          </a:xfrm>
          <a:prstGeom prst="rect">
            <a:avLst/>
          </a:prstGeom>
          <a:noFill/>
          <a:ln>
            <a:noFill/>
          </a:ln>
        </p:spPr>
      </p:pic>
      <p:sp>
        <p:nvSpPr>
          <p:cNvPr id="162" name="Google Shape;162;p33"/>
          <p:cNvSpPr/>
          <p:nvPr/>
        </p:nvSpPr>
        <p:spPr>
          <a:xfrm>
            <a:off x="8628900" y="1507725"/>
            <a:ext cx="269400" cy="1653300"/>
          </a:xfrm>
          <a:prstGeom prst="rect">
            <a:avLst/>
          </a:prstGeom>
          <a:solidFill>
            <a:srgbClr val="F5F5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33"/>
          <p:cNvSpPr txBox="1"/>
          <p:nvPr/>
        </p:nvSpPr>
        <p:spPr>
          <a:xfrm>
            <a:off x="4990288" y="2185413"/>
            <a:ext cx="269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rPr>
              <a:t>+</a:t>
            </a:r>
            <a:endParaRPr sz="1100">
              <a:solidFill>
                <a:srgbClr val="FFFFFF"/>
              </a:solidFill>
            </a:endParaRPr>
          </a:p>
        </p:txBody>
      </p:sp>
      <p:sp>
        <p:nvSpPr>
          <p:cNvPr id="164" name="Google Shape;164;p33"/>
          <p:cNvSpPr txBox="1"/>
          <p:nvPr/>
        </p:nvSpPr>
        <p:spPr>
          <a:xfrm>
            <a:off x="8326313" y="2147010"/>
            <a:ext cx="269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rPr>
              <a:t>+</a:t>
            </a:r>
            <a:endParaRPr sz="11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ph type="title"/>
          </p:nvPr>
        </p:nvSpPr>
        <p:spPr>
          <a:xfrm>
            <a:off x="311700" y="86683"/>
            <a:ext cx="3693079"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Attention is All you Need</a:t>
            </a:r>
            <a:endParaRPr/>
          </a:p>
        </p:txBody>
      </p:sp>
      <p:sp>
        <p:nvSpPr>
          <p:cNvPr id="170" name="Google Shape;17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171" name="Google Shape;171;p34"/>
          <p:cNvPicPr preferRelativeResize="0"/>
          <p:nvPr/>
        </p:nvPicPr>
        <p:blipFill rotWithShape="1">
          <a:blip r:embed="rId3">
            <a:alphaModFix/>
          </a:blip>
          <a:srcRect b="0" l="0" r="0" t="0"/>
          <a:stretch/>
        </p:blipFill>
        <p:spPr>
          <a:xfrm>
            <a:off x="760318" y="772595"/>
            <a:ext cx="2934365" cy="4087422"/>
          </a:xfrm>
          <a:prstGeom prst="rect">
            <a:avLst/>
          </a:prstGeom>
          <a:noFill/>
          <a:ln>
            <a:noFill/>
          </a:ln>
        </p:spPr>
      </p:pic>
      <p:sp>
        <p:nvSpPr>
          <p:cNvPr id="172" name="Google Shape;172;p34"/>
          <p:cNvSpPr/>
          <p:nvPr/>
        </p:nvSpPr>
        <p:spPr>
          <a:xfrm>
            <a:off x="635679" y="977968"/>
            <a:ext cx="1638097" cy="3882049"/>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73" name="Google Shape;173;p34"/>
          <p:cNvGrpSpPr/>
          <p:nvPr/>
        </p:nvGrpSpPr>
        <p:grpSpPr>
          <a:xfrm>
            <a:off x="4967642" y="86164"/>
            <a:ext cx="3912368" cy="5010868"/>
            <a:chOff x="4967642" y="86164"/>
            <a:chExt cx="3912368" cy="5010868"/>
          </a:xfrm>
        </p:grpSpPr>
        <p:sp>
          <p:nvSpPr>
            <p:cNvPr id="174" name="Google Shape;174;p34"/>
            <p:cNvSpPr txBox="1"/>
            <p:nvPr/>
          </p:nvSpPr>
          <p:spPr>
            <a:xfrm>
              <a:off x="4967642" y="86164"/>
              <a:ext cx="3693079" cy="572700"/>
            </a:xfrm>
            <a:prstGeom prst="rect">
              <a:avLst/>
            </a:prstGeom>
            <a:noFill/>
            <a:ln>
              <a:noFill/>
            </a:ln>
          </p:spPr>
          <p:txBody>
            <a:bodyPr anchorCtr="0" anchor="t" bIns="91425" lIns="91425" spcFirstLastPara="1" rIns="91425" wrap="square" tIns="91425">
              <a:normAutofit fontScale="97500" lnSpcReduction="10000"/>
            </a:bodyPr>
            <a:lstStyle/>
            <a:p>
              <a:pPr indent="0" lvl="0" marL="0" marR="0" rtl="0" algn="l">
                <a:lnSpc>
                  <a:spcPct val="100000"/>
                </a:lnSpc>
                <a:spcBef>
                  <a:spcPts val="0"/>
                </a:spcBef>
                <a:spcAft>
                  <a:spcPts val="0"/>
                </a:spcAft>
                <a:buClr>
                  <a:schemeClr val="dk1"/>
                </a:buClr>
                <a:buSzPct val="102564"/>
                <a:buFont typeface="Arial"/>
                <a:buNone/>
              </a:pPr>
              <a:r>
                <a:rPr b="0" i="0" lang="en" sz="2800" u="none" cap="none" strike="noStrike">
                  <a:solidFill>
                    <a:schemeClr val="dk1"/>
                  </a:solidFill>
                  <a:latin typeface="Arial"/>
                  <a:ea typeface="Arial"/>
                  <a:cs typeface="Arial"/>
                  <a:sym typeface="Arial"/>
                </a:rPr>
                <a:t>Llama Architecture*</a:t>
              </a:r>
              <a:endParaRPr/>
            </a:p>
          </p:txBody>
        </p:sp>
        <p:sp>
          <p:nvSpPr>
            <p:cNvPr id="175" name="Google Shape;175;p34"/>
            <p:cNvSpPr txBox="1"/>
            <p:nvPr/>
          </p:nvSpPr>
          <p:spPr>
            <a:xfrm>
              <a:off x="5628799" y="4789255"/>
              <a:ext cx="325121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BFBFBF"/>
                  </a:solidFill>
                  <a:latin typeface="Arial"/>
                  <a:ea typeface="Arial"/>
                  <a:cs typeface="Arial"/>
                  <a:sym typeface="Arial"/>
                </a:rPr>
                <a:t>*Same as last time, lacking networking</a:t>
              </a:r>
              <a:endParaRPr/>
            </a:p>
          </p:txBody>
        </p:sp>
        <p:pic>
          <p:nvPicPr>
            <p:cNvPr descr="A diagram of a process&#10;&#10;AI-generated content may be incorrect." id="176" name="Google Shape;176;p34"/>
            <p:cNvPicPr preferRelativeResize="0"/>
            <p:nvPr/>
          </p:nvPicPr>
          <p:blipFill rotWithShape="1">
            <a:blip r:embed="rId4">
              <a:alphaModFix/>
            </a:blip>
            <a:srcRect b="0" l="0" r="0" t="0"/>
            <a:stretch/>
          </p:blipFill>
          <p:spPr>
            <a:xfrm>
              <a:off x="5025595" y="772594"/>
              <a:ext cx="3446863" cy="3930373"/>
            </a:xfrm>
            <a:prstGeom prst="rect">
              <a:avLst/>
            </a:prstGeom>
            <a:noFill/>
            <a:ln>
              <a:noFill/>
            </a:ln>
          </p:spPr>
        </p:pic>
      </p:grpSp>
      <p:sp>
        <p:nvSpPr>
          <p:cNvPr id="177" name="Google Shape;177;p34"/>
          <p:cNvSpPr/>
          <p:nvPr/>
        </p:nvSpPr>
        <p:spPr>
          <a:xfrm>
            <a:off x="8090764" y="1570279"/>
            <a:ext cx="622368" cy="125909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3" name="Google Shape;183;p35"/>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2420" u="none" cap="none" strike="noStrike">
                <a:solidFill>
                  <a:srgbClr val="000000"/>
                </a:solidFill>
                <a:latin typeface="Arial"/>
                <a:ea typeface="Arial"/>
                <a:cs typeface="Arial"/>
                <a:sym typeface="Arial"/>
              </a:rPr>
              <a:t>Transformer Layers and Iterations</a:t>
            </a:r>
            <a:endParaRPr/>
          </a:p>
        </p:txBody>
      </p:sp>
      <p:pic>
        <p:nvPicPr>
          <p:cNvPr id="184" name="Google Shape;184;p35"/>
          <p:cNvPicPr preferRelativeResize="0"/>
          <p:nvPr/>
        </p:nvPicPr>
        <p:blipFill rotWithShape="1">
          <a:blip r:embed="rId3">
            <a:alphaModFix/>
          </a:blip>
          <a:srcRect b="0" l="0" r="0" t="0"/>
          <a:stretch/>
        </p:blipFill>
        <p:spPr>
          <a:xfrm>
            <a:off x="160636" y="2008321"/>
            <a:ext cx="2616200" cy="1917700"/>
          </a:xfrm>
          <a:prstGeom prst="rect">
            <a:avLst/>
          </a:prstGeom>
          <a:noFill/>
          <a:ln>
            <a:noFill/>
          </a:ln>
        </p:spPr>
      </p:pic>
      <p:grpSp>
        <p:nvGrpSpPr>
          <p:cNvPr id="185" name="Google Shape;185;p35"/>
          <p:cNvGrpSpPr/>
          <p:nvPr/>
        </p:nvGrpSpPr>
        <p:grpSpPr>
          <a:xfrm>
            <a:off x="3038391" y="972890"/>
            <a:ext cx="4784811" cy="3510559"/>
            <a:chOff x="3384384" y="577469"/>
            <a:chExt cx="4784811" cy="3510559"/>
          </a:xfrm>
        </p:grpSpPr>
        <p:sp>
          <p:nvSpPr>
            <p:cNvPr id="186" name="Google Shape;186;p35"/>
            <p:cNvSpPr/>
            <p:nvPr/>
          </p:nvSpPr>
          <p:spPr>
            <a:xfrm rot="5400000">
              <a:off x="5558484" y="-1249063"/>
              <a:ext cx="335012" cy="4683212"/>
            </a:xfrm>
            <a:prstGeom prst="leftBrace">
              <a:avLst>
                <a:gd fmla="val 8333" name="adj1"/>
                <a:gd fmla="val 50000" name="adj2"/>
              </a:avLst>
            </a:prstGeom>
            <a:noFill/>
            <a:ln cap="flat"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pSp>
          <p:nvGrpSpPr>
            <p:cNvPr id="187" name="Google Shape;187;p35"/>
            <p:cNvGrpSpPr/>
            <p:nvPr/>
          </p:nvGrpSpPr>
          <p:grpSpPr>
            <a:xfrm>
              <a:off x="3796272" y="577469"/>
              <a:ext cx="4372923" cy="3510559"/>
              <a:chOff x="3796272" y="577469"/>
              <a:chExt cx="4372923" cy="3510559"/>
            </a:xfrm>
          </p:grpSpPr>
          <p:grpSp>
            <p:nvGrpSpPr>
              <p:cNvPr id="188" name="Google Shape;188;p35"/>
              <p:cNvGrpSpPr/>
              <p:nvPr/>
            </p:nvGrpSpPr>
            <p:grpSpPr>
              <a:xfrm>
                <a:off x="3796272" y="1154328"/>
                <a:ext cx="3349714" cy="2933700"/>
                <a:chOff x="3796272" y="1154328"/>
                <a:chExt cx="3349714" cy="2933700"/>
              </a:xfrm>
            </p:grpSpPr>
            <p:pic>
              <p:nvPicPr>
                <p:cNvPr id="189" name="Google Shape;189;p35"/>
                <p:cNvPicPr preferRelativeResize="0"/>
                <p:nvPr/>
              </p:nvPicPr>
              <p:blipFill rotWithShape="1">
                <a:blip r:embed="rId4">
                  <a:alphaModFix/>
                </a:blip>
                <a:srcRect b="0" l="0" r="0" t="0"/>
                <a:stretch/>
              </p:blipFill>
              <p:spPr>
                <a:xfrm>
                  <a:off x="3796272" y="1154328"/>
                  <a:ext cx="1270000" cy="2933700"/>
                </a:xfrm>
                <a:prstGeom prst="rect">
                  <a:avLst/>
                </a:prstGeom>
                <a:noFill/>
                <a:ln>
                  <a:noFill/>
                </a:ln>
              </p:spPr>
            </p:pic>
            <p:pic>
              <p:nvPicPr>
                <p:cNvPr id="190" name="Google Shape;190;p35"/>
                <p:cNvPicPr preferRelativeResize="0"/>
                <p:nvPr/>
              </p:nvPicPr>
              <p:blipFill rotWithShape="1">
                <a:blip r:embed="rId4">
                  <a:alphaModFix/>
                </a:blip>
                <a:srcRect b="0" l="0" r="0" t="0"/>
                <a:stretch/>
              </p:blipFill>
              <p:spPr>
                <a:xfrm>
                  <a:off x="4755981" y="1154328"/>
                  <a:ext cx="1270000" cy="2933700"/>
                </a:xfrm>
                <a:prstGeom prst="rect">
                  <a:avLst/>
                </a:prstGeom>
                <a:noFill/>
                <a:ln>
                  <a:noFill/>
                </a:ln>
              </p:spPr>
            </p:pic>
            <p:pic>
              <p:nvPicPr>
                <p:cNvPr id="191" name="Google Shape;191;p35"/>
                <p:cNvPicPr preferRelativeResize="0"/>
                <p:nvPr/>
              </p:nvPicPr>
              <p:blipFill rotWithShape="1">
                <a:blip r:embed="rId5">
                  <a:alphaModFix/>
                </a:blip>
                <a:srcRect b="0" l="0" r="0" t="0"/>
                <a:stretch/>
              </p:blipFill>
              <p:spPr>
                <a:xfrm>
                  <a:off x="5939486" y="1154328"/>
                  <a:ext cx="1206500" cy="2933700"/>
                </a:xfrm>
                <a:prstGeom prst="rect">
                  <a:avLst/>
                </a:prstGeom>
                <a:noFill/>
                <a:ln>
                  <a:noFill/>
                </a:ln>
              </p:spPr>
            </p:pic>
          </p:grpSp>
          <p:pic>
            <p:nvPicPr>
              <p:cNvPr id="192" name="Google Shape;192;p35"/>
              <p:cNvPicPr preferRelativeResize="0"/>
              <p:nvPr/>
            </p:nvPicPr>
            <p:blipFill rotWithShape="1">
              <a:blip r:embed="rId4">
                <a:alphaModFix/>
              </a:blip>
              <a:srcRect b="0" l="0" r="0" t="0"/>
              <a:stretch/>
            </p:blipFill>
            <p:spPr>
              <a:xfrm>
                <a:off x="6899195" y="1154328"/>
                <a:ext cx="1270000" cy="2933700"/>
              </a:xfrm>
              <a:prstGeom prst="rect">
                <a:avLst/>
              </a:prstGeom>
              <a:noFill/>
              <a:ln>
                <a:noFill/>
              </a:ln>
            </p:spPr>
          </p:pic>
          <p:sp>
            <p:nvSpPr>
              <p:cNvPr id="193" name="Google Shape;193;p35"/>
              <p:cNvSpPr txBox="1"/>
              <p:nvPr/>
            </p:nvSpPr>
            <p:spPr>
              <a:xfrm>
                <a:off x="4695972" y="577469"/>
                <a:ext cx="20441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800" u="none" cap="none" strike="noStrike">
                    <a:solidFill>
                      <a:srgbClr val="0070C0"/>
                    </a:solidFill>
                    <a:latin typeface="Arial"/>
                    <a:ea typeface="Arial"/>
                    <a:cs typeface="Arial"/>
                    <a:sym typeface="Arial"/>
                  </a:rPr>
                  <a:t>Inference Iteration</a:t>
                </a:r>
                <a:endParaRPr/>
              </a:p>
            </p:txBody>
          </p:sp>
        </p:grpSp>
      </p:grpSp>
      <p:grpSp>
        <p:nvGrpSpPr>
          <p:cNvPr id="194" name="Google Shape;194;p35"/>
          <p:cNvGrpSpPr/>
          <p:nvPr/>
        </p:nvGrpSpPr>
        <p:grpSpPr>
          <a:xfrm>
            <a:off x="2454188" y="1549749"/>
            <a:ext cx="1802752" cy="3584269"/>
            <a:chOff x="2800181" y="1154328"/>
            <a:chExt cx="1802752" cy="3584269"/>
          </a:xfrm>
        </p:grpSpPr>
        <p:pic>
          <p:nvPicPr>
            <p:cNvPr id="195" name="Google Shape;195;p35"/>
            <p:cNvPicPr preferRelativeResize="0"/>
            <p:nvPr/>
          </p:nvPicPr>
          <p:blipFill rotWithShape="1">
            <a:blip r:embed="rId4">
              <a:alphaModFix/>
            </a:blip>
            <a:srcRect b="0" l="0" r="0" t="0"/>
            <a:stretch/>
          </p:blipFill>
          <p:spPr>
            <a:xfrm>
              <a:off x="2800181" y="1154328"/>
              <a:ext cx="1270000" cy="2933700"/>
            </a:xfrm>
            <a:prstGeom prst="rect">
              <a:avLst/>
            </a:prstGeom>
            <a:noFill/>
            <a:ln>
              <a:noFill/>
            </a:ln>
          </p:spPr>
        </p:pic>
        <p:sp>
          <p:nvSpPr>
            <p:cNvPr id="196" name="Google Shape;196;p35"/>
            <p:cNvSpPr txBox="1"/>
            <p:nvPr/>
          </p:nvSpPr>
          <p:spPr>
            <a:xfrm>
              <a:off x="2815264" y="4369265"/>
              <a:ext cx="17876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800" u="none" cap="none" strike="noStrike">
                  <a:solidFill>
                    <a:srgbClr val="0070C0"/>
                  </a:solidFill>
                  <a:latin typeface="Arial"/>
                  <a:ea typeface="Arial"/>
                  <a:cs typeface="Arial"/>
                  <a:sym typeface="Arial"/>
                </a:rPr>
                <a:t>Inference Layer</a:t>
              </a:r>
              <a:endParaRPr/>
            </a:p>
          </p:txBody>
        </p:sp>
        <p:sp>
          <p:nvSpPr>
            <p:cNvPr id="197" name="Google Shape;197;p35"/>
            <p:cNvSpPr/>
            <p:nvPr/>
          </p:nvSpPr>
          <p:spPr>
            <a:xfrm rot="-5400000">
              <a:off x="3530980" y="3815786"/>
              <a:ext cx="335012" cy="691372"/>
            </a:xfrm>
            <a:prstGeom prst="leftBrace">
              <a:avLst>
                <a:gd fmla="val 8333" name="adj1"/>
                <a:gd fmla="val 50000" name="adj2"/>
              </a:avLst>
            </a:prstGeom>
            <a:noFill/>
            <a:ln cap="flat"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pSp>
      <p:grpSp>
        <p:nvGrpSpPr>
          <p:cNvPr id="198" name="Google Shape;198;p35"/>
          <p:cNvGrpSpPr/>
          <p:nvPr/>
        </p:nvGrpSpPr>
        <p:grpSpPr>
          <a:xfrm>
            <a:off x="7542817" y="2008321"/>
            <a:ext cx="1582484" cy="2616024"/>
            <a:chOff x="7542817" y="1612900"/>
            <a:chExt cx="1582484" cy="2616024"/>
          </a:xfrm>
        </p:grpSpPr>
        <p:pic>
          <p:nvPicPr>
            <p:cNvPr id="199" name="Google Shape;199;p35"/>
            <p:cNvPicPr preferRelativeResize="0"/>
            <p:nvPr/>
          </p:nvPicPr>
          <p:blipFill rotWithShape="1">
            <a:blip r:embed="rId6">
              <a:alphaModFix/>
            </a:blip>
            <a:srcRect b="0" l="0" r="0" t="0"/>
            <a:stretch/>
          </p:blipFill>
          <p:spPr>
            <a:xfrm>
              <a:off x="7559207" y="1612900"/>
              <a:ext cx="927100" cy="1917700"/>
            </a:xfrm>
            <a:prstGeom prst="rect">
              <a:avLst/>
            </a:prstGeom>
            <a:noFill/>
            <a:ln>
              <a:noFill/>
            </a:ln>
          </p:spPr>
        </p:pic>
        <p:sp>
          <p:nvSpPr>
            <p:cNvPr id="200" name="Google Shape;200;p35"/>
            <p:cNvSpPr txBox="1"/>
            <p:nvPr/>
          </p:nvSpPr>
          <p:spPr>
            <a:xfrm>
              <a:off x="7542817" y="3859592"/>
              <a:ext cx="15824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800" u="none" cap="none" strike="noStrike">
                  <a:solidFill>
                    <a:srgbClr val="0070C0"/>
                  </a:solidFill>
                  <a:latin typeface="Arial"/>
                  <a:ea typeface="Arial"/>
                  <a:cs typeface="Arial"/>
                  <a:sym typeface="Arial"/>
                </a:rPr>
                <a:t>Output Token</a:t>
              </a:r>
              <a:endParaRPr/>
            </a:p>
          </p:txBody>
        </p:sp>
        <p:sp>
          <p:nvSpPr>
            <p:cNvPr id="201" name="Google Shape;201;p35"/>
            <p:cNvSpPr/>
            <p:nvPr/>
          </p:nvSpPr>
          <p:spPr>
            <a:xfrm rot="-5400000">
              <a:off x="8155242" y="3282667"/>
              <a:ext cx="335012" cy="691372"/>
            </a:xfrm>
            <a:prstGeom prst="leftBrace">
              <a:avLst>
                <a:gd fmla="val 8333" name="adj1"/>
                <a:gd fmla="val 50000" name="adj2"/>
              </a:avLst>
            </a:prstGeom>
            <a:noFill/>
            <a:ln cap="flat"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pSp>
      <p:grpSp>
        <p:nvGrpSpPr>
          <p:cNvPr id="202" name="Google Shape;202;p35"/>
          <p:cNvGrpSpPr/>
          <p:nvPr/>
        </p:nvGrpSpPr>
        <p:grpSpPr>
          <a:xfrm>
            <a:off x="4203135" y="3016568"/>
            <a:ext cx="1300356" cy="1827932"/>
            <a:chOff x="4203135" y="3016568"/>
            <a:chExt cx="1300356" cy="1827932"/>
          </a:xfrm>
        </p:grpSpPr>
        <p:sp>
          <p:nvSpPr>
            <p:cNvPr id="203" name="Google Shape;203;p35"/>
            <p:cNvSpPr txBox="1"/>
            <p:nvPr/>
          </p:nvSpPr>
          <p:spPr>
            <a:xfrm>
              <a:off x="4203135" y="4475168"/>
              <a:ext cx="130035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800" u="none" cap="none" strike="noStrike">
                  <a:solidFill>
                    <a:srgbClr val="0070C0"/>
                  </a:solidFill>
                  <a:latin typeface="Arial"/>
                  <a:ea typeface="Arial"/>
                  <a:cs typeface="Arial"/>
                  <a:sym typeface="Arial"/>
                </a:rPr>
                <a:t>Activations</a:t>
              </a:r>
              <a:endParaRPr/>
            </a:p>
          </p:txBody>
        </p:sp>
        <p:cxnSp>
          <p:nvCxnSpPr>
            <p:cNvPr id="204" name="Google Shape;204;p35"/>
            <p:cNvCxnSpPr>
              <a:endCxn id="203" idx="0"/>
            </p:cNvCxnSpPr>
            <p:nvPr/>
          </p:nvCxnSpPr>
          <p:spPr>
            <a:xfrm>
              <a:off x="4850613" y="3016568"/>
              <a:ext cx="2700" cy="1458600"/>
            </a:xfrm>
            <a:prstGeom prst="straightConnector1">
              <a:avLst/>
            </a:prstGeom>
            <a:noFill/>
            <a:ln cap="flat" cmpd="sng" w="9525">
              <a:solidFill>
                <a:srgbClr val="3B7FF2"/>
              </a:solidFill>
              <a:prstDash val="solid"/>
              <a:round/>
              <a:headEnd len="sm" w="sm" type="none"/>
              <a:tailEnd len="med" w="med" type="triangle"/>
            </a:ln>
          </p:spPr>
        </p:cxnSp>
      </p:grpSp>
      <p:cxnSp>
        <p:nvCxnSpPr>
          <p:cNvPr id="205" name="Google Shape;205;p35"/>
          <p:cNvCxnSpPr/>
          <p:nvPr/>
        </p:nvCxnSpPr>
        <p:spPr>
          <a:xfrm>
            <a:off x="3858913" y="3016599"/>
            <a:ext cx="951368" cy="1458569"/>
          </a:xfrm>
          <a:prstGeom prst="straightConnector1">
            <a:avLst/>
          </a:prstGeom>
          <a:noFill/>
          <a:ln cap="flat" cmpd="sng" w="9525">
            <a:solidFill>
              <a:srgbClr val="3B7FF2"/>
            </a:solidFill>
            <a:prstDash val="solid"/>
            <a:round/>
            <a:headEnd len="sm" w="sm" type="none"/>
            <a:tailEnd len="med" w="med" type="triangle"/>
          </a:ln>
        </p:spPr>
      </p:cxnSp>
      <p:cxnSp>
        <p:nvCxnSpPr>
          <p:cNvPr id="206" name="Google Shape;206;p35"/>
          <p:cNvCxnSpPr/>
          <p:nvPr/>
        </p:nvCxnSpPr>
        <p:spPr>
          <a:xfrm flipH="1">
            <a:off x="4883370" y="3011750"/>
            <a:ext cx="2053065" cy="1458569"/>
          </a:xfrm>
          <a:prstGeom prst="straightConnector1">
            <a:avLst/>
          </a:prstGeom>
          <a:noFill/>
          <a:ln cap="flat" cmpd="sng" w="9525">
            <a:solidFill>
              <a:srgbClr val="3B7FF2"/>
            </a:solidFill>
            <a:prstDash val="solid"/>
            <a:round/>
            <a:headEnd len="sm" w="sm" type="none"/>
            <a:tailEnd len="med" w="med" type="triangle"/>
          </a:ln>
        </p:spPr>
      </p:cxnSp>
      <p:grpSp>
        <p:nvGrpSpPr>
          <p:cNvPr id="207" name="Google Shape;207;p35"/>
          <p:cNvGrpSpPr/>
          <p:nvPr/>
        </p:nvGrpSpPr>
        <p:grpSpPr>
          <a:xfrm>
            <a:off x="7332993" y="760220"/>
            <a:ext cx="1146468" cy="2062990"/>
            <a:chOff x="7332993" y="760220"/>
            <a:chExt cx="1146468" cy="2062990"/>
          </a:xfrm>
        </p:grpSpPr>
        <p:sp>
          <p:nvSpPr>
            <p:cNvPr id="208" name="Google Shape;208;p35"/>
            <p:cNvSpPr txBox="1"/>
            <p:nvPr/>
          </p:nvSpPr>
          <p:spPr>
            <a:xfrm>
              <a:off x="7332993" y="760220"/>
              <a:ext cx="114646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800" u="none" cap="none" strike="noStrike">
                  <a:solidFill>
                    <a:srgbClr val="0070C0"/>
                  </a:solidFill>
                  <a:latin typeface="Arial"/>
                  <a:ea typeface="Arial"/>
                  <a:cs typeface="Arial"/>
                  <a:sym typeface="Arial"/>
                </a:rPr>
                <a:t>Sampling</a:t>
              </a:r>
              <a:endParaRPr/>
            </a:p>
          </p:txBody>
        </p:sp>
        <p:cxnSp>
          <p:nvCxnSpPr>
            <p:cNvPr id="209" name="Google Shape;209;p35"/>
            <p:cNvCxnSpPr/>
            <p:nvPr/>
          </p:nvCxnSpPr>
          <p:spPr>
            <a:xfrm flipH="1" rot="10800000">
              <a:off x="7910299" y="1157556"/>
              <a:ext cx="15751" cy="1665654"/>
            </a:xfrm>
            <a:prstGeom prst="straightConnector1">
              <a:avLst/>
            </a:prstGeom>
            <a:noFill/>
            <a:ln cap="flat" cmpd="sng" w="9525">
              <a:solidFill>
                <a:srgbClr val="3B7FF2"/>
              </a:solidFill>
              <a:prstDash val="solid"/>
              <a:round/>
              <a:headEnd len="sm" w="sm" type="none"/>
              <a:tailEnd len="med" w="med" type="triangl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6"/>
          <p:cNvPicPr preferRelativeResize="0"/>
          <p:nvPr/>
        </p:nvPicPr>
        <p:blipFill rotWithShape="1">
          <a:blip r:embed="rId3">
            <a:alphaModFix/>
          </a:blip>
          <a:srcRect b="0" l="0" r="0" t="0"/>
          <a:stretch/>
        </p:blipFill>
        <p:spPr>
          <a:xfrm>
            <a:off x="2454188" y="1549749"/>
            <a:ext cx="1270000" cy="2933700"/>
          </a:xfrm>
          <a:prstGeom prst="rect">
            <a:avLst/>
          </a:prstGeom>
          <a:noFill/>
          <a:ln>
            <a:noFill/>
          </a:ln>
        </p:spPr>
      </p:pic>
      <p:sp>
        <p:nvSpPr>
          <p:cNvPr id="215" name="Google Shape;215;p36"/>
          <p:cNvSpPr/>
          <p:nvPr/>
        </p:nvSpPr>
        <p:spPr>
          <a:xfrm rot="-5400000">
            <a:off x="3184987" y="4211207"/>
            <a:ext cx="335012" cy="691372"/>
          </a:xfrm>
          <a:prstGeom prst="leftBrace">
            <a:avLst>
              <a:gd fmla="val 8333" name="adj1"/>
              <a:gd fmla="val 50000" name="adj2"/>
            </a:avLst>
          </a:prstGeom>
          <a:noFill/>
          <a:ln cap="flat"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16" name="Google Shape;216;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17" name="Google Shape;217;p36"/>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2420" u="none" cap="none" strike="noStrike">
                <a:solidFill>
                  <a:srgbClr val="000000"/>
                </a:solidFill>
                <a:latin typeface="Arial"/>
                <a:ea typeface="Arial"/>
                <a:cs typeface="Arial"/>
                <a:sym typeface="Arial"/>
              </a:rPr>
              <a:t>Transformer Layer</a:t>
            </a:r>
            <a:endParaRPr/>
          </a:p>
        </p:txBody>
      </p:sp>
      <p:pic>
        <p:nvPicPr>
          <p:cNvPr id="218" name="Google Shape;218;p36"/>
          <p:cNvPicPr preferRelativeResize="0"/>
          <p:nvPr/>
        </p:nvPicPr>
        <p:blipFill rotWithShape="1">
          <a:blip r:embed="rId4">
            <a:alphaModFix/>
          </a:blip>
          <a:srcRect b="0" l="0" r="0" t="0"/>
          <a:stretch/>
        </p:blipFill>
        <p:spPr>
          <a:xfrm>
            <a:off x="160636" y="2008321"/>
            <a:ext cx="2616200" cy="1917700"/>
          </a:xfrm>
          <a:prstGeom prst="rect">
            <a:avLst/>
          </a:prstGeom>
          <a:noFill/>
          <a:ln>
            <a:noFill/>
          </a:ln>
        </p:spPr>
      </p:pic>
      <p:grpSp>
        <p:nvGrpSpPr>
          <p:cNvPr id="219" name="Google Shape;219;p36"/>
          <p:cNvGrpSpPr/>
          <p:nvPr/>
        </p:nvGrpSpPr>
        <p:grpSpPr>
          <a:xfrm>
            <a:off x="4394722" y="161279"/>
            <a:ext cx="4626436" cy="2679192"/>
            <a:chOff x="3079702" y="1681844"/>
            <a:chExt cx="4626436" cy="2679192"/>
          </a:xfrm>
        </p:grpSpPr>
        <p:sp>
          <p:nvSpPr>
            <p:cNvPr id="220" name="Google Shape;220;p36"/>
            <p:cNvSpPr/>
            <p:nvPr/>
          </p:nvSpPr>
          <p:spPr>
            <a:xfrm>
              <a:off x="3079702" y="1681844"/>
              <a:ext cx="4626436" cy="2679192"/>
            </a:xfrm>
            <a:prstGeom prst="rect">
              <a:avLst/>
            </a:prstGeom>
            <a:solidFill>
              <a:srgbClr val="F5F5F5"/>
            </a:solidFill>
            <a:ln cap="flat" cmpd="sng" w="127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1" name="Google Shape;221;p36"/>
            <p:cNvSpPr/>
            <p:nvPr/>
          </p:nvSpPr>
          <p:spPr>
            <a:xfrm>
              <a:off x="3333905" y="1914797"/>
              <a:ext cx="1950789" cy="2203603"/>
            </a:xfrm>
            <a:prstGeom prst="rect">
              <a:avLst/>
            </a:prstGeom>
            <a:solidFill>
              <a:srgbClr val="C1C1C1"/>
            </a:solidFill>
            <a:ln cap="flat" cmpd="sng" w="127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800" u="none" cap="none" strike="noStrike">
                  <a:solidFill>
                    <a:schemeClr val="lt1"/>
                  </a:solidFill>
                  <a:latin typeface="Arial"/>
                  <a:ea typeface="Arial"/>
                  <a:cs typeface="Arial"/>
                  <a:sym typeface="Arial"/>
                </a:rPr>
                <a:t>Attention</a:t>
              </a:r>
              <a:endParaRPr/>
            </a:p>
          </p:txBody>
        </p:sp>
        <p:sp>
          <p:nvSpPr>
            <p:cNvPr id="222" name="Google Shape;222;p36"/>
            <p:cNvSpPr/>
            <p:nvPr/>
          </p:nvSpPr>
          <p:spPr>
            <a:xfrm>
              <a:off x="5520021" y="1914796"/>
              <a:ext cx="1950789" cy="2203603"/>
            </a:xfrm>
            <a:prstGeom prst="rect">
              <a:avLst/>
            </a:prstGeom>
            <a:solidFill>
              <a:srgbClr val="C1C1C1"/>
            </a:solidFill>
            <a:ln cap="flat" cmpd="sng" w="127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800" u="none" cap="none" strike="noStrike">
                  <a:solidFill>
                    <a:schemeClr val="lt1"/>
                  </a:solidFill>
                  <a:latin typeface="Arial"/>
                  <a:ea typeface="Arial"/>
                  <a:cs typeface="Arial"/>
                  <a:sym typeface="Arial"/>
                </a:rPr>
                <a:t>Feed Forward Network</a:t>
              </a:r>
              <a:endParaRPr/>
            </a:p>
            <a:p>
              <a:pPr indent="0" lvl="0" marL="0" marR="0" rtl="0" algn="ctr">
                <a:lnSpc>
                  <a:spcPct val="100000"/>
                </a:lnSpc>
                <a:spcBef>
                  <a:spcPts val="0"/>
                </a:spcBef>
                <a:spcAft>
                  <a:spcPts val="0"/>
                </a:spcAft>
                <a:buNone/>
              </a:pPr>
              <a:r>
                <a:rPr b="1" i="0" lang="en" sz="1800" u="none" cap="none" strike="noStrike">
                  <a:solidFill>
                    <a:schemeClr val="lt1"/>
                  </a:solidFill>
                  <a:latin typeface="Arial"/>
                  <a:ea typeface="Arial"/>
                  <a:cs typeface="Arial"/>
                  <a:sym typeface="Arial"/>
                </a:rPr>
                <a:t>(FFN)</a:t>
              </a:r>
              <a:endParaRPr/>
            </a:p>
          </p:txBody>
        </p:sp>
      </p:grpSp>
      <p:sp>
        <p:nvSpPr>
          <p:cNvPr id="223" name="Google Shape;223;p36"/>
          <p:cNvSpPr txBox="1"/>
          <p:nvPr/>
        </p:nvSpPr>
        <p:spPr>
          <a:xfrm>
            <a:off x="2469271" y="4764686"/>
            <a:ext cx="178766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800" u="none" cap="none" strike="noStrike">
                <a:solidFill>
                  <a:srgbClr val="0070C0"/>
                </a:solidFill>
                <a:latin typeface="Arial"/>
                <a:ea typeface="Arial"/>
                <a:cs typeface="Arial"/>
                <a:sym typeface="Arial"/>
              </a:rPr>
              <a:t>Inference Layer</a:t>
            </a:r>
            <a:endParaRPr/>
          </a:p>
        </p:txBody>
      </p:sp>
      <p:cxnSp>
        <p:nvCxnSpPr>
          <p:cNvPr id="224" name="Google Shape;224;p36"/>
          <p:cNvCxnSpPr/>
          <p:nvPr/>
        </p:nvCxnSpPr>
        <p:spPr>
          <a:xfrm flipH="1" rot="10800000">
            <a:off x="3564835" y="161279"/>
            <a:ext cx="829887" cy="1528373"/>
          </a:xfrm>
          <a:prstGeom prst="straightConnector1">
            <a:avLst/>
          </a:prstGeom>
          <a:noFill/>
          <a:ln cap="flat" cmpd="sng" w="12700">
            <a:solidFill>
              <a:schemeClr val="dk1"/>
            </a:solidFill>
            <a:prstDash val="dash"/>
            <a:round/>
            <a:headEnd len="sm" w="sm" type="none"/>
            <a:tailEnd len="sm" w="sm" type="none"/>
          </a:ln>
        </p:spPr>
      </p:cxnSp>
      <p:cxnSp>
        <p:nvCxnSpPr>
          <p:cNvPr id="225" name="Google Shape;225;p36"/>
          <p:cNvCxnSpPr/>
          <p:nvPr/>
        </p:nvCxnSpPr>
        <p:spPr>
          <a:xfrm flipH="1" rot="10800000">
            <a:off x="3565692" y="2817561"/>
            <a:ext cx="829887" cy="1528373"/>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Indexing into embeddings</a:t>
            </a:r>
            <a:endParaRPr/>
          </a:p>
        </p:txBody>
      </p:sp>
      <p:sp>
        <p:nvSpPr>
          <p:cNvPr id="231" name="Google Shape;231;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114300" rtl="0" algn="l">
              <a:lnSpc>
                <a:spcPct val="115000"/>
              </a:lnSpc>
              <a:spcBef>
                <a:spcPts val="0"/>
              </a:spcBef>
              <a:spcAft>
                <a:spcPts val="0"/>
              </a:spcAft>
              <a:buSzPts val="1800"/>
              <a:buNone/>
            </a:pPr>
            <a:r>
              <a:rPr lang="en"/>
              <a:t>input_ids: [The, University, …]</a:t>
            </a:r>
            <a:endParaRPr/>
          </a:p>
          <a:p>
            <a:pPr indent="0" lvl="0" marL="114300" rtl="0" algn="l">
              <a:lnSpc>
                <a:spcPct val="115000"/>
              </a:lnSpc>
              <a:spcBef>
                <a:spcPts val="0"/>
              </a:spcBef>
              <a:spcAft>
                <a:spcPts val="0"/>
              </a:spcAft>
              <a:buSzPts val="1800"/>
              <a:buNone/>
            </a:pPr>
            <a:r>
              <a:t/>
            </a:r>
            <a:endParaRPr/>
          </a:p>
          <a:p>
            <a:pPr indent="0" lvl="0" marL="114300" rtl="0" algn="l">
              <a:lnSpc>
                <a:spcPct val="115000"/>
              </a:lnSpc>
              <a:spcBef>
                <a:spcPts val="0"/>
              </a:spcBef>
              <a:spcAft>
                <a:spcPts val="0"/>
              </a:spcAft>
              <a:buSzPts val="1800"/>
              <a:buNone/>
            </a:pPr>
            <a:r>
              <a:rPr lang="en"/>
              <a:t>embeddings: {… : …,</a:t>
            </a:r>
            <a:endParaRPr/>
          </a:p>
          <a:p>
            <a:pPr indent="0" lvl="0" marL="114300" rtl="0" algn="l">
              <a:lnSpc>
                <a:spcPct val="115000"/>
              </a:lnSpc>
              <a:spcBef>
                <a:spcPts val="0"/>
              </a:spcBef>
              <a:spcAft>
                <a:spcPts val="0"/>
              </a:spcAft>
              <a:buSzPts val="1800"/>
              <a:buNone/>
            </a:pPr>
            <a:r>
              <a:rPr lang="en"/>
              <a:t>	          The: [0, 1, 0, 1, …],</a:t>
            </a:r>
            <a:endParaRPr/>
          </a:p>
          <a:p>
            <a:pPr indent="0" lvl="0" marL="114300" rtl="0" algn="l">
              <a:lnSpc>
                <a:spcPct val="115000"/>
              </a:lnSpc>
              <a:spcBef>
                <a:spcPts val="0"/>
              </a:spcBef>
              <a:spcAft>
                <a:spcPts val="0"/>
              </a:spcAft>
              <a:buSzPts val="1800"/>
              <a:buNone/>
            </a:pPr>
            <a:r>
              <a:rPr lang="en"/>
              <a:t>…</a:t>
            </a:r>
            <a:endParaRPr/>
          </a:p>
          <a:p>
            <a:pPr indent="0" lvl="0" marL="114300" rtl="0" algn="l">
              <a:lnSpc>
                <a:spcPct val="115000"/>
              </a:lnSpc>
              <a:spcBef>
                <a:spcPts val="0"/>
              </a:spcBef>
              <a:spcAft>
                <a:spcPts val="0"/>
              </a:spcAft>
              <a:buSzPts val="1800"/>
              <a:buNone/>
            </a:pPr>
            <a:r>
              <a:rPr lang="en"/>
              <a:t>               University: [0, 0 ,0 , …]</a:t>
            </a:r>
            <a:endParaRPr/>
          </a:p>
          <a:p>
            <a:pPr indent="0" lvl="0" marL="114300" rtl="0" algn="l">
              <a:lnSpc>
                <a:spcPct val="115000"/>
              </a:lnSpc>
              <a:spcBef>
                <a:spcPts val="0"/>
              </a:spcBef>
              <a:spcAft>
                <a:spcPts val="0"/>
              </a:spcAft>
              <a:buSzPts val="1800"/>
              <a:buNone/>
            </a:pPr>
            <a:r>
              <a:rPr lang="en"/>
              <a:t>}</a:t>
            </a:r>
            <a:endParaRPr/>
          </a:p>
        </p:txBody>
      </p:sp>
      <p:sp>
        <p:nvSpPr>
          <p:cNvPr id="232" name="Google Shape;232;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cxnSp>
        <p:nvCxnSpPr>
          <p:cNvPr id="233" name="Google Shape;233;p37"/>
          <p:cNvCxnSpPr/>
          <p:nvPr/>
        </p:nvCxnSpPr>
        <p:spPr>
          <a:xfrm flipH="1" rot="10800000">
            <a:off x="3375102" y="1799063"/>
            <a:ext cx="1308410" cy="386576"/>
          </a:xfrm>
          <a:prstGeom prst="straightConnector1">
            <a:avLst/>
          </a:prstGeom>
          <a:noFill/>
          <a:ln cap="flat" cmpd="sng" w="9525">
            <a:solidFill>
              <a:srgbClr val="3B7FF2"/>
            </a:solidFill>
            <a:prstDash val="solid"/>
            <a:round/>
            <a:headEnd len="sm" w="sm" type="none"/>
            <a:tailEnd len="med" w="med" type="triangle"/>
          </a:ln>
        </p:spPr>
      </p:cxnSp>
      <p:cxnSp>
        <p:nvCxnSpPr>
          <p:cNvPr id="234" name="Google Shape;234;p37"/>
          <p:cNvCxnSpPr/>
          <p:nvPr/>
        </p:nvCxnSpPr>
        <p:spPr>
          <a:xfrm flipH="1" rot="10800000">
            <a:off x="3847171" y="1992351"/>
            <a:ext cx="932985" cy="839876"/>
          </a:xfrm>
          <a:prstGeom prst="straightConnector1">
            <a:avLst/>
          </a:prstGeom>
          <a:noFill/>
          <a:ln cap="flat" cmpd="sng" w="9525">
            <a:solidFill>
              <a:srgbClr val="3B7FF2"/>
            </a:solidFill>
            <a:prstDash val="solid"/>
            <a:round/>
            <a:headEnd len="sm" w="sm" type="none"/>
            <a:tailEnd len="med" w="med" type="triangle"/>
          </a:ln>
        </p:spPr>
      </p:cxnSp>
      <p:sp>
        <p:nvSpPr>
          <p:cNvPr id="235" name="Google Shape;235;p37"/>
          <p:cNvSpPr txBox="1"/>
          <p:nvPr/>
        </p:nvSpPr>
        <p:spPr>
          <a:xfrm>
            <a:off x="4965997" y="1717300"/>
            <a:ext cx="2661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4096 elements in Llama-3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Grouped Query Attention</a:t>
            </a:r>
            <a:r>
              <a:rPr baseline="30000" lang="en"/>
              <a:t>1</a:t>
            </a:r>
            <a:endParaRPr baseline="30000"/>
          </a:p>
        </p:txBody>
      </p:sp>
      <p:sp>
        <p:nvSpPr>
          <p:cNvPr id="241" name="Google Shape;241;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42" name="Google Shape;242;p38"/>
          <p:cNvSpPr/>
          <p:nvPr/>
        </p:nvSpPr>
        <p:spPr>
          <a:xfrm>
            <a:off x="1247890" y="1775459"/>
            <a:ext cx="6772483" cy="1152128"/>
          </a:xfrm>
          <a:prstGeom prst="rect">
            <a:avLst/>
          </a:prstGeom>
          <a:no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3" name="Google Shape;243;p38"/>
          <p:cNvSpPr txBox="1"/>
          <p:nvPr/>
        </p:nvSpPr>
        <p:spPr>
          <a:xfrm>
            <a:off x="203774" y="2033603"/>
            <a:ext cx="93610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GPU </a:t>
            </a:r>
            <a:endParaRPr/>
          </a:p>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memory</a:t>
            </a:r>
            <a:endParaRPr b="0" i="0" sz="1600" u="none" cap="none" strike="noStrike">
              <a:solidFill>
                <a:srgbClr val="000000"/>
              </a:solidFill>
              <a:latin typeface="Arial"/>
              <a:ea typeface="Arial"/>
              <a:cs typeface="Arial"/>
              <a:sym typeface="Arial"/>
            </a:endParaRPr>
          </a:p>
        </p:txBody>
      </p:sp>
      <p:sp>
        <p:nvSpPr>
          <p:cNvPr id="244" name="Google Shape;244;p38"/>
          <p:cNvSpPr/>
          <p:nvPr/>
        </p:nvSpPr>
        <p:spPr>
          <a:xfrm>
            <a:off x="1249439" y="1775457"/>
            <a:ext cx="1656184" cy="1152128"/>
          </a:xfrm>
          <a:prstGeom prst="rect">
            <a:avLst/>
          </a:prstGeom>
          <a:solidFill>
            <a:srgbClr val="9392BE"/>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Weight</a:t>
            </a:r>
            <a:endParaRPr b="0" i="0" sz="1400" u="none" cap="none" strike="noStrike">
              <a:solidFill>
                <a:schemeClr val="dk1"/>
              </a:solidFill>
              <a:latin typeface="Arial"/>
              <a:ea typeface="Arial"/>
              <a:cs typeface="Arial"/>
              <a:sym typeface="Arial"/>
            </a:endParaRPr>
          </a:p>
        </p:txBody>
      </p:sp>
      <p:sp>
        <p:nvSpPr>
          <p:cNvPr id="245" name="Google Shape;245;p38"/>
          <p:cNvSpPr/>
          <p:nvPr/>
        </p:nvSpPr>
        <p:spPr>
          <a:xfrm>
            <a:off x="2905623" y="1775458"/>
            <a:ext cx="574515" cy="1152128"/>
          </a:xfrm>
          <a:prstGeom prst="rect">
            <a:avLst/>
          </a:prstGeom>
          <a:solidFill>
            <a:srgbClr val="D0E7E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50" u="none" cap="none" strike="noStrike">
                <a:solidFill>
                  <a:schemeClr val="dk1"/>
                </a:solidFill>
                <a:latin typeface="Arial"/>
                <a:ea typeface="Arial"/>
                <a:cs typeface="Arial"/>
                <a:sym typeface="Arial"/>
              </a:rPr>
              <a:t>Input</a:t>
            </a:r>
            <a:endParaRPr b="0" i="0" sz="1050" u="none" cap="none" strike="noStrike">
              <a:solidFill>
                <a:schemeClr val="dk1"/>
              </a:solidFill>
              <a:latin typeface="Arial"/>
              <a:ea typeface="Arial"/>
              <a:cs typeface="Arial"/>
              <a:sym typeface="Arial"/>
            </a:endParaRPr>
          </a:p>
        </p:txBody>
      </p:sp>
      <p:sp>
        <p:nvSpPr>
          <p:cNvPr id="246" name="Google Shape;246;p38"/>
          <p:cNvSpPr/>
          <p:nvPr/>
        </p:nvSpPr>
        <p:spPr>
          <a:xfrm>
            <a:off x="3480138" y="1775459"/>
            <a:ext cx="4540235" cy="1152128"/>
          </a:xfrm>
          <a:prstGeom prst="rect">
            <a:avLst/>
          </a:prstGeom>
          <a:solidFill>
            <a:srgbClr val="D5E4A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KV cache</a:t>
            </a:r>
            <a:endParaRPr b="0" i="0" sz="1400" u="none" cap="none" strike="noStrike">
              <a:solidFill>
                <a:schemeClr val="dk1"/>
              </a:solidFill>
              <a:latin typeface="Arial"/>
              <a:ea typeface="Arial"/>
              <a:cs typeface="Arial"/>
              <a:sym typeface="Arial"/>
            </a:endParaRPr>
          </a:p>
        </p:txBody>
      </p:sp>
      <p:sp>
        <p:nvSpPr>
          <p:cNvPr id="247" name="Google Shape;247;p38"/>
          <p:cNvSpPr txBox="1"/>
          <p:nvPr/>
        </p:nvSpPr>
        <p:spPr>
          <a:xfrm>
            <a:off x="171482" y="4565968"/>
            <a:ext cx="85206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BFBFBF"/>
                </a:solidFill>
                <a:latin typeface="Arial"/>
                <a:ea typeface="Arial"/>
                <a:cs typeface="Arial"/>
                <a:sym typeface="Arial"/>
              </a:rPr>
              <a:t>[1] GQA: Training Generalized Multi-Query Transformer Models from Multi-Head Checkpoints Joshua Ainslie, James Lee-Thorp, Michiel de Jong, Yury Zemlyanskiy, Federico Lebrón, Sumit Sanghai</a:t>
            </a:r>
            <a:endParaRPr b="0" i="0" sz="1400" u="none" cap="none" strike="noStrike">
              <a:solidFill>
                <a:srgbClr val="BFBFBF"/>
              </a:solidFill>
              <a:latin typeface="Arial"/>
              <a:ea typeface="Arial"/>
              <a:cs typeface="Arial"/>
              <a:sym typeface="Arial"/>
            </a:endParaRPr>
          </a:p>
        </p:txBody>
      </p:sp>
      <p:grpSp>
        <p:nvGrpSpPr>
          <p:cNvPr id="248" name="Google Shape;248;p38"/>
          <p:cNvGrpSpPr/>
          <p:nvPr/>
        </p:nvGrpSpPr>
        <p:grpSpPr>
          <a:xfrm>
            <a:off x="3397912" y="976896"/>
            <a:ext cx="1743958" cy="1901627"/>
            <a:chOff x="3397912" y="976896"/>
            <a:chExt cx="1743958" cy="1901627"/>
          </a:xfrm>
        </p:grpSpPr>
        <p:sp>
          <p:nvSpPr>
            <p:cNvPr id="249" name="Google Shape;249;p38"/>
            <p:cNvSpPr/>
            <p:nvPr/>
          </p:nvSpPr>
          <p:spPr>
            <a:xfrm>
              <a:off x="3517550"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0" name="Google Shape;250;p38"/>
            <p:cNvSpPr txBox="1"/>
            <p:nvPr/>
          </p:nvSpPr>
          <p:spPr>
            <a:xfrm>
              <a:off x="3397912" y="1408360"/>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1</a:t>
              </a:r>
              <a:endParaRPr/>
            </a:p>
          </p:txBody>
        </p:sp>
        <p:cxnSp>
          <p:nvCxnSpPr>
            <p:cNvPr id="251" name="Google Shape;251;p38"/>
            <p:cNvCxnSpPr>
              <a:stCxn id="250" idx="0"/>
            </p:cNvCxnSpPr>
            <p:nvPr/>
          </p:nvCxnSpPr>
          <p:spPr>
            <a:xfrm flipH="1" rot="10800000">
              <a:off x="3588830" y="1144660"/>
              <a:ext cx="236400" cy="263700"/>
            </a:xfrm>
            <a:prstGeom prst="straightConnector1">
              <a:avLst/>
            </a:prstGeom>
            <a:noFill/>
            <a:ln cap="flat" cmpd="sng" w="9525">
              <a:solidFill>
                <a:srgbClr val="3B7FF2"/>
              </a:solidFill>
              <a:prstDash val="solid"/>
              <a:round/>
              <a:headEnd len="sm" w="sm" type="none"/>
              <a:tailEnd len="sm" w="sm" type="none"/>
            </a:ln>
          </p:spPr>
        </p:cxnSp>
        <p:sp>
          <p:nvSpPr>
            <p:cNvPr id="252" name="Google Shape;252;p38"/>
            <p:cNvSpPr txBox="1"/>
            <p:nvPr/>
          </p:nvSpPr>
          <p:spPr>
            <a:xfrm>
              <a:off x="3772584" y="976896"/>
              <a:ext cx="136928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C00000"/>
                  </a:solidFill>
                  <a:latin typeface="Arial"/>
                  <a:ea typeface="Arial"/>
                  <a:cs typeface="Arial"/>
                  <a:sym typeface="Arial"/>
                </a:rPr>
                <a:t>Attention Head</a:t>
              </a:r>
              <a:endParaRPr b="0" baseline="-25000" i="0" sz="1400" u="none" cap="none" strike="noStrike">
                <a:solidFill>
                  <a:srgbClr val="C00000"/>
                </a:solidFill>
                <a:latin typeface="Arial"/>
                <a:ea typeface="Arial"/>
                <a:cs typeface="Arial"/>
                <a:sym typeface="Arial"/>
              </a:endParaRPr>
            </a:p>
          </p:txBody>
        </p:sp>
      </p:grpSp>
      <p:grpSp>
        <p:nvGrpSpPr>
          <p:cNvPr id="253" name="Google Shape;253;p38"/>
          <p:cNvGrpSpPr/>
          <p:nvPr/>
        </p:nvGrpSpPr>
        <p:grpSpPr>
          <a:xfrm>
            <a:off x="3584362" y="1407054"/>
            <a:ext cx="381836" cy="1470163"/>
            <a:chOff x="3584362" y="1407054"/>
            <a:chExt cx="381836" cy="1470163"/>
          </a:xfrm>
        </p:grpSpPr>
        <p:sp>
          <p:nvSpPr>
            <p:cNvPr id="254" name="Google Shape;254;p38"/>
            <p:cNvSpPr/>
            <p:nvPr/>
          </p:nvSpPr>
          <p:spPr>
            <a:xfrm>
              <a:off x="3704000"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5" name="Google Shape;255;p38"/>
            <p:cNvSpPr txBox="1"/>
            <p:nvPr/>
          </p:nvSpPr>
          <p:spPr>
            <a:xfrm>
              <a:off x="3584362" y="1407054"/>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2</a:t>
              </a:r>
              <a:endParaRPr/>
            </a:p>
          </p:txBody>
        </p:sp>
      </p:grpSp>
      <p:grpSp>
        <p:nvGrpSpPr>
          <p:cNvPr id="256" name="Google Shape;256;p38"/>
          <p:cNvGrpSpPr/>
          <p:nvPr/>
        </p:nvGrpSpPr>
        <p:grpSpPr>
          <a:xfrm>
            <a:off x="3771315" y="1407848"/>
            <a:ext cx="381836" cy="1470163"/>
            <a:chOff x="3771315" y="1407848"/>
            <a:chExt cx="381836" cy="1470163"/>
          </a:xfrm>
        </p:grpSpPr>
        <p:sp>
          <p:nvSpPr>
            <p:cNvPr id="257" name="Google Shape;257;p38"/>
            <p:cNvSpPr/>
            <p:nvPr/>
          </p:nvSpPr>
          <p:spPr>
            <a:xfrm>
              <a:off x="3890953"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8" name="Google Shape;258;p38"/>
            <p:cNvSpPr txBox="1"/>
            <p:nvPr/>
          </p:nvSpPr>
          <p:spPr>
            <a:xfrm>
              <a:off x="3771315" y="1407848"/>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3</a:t>
              </a:r>
              <a:endParaRPr/>
            </a:p>
          </p:txBody>
        </p:sp>
      </p:grpSp>
      <p:grpSp>
        <p:nvGrpSpPr>
          <p:cNvPr id="259" name="Google Shape;259;p38"/>
          <p:cNvGrpSpPr/>
          <p:nvPr/>
        </p:nvGrpSpPr>
        <p:grpSpPr>
          <a:xfrm>
            <a:off x="3957765" y="1406542"/>
            <a:ext cx="381836" cy="1470163"/>
            <a:chOff x="3957765" y="1406542"/>
            <a:chExt cx="381836" cy="1470163"/>
          </a:xfrm>
        </p:grpSpPr>
        <p:sp>
          <p:nvSpPr>
            <p:cNvPr id="260" name="Google Shape;260;p38"/>
            <p:cNvSpPr/>
            <p:nvPr/>
          </p:nvSpPr>
          <p:spPr>
            <a:xfrm>
              <a:off x="4077403"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1" name="Google Shape;261;p38"/>
            <p:cNvSpPr txBox="1"/>
            <p:nvPr/>
          </p:nvSpPr>
          <p:spPr>
            <a:xfrm>
              <a:off x="3957765" y="1406542"/>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4</a:t>
              </a:r>
              <a:endParaRPr/>
            </a:p>
          </p:txBody>
        </p:sp>
      </p:grpSp>
      <p:sp>
        <p:nvSpPr>
          <p:cNvPr id="262" name="Google Shape;262;p38"/>
          <p:cNvSpPr/>
          <p:nvPr/>
        </p:nvSpPr>
        <p:spPr>
          <a:xfrm>
            <a:off x="4265698" y="182503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3" name="Google Shape;263;p38"/>
          <p:cNvSpPr/>
          <p:nvPr/>
        </p:nvSpPr>
        <p:spPr>
          <a:xfrm>
            <a:off x="4452148" y="182372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4" name="Google Shape;264;p38"/>
          <p:cNvSpPr/>
          <p:nvPr/>
        </p:nvSpPr>
        <p:spPr>
          <a:xfrm>
            <a:off x="4639101"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5" name="Google Shape;265;p38"/>
          <p:cNvSpPr/>
          <p:nvPr/>
        </p:nvSpPr>
        <p:spPr>
          <a:xfrm>
            <a:off x="4825551"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6" name="Google Shape;266;p38"/>
          <p:cNvSpPr/>
          <p:nvPr/>
        </p:nvSpPr>
        <p:spPr>
          <a:xfrm>
            <a:off x="5012687"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7" name="Google Shape;267;p38"/>
          <p:cNvSpPr/>
          <p:nvPr/>
        </p:nvSpPr>
        <p:spPr>
          <a:xfrm>
            <a:off x="5199137"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8" name="Google Shape;268;p38"/>
          <p:cNvSpPr/>
          <p:nvPr/>
        </p:nvSpPr>
        <p:spPr>
          <a:xfrm>
            <a:off x="5386090"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9" name="Google Shape;269;p38"/>
          <p:cNvSpPr/>
          <p:nvPr/>
        </p:nvSpPr>
        <p:spPr>
          <a:xfrm>
            <a:off x="5572540"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0" name="Google Shape;270;p38"/>
          <p:cNvSpPr/>
          <p:nvPr/>
        </p:nvSpPr>
        <p:spPr>
          <a:xfrm>
            <a:off x="5760835" y="182503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1" name="Google Shape;271;p38"/>
          <p:cNvSpPr/>
          <p:nvPr/>
        </p:nvSpPr>
        <p:spPr>
          <a:xfrm>
            <a:off x="5947285" y="182372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2" name="Google Shape;272;p38"/>
          <p:cNvSpPr/>
          <p:nvPr/>
        </p:nvSpPr>
        <p:spPr>
          <a:xfrm>
            <a:off x="6134238"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3" name="Google Shape;273;p38"/>
          <p:cNvSpPr/>
          <p:nvPr/>
        </p:nvSpPr>
        <p:spPr>
          <a:xfrm>
            <a:off x="6320688"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4" name="Google Shape;274;p38"/>
          <p:cNvSpPr/>
          <p:nvPr/>
        </p:nvSpPr>
        <p:spPr>
          <a:xfrm>
            <a:off x="6505979"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5" name="Google Shape;275;p38"/>
          <p:cNvSpPr/>
          <p:nvPr/>
        </p:nvSpPr>
        <p:spPr>
          <a:xfrm>
            <a:off x="6692429"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6" name="Google Shape;276;p38"/>
          <p:cNvSpPr/>
          <p:nvPr/>
        </p:nvSpPr>
        <p:spPr>
          <a:xfrm>
            <a:off x="6879382" y="182349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7" name="Google Shape;277;p38"/>
          <p:cNvSpPr/>
          <p:nvPr/>
        </p:nvSpPr>
        <p:spPr>
          <a:xfrm>
            <a:off x="7065832" y="182218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8" name="Google Shape;278;p38"/>
          <p:cNvSpPr/>
          <p:nvPr/>
        </p:nvSpPr>
        <p:spPr>
          <a:xfrm>
            <a:off x="7254127"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9" name="Google Shape;279;p38"/>
          <p:cNvSpPr/>
          <p:nvPr/>
        </p:nvSpPr>
        <p:spPr>
          <a:xfrm>
            <a:off x="7440577"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0" name="Google Shape;280;p38"/>
          <p:cNvSpPr/>
          <p:nvPr/>
        </p:nvSpPr>
        <p:spPr>
          <a:xfrm>
            <a:off x="7627530"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1" name="Google Shape;281;p38"/>
          <p:cNvSpPr/>
          <p:nvPr/>
        </p:nvSpPr>
        <p:spPr>
          <a:xfrm>
            <a:off x="7813980"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2" name="Google Shape;282;p38"/>
          <p:cNvSpPr txBox="1"/>
          <p:nvPr/>
        </p:nvSpPr>
        <p:spPr>
          <a:xfrm>
            <a:off x="7694342" y="1437112"/>
            <a:ext cx="4010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53"/>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500"/>
                                  </p:stCondLst>
                                  <p:childTnLst>
                                    <p:set>
                                      <p:cBhvr>
                                        <p:cTn dur="1" fill="hold">
                                          <p:stCondLst>
                                            <p:cond delay="0"/>
                                          </p:stCondLst>
                                        </p:cTn>
                                        <p:tgtEl>
                                          <p:spTgt spid="256"/>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500"/>
                                  </p:stCondLst>
                                  <p:childTnLst>
                                    <p:set>
                                      <p:cBhvr>
                                        <p:cTn dur="1" fill="hold">
                                          <p:stCondLst>
                                            <p:cond delay="0"/>
                                          </p:stCondLst>
                                        </p:cTn>
                                        <p:tgtEl>
                                          <p:spTgt spid="259"/>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500"/>
                                  </p:stCondLst>
                                  <p:childTnLst>
                                    <p:set>
                                      <p:cBhvr>
                                        <p:cTn dur="1" fill="hold">
                                          <p:stCondLst>
                                            <p:cond delay="0"/>
                                          </p:stCondLst>
                                        </p:cTn>
                                        <p:tgtEl>
                                          <p:spTgt spid="262"/>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63"/>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64"/>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65"/>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66"/>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67"/>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68"/>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69"/>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0"/>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 presetSubtype="0">
                                  <p:stCondLst>
                                    <p:cond delay="500"/>
                                  </p:stCondLst>
                                  <p:childTnLst>
                                    <p:set>
                                      <p:cBhvr>
                                        <p:cTn dur="1" fill="hold">
                                          <p:stCondLst>
                                            <p:cond delay="0"/>
                                          </p:stCondLst>
                                        </p:cTn>
                                        <p:tgtEl>
                                          <p:spTgt spid="280"/>
                                        </p:tgtEl>
                                        <p:attrNameLst>
                                          <p:attrName>style.visibility</p:attrName>
                                        </p:attrNameLst>
                                      </p:cBhvr>
                                      <p:to>
                                        <p:strVal val="visible"/>
                                      </p:to>
                                    </p:set>
                                  </p:childTnLst>
                                </p:cTn>
                              </p:par>
                            </p:childTnLst>
                          </p:cTn>
                        </p:par>
                        <p:par>
                          <p:cTn fill="hold">
                            <p:stCondLst>
                              <p:cond delay="4"/>
                            </p:stCondLst>
                            <p:childTnLst>
                              <p:par>
                                <p:cTn fill="hold" nodeType="after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par>
                          <p:cTn fill="hold">
                            <p:stCondLst>
                              <p:cond delay="5"/>
                            </p:stCondLst>
                            <p:childTnLst>
                              <p:par>
                                <p:cTn fill="hold" nodeType="after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Grouped Query Attention</a:t>
            </a:r>
            <a:r>
              <a:rPr baseline="30000" lang="en"/>
              <a:t>1</a:t>
            </a:r>
            <a:endParaRPr baseline="30000"/>
          </a:p>
        </p:txBody>
      </p:sp>
      <p:sp>
        <p:nvSpPr>
          <p:cNvPr id="288" name="Google Shape;288;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289" name="Google Shape;289;p39"/>
          <p:cNvSpPr/>
          <p:nvPr/>
        </p:nvSpPr>
        <p:spPr>
          <a:xfrm>
            <a:off x="1247890" y="1775459"/>
            <a:ext cx="6772483" cy="1152128"/>
          </a:xfrm>
          <a:prstGeom prst="rect">
            <a:avLst/>
          </a:prstGeom>
          <a:no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0" name="Google Shape;290;p39"/>
          <p:cNvSpPr txBox="1"/>
          <p:nvPr/>
        </p:nvSpPr>
        <p:spPr>
          <a:xfrm>
            <a:off x="203774" y="2033603"/>
            <a:ext cx="93610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GPU </a:t>
            </a:r>
            <a:endParaRPr/>
          </a:p>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memory</a:t>
            </a:r>
            <a:endParaRPr b="0" i="0" sz="1600" u="none" cap="none" strike="noStrike">
              <a:solidFill>
                <a:srgbClr val="000000"/>
              </a:solidFill>
              <a:latin typeface="Arial"/>
              <a:ea typeface="Arial"/>
              <a:cs typeface="Arial"/>
              <a:sym typeface="Arial"/>
            </a:endParaRPr>
          </a:p>
        </p:txBody>
      </p:sp>
      <p:sp>
        <p:nvSpPr>
          <p:cNvPr id="291" name="Google Shape;291;p39"/>
          <p:cNvSpPr/>
          <p:nvPr/>
        </p:nvSpPr>
        <p:spPr>
          <a:xfrm>
            <a:off x="1249439" y="1775457"/>
            <a:ext cx="1656184" cy="1152128"/>
          </a:xfrm>
          <a:prstGeom prst="rect">
            <a:avLst/>
          </a:prstGeom>
          <a:solidFill>
            <a:srgbClr val="9392BE"/>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Weight</a:t>
            </a:r>
            <a:endParaRPr b="0" i="0" sz="1400" u="none" cap="none" strike="noStrike">
              <a:solidFill>
                <a:schemeClr val="dk1"/>
              </a:solidFill>
              <a:latin typeface="Arial"/>
              <a:ea typeface="Arial"/>
              <a:cs typeface="Arial"/>
              <a:sym typeface="Arial"/>
            </a:endParaRPr>
          </a:p>
        </p:txBody>
      </p:sp>
      <p:sp>
        <p:nvSpPr>
          <p:cNvPr id="292" name="Google Shape;292;p39"/>
          <p:cNvSpPr/>
          <p:nvPr/>
        </p:nvSpPr>
        <p:spPr>
          <a:xfrm>
            <a:off x="2905623" y="1775458"/>
            <a:ext cx="574515" cy="1152128"/>
          </a:xfrm>
          <a:prstGeom prst="rect">
            <a:avLst/>
          </a:prstGeom>
          <a:solidFill>
            <a:srgbClr val="D0E7E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50" u="none" cap="none" strike="noStrike">
                <a:solidFill>
                  <a:schemeClr val="dk1"/>
                </a:solidFill>
                <a:latin typeface="Arial"/>
                <a:ea typeface="Arial"/>
                <a:cs typeface="Arial"/>
                <a:sym typeface="Arial"/>
              </a:rPr>
              <a:t>Input</a:t>
            </a:r>
            <a:endParaRPr b="0" i="0" sz="1050" u="none" cap="none" strike="noStrike">
              <a:solidFill>
                <a:schemeClr val="dk1"/>
              </a:solidFill>
              <a:latin typeface="Arial"/>
              <a:ea typeface="Arial"/>
              <a:cs typeface="Arial"/>
              <a:sym typeface="Arial"/>
            </a:endParaRPr>
          </a:p>
        </p:txBody>
      </p:sp>
      <p:sp>
        <p:nvSpPr>
          <p:cNvPr id="293" name="Google Shape;293;p39"/>
          <p:cNvSpPr/>
          <p:nvPr/>
        </p:nvSpPr>
        <p:spPr>
          <a:xfrm>
            <a:off x="3480138" y="1775459"/>
            <a:ext cx="4540235" cy="1152128"/>
          </a:xfrm>
          <a:prstGeom prst="rect">
            <a:avLst/>
          </a:prstGeom>
          <a:solidFill>
            <a:srgbClr val="D5E4A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KV cache</a:t>
            </a:r>
            <a:endParaRPr b="0" i="0" sz="1400" u="none" cap="none" strike="noStrike">
              <a:solidFill>
                <a:schemeClr val="dk1"/>
              </a:solidFill>
              <a:latin typeface="Arial"/>
              <a:ea typeface="Arial"/>
              <a:cs typeface="Arial"/>
              <a:sym typeface="Arial"/>
            </a:endParaRPr>
          </a:p>
        </p:txBody>
      </p:sp>
      <p:sp>
        <p:nvSpPr>
          <p:cNvPr id="294" name="Google Shape;294;p39"/>
          <p:cNvSpPr/>
          <p:nvPr/>
        </p:nvSpPr>
        <p:spPr>
          <a:xfrm>
            <a:off x="3517550"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5" name="Google Shape;295;p39"/>
          <p:cNvSpPr txBox="1"/>
          <p:nvPr/>
        </p:nvSpPr>
        <p:spPr>
          <a:xfrm>
            <a:off x="3397912" y="1408360"/>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1</a:t>
            </a:r>
            <a:endParaRPr/>
          </a:p>
        </p:txBody>
      </p:sp>
      <p:sp>
        <p:nvSpPr>
          <p:cNvPr id="296" name="Google Shape;296;p39"/>
          <p:cNvSpPr/>
          <p:nvPr/>
        </p:nvSpPr>
        <p:spPr>
          <a:xfrm>
            <a:off x="3704000"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7" name="Google Shape;297;p39"/>
          <p:cNvSpPr txBox="1"/>
          <p:nvPr/>
        </p:nvSpPr>
        <p:spPr>
          <a:xfrm>
            <a:off x="3584362" y="1407054"/>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2</a:t>
            </a:r>
            <a:endParaRPr/>
          </a:p>
        </p:txBody>
      </p:sp>
      <p:sp>
        <p:nvSpPr>
          <p:cNvPr id="298" name="Google Shape;298;p39"/>
          <p:cNvSpPr/>
          <p:nvPr/>
        </p:nvSpPr>
        <p:spPr>
          <a:xfrm>
            <a:off x="3890953"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9" name="Google Shape;299;p39"/>
          <p:cNvSpPr txBox="1"/>
          <p:nvPr/>
        </p:nvSpPr>
        <p:spPr>
          <a:xfrm>
            <a:off x="3771315" y="1407848"/>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3</a:t>
            </a:r>
            <a:endParaRPr/>
          </a:p>
        </p:txBody>
      </p:sp>
      <p:sp>
        <p:nvSpPr>
          <p:cNvPr id="300" name="Google Shape;300;p39"/>
          <p:cNvSpPr/>
          <p:nvPr/>
        </p:nvSpPr>
        <p:spPr>
          <a:xfrm>
            <a:off x="4077403"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1" name="Google Shape;301;p39"/>
          <p:cNvSpPr txBox="1"/>
          <p:nvPr/>
        </p:nvSpPr>
        <p:spPr>
          <a:xfrm>
            <a:off x="3957765" y="1406542"/>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4</a:t>
            </a:r>
            <a:endParaRPr/>
          </a:p>
        </p:txBody>
      </p:sp>
      <p:sp>
        <p:nvSpPr>
          <p:cNvPr id="302" name="Google Shape;302;p39"/>
          <p:cNvSpPr/>
          <p:nvPr/>
        </p:nvSpPr>
        <p:spPr>
          <a:xfrm>
            <a:off x="4265698" y="182503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3" name="Google Shape;303;p39"/>
          <p:cNvSpPr/>
          <p:nvPr/>
        </p:nvSpPr>
        <p:spPr>
          <a:xfrm>
            <a:off x="4452148" y="182372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4" name="Google Shape;304;p39"/>
          <p:cNvSpPr/>
          <p:nvPr/>
        </p:nvSpPr>
        <p:spPr>
          <a:xfrm>
            <a:off x="4639101"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5" name="Google Shape;305;p39"/>
          <p:cNvSpPr/>
          <p:nvPr/>
        </p:nvSpPr>
        <p:spPr>
          <a:xfrm>
            <a:off x="4825551"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6" name="Google Shape;306;p39"/>
          <p:cNvSpPr/>
          <p:nvPr/>
        </p:nvSpPr>
        <p:spPr>
          <a:xfrm>
            <a:off x="5012687"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7" name="Google Shape;307;p39"/>
          <p:cNvSpPr/>
          <p:nvPr/>
        </p:nvSpPr>
        <p:spPr>
          <a:xfrm>
            <a:off x="5199137"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8" name="Google Shape;308;p39"/>
          <p:cNvSpPr/>
          <p:nvPr/>
        </p:nvSpPr>
        <p:spPr>
          <a:xfrm>
            <a:off x="5386090"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9" name="Google Shape;309;p39"/>
          <p:cNvSpPr/>
          <p:nvPr/>
        </p:nvSpPr>
        <p:spPr>
          <a:xfrm>
            <a:off x="5572540"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0" name="Google Shape;310;p39"/>
          <p:cNvSpPr/>
          <p:nvPr/>
        </p:nvSpPr>
        <p:spPr>
          <a:xfrm>
            <a:off x="5760835" y="182503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1" name="Google Shape;311;p39"/>
          <p:cNvSpPr/>
          <p:nvPr/>
        </p:nvSpPr>
        <p:spPr>
          <a:xfrm>
            <a:off x="5947285" y="182372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2" name="Google Shape;312;p39"/>
          <p:cNvSpPr/>
          <p:nvPr/>
        </p:nvSpPr>
        <p:spPr>
          <a:xfrm>
            <a:off x="6134238"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3" name="Google Shape;313;p39"/>
          <p:cNvSpPr/>
          <p:nvPr/>
        </p:nvSpPr>
        <p:spPr>
          <a:xfrm>
            <a:off x="6320688"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4" name="Google Shape;314;p39"/>
          <p:cNvSpPr/>
          <p:nvPr/>
        </p:nvSpPr>
        <p:spPr>
          <a:xfrm>
            <a:off x="6505979"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5" name="Google Shape;315;p39"/>
          <p:cNvSpPr/>
          <p:nvPr/>
        </p:nvSpPr>
        <p:spPr>
          <a:xfrm>
            <a:off x="6692429"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6" name="Google Shape;316;p39"/>
          <p:cNvSpPr/>
          <p:nvPr/>
        </p:nvSpPr>
        <p:spPr>
          <a:xfrm>
            <a:off x="6879382" y="182349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7" name="Google Shape;317;p39"/>
          <p:cNvSpPr/>
          <p:nvPr/>
        </p:nvSpPr>
        <p:spPr>
          <a:xfrm>
            <a:off x="7065832" y="182218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8" name="Google Shape;318;p39"/>
          <p:cNvSpPr/>
          <p:nvPr/>
        </p:nvSpPr>
        <p:spPr>
          <a:xfrm>
            <a:off x="7254127"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9" name="Google Shape;319;p39"/>
          <p:cNvSpPr/>
          <p:nvPr/>
        </p:nvSpPr>
        <p:spPr>
          <a:xfrm>
            <a:off x="7440577"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0" name="Google Shape;320;p39"/>
          <p:cNvSpPr/>
          <p:nvPr/>
        </p:nvSpPr>
        <p:spPr>
          <a:xfrm>
            <a:off x="7627530"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1" name="Google Shape;321;p39"/>
          <p:cNvSpPr/>
          <p:nvPr/>
        </p:nvSpPr>
        <p:spPr>
          <a:xfrm>
            <a:off x="7813980"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2" name="Google Shape;322;p39"/>
          <p:cNvSpPr txBox="1"/>
          <p:nvPr/>
        </p:nvSpPr>
        <p:spPr>
          <a:xfrm>
            <a:off x="7694342" y="1437112"/>
            <a:ext cx="4010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N</a:t>
            </a:r>
            <a:endParaRPr/>
          </a:p>
        </p:txBody>
      </p:sp>
      <p:cxnSp>
        <p:nvCxnSpPr>
          <p:cNvPr id="323" name="Google Shape;323;p39"/>
          <p:cNvCxnSpPr/>
          <p:nvPr/>
        </p:nvCxnSpPr>
        <p:spPr>
          <a:xfrm flipH="1" rot="10800000">
            <a:off x="3588830" y="1144745"/>
            <a:ext cx="236294" cy="263615"/>
          </a:xfrm>
          <a:prstGeom prst="straightConnector1">
            <a:avLst/>
          </a:prstGeom>
          <a:noFill/>
          <a:ln cap="flat" cmpd="sng" w="9525">
            <a:solidFill>
              <a:srgbClr val="3B7FF2"/>
            </a:solidFill>
            <a:prstDash val="solid"/>
            <a:round/>
            <a:headEnd len="sm" w="sm" type="none"/>
            <a:tailEnd len="sm" w="sm" type="none"/>
          </a:ln>
        </p:spPr>
      </p:cxnSp>
      <p:sp>
        <p:nvSpPr>
          <p:cNvPr id="324" name="Google Shape;324;p39"/>
          <p:cNvSpPr txBox="1"/>
          <p:nvPr/>
        </p:nvSpPr>
        <p:spPr>
          <a:xfrm>
            <a:off x="3772584" y="976896"/>
            <a:ext cx="136928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C00000"/>
                </a:solidFill>
                <a:latin typeface="Arial"/>
                <a:ea typeface="Arial"/>
                <a:cs typeface="Arial"/>
                <a:sym typeface="Arial"/>
              </a:rPr>
              <a:t>Attention Head</a:t>
            </a:r>
            <a:endParaRPr b="0" baseline="-25000" i="0" sz="1400" u="none" cap="none" strike="noStrike">
              <a:solidFill>
                <a:srgbClr val="C00000"/>
              </a:solidFill>
              <a:latin typeface="Arial"/>
              <a:ea typeface="Arial"/>
              <a:cs typeface="Arial"/>
              <a:sym typeface="Arial"/>
            </a:endParaRPr>
          </a:p>
        </p:txBody>
      </p:sp>
      <p:sp>
        <p:nvSpPr>
          <p:cNvPr id="325" name="Google Shape;325;p39"/>
          <p:cNvSpPr txBox="1"/>
          <p:nvPr/>
        </p:nvSpPr>
        <p:spPr>
          <a:xfrm>
            <a:off x="171482" y="4565968"/>
            <a:ext cx="85206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BFBFBF"/>
                </a:solidFill>
                <a:latin typeface="Arial"/>
                <a:ea typeface="Arial"/>
                <a:cs typeface="Arial"/>
                <a:sym typeface="Arial"/>
              </a:rPr>
              <a:t>[1] GQA: Training Generalized Multi-Query Transformer Models from Multi-Head Checkpoints Joshua Ainslie, James Lee-Thorp, Michiel de Jong, Yury Zemlyanskiy, Federico Lebrón, Sumit Sanghai</a:t>
            </a:r>
            <a:endParaRPr b="0" i="0" sz="1400" u="none" cap="none" strike="noStrike">
              <a:solidFill>
                <a:srgbClr val="BFBFB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Grouped Query Attention</a:t>
            </a:r>
            <a:r>
              <a:rPr baseline="30000" lang="en"/>
              <a:t>1</a:t>
            </a:r>
            <a:endParaRPr baseline="30000"/>
          </a:p>
        </p:txBody>
      </p:sp>
      <p:sp>
        <p:nvSpPr>
          <p:cNvPr id="331" name="Google Shape;33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32" name="Google Shape;332;p40"/>
          <p:cNvSpPr/>
          <p:nvPr/>
        </p:nvSpPr>
        <p:spPr>
          <a:xfrm>
            <a:off x="1247890" y="1775459"/>
            <a:ext cx="6772483" cy="1152128"/>
          </a:xfrm>
          <a:prstGeom prst="rect">
            <a:avLst/>
          </a:prstGeom>
          <a:no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3" name="Google Shape;333;p40"/>
          <p:cNvSpPr txBox="1"/>
          <p:nvPr/>
        </p:nvSpPr>
        <p:spPr>
          <a:xfrm>
            <a:off x="203774" y="2033603"/>
            <a:ext cx="93610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GPU </a:t>
            </a:r>
            <a:endParaRPr/>
          </a:p>
          <a:p>
            <a:pPr indent="0" lvl="0" marL="0" marR="0" rtl="0" algn="ctr">
              <a:lnSpc>
                <a:spcPct val="100000"/>
              </a:lnSpc>
              <a:spcBef>
                <a:spcPts val="0"/>
              </a:spcBef>
              <a:spcAft>
                <a:spcPts val="0"/>
              </a:spcAft>
              <a:buNone/>
            </a:pPr>
            <a:r>
              <a:rPr b="0" i="0" lang="en" sz="1600" u="none" cap="none" strike="noStrike">
                <a:solidFill>
                  <a:srgbClr val="000000"/>
                </a:solidFill>
                <a:latin typeface="Arial"/>
                <a:ea typeface="Arial"/>
                <a:cs typeface="Arial"/>
                <a:sym typeface="Arial"/>
              </a:rPr>
              <a:t>memory</a:t>
            </a:r>
            <a:endParaRPr b="0" i="0" sz="1600" u="none" cap="none" strike="noStrike">
              <a:solidFill>
                <a:srgbClr val="000000"/>
              </a:solidFill>
              <a:latin typeface="Arial"/>
              <a:ea typeface="Arial"/>
              <a:cs typeface="Arial"/>
              <a:sym typeface="Arial"/>
            </a:endParaRPr>
          </a:p>
        </p:txBody>
      </p:sp>
      <p:sp>
        <p:nvSpPr>
          <p:cNvPr id="334" name="Google Shape;334;p40"/>
          <p:cNvSpPr/>
          <p:nvPr/>
        </p:nvSpPr>
        <p:spPr>
          <a:xfrm>
            <a:off x="1249439" y="1775457"/>
            <a:ext cx="1656184" cy="1152128"/>
          </a:xfrm>
          <a:prstGeom prst="rect">
            <a:avLst/>
          </a:prstGeom>
          <a:solidFill>
            <a:srgbClr val="9392BE"/>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Weight</a:t>
            </a:r>
            <a:endParaRPr b="0" i="0" sz="1400" u="none" cap="none" strike="noStrike">
              <a:solidFill>
                <a:schemeClr val="dk1"/>
              </a:solidFill>
              <a:latin typeface="Arial"/>
              <a:ea typeface="Arial"/>
              <a:cs typeface="Arial"/>
              <a:sym typeface="Arial"/>
            </a:endParaRPr>
          </a:p>
        </p:txBody>
      </p:sp>
      <p:sp>
        <p:nvSpPr>
          <p:cNvPr id="335" name="Google Shape;335;p40"/>
          <p:cNvSpPr/>
          <p:nvPr/>
        </p:nvSpPr>
        <p:spPr>
          <a:xfrm>
            <a:off x="2905623" y="1775458"/>
            <a:ext cx="574515" cy="1152128"/>
          </a:xfrm>
          <a:prstGeom prst="rect">
            <a:avLst/>
          </a:prstGeom>
          <a:solidFill>
            <a:srgbClr val="D0E7E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050" u="none" cap="none" strike="noStrike">
                <a:solidFill>
                  <a:schemeClr val="dk1"/>
                </a:solidFill>
                <a:latin typeface="Arial"/>
                <a:ea typeface="Arial"/>
                <a:cs typeface="Arial"/>
                <a:sym typeface="Arial"/>
              </a:rPr>
              <a:t>Input</a:t>
            </a:r>
            <a:endParaRPr b="0" i="0" sz="1050" u="none" cap="none" strike="noStrike">
              <a:solidFill>
                <a:schemeClr val="dk1"/>
              </a:solidFill>
              <a:latin typeface="Arial"/>
              <a:ea typeface="Arial"/>
              <a:cs typeface="Arial"/>
              <a:sym typeface="Arial"/>
            </a:endParaRPr>
          </a:p>
        </p:txBody>
      </p:sp>
      <p:sp>
        <p:nvSpPr>
          <p:cNvPr id="336" name="Google Shape;336;p40"/>
          <p:cNvSpPr/>
          <p:nvPr/>
        </p:nvSpPr>
        <p:spPr>
          <a:xfrm>
            <a:off x="3480138" y="1775459"/>
            <a:ext cx="4540235" cy="1152128"/>
          </a:xfrm>
          <a:prstGeom prst="rect">
            <a:avLst/>
          </a:prstGeom>
          <a:solidFill>
            <a:srgbClr val="D5E4A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KV cache</a:t>
            </a:r>
            <a:endParaRPr b="0" i="0" sz="1400" u="none" cap="none" strike="noStrike">
              <a:solidFill>
                <a:schemeClr val="dk1"/>
              </a:solidFill>
              <a:latin typeface="Arial"/>
              <a:ea typeface="Arial"/>
              <a:cs typeface="Arial"/>
              <a:sym typeface="Arial"/>
            </a:endParaRPr>
          </a:p>
        </p:txBody>
      </p:sp>
      <p:sp>
        <p:nvSpPr>
          <p:cNvPr id="337" name="Google Shape;337;p40"/>
          <p:cNvSpPr/>
          <p:nvPr/>
        </p:nvSpPr>
        <p:spPr>
          <a:xfrm>
            <a:off x="3517550"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8" name="Google Shape;338;p40"/>
          <p:cNvSpPr txBox="1"/>
          <p:nvPr/>
        </p:nvSpPr>
        <p:spPr>
          <a:xfrm>
            <a:off x="3096250" y="1218795"/>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1</a:t>
            </a:r>
            <a:endParaRPr/>
          </a:p>
        </p:txBody>
      </p:sp>
      <p:sp>
        <p:nvSpPr>
          <p:cNvPr id="339" name="Google Shape;339;p40"/>
          <p:cNvSpPr/>
          <p:nvPr/>
        </p:nvSpPr>
        <p:spPr>
          <a:xfrm>
            <a:off x="3704000"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0" name="Google Shape;340;p40"/>
          <p:cNvSpPr txBox="1"/>
          <p:nvPr/>
        </p:nvSpPr>
        <p:spPr>
          <a:xfrm>
            <a:off x="3298198" y="1217489"/>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2</a:t>
            </a:r>
            <a:endParaRPr/>
          </a:p>
        </p:txBody>
      </p:sp>
      <p:sp>
        <p:nvSpPr>
          <p:cNvPr id="341" name="Google Shape;341;p40"/>
          <p:cNvSpPr/>
          <p:nvPr/>
        </p:nvSpPr>
        <p:spPr>
          <a:xfrm>
            <a:off x="3890953"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2" name="Google Shape;342;p40"/>
          <p:cNvSpPr txBox="1"/>
          <p:nvPr/>
        </p:nvSpPr>
        <p:spPr>
          <a:xfrm>
            <a:off x="3485151" y="1218283"/>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3</a:t>
            </a:r>
            <a:endParaRPr/>
          </a:p>
        </p:txBody>
      </p:sp>
      <p:sp>
        <p:nvSpPr>
          <p:cNvPr id="343" name="Google Shape;343;p40"/>
          <p:cNvSpPr/>
          <p:nvPr/>
        </p:nvSpPr>
        <p:spPr>
          <a:xfrm>
            <a:off x="4077403"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4" name="Google Shape;344;p40"/>
          <p:cNvSpPr txBox="1"/>
          <p:nvPr/>
        </p:nvSpPr>
        <p:spPr>
          <a:xfrm>
            <a:off x="3671601" y="1216977"/>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4</a:t>
            </a:r>
            <a:endParaRPr/>
          </a:p>
        </p:txBody>
      </p:sp>
      <p:sp>
        <p:nvSpPr>
          <p:cNvPr id="345" name="Google Shape;345;p40"/>
          <p:cNvSpPr/>
          <p:nvPr/>
        </p:nvSpPr>
        <p:spPr>
          <a:xfrm>
            <a:off x="4265698" y="182503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6" name="Google Shape;346;p40"/>
          <p:cNvSpPr/>
          <p:nvPr/>
        </p:nvSpPr>
        <p:spPr>
          <a:xfrm>
            <a:off x="4452148" y="182372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7" name="Google Shape;347;p40"/>
          <p:cNvSpPr/>
          <p:nvPr/>
        </p:nvSpPr>
        <p:spPr>
          <a:xfrm>
            <a:off x="4639101"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8" name="Google Shape;348;p40"/>
          <p:cNvSpPr/>
          <p:nvPr/>
        </p:nvSpPr>
        <p:spPr>
          <a:xfrm>
            <a:off x="4825551"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9" name="Google Shape;349;p40"/>
          <p:cNvSpPr/>
          <p:nvPr/>
        </p:nvSpPr>
        <p:spPr>
          <a:xfrm>
            <a:off x="5012687"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0" name="Google Shape;350;p40"/>
          <p:cNvSpPr/>
          <p:nvPr/>
        </p:nvSpPr>
        <p:spPr>
          <a:xfrm>
            <a:off x="5199137"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1" name="Google Shape;351;p40"/>
          <p:cNvSpPr/>
          <p:nvPr/>
        </p:nvSpPr>
        <p:spPr>
          <a:xfrm>
            <a:off x="5386090"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2" name="Google Shape;352;p40"/>
          <p:cNvSpPr/>
          <p:nvPr/>
        </p:nvSpPr>
        <p:spPr>
          <a:xfrm>
            <a:off x="5572540"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3" name="Google Shape;353;p40"/>
          <p:cNvSpPr/>
          <p:nvPr/>
        </p:nvSpPr>
        <p:spPr>
          <a:xfrm>
            <a:off x="5760835" y="182503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4" name="Google Shape;354;p40"/>
          <p:cNvSpPr/>
          <p:nvPr/>
        </p:nvSpPr>
        <p:spPr>
          <a:xfrm>
            <a:off x="5947285" y="182372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5" name="Google Shape;355;p40"/>
          <p:cNvSpPr/>
          <p:nvPr/>
        </p:nvSpPr>
        <p:spPr>
          <a:xfrm>
            <a:off x="6134238"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6" name="Google Shape;356;p40"/>
          <p:cNvSpPr/>
          <p:nvPr/>
        </p:nvSpPr>
        <p:spPr>
          <a:xfrm>
            <a:off x="6320688"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7" name="Google Shape;357;p40"/>
          <p:cNvSpPr/>
          <p:nvPr/>
        </p:nvSpPr>
        <p:spPr>
          <a:xfrm>
            <a:off x="6505979"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8" name="Google Shape;358;p40"/>
          <p:cNvSpPr/>
          <p:nvPr/>
        </p:nvSpPr>
        <p:spPr>
          <a:xfrm>
            <a:off x="6692429"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59" name="Google Shape;359;p40"/>
          <p:cNvSpPr/>
          <p:nvPr/>
        </p:nvSpPr>
        <p:spPr>
          <a:xfrm>
            <a:off x="6879382" y="1823495"/>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0" name="Google Shape;360;p40"/>
          <p:cNvSpPr/>
          <p:nvPr/>
        </p:nvSpPr>
        <p:spPr>
          <a:xfrm>
            <a:off x="7065832" y="182218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1" name="Google Shape;361;p40"/>
          <p:cNvSpPr/>
          <p:nvPr/>
        </p:nvSpPr>
        <p:spPr>
          <a:xfrm>
            <a:off x="7254127" y="1824519"/>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2" name="Google Shape;362;p40"/>
          <p:cNvSpPr/>
          <p:nvPr/>
        </p:nvSpPr>
        <p:spPr>
          <a:xfrm>
            <a:off x="7440577" y="1823213"/>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3" name="Google Shape;363;p40"/>
          <p:cNvSpPr/>
          <p:nvPr/>
        </p:nvSpPr>
        <p:spPr>
          <a:xfrm>
            <a:off x="7627530" y="1824007"/>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4" name="Google Shape;364;p40"/>
          <p:cNvSpPr/>
          <p:nvPr/>
        </p:nvSpPr>
        <p:spPr>
          <a:xfrm>
            <a:off x="7813980" y="1822701"/>
            <a:ext cx="142561" cy="1054004"/>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5" name="Google Shape;365;p40"/>
          <p:cNvSpPr txBox="1"/>
          <p:nvPr/>
        </p:nvSpPr>
        <p:spPr>
          <a:xfrm>
            <a:off x="7694342" y="1437112"/>
            <a:ext cx="4010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N</a:t>
            </a:r>
            <a:endParaRPr/>
          </a:p>
        </p:txBody>
      </p:sp>
      <p:sp>
        <p:nvSpPr>
          <p:cNvPr id="366" name="Google Shape;366;p40"/>
          <p:cNvSpPr/>
          <p:nvPr/>
        </p:nvSpPr>
        <p:spPr>
          <a:xfrm>
            <a:off x="3119496" y="1223932"/>
            <a:ext cx="941689" cy="308571"/>
          </a:xfrm>
          <a:prstGeom prst="rect">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67" name="Google Shape;367;p40"/>
          <p:cNvCxnSpPr>
            <a:stCxn id="366" idx="2"/>
            <a:endCxn id="337" idx="0"/>
          </p:cNvCxnSpPr>
          <p:nvPr/>
        </p:nvCxnSpPr>
        <p:spPr>
          <a:xfrm flipH="1">
            <a:off x="3588841" y="1532503"/>
            <a:ext cx="1500" cy="291900"/>
          </a:xfrm>
          <a:prstGeom prst="straightConnector1">
            <a:avLst/>
          </a:prstGeom>
          <a:noFill/>
          <a:ln cap="flat" cmpd="sng" w="25400">
            <a:solidFill>
              <a:schemeClr val="dk1"/>
            </a:solidFill>
            <a:prstDash val="solid"/>
            <a:round/>
            <a:headEnd len="sm" w="sm" type="none"/>
            <a:tailEnd len="sm" w="sm" type="none"/>
          </a:ln>
        </p:spPr>
      </p:cxnSp>
      <p:grpSp>
        <p:nvGrpSpPr>
          <p:cNvPr id="368" name="Google Shape;368;p40"/>
          <p:cNvGrpSpPr/>
          <p:nvPr/>
        </p:nvGrpSpPr>
        <p:grpSpPr>
          <a:xfrm>
            <a:off x="4099715" y="916155"/>
            <a:ext cx="1432814" cy="431464"/>
            <a:chOff x="4099715" y="916155"/>
            <a:chExt cx="1432814" cy="431464"/>
          </a:xfrm>
        </p:grpSpPr>
        <p:cxnSp>
          <p:nvCxnSpPr>
            <p:cNvPr id="369" name="Google Shape;369;p40"/>
            <p:cNvCxnSpPr/>
            <p:nvPr/>
          </p:nvCxnSpPr>
          <p:spPr>
            <a:xfrm flipH="1" rot="10800000">
              <a:off x="4099715" y="1084004"/>
              <a:ext cx="236294" cy="263615"/>
            </a:xfrm>
            <a:prstGeom prst="straightConnector1">
              <a:avLst/>
            </a:prstGeom>
            <a:noFill/>
            <a:ln cap="flat" cmpd="sng" w="9525">
              <a:solidFill>
                <a:srgbClr val="3B7FF2"/>
              </a:solidFill>
              <a:prstDash val="solid"/>
              <a:round/>
              <a:headEnd len="sm" w="sm" type="none"/>
              <a:tailEnd len="sm" w="sm" type="none"/>
            </a:ln>
          </p:spPr>
        </p:cxnSp>
        <p:sp>
          <p:nvSpPr>
            <p:cNvPr id="370" name="Google Shape;370;p40"/>
            <p:cNvSpPr txBox="1"/>
            <p:nvPr/>
          </p:nvSpPr>
          <p:spPr>
            <a:xfrm>
              <a:off x="4283469" y="916155"/>
              <a:ext cx="124906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C00000"/>
                  </a:solidFill>
                  <a:latin typeface="Arial"/>
                  <a:ea typeface="Arial"/>
                  <a:cs typeface="Arial"/>
                  <a:sym typeface="Arial"/>
                </a:rPr>
                <a:t>Group size: </a:t>
              </a:r>
              <a:r>
                <a:rPr b="0" i="0" lang="en" sz="1400" u="none" cap="none" strike="noStrike">
                  <a:solidFill>
                    <a:schemeClr val="dk1"/>
                  </a:solidFill>
                  <a:latin typeface="Arial"/>
                  <a:ea typeface="Arial"/>
                  <a:cs typeface="Arial"/>
                  <a:sym typeface="Arial"/>
                </a:rPr>
                <a:t>4</a:t>
              </a:r>
              <a:endParaRPr b="0" baseline="-25000" i="0" sz="1400" u="none" cap="none" strike="noStrike">
                <a:solidFill>
                  <a:schemeClr val="dk1"/>
                </a:solidFill>
                <a:latin typeface="Arial"/>
                <a:ea typeface="Arial"/>
                <a:cs typeface="Arial"/>
                <a:sym typeface="Arial"/>
              </a:endParaRPr>
            </a:p>
          </p:txBody>
        </p:sp>
      </p:grpSp>
      <p:sp>
        <p:nvSpPr>
          <p:cNvPr id="371" name="Google Shape;371;p40"/>
          <p:cNvSpPr/>
          <p:nvPr/>
        </p:nvSpPr>
        <p:spPr>
          <a:xfrm>
            <a:off x="-87682" y="3887145"/>
            <a:ext cx="9319231" cy="680400"/>
          </a:xfrm>
          <a:prstGeom prst="roundRect">
            <a:avLst>
              <a:gd fmla="val 0" name="adj"/>
            </a:avLst>
          </a:prstGeom>
          <a:solidFill>
            <a:srgbClr val="33007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 sz="1800" u="none" cap="none" strike="noStrike">
                <a:solidFill>
                  <a:schemeClr val="lt1"/>
                </a:solidFill>
                <a:latin typeface="Arial"/>
                <a:ea typeface="Arial"/>
                <a:cs typeface="Arial"/>
                <a:sym typeface="Arial"/>
              </a:rPr>
              <a:t>GQA allows increasing the batch size by a factor of the group size</a:t>
            </a:r>
            <a:endParaRPr b="0" i="0" sz="1800" u="none" cap="none" strike="noStrike">
              <a:solidFill>
                <a:schemeClr val="lt1"/>
              </a:solidFill>
              <a:latin typeface="Arial"/>
              <a:ea typeface="Arial"/>
              <a:cs typeface="Arial"/>
              <a:sym typeface="Arial"/>
            </a:endParaRPr>
          </a:p>
        </p:txBody>
      </p:sp>
      <p:grpSp>
        <p:nvGrpSpPr>
          <p:cNvPr id="372" name="Google Shape;372;p40"/>
          <p:cNvGrpSpPr/>
          <p:nvPr/>
        </p:nvGrpSpPr>
        <p:grpSpPr>
          <a:xfrm>
            <a:off x="7636397" y="881256"/>
            <a:ext cx="788542" cy="882405"/>
            <a:chOff x="7636397" y="881256"/>
            <a:chExt cx="788542" cy="882405"/>
          </a:xfrm>
        </p:grpSpPr>
        <p:sp>
          <p:nvSpPr>
            <p:cNvPr id="373" name="Google Shape;373;p40"/>
            <p:cNvSpPr txBox="1"/>
            <p:nvPr/>
          </p:nvSpPr>
          <p:spPr>
            <a:xfrm>
              <a:off x="7636397" y="1301996"/>
              <a:ext cx="38985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400" u="none" cap="none" strike="noStrike">
                  <a:solidFill>
                    <a:srgbClr val="C00000"/>
                  </a:solidFill>
                  <a:latin typeface="Arial"/>
                  <a:ea typeface="Arial"/>
                  <a:cs typeface="Arial"/>
                  <a:sym typeface="Arial"/>
                </a:rPr>
                <a:t>X</a:t>
              </a:r>
              <a:endParaRPr/>
            </a:p>
          </p:txBody>
        </p:sp>
        <p:cxnSp>
          <p:nvCxnSpPr>
            <p:cNvPr id="374" name="Google Shape;374;p40"/>
            <p:cNvCxnSpPr/>
            <p:nvPr/>
          </p:nvCxnSpPr>
          <p:spPr>
            <a:xfrm flipH="1" rot="10800000">
              <a:off x="7853717" y="1152498"/>
              <a:ext cx="236294" cy="263615"/>
            </a:xfrm>
            <a:prstGeom prst="straightConnector1">
              <a:avLst/>
            </a:prstGeom>
            <a:noFill/>
            <a:ln cap="flat" cmpd="sng" w="9525">
              <a:solidFill>
                <a:srgbClr val="3B7FF2"/>
              </a:solidFill>
              <a:prstDash val="solid"/>
              <a:round/>
              <a:headEnd len="sm" w="sm" type="none"/>
              <a:tailEnd len="sm" w="sm" type="none"/>
            </a:ln>
          </p:spPr>
        </p:cxnSp>
        <p:sp>
          <p:nvSpPr>
            <p:cNvPr id="375" name="Google Shape;375;p40"/>
            <p:cNvSpPr txBox="1"/>
            <p:nvPr/>
          </p:nvSpPr>
          <p:spPr>
            <a:xfrm>
              <a:off x="7956541" y="881256"/>
              <a:ext cx="46839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a:t>
              </a:r>
              <a:r>
                <a:rPr b="0" baseline="-25000" i="0" lang="en" sz="1400" u="none" cap="none" strike="noStrike">
                  <a:solidFill>
                    <a:srgbClr val="000000"/>
                  </a:solidFill>
                  <a:latin typeface="Arial"/>
                  <a:ea typeface="Arial"/>
                  <a:cs typeface="Arial"/>
                  <a:sym typeface="Arial"/>
                </a:rPr>
                <a:t>4N</a:t>
              </a:r>
              <a:endParaRPr/>
            </a:p>
          </p:txBody>
        </p:sp>
      </p:grpSp>
      <p:sp>
        <p:nvSpPr>
          <p:cNvPr id="376" name="Google Shape;376;p40"/>
          <p:cNvSpPr txBox="1"/>
          <p:nvPr/>
        </p:nvSpPr>
        <p:spPr>
          <a:xfrm>
            <a:off x="171482" y="4565968"/>
            <a:ext cx="85206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BFBFBF"/>
                </a:solidFill>
                <a:latin typeface="Arial"/>
                <a:ea typeface="Arial"/>
                <a:cs typeface="Arial"/>
                <a:sym typeface="Arial"/>
              </a:rPr>
              <a:t>[1] GQA: Training Generalized Multi-Query Transformer Models from Multi-Head Checkpoints Joshua Ainslie, James Lee-Thorp, Michiel de Jong, Yury Zemlyanskiy, Federico Lebrón, Sumit Sanghai</a:t>
            </a:r>
            <a:endParaRPr b="0" i="0" sz="1400" u="none" cap="none" strike="noStrike">
              <a:solidFill>
                <a:srgbClr val="BFBFB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RMSNorm</a:t>
            </a:r>
            <a:endParaRPr/>
          </a:p>
        </p:txBody>
      </p:sp>
      <p:sp>
        <p:nvSpPr>
          <p:cNvPr id="382" name="Google Shape;382;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descr="A black background with white text&#10;&#10;AI-generated content may be incorrect." id="383" name="Google Shape;383;p41"/>
          <p:cNvPicPr preferRelativeResize="0"/>
          <p:nvPr/>
        </p:nvPicPr>
        <p:blipFill rotWithShape="1">
          <a:blip r:embed="rId3">
            <a:alphaModFix/>
          </a:blip>
          <a:srcRect b="0" l="0" r="0" t="0"/>
          <a:stretch/>
        </p:blipFill>
        <p:spPr>
          <a:xfrm>
            <a:off x="685800" y="1108266"/>
            <a:ext cx="7772400" cy="346441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Compute sub-components of QKV for each head</a:t>
            </a:r>
            <a:endParaRPr/>
          </a:p>
        </p:txBody>
      </p:sp>
      <p:sp>
        <p:nvSpPr>
          <p:cNvPr id="389" name="Google Shape;389;p42"/>
          <p:cNvSpPr txBox="1"/>
          <p:nvPr/>
        </p:nvSpPr>
        <p:spPr>
          <a:xfrm>
            <a:off x="407025" y="1328759"/>
            <a:ext cx="349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(seq_len, num_qo_heads * head_dim)</a:t>
            </a:r>
            <a:endParaRPr/>
          </a:p>
        </p:txBody>
      </p:sp>
      <p:cxnSp>
        <p:nvCxnSpPr>
          <p:cNvPr id="390" name="Google Shape;390;p42"/>
          <p:cNvCxnSpPr/>
          <p:nvPr/>
        </p:nvCxnSpPr>
        <p:spPr>
          <a:xfrm>
            <a:off x="4026225" y="1548234"/>
            <a:ext cx="1021500" cy="0"/>
          </a:xfrm>
          <a:prstGeom prst="straightConnector1">
            <a:avLst/>
          </a:prstGeom>
          <a:noFill/>
          <a:ln cap="flat" cmpd="sng" w="9525">
            <a:solidFill>
              <a:schemeClr val="dk2"/>
            </a:solidFill>
            <a:prstDash val="solid"/>
            <a:round/>
            <a:headEnd len="med" w="med" type="none"/>
            <a:tailEnd len="med" w="med" type="triangle"/>
          </a:ln>
        </p:spPr>
      </p:cxnSp>
      <p:sp>
        <p:nvSpPr>
          <p:cNvPr id="391" name="Google Shape;391;p42"/>
          <p:cNvSpPr txBox="1"/>
          <p:nvPr/>
        </p:nvSpPr>
        <p:spPr>
          <a:xfrm>
            <a:off x="5299900" y="1328183"/>
            <a:ext cx="349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(seq_len, num_qo_heads, head_dim)</a:t>
            </a:r>
            <a:endParaRPr/>
          </a:p>
        </p:txBody>
      </p:sp>
      <p:sp>
        <p:nvSpPr>
          <p:cNvPr id="392" name="Google Shape;392;p42"/>
          <p:cNvSpPr txBox="1"/>
          <p:nvPr>
            <p:ph type="title"/>
          </p:nvPr>
        </p:nvSpPr>
        <p:spPr>
          <a:xfrm>
            <a:off x="407025" y="2572611"/>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Rearrange Q and K so we can do QK</a:t>
            </a:r>
            <a:r>
              <a:rPr baseline="30000" lang="en"/>
              <a:t>T </a:t>
            </a:r>
            <a:r>
              <a:rPr lang="en"/>
              <a:t>for each head</a:t>
            </a:r>
            <a:endParaRPr baseline="30000"/>
          </a:p>
        </p:txBody>
      </p:sp>
      <p:sp>
        <p:nvSpPr>
          <p:cNvPr id="393" name="Google Shape;393;p42"/>
          <p:cNvSpPr txBox="1"/>
          <p:nvPr/>
        </p:nvSpPr>
        <p:spPr>
          <a:xfrm>
            <a:off x="4203331" y="1113450"/>
            <a:ext cx="65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view</a:t>
            </a:r>
            <a:endParaRPr/>
          </a:p>
        </p:txBody>
      </p:sp>
      <p:sp>
        <p:nvSpPr>
          <p:cNvPr id="394" name="Google Shape;394;p42"/>
          <p:cNvSpPr txBox="1"/>
          <p:nvPr/>
        </p:nvSpPr>
        <p:spPr>
          <a:xfrm>
            <a:off x="2535975" y="1805326"/>
            <a:ext cx="40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rPr>
              <a:t>View reshapes without changing axis order</a:t>
            </a:r>
            <a:endParaRPr b="1">
              <a:solidFill>
                <a:srgbClr val="FF0000"/>
              </a:solidFill>
            </a:endParaRPr>
          </a:p>
        </p:txBody>
      </p:sp>
      <p:cxnSp>
        <p:nvCxnSpPr>
          <p:cNvPr id="395" name="Google Shape;395;p42"/>
          <p:cNvCxnSpPr/>
          <p:nvPr/>
        </p:nvCxnSpPr>
        <p:spPr>
          <a:xfrm flipH="1" rot="10800000">
            <a:off x="-900" y="2371067"/>
            <a:ext cx="9145800" cy="36000"/>
          </a:xfrm>
          <a:prstGeom prst="straightConnector1">
            <a:avLst/>
          </a:prstGeom>
          <a:noFill/>
          <a:ln cap="flat" cmpd="sng" w="9525">
            <a:solidFill>
              <a:schemeClr val="dk2"/>
            </a:solidFill>
            <a:prstDash val="solid"/>
            <a:round/>
            <a:headEnd len="med" w="med" type="none"/>
            <a:tailEnd len="med" w="med" type="none"/>
          </a:ln>
        </p:spPr>
      </p:cxnSp>
      <p:sp>
        <p:nvSpPr>
          <p:cNvPr id="396" name="Google Shape;396;p42"/>
          <p:cNvSpPr txBox="1"/>
          <p:nvPr/>
        </p:nvSpPr>
        <p:spPr>
          <a:xfrm>
            <a:off x="5478679" y="3276956"/>
            <a:ext cx="316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(num_qo_heads, seq_len, head_dim)</a:t>
            </a:r>
            <a:endParaRPr/>
          </a:p>
        </p:txBody>
      </p:sp>
      <p:cxnSp>
        <p:nvCxnSpPr>
          <p:cNvPr id="397" name="Google Shape;397;p42"/>
          <p:cNvCxnSpPr/>
          <p:nvPr/>
        </p:nvCxnSpPr>
        <p:spPr>
          <a:xfrm>
            <a:off x="4117990" y="3548240"/>
            <a:ext cx="1021500" cy="0"/>
          </a:xfrm>
          <a:prstGeom prst="straightConnector1">
            <a:avLst/>
          </a:prstGeom>
          <a:noFill/>
          <a:ln cap="flat" cmpd="sng" w="9525">
            <a:solidFill>
              <a:schemeClr val="dk2"/>
            </a:solidFill>
            <a:prstDash val="solid"/>
            <a:round/>
            <a:headEnd len="med" w="med" type="none"/>
            <a:tailEnd len="med" w="med" type="triangle"/>
          </a:ln>
        </p:spPr>
      </p:cxnSp>
      <p:sp>
        <p:nvSpPr>
          <p:cNvPr id="398" name="Google Shape;398;p42"/>
          <p:cNvSpPr txBox="1"/>
          <p:nvPr/>
        </p:nvSpPr>
        <p:spPr>
          <a:xfrm>
            <a:off x="4190901" y="3113454"/>
            <a:ext cx="87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permute</a:t>
            </a:r>
            <a:endParaRPr/>
          </a:p>
        </p:txBody>
      </p:sp>
      <p:sp>
        <p:nvSpPr>
          <p:cNvPr id="399" name="Google Shape;399;p42"/>
          <p:cNvSpPr txBox="1"/>
          <p:nvPr/>
        </p:nvSpPr>
        <p:spPr>
          <a:xfrm>
            <a:off x="526725" y="3312137"/>
            <a:ext cx="349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(seq_len, num_qo_heads, head_dim)</a:t>
            </a:r>
            <a:endParaRPr/>
          </a:p>
        </p:txBody>
      </p:sp>
      <p:sp>
        <p:nvSpPr>
          <p:cNvPr id="400" name="Google Shape;400;p42"/>
          <p:cNvSpPr txBox="1"/>
          <p:nvPr/>
        </p:nvSpPr>
        <p:spPr>
          <a:xfrm>
            <a:off x="1368675" y="3879154"/>
            <a:ext cx="633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rPr>
              <a:t>Permute</a:t>
            </a:r>
            <a:r>
              <a:rPr b="1" lang="en">
                <a:solidFill>
                  <a:srgbClr val="FF0000"/>
                </a:solidFill>
              </a:rPr>
              <a:t> reorders axes because attention scores are computed per head</a:t>
            </a:r>
            <a:endParaRPr b="1">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06" name="Google Shape;406;p43"/>
          <p:cNvSpPr txBox="1"/>
          <p:nvPr/>
        </p:nvSpPr>
        <p:spPr>
          <a:xfrm>
            <a:off x="5144717" y="2134068"/>
            <a:ext cx="60785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C00000"/>
                </a:solidFill>
                <a:latin typeface="Arial"/>
                <a:ea typeface="Arial"/>
                <a:cs typeface="Arial"/>
                <a:sym typeface="Arial"/>
              </a:rPr>
              <a:t>Key</a:t>
            </a:r>
            <a:endParaRPr/>
          </a:p>
        </p:txBody>
      </p:sp>
      <p:sp>
        <p:nvSpPr>
          <p:cNvPr id="407" name="Google Shape;407;p43"/>
          <p:cNvSpPr txBox="1"/>
          <p:nvPr/>
        </p:nvSpPr>
        <p:spPr>
          <a:xfrm>
            <a:off x="4282738" y="2134068"/>
            <a:ext cx="8515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C00000"/>
                </a:solidFill>
                <a:latin typeface="Arial"/>
                <a:ea typeface="Arial"/>
                <a:cs typeface="Arial"/>
                <a:sym typeface="Arial"/>
              </a:rPr>
              <a:t>Query</a:t>
            </a:r>
            <a:endParaRPr/>
          </a:p>
        </p:txBody>
      </p:sp>
      <p:sp>
        <p:nvSpPr>
          <p:cNvPr id="408" name="Google Shape;408;p43"/>
          <p:cNvSpPr txBox="1"/>
          <p:nvPr/>
        </p:nvSpPr>
        <p:spPr>
          <a:xfrm>
            <a:off x="5662984" y="1991884"/>
            <a:ext cx="3257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C00000"/>
                </a:solidFill>
                <a:latin typeface="Arial"/>
                <a:ea typeface="Arial"/>
                <a:cs typeface="Arial"/>
                <a:sym typeface="Arial"/>
              </a:rPr>
              <a:t>T</a:t>
            </a:r>
            <a:endParaRPr/>
          </a:p>
        </p:txBody>
      </p:sp>
      <p:grpSp>
        <p:nvGrpSpPr>
          <p:cNvPr id="409" name="Google Shape;409;p43"/>
          <p:cNvGrpSpPr/>
          <p:nvPr/>
        </p:nvGrpSpPr>
        <p:grpSpPr>
          <a:xfrm>
            <a:off x="4021128" y="2260371"/>
            <a:ext cx="2746004" cy="369332"/>
            <a:chOff x="3170228" y="2254021"/>
            <a:chExt cx="2746004" cy="369332"/>
          </a:xfrm>
        </p:grpSpPr>
        <p:sp>
          <p:nvSpPr>
            <p:cNvPr id="410" name="Google Shape;410;p43"/>
            <p:cNvSpPr txBox="1"/>
            <p:nvPr/>
          </p:nvSpPr>
          <p:spPr>
            <a:xfrm>
              <a:off x="4974949" y="2254021"/>
              <a:ext cx="94128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C00000"/>
                  </a:solidFill>
                  <a:latin typeface="Arial"/>
                  <a:ea typeface="Arial"/>
                  <a:cs typeface="Arial"/>
                  <a:sym typeface="Arial"/>
                </a:rPr>
                <a:t>) Value</a:t>
              </a:r>
              <a:endParaRPr/>
            </a:p>
          </p:txBody>
        </p:sp>
        <p:sp>
          <p:nvSpPr>
            <p:cNvPr id="411" name="Google Shape;411;p43"/>
            <p:cNvSpPr txBox="1"/>
            <p:nvPr/>
          </p:nvSpPr>
          <p:spPr>
            <a:xfrm>
              <a:off x="3170228" y="2254021"/>
              <a:ext cx="2616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C00000"/>
                  </a:solidFill>
                  <a:latin typeface="Arial"/>
                  <a:ea typeface="Arial"/>
                  <a:cs typeface="Arial"/>
                  <a:sym typeface="Arial"/>
                </a:rPr>
                <a:t>(</a:t>
              </a:r>
              <a:endParaRPr/>
            </a:p>
          </p:txBody>
        </p:sp>
      </p:grpSp>
      <p:sp>
        <p:nvSpPr>
          <p:cNvPr id="412" name="Google Shape;412;p43"/>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2420" u="none" cap="none" strike="noStrike">
                <a:solidFill>
                  <a:srgbClr val="000000"/>
                </a:solidFill>
                <a:latin typeface="Arial"/>
                <a:ea typeface="Arial"/>
                <a:cs typeface="Arial"/>
                <a:sym typeface="Arial"/>
              </a:rPr>
              <a:t>Self-Attention</a:t>
            </a:r>
            <a:endParaRPr/>
          </a:p>
        </p:txBody>
      </p:sp>
      <p:sp>
        <p:nvSpPr>
          <p:cNvPr id="413" name="Google Shape;413;p43"/>
          <p:cNvSpPr txBox="1"/>
          <p:nvPr/>
        </p:nvSpPr>
        <p:spPr>
          <a:xfrm>
            <a:off x="745553" y="2254021"/>
            <a:ext cx="24352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chemeClr val="dk1"/>
                </a:solidFill>
                <a:latin typeface="Arial"/>
                <a:ea typeface="Arial"/>
                <a:cs typeface="Arial"/>
                <a:sym typeface="Arial"/>
              </a:rPr>
              <a:t>Attention (Q,  K, V) =</a:t>
            </a:r>
            <a:endParaRPr/>
          </a:p>
        </p:txBody>
      </p:sp>
      <p:sp>
        <p:nvSpPr>
          <p:cNvPr id="414" name="Google Shape;414;p43"/>
          <p:cNvSpPr txBox="1"/>
          <p:nvPr/>
        </p:nvSpPr>
        <p:spPr>
          <a:xfrm>
            <a:off x="3071747" y="2254021"/>
            <a:ext cx="1066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800" u="none" cap="none" strike="noStrike">
                <a:solidFill>
                  <a:srgbClr val="C00000"/>
                </a:solidFill>
                <a:latin typeface="Arial"/>
                <a:ea typeface="Arial"/>
                <a:cs typeface="Arial"/>
                <a:sym typeface="Arial"/>
              </a:rPr>
              <a:t>softmax</a:t>
            </a:r>
            <a:endParaRPr b="0" i="0" sz="1800" u="none" cap="none" strike="noStrike">
              <a:solidFill>
                <a:srgbClr val="000000"/>
              </a:solidFill>
              <a:latin typeface="Arial"/>
              <a:ea typeface="Arial"/>
              <a:cs typeface="Arial"/>
              <a:sym typeface="Arial"/>
            </a:endParaRPr>
          </a:p>
        </p:txBody>
      </p:sp>
      <p:sp>
        <p:nvSpPr>
          <p:cNvPr id="415" name="Google Shape;415;p43"/>
          <p:cNvSpPr txBox="1"/>
          <p:nvPr/>
        </p:nvSpPr>
        <p:spPr>
          <a:xfrm>
            <a:off x="4708495" y="2503400"/>
            <a:ext cx="10668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2000" u="none" cap="none" strike="noStrike">
                <a:solidFill>
                  <a:srgbClr val="C00000"/>
                </a:solidFill>
                <a:latin typeface="Arial"/>
                <a:ea typeface="Arial"/>
                <a:cs typeface="Arial"/>
                <a:sym typeface="Arial"/>
              </a:rPr>
              <a:t>√d</a:t>
            </a:r>
            <a:r>
              <a:rPr b="1" baseline="-25000" i="0" lang="en" sz="2000" u="none" cap="none" strike="noStrike">
                <a:solidFill>
                  <a:srgbClr val="C00000"/>
                </a:solidFill>
                <a:latin typeface="Arial"/>
                <a:ea typeface="Arial"/>
                <a:cs typeface="Arial"/>
                <a:sym typeface="Arial"/>
              </a:rPr>
              <a:t>k</a:t>
            </a:r>
            <a:endParaRPr b="1" baseline="-25000" i="0" sz="1800" u="none" cap="none" strike="noStrike">
              <a:solidFill>
                <a:srgbClr val="C00000"/>
              </a:solidFill>
              <a:latin typeface="Arial"/>
              <a:ea typeface="Arial"/>
              <a:cs typeface="Arial"/>
              <a:sym typeface="Arial"/>
            </a:endParaRPr>
          </a:p>
        </p:txBody>
      </p:sp>
      <p:cxnSp>
        <p:nvCxnSpPr>
          <p:cNvPr id="416" name="Google Shape;416;p43"/>
          <p:cNvCxnSpPr/>
          <p:nvPr/>
        </p:nvCxnSpPr>
        <p:spPr>
          <a:xfrm>
            <a:off x="4416731" y="2520950"/>
            <a:ext cx="1195453" cy="0"/>
          </a:xfrm>
          <a:prstGeom prst="straightConnector1">
            <a:avLst/>
          </a:prstGeom>
          <a:noFill/>
          <a:ln cap="flat" cmpd="sng" w="25400">
            <a:solidFill>
              <a:srgbClr val="C00000"/>
            </a:solidFill>
            <a:prstDash val="solid"/>
            <a:round/>
            <a:headEnd len="sm" w="sm" type="none"/>
            <a:tailEnd len="sm" w="sm" type="none"/>
          </a:ln>
        </p:spPr>
      </p:cxnSp>
      <p:grpSp>
        <p:nvGrpSpPr>
          <p:cNvPr id="417" name="Google Shape;417;p43"/>
          <p:cNvGrpSpPr/>
          <p:nvPr/>
        </p:nvGrpSpPr>
        <p:grpSpPr>
          <a:xfrm>
            <a:off x="2004368" y="2703498"/>
            <a:ext cx="2016760" cy="1376300"/>
            <a:chOff x="2004368" y="2703498"/>
            <a:chExt cx="2016760" cy="1376300"/>
          </a:xfrm>
        </p:grpSpPr>
        <p:pic>
          <p:nvPicPr>
            <p:cNvPr id="418" name="Google Shape;418;p43"/>
            <p:cNvPicPr preferRelativeResize="0"/>
            <p:nvPr/>
          </p:nvPicPr>
          <p:blipFill rotWithShape="1">
            <a:blip r:embed="rId3">
              <a:alphaModFix/>
            </a:blip>
            <a:srcRect b="0" l="0" r="0" t="0"/>
            <a:stretch/>
          </p:blipFill>
          <p:spPr>
            <a:xfrm>
              <a:off x="2004368" y="3532698"/>
              <a:ext cx="2016760" cy="547100"/>
            </a:xfrm>
            <a:prstGeom prst="rect">
              <a:avLst/>
            </a:prstGeom>
            <a:noFill/>
            <a:ln>
              <a:noFill/>
            </a:ln>
          </p:spPr>
        </p:pic>
        <p:cxnSp>
          <p:nvCxnSpPr>
            <p:cNvPr id="419" name="Google Shape;419;p43"/>
            <p:cNvCxnSpPr>
              <a:stCxn id="418" idx="0"/>
            </p:cNvCxnSpPr>
            <p:nvPr/>
          </p:nvCxnSpPr>
          <p:spPr>
            <a:xfrm flipH="1" rot="10800000">
              <a:off x="3012748" y="2703498"/>
              <a:ext cx="592500" cy="829200"/>
            </a:xfrm>
            <a:prstGeom prst="straightConnector1">
              <a:avLst/>
            </a:prstGeom>
            <a:noFill/>
            <a:ln cap="flat" cmpd="sng" w="12700">
              <a:solidFill>
                <a:schemeClr val="dk1"/>
              </a:solidFill>
              <a:prstDash val="dash"/>
              <a:round/>
              <a:headEnd len="sm" w="sm" type="none"/>
              <a:tailEnd len="sm" w="sm" type="none"/>
            </a:ln>
          </p:spPr>
        </p:cxnSp>
      </p:grpSp>
      <p:sp>
        <p:nvSpPr>
          <p:cNvPr id="420" name="Google Shape;420;p43"/>
          <p:cNvSpPr txBox="1"/>
          <p:nvPr/>
        </p:nvSpPr>
        <p:spPr>
          <a:xfrm>
            <a:off x="5988714" y="3731342"/>
            <a:ext cx="189667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d</a:t>
            </a:r>
            <a:r>
              <a:rPr b="0" baseline="-25000" i="0" lang="en" sz="1400" u="none" cap="none" strike="noStrike">
                <a:solidFill>
                  <a:srgbClr val="000000"/>
                </a:solidFill>
                <a:latin typeface="Arial"/>
                <a:ea typeface="Arial"/>
                <a:cs typeface="Arial"/>
                <a:sym typeface="Arial"/>
              </a:rPr>
              <a:t>k</a:t>
            </a:r>
            <a:r>
              <a:rPr b="0" i="0" lang="en" sz="1400" u="none" cap="none" strike="noStrike">
                <a:solidFill>
                  <a:srgbClr val="000000"/>
                </a:solidFill>
                <a:latin typeface="Arial"/>
                <a:ea typeface="Arial"/>
                <a:cs typeface="Arial"/>
                <a:sym typeface="Arial"/>
              </a:rPr>
              <a:t> is head dimension</a:t>
            </a:r>
            <a:endParaRPr/>
          </a:p>
        </p:txBody>
      </p:sp>
      <p:cxnSp>
        <p:nvCxnSpPr>
          <p:cNvPr id="421" name="Google Shape;421;p43"/>
          <p:cNvCxnSpPr/>
          <p:nvPr/>
        </p:nvCxnSpPr>
        <p:spPr>
          <a:xfrm rot="10800000">
            <a:off x="5036528" y="2872732"/>
            <a:ext cx="738767" cy="747011"/>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graphicFrame>
        <p:nvGraphicFramePr>
          <p:cNvPr id="426" name="Google Shape;426;p44"/>
          <p:cNvGraphicFramePr/>
          <p:nvPr/>
        </p:nvGraphicFramePr>
        <p:xfrm>
          <a:off x="1905412" y="1246916"/>
          <a:ext cx="3000000" cy="3000000"/>
        </p:xfrm>
        <a:graphic>
          <a:graphicData uri="http://schemas.openxmlformats.org/drawingml/2006/table">
            <a:tbl>
              <a:tblPr>
                <a:noFill/>
                <a:tableStyleId>{15155439-83E4-41F6-8512-8A3E43A996AD}</a:tableStyleId>
              </a:tblPr>
              <a:tblGrid>
                <a:gridCol w="986100"/>
                <a:gridCol w="547125"/>
                <a:gridCol w="540750"/>
                <a:gridCol w="572575"/>
                <a:gridCol w="540750"/>
                <a:gridCol w="540750"/>
                <a:gridCol w="521675"/>
                <a:gridCol w="534400"/>
              </a:tblGrid>
              <a:tr h="691750">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u="none" cap="none" strike="noStrike"/>
                        <a:t>A </a:t>
                      </a:r>
                      <a:endParaRPr/>
                    </a:p>
                  </a:txBody>
                  <a:tcPr marT="12125" marB="12125" marR="18200" marL="1820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u="none" cap="none" strike="noStrike"/>
                        <a:t>blue </a:t>
                      </a:r>
                      <a:endParaRPr/>
                    </a:p>
                  </a:txBody>
                  <a:tcPr marT="12125" marB="12125" marR="18200" marL="1820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u="none" cap="none" strike="noStrike"/>
                        <a:t>creature </a:t>
                      </a:r>
                      <a:endParaRPr/>
                    </a:p>
                  </a:txBody>
                  <a:tcPr marT="12125" marB="12125" marR="18200" marL="1820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u="none" cap="none" strike="noStrike"/>
                        <a:t>roamed </a:t>
                      </a:r>
                      <a:endParaRPr/>
                    </a:p>
                  </a:txBody>
                  <a:tcPr marT="12125" marB="12125" marR="18200" marL="1820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100" u="none" cap="none" strike="noStrike"/>
                        <a:t>the </a:t>
                      </a:r>
                      <a:endParaRPr/>
                    </a:p>
                  </a:txBody>
                  <a:tcPr marT="12125" marB="12125" marR="18200" marL="1820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u="none" cap="none" strike="noStrike"/>
                        <a:t>verdant </a:t>
                      </a:r>
                      <a:endParaRPr/>
                    </a:p>
                  </a:txBody>
                  <a:tcPr marT="12125" marB="12125" marR="18200" marL="1820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u="none" cap="none" strike="noStrike"/>
                        <a:t>forest</a:t>
                      </a:r>
                      <a:endParaRPr/>
                    </a:p>
                  </a:txBody>
                  <a:tcPr marT="12125" marB="12125" marR="18200" marL="1820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8700">
                <a:tc>
                  <a:txBody>
                    <a:bodyPr/>
                    <a:lstStyle/>
                    <a:p>
                      <a:pPr indent="0" lvl="0" marL="0" marR="0" rtl="0" algn="l">
                        <a:lnSpc>
                          <a:spcPct val="100000"/>
                        </a:lnSpc>
                        <a:spcBef>
                          <a:spcPts val="0"/>
                        </a:spcBef>
                        <a:spcAft>
                          <a:spcPts val="0"/>
                        </a:spcAft>
                        <a:buNone/>
                      </a:pPr>
                      <a:r>
                        <a:rPr lang="en" sz="1100" u="none" cap="none" strike="noStrike"/>
                        <a:t>A </a:t>
                      </a:r>
                      <a:endParaRPr/>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8350">
                <a:tc>
                  <a:txBody>
                    <a:bodyPr/>
                    <a:lstStyle/>
                    <a:p>
                      <a:pPr indent="0" lvl="0" marL="0" marR="0" rtl="0" algn="l">
                        <a:lnSpc>
                          <a:spcPct val="100000"/>
                        </a:lnSpc>
                        <a:spcBef>
                          <a:spcPts val="0"/>
                        </a:spcBef>
                        <a:spcAft>
                          <a:spcPts val="0"/>
                        </a:spcAft>
                        <a:buNone/>
                      </a:pPr>
                      <a:r>
                        <a:rPr lang="en" sz="1100" u="none" cap="none" strike="noStrike"/>
                        <a:t>blue </a:t>
                      </a:r>
                      <a:endParaRPr/>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00500">
                <a:tc>
                  <a:txBody>
                    <a:bodyPr/>
                    <a:lstStyle/>
                    <a:p>
                      <a:pPr indent="0" lvl="0" marL="0" marR="0" rtl="0" algn="l">
                        <a:lnSpc>
                          <a:spcPct val="100000"/>
                        </a:lnSpc>
                        <a:spcBef>
                          <a:spcPts val="0"/>
                        </a:spcBef>
                        <a:spcAft>
                          <a:spcPts val="0"/>
                        </a:spcAft>
                        <a:buNone/>
                      </a:pPr>
                      <a:r>
                        <a:rPr lang="en" sz="1100" u="none" cap="none" strike="noStrike"/>
                        <a:t>creature </a:t>
                      </a:r>
                      <a:endParaRPr/>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4425">
                <a:tc>
                  <a:txBody>
                    <a:bodyPr/>
                    <a:lstStyle/>
                    <a:p>
                      <a:pPr indent="0" lvl="0" marL="0" marR="0" rtl="0" algn="l">
                        <a:lnSpc>
                          <a:spcPct val="100000"/>
                        </a:lnSpc>
                        <a:spcBef>
                          <a:spcPts val="0"/>
                        </a:spcBef>
                        <a:spcAft>
                          <a:spcPts val="0"/>
                        </a:spcAft>
                        <a:buNone/>
                      </a:pPr>
                      <a:r>
                        <a:rPr lang="en" sz="1100" u="none" cap="none" strike="noStrike"/>
                        <a:t>roamed </a:t>
                      </a:r>
                      <a:endParaRPr/>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2275">
                <a:tc>
                  <a:txBody>
                    <a:bodyPr/>
                    <a:lstStyle/>
                    <a:p>
                      <a:pPr indent="0" lvl="0" marL="0" marR="0" rtl="0" algn="l">
                        <a:lnSpc>
                          <a:spcPct val="100000"/>
                        </a:lnSpc>
                        <a:spcBef>
                          <a:spcPts val="0"/>
                        </a:spcBef>
                        <a:spcAft>
                          <a:spcPts val="0"/>
                        </a:spcAft>
                        <a:buNone/>
                      </a:pPr>
                      <a:r>
                        <a:rPr lang="en" sz="1100" u="none" cap="none" strike="noStrike"/>
                        <a:t>the </a:t>
                      </a:r>
                      <a:endParaRPr/>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0150">
                <a:tc>
                  <a:txBody>
                    <a:bodyPr/>
                    <a:lstStyle/>
                    <a:p>
                      <a:pPr indent="0" lvl="0" marL="0" marR="0" rtl="0" algn="l">
                        <a:lnSpc>
                          <a:spcPct val="100000"/>
                        </a:lnSpc>
                        <a:spcBef>
                          <a:spcPts val="0"/>
                        </a:spcBef>
                        <a:spcAft>
                          <a:spcPts val="0"/>
                        </a:spcAft>
                        <a:buNone/>
                      </a:pPr>
                      <a:r>
                        <a:rPr lang="en" sz="1100" u="none" cap="none" strike="noStrike"/>
                        <a:t>verdant </a:t>
                      </a:r>
                      <a:endParaRPr/>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70150">
                <a:tc>
                  <a:txBody>
                    <a:bodyPr/>
                    <a:lstStyle/>
                    <a:p>
                      <a:pPr indent="0" lvl="0" marL="0" marR="0" rtl="0" algn="l">
                        <a:lnSpc>
                          <a:spcPct val="100000"/>
                        </a:lnSpc>
                        <a:spcBef>
                          <a:spcPts val="0"/>
                        </a:spcBef>
                        <a:spcAft>
                          <a:spcPts val="0"/>
                        </a:spcAft>
                        <a:buNone/>
                      </a:pPr>
                      <a:r>
                        <a:rPr lang="en" sz="1100" u="none" cap="none" strike="noStrike"/>
                        <a:t>forest</a:t>
                      </a:r>
                      <a:endParaRPr/>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900" u="none" cap="none" strike="noStrike"/>
                    </a:p>
                  </a:txBody>
                  <a:tcPr marT="12125" marB="12125" marR="18200" marL="182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27" name="Google Shape;427;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28" name="Google Shape;428;p44"/>
          <p:cNvSpPr txBox="1"/>
          <p:nvPr/>
        </p:nvSpPr>
        <p:spPr>
          <a:xfrm>
            <a:off x="311700" y="5845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2420" u="none" cap="none" strike="noStrike">
                <a:solidFill>
                  <a:srgbClr val="000000"/>
                </a:solidFill>
                <a:latin typeface="Arial"/>
                <a:ea typeface="Arial"/>
                <a:cs typeface="Arial"/>
                <a:sym typeface="Arial"/>
              </a:rPr>
              <a:t>Causal Self-Attention</a:t>
            </a:r>
            <a:endParaRPr/>
          </a:p>
        </p:txBody>
      </p:sp>
      <p:sp>
        <p:nvSpPr>
          <p:cNvPr id="429" name="Google Shape;429;p44"/>
          <p:cNvSpPr txBox="1"/>
          <p:nvPr/>
        </p:nvSpPr>
        <p:spPr>
          <a:xfrm>
            <a:off x="2086737" y="1197432"/>
            <a:ext cx="61951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 </a:t>
            </a:r>
            <a:r>
              <a:rPr b="1" i="0" lang="en" sz="2000" u="none" cap="none" strike="noStrike">
                <a:solidFill>
                  <a:srgbClr val="000000"/>
                </a:solidFill>
                <a:latin typeface="Arial"/>
                <a:ea typeface="Arial"/>
                <a:cs typeface="Arial"/>
                <a:sym typeface="Arial"/>
              </a:rPr>
              <a:t> K</a:t>
            </a:r>
            <a:endParaRPr/>
          </a:p>
          <a:p>
            <a:pPr indent="0" lvl="0" marL="0" marR="0" rtl="0" algn="l">
              <a:lnSpc>
                <a:spcPct val="100000"/>
              </a:lnSpc>
              <a:spcBef>
                <a:spcPts val="0"/>
              </a:spcBef>
              <a:spcAft>
                <a:spcPts val="0"/>
              </a:spcAft>
              <a:buNone/>
            </a:pPr>
            <a:r>
              <a:rPr b="1" i="0" lang="en" sz="2000" u="none" cap="none" strike="noStrike">
                <a:solidFill>
                  <a:srgbClr val="000000"/>
                </a:solidFill>
                <a:latin typeface="Arial"/>
                <a:ea typeface="Arial"/>
                <a:cs typeface="Arial"/>
                <a:sym typeface="Arial"/>
              </a:rPr>
              <a:t>Q</a:t>
            </a:r>
            <a:endParaRPr/>
          </a:p>
        </p:txBody>
      </p:sp>
      <p:cxnSp>
        <p:nvCxnSpPr>
          <p:cNvPr id="430" name="Google Shape;430;p44"/>
          <p:cNvCxnSpPr/>
          <p:nvPr/>
        </p:nvCxnSpPr>
        <p:spPr>
          <a:xfrm>
            <a:off x="1905412" y="1246916"/>
            <a:ext cx="982167" cy="687762"/>
          </a:xfrm>
          <a:prstGeom prst="straightConnector1">
            <a:avLst/>
          </a:prstGeom>
          <a:noFill/>
          <a:ln cap="flat" cmpd="sng" w="25400">
            <a:solidFill>
              <a:srgbClr val="3B7FF2"/>
            </a:solidFill>
            <a:prstDash val="solid"/>
            <a:round/>
            <a:headEnd len="sm" w="sm" type="none"/>
            <a:tailEnd len="sm" w="sm" type="none"/>
          </a:ln>
        </p:spPr>
      </p:cxnSp>
      <p:sp>
        <p:nvSpPr>
          <p:cNvPr id="431" name="Google Shape;431;p44"/>
          <p:cNvSpPr/>
          <p:nvPr/>
        </p:nvSpPr>
        <p:spPr>
          <a:xfrm>
            <a:off x="2983831" y="1973178"/>
            <a:ext cx="336884" cy="33688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2" name="Google Shape;432;p44"/>
          <p:cNvSpPr/>
          <p:nvPr/>
        </p:nvSpPr>
        <p:spPr>
          <a:xfrm>
            <a:off x="3530866" y="2384058"/>
            <a:ext cx="336884" cy="33688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3" name="Google Shape;433;p44"/>
          <p:cNvSpPr/>
          <p:nvPr/>
        </p:nvSpPr>
        <p:spPr>
          <a:xfrm>
            <a:off x="4076101" y="2776999"/>
            <a:ext cx="336884" cy="33688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4" name="Google Shape;434;p44"/>
          <p:cNvSpPr/>
          <p:nvPr/>
        </p:nvSpPr>
        <p:spPr>
          <a:xfrm>
            <a:off x="4620125" y="3171633"/>
            <a:ext cx="336884" cy="33688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5" name="Google Shape;435;p44"/>
          <p:cNvSpPr/>
          <p:nvPr/>
        </p:nvSpPr>
        <p:spPr>
          <a:xfrm>
            <a:off x="5176786" y="3559700"/>
            <a:ext cx="336884" cy="33688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6" name="Google Shape;436;p44"/>
          <p:cNvSpPr/>
          <p:nvPr/>
        </p:nvSpPr>
        <p:spPr>
          <a:xfrm>
            <a:off x="5715801" y="3935084"/>
            <a:ext cx="336884" cy="33688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7" name="Google Shape;437;p44"/>
          <p:cNvSpPr/>
          <p:nvPr/>
        </p:nvSpPr>
        <p:spPr>
          <a:xfrm>
            <a:off x="6235566" y="4313701"/>
            <a:ext cx="336884" cy="33688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8" name="Google Shape;438;p44"/>
          <p:cNvSpPr/>
          <p:nvPr/>
        </p:nvSpPr>
        <p:spPr>
          <a:xfrm>
            <a:off x="3578189" y="2833947"/>
            <a:ext cx="242237" cy="24223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9" name="Google Shape;439;p44"/>
          <p:cNvSpPr/>
          <p:nvPr/>
        </p:nvSpPr>
        <p:spPr>
          <a:xfrm>
            <a:off x="5763926" y="4356099"/>
            <a:ext cx="242237" cy="24223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0" name="Google Shape;440;p44"/>
          <p:cNvSpPr txBox="1"/>
          <p:nvPr/>
        </p:nvSpPr>
        <p:spPr>
          <a:xfrm>
            <a:off x="2506382" y="2074217"/>
            <a:ext cx="3914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Q</a:t>
            </a:r>
            <a:r>
              <a:rPr b="1" baseline="-25000" i="0" lang="en" sz="1400" u="none" cap="none" strike="noStrike">
                <a:solidFill>
                  <a:srgbClr val="000000"/>
                </a:solidFill>
                <a:latin typeface="Arial"/>
                <a:ea typeface="Arial"/>
                <a:cs typeface="Arial"/>
                <a:sym typeface="Arial"/>
              </a:rPr>
              <a:t>1</a:t>
            </a:r>
            <a:endParaRPr/>
          </a:p>
        </p:txBody>
      </p:sp>
      <p:cxnSp>
        <p:nvCxnSpPr>
          <p:cNvPr id="441" name="Google Shape;441;p44"/>
          <p:cNvCxnSpPr/>
          <p:nvPr/>
        </p:nvCxnSpPr>
        <p:spPr>
          <a:xfrm>
            <a:off x="2584185" y="2074217"/>
            <a:ext cx="273518" cy="0"/>
          </a:xfrm>
          <a:prstGeom prst="straightConnector1">
            <a:avLst/>
          </a:prstGeom>
          <a:noFill/>
          <a:ln cap="flat" cmpd="sng" w="9525">
            <a:solidFill>
              <a:schemeClr val="dk1"/>
            </a:solidFill>
            <a:prstDash val="solid"/>
            <a:round/>
            <a:headEnd len="sm" w="sm" type="none"/>
            <a:tailEnd len="med" w="med" type="triangle"/>
          </a:ln>
        </p:spPr>
      </p:cxnSp>
      <p:sp>
        <p:nvSpPr>
          <p:cNvPr id="442" name="Google Shape;442;p44"/>
          <p:cNvSpPr txBox="1"/>
          <p:nvPr/>
        </p:nvSpPr>
        <p:spPr>
          <a:xfrm>
            <a:off x="2506382" y="2457296"/>
            <a:ext cx="3914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Q</a:t>
            </a:r>
            <a:r>
              <a:rPr b="1" baseline="-25000" i="0" lang="en" sz="1400" u="none" cap="none" strike="noStrike">
                <a:solidFill>
                  <a:srgbClr val="000000"/>
                </a:solidFill>
                <a:latin typeface="Arial"/>
                <a:ea typeface="Arial"/>
                <a:cs typeface="Arial"/>
                <a:sym typeface="Arial"/>
              </a:rPr>
              <a:t>2</a:t>
            </a:r>
            <a:endParaRPr/>
          </a:p>
        </p:txBody>
      </p:sp>
      <p:cxnSp>
        <p:nvCxnSpPr>
          <p:cNvPr id="443" name="Google Shape;443;p44"/>
          <p:cNvCxnSpPr/>
          <p:nvPr/>
        </p:nvCxnSpPr>
        <p:spPr>
          <a:xfrm>
            <a:off x="2584185" y="2457296"/>
            <a:ext cx="273518" cy="0"/>
          </a:xfrm>
          <a:prstGeom prst="straightConnector1">
            <a:avLst/>
          </a:prstGeom>
          <a:noFill/>
          <a:ln cap="flat" cmpd="sng" w="9525">
            <a:solidFill>
              <a:schemeClr val="dk1"/>
            </a:solidFill>
            <a:prstDash val="solid"/>
            <a:round/>
            <a:headEnd len="sm" w="sm" type="none"/>
            <a:tailEnd len="med" w="med" type="triangle"/>
          </a:ln>
        </p:spPr>
      </p:cxnSp>
      <p:sp>
        <p:nvSpPr>
          <p:cNvPr id="444" name="Google Shape;444;p44"/>
          <p:cNvSpPr txBox="1"/>
          <p:nvPr/>
        </p:nvSpPr>
        <p:spPr>
          <a:xfrm>
            <a:off x="2510525" y="2842302"/>
            <a:ext cx="3914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Q</a:t>
            </a:r>
            <a:r>
              <a:rPr b="1" baseline="-25000" i="0" lang="en" sz="1400" u="none" cap="none" strike="noStrike">
                <a:solidFill>
                  <a:srgbClr val="000000"/>
                </a:solidFill>
                <a:latin typeface="Arial"/>
                <a:ea typeface="Arial"/>
                <a:cs typeface="Arial"/>
                <a:sym typeface="Arial"/>
              </a:rPr>
              <a:t>3</a:t>
            </a:r>
            <a:endParaRPr/>
          </a:p>
        </p:txBody>
      </p:sp>
      <p:cxnSp>
        <p:nvCxnSpPr>
          <p:cNvPr id="445" name="Google Shape;445;p44"/>
          <p:cNvCxnSpPr/>
          <p:nvPr/>
        </p:nvCxnSpPr>
        <p:spPr>
          <a:xfrm>
            <a:off x="2588328" y="2842302"/>
            <a:ext cx="273518" cy="0"/>
          </a:xfrm>
          <a:prstGeom prst="straightConnector1">
            <a:avLst/>
          </a:prstGeom>
          <a:noFill/>
          <a:ln cap="flat" cmpd="sng" w="9525">
            <a:solidFill>
              <a:schemeClr val="dk1"/>
            </a:solidFill>
            <a:prstDash val="solid"/>
            <a:round/>
            <a:headEnd len="sm" w="sm" type="none"/>
            <a:tailEnd len="med" w="med" type="triangle"/>
          </a:ln>
        </p:spPr>
      </p:cxnSp>
      <p:sp>
        <p:nvSpPr>
          <p:cNvPr id="446" name="Google Shape;446;p44"/>
          <p:cNvSpPr txBox="1"/>
          <p:nvPr/>
        </p:nvSpPr>
        <p:spPr>
          <a:xfrm>
            <a:off x="2510525" y="3251923"/>
            <a:ext cx="3914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Q</a:t>
            </a:r>
            <a:r>
              <a:rPr b="1" baseline="-25000" i="0" lang="en" sz="1400" u="none" cap="none" strike="noStrike">
                <a:solidFill>
                  <a:srgbClr val="000000"/>
                </a:solidFill>
                <a:latin typeface="Arial"/>
                <a:ea typeface="Arial"/>
                <a:cs typeface="Arial"/>
                <a:sym typeface="Arial"/>
              </a:rPr>
              <a:t>4</a:t>
            </a:r>
            <a:endParaRPr/>
          </a:p>
        </p:txBody>
      </p:sp>
      <p:cxnSp>
        <p:nvCxnSpPr>
          <p:cNvPr id="447" name="Google Shape;447;p44"/>
          <p:cNvCxnSpPr/>
          <p:nvPr/>
        </p:nvCxnSpPr>
        <p:spPr>
          <a:xfrm>
            <a:off x="2588328" y="3251923"/>
            <a:ext cx="273518" cy="0"/>
          </a:xfrm>
          <a:prstGeom prst="straightConnector1">
            <a:avLst/>
          </a:prstGeom>
          <a:noFill/>
          <a:ln cap="flat" cmpd="sng" w="9525">
            <a:solidFill>
              <a:schemeClr val="dk1"/>
            </a:solidFill>
            <a:prstDash val="solid"/>
            <a:round/>
            <a:headEnd len="sm" w="sm" type="none"/>
            <a:tailEnd len="med" w="med" type="triangle"/>
          </a:ln>
        </p:spPr>
      </p:cxnSp>
      <p:sp>
        <p:nvSpPr>
          <p:cNvPr id="448" name="Google Shape;448;p44"/>
          <p:cNvSpPr txBox="1"/>
          <p:nvPr/>
        </p:nvSpPr>
        <p:spPr>
          <a:xfrm>
            <a:off x="2510525" y="3627307"/>
            <a:ext cx="3914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Q</a:t>
            </a:r>
            <a:r>
              <a:rPr b="1" baseline="-25000" i="0" lang="en" sz="1400" u="none" cap="none" strike="noStrike">
                <a:solidFill>
                  <a:srgbClr val="000000"/>
                </a:solidFill>
                <a:latin typeface="Arial"/>
                <a:ea typeface="Arial"/>
                <a:cs typeface="Arial"/>
                <a:sym typeface="Arial"/>
              </a:rPr>
              <a:t>5</a:t>
            </a:r>
            <a:endParaRPr/>
          </a:p>
        </p:txBody>
      </p:sp>
      <p:cxnSp>
        <p:nvCxnSpPr>
          <p:cNvPr id="449" name="Google Shape;449;p44"/>
          <p:cNvCxnSpPr/>
          <p:nvPr/>
        </p:nvCxnSpPr>
        <p:spPr>
          <a:xfrm>
            <a:off x="2588328" y="3627307"/>
            <a:ext cx="273518" cy="0"/>
          </a:xfrm>
          <a:prstGeom prst="straightConnector1">
            <a:avLst/>
          </a:prstGeom>
          <a:noFill/>
          <a:ln cap="flat" cmpd="sng" w="9525">
            <a:solidFill>
              <a:schemeClr val="dk1"/>
            </a:solidFill>
            <a:prstDash val="solid"/>
            <a:round/>
            <a:headEnd len="sm" w="sm" type="none"/>
            <a:tailEnd len="med" w="med" type="triangle"/>
          </a:ln>
        </p:spPr>
      </p:cxnSp>
      <p:sp>
        <p:nvSpPr>
          <p:cNvPr id="450" name="Google Shape;450;p44"/>
          <p:cNvSpPr txBox="1"/>
          <p:nvPr/>
        </p:nvSpPr>
        <p:spPr>
          <a:xfrm>
            <a:off x="2506382" y="3984568"/>
            <a:ext cx="3914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Q</a:t>
            </a:r>
            <a:r>
              <a:rPr b="1" baseline="-25000" i="0" lang="en" sz="1400" u="none" cap="none" strike="noStrike">
                <a:solidFill>
                  <a:srgbClr val="000000"/>
                </a:solidFill>
                <a:latin typeface="Arial"/>
                <a:ea typeface="Arial"/>
                <a:cs typeface="Arial"/>
                <a:sym typeface="Arial"/>
              </a:rPr>
              <a:t>6</a:t>
            </a:r>
            <a:endParaRPr/>
          </a:p>
        </p:txBody>
      </p:sp>
      <p:cxnSp>
        <p:nvCxnSpPr>
          <p:cNvPr id="451" name="Google Shape;451;p44"/>
          <p:cNvCxnSpPr/>
          <p:nvPr/>
        </p:nvCxnSpPr>
        <p:spPr>
          <a:xfrm>
            <a:off x="2584185" y="3984568"/>
            <a:ext cx="273518" cy="0"/>
          </a:xfrm>
          <a:prstGeom prst="straightConnector1">
            <a:avLst/>
          </a:prstGeom>
          <a:noFill/>
          <a:ln cap="flat" cmpd="sng" w="9525">
            <a:solidFill>
              <a:schemeClr val="dk1"/>
            </a:solidFill>
            <a:prstDash val="solid"/>
            <a:round/>
            <a:headEnd len="sm" w="sm" type="none"/>
            <a:tailEnd len="med" w="med" type="triangle"/>
          </a:ln>
        </p:spPr>
      </p:cxnSp>
      <p:sp>
        <p:nvSpPr>
          <p:cNvPr id="452" name="Google Shape;452;p44"/>
          <p:cNvSpPr txBox="1"/>
          <p:nvPr/>
        </p:nvSpPr>
        <p:spPr>
          <a:xfrm>
            <a:off x="2502332" y="4339063"/>
            <a:ext cx="3914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Q</a:t>
            </a:r>
            <a:r>
              <a:rPr b="1" baseline="-25000" i="0" lang="en" sz="1400" u="none" cap="none" strike="noStrike">
                <a:solidFill>
                  <a:srgbClr val="000000"/>
                </a:solidFill>
                <a:latin typeface="Arial"/>
                <a:ea typeface="Arial"/>
                <a:cs typeface="Arial"/>
                <a:sym typeface="Arial"/>
              </a:rPr>
              <a:t>7</a:t>
            </a:r>
            <a:endParaRPr/>
          </a:p>
        </p:txBody>
      </p:sp>
      <p:cxnSp>
        <p:nvCxnSpPr>
          <p:cNvPr id="453" name="Google Shape;453;p44"/>
          <p:cNvCxnSpPr/>
          <p:nvPr/>
        </p:nvCxnSpPr>
        <p:spPr>
          <a:xfrm>
            <a:off x="2580135" y="4339063"/>
            <a:ext cx="273518" cy="0"/>
          </a:xfrm>
          <a:prstGeom prst="straightConnector1">
            <a:avLst/>
          </a:prstGeom>
          <a:noFill/>
          <a:ln cap="flat" cmpd="sng" w="9525">
            <a:solidFill>
              <a:schemeClr val="dk1"/>
            </a:solidFill>
            <a:prstDash val="solid"/>
            <a:round/>
            <a:headEnd len="sm" w="sm" type="none"/>
            <a:tailEnd len="med" w="med" type="triangle"/>
          </a:ln>
        </p:spPr>
      </p:cxnSp>
      <p:sp>
        <p:nvSpPr>
          <p:cNvPr id="454" name="Google Shape;454;p44"/>
          <p:cNvSpPr txBox="1"/>
          <p:nvPr/>
        </p:nvSpPr>
        <p:spPr>
          <a:xfrm>
            <a:off x="2940282" y="1626901"/>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K</a:t>
            </a:r>
            <a:r>
              <a:rPr b="1" baseline="-25000" i="0" lang="en" sz="1400" u="none" cap="none" strike="noStrike">
                <a:solidFill>
                  <a:srgbClr val="000000"/>
                </a:solidFill>
                <a:latin typeface="Arial"/>
                <a:ea typeface="Arial"/>
                <a:cs typeface="Arial"/>
                <a:sym typeface="Arial"/>
              </a:rPr>
              <a:t>1</a:t>
            </a:r>
            <a:endParaRPr/>
          </a:p>
        </p:txBody>
      </p:sp>
      <p:cxnSp>
        <p:nvCxnSpPr>
          <p:cNvPr id="455" name="Google Shape;455;p44"/>
          <p:cNvCxnSpPr/>
          <p:nvPr/>
        </p:nvCxnSpPr>
        <p:spPr>
          <a:xfrm>
            <a:off x="3018085" y="1626901"/>
            <a:ext cx="273518" cy="0"/>
          </a:xfrm>
          <a:prstGeom prst="straightConnector1">
            <a:avLst/>
          </a:prstGeom>
          <a:noFill/>
          <a:ln cap="flat" cmpd="sng" w="9525">
            <a:solidFill>
              <a:schemeClr val="dk1"/>
            </a:solidFill>
            <a:prstDash val="solid"/>
            <a:round/>
            <a:headEnd len="sm" w="sm" type="none"/>
            <a:tailEnd len="med" w="med" type="triangle"/>
          </a:ln>
        </p:spPr>
      </p:cxnSp>
      <p:sp>
        <p:nvSpPr>
          <p:cNvPr id="456" name="Google Shape;456;p44"/>
          <p:cNvSpPr txBox="1"/>
          <p:nvPr/>
        </p:nvSpPr>
        <p:spPr>
          <a:xfrm>
            <a:off x="3485914" y="1625528"/>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K</a:t>
            </a:r>
            <a:r>
              <a:rPr b="1" baseline="-25000" i="0" lang="en" sz="1400" u="none" cap="none" strike="noStrike">
                <a:solidFill>
                  <a:srgbClr val="000000"/>
                </a:solidFill>
                <a:latin typeface="Arial"/>
                <a:ea typeface="Arial"/>
                <a:cs typeface="Arial"/>
                <a:sym typeface="Arial"/>
              </a:rPr>
              <a:t>2</a:t>
            </a:r>
            <a:endParaRPr/>
          </a:p>
        </p:txBody>
      </p:sp>
      <p:cxnSp>
        <p:nvCxnSpPr>
          <p:cNvPr id="457" name="Google Shape;457;p44"/>
          <p:cNvCxnSpPr/>
          <p:nvPr/>
        </p:nvCxnSpPr>
        <p:spPr>
          <a:xfrm>
            <a:off x="3563717" y="1625528"/>
            <a:ext cx="273518" cy="0"/>
          </a:xfrm>
          <a:prstGeom prst="straightConnector1">
            <a:avLst/>
          </a:prstGeom>
          <a:noFill/>
          <a:ln cap="flat" cmpd="sng" w="9525">
            <a:solidFill>
              <a:schemeClr val="dk1"/>
            </a:solidFill>
            <a:prstDash val="solid"/>
            <a:round/>
            <a:headEnd len="sm" w="sm" type="none"/>
            <a:tailEnd len="med" w="med" type="triangle"/>
          </a:ln>
        </p:spPr>
      </p:cxnSp>
      <p:sp>
        <p:nvSpPr>
          <p:cNvPr id="458" name="Google Shape;458;p44"/>
          <p:cNvSpPr/>
          <p:nvPr/>
        </p:nvSpPr>
        <p:spPr>
          <a:xfrm>
            <a:off x="3088505" y="2893630"/>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9" name="Google Shape;459;p44"/>
          <p:cNvSpPr/>
          <p:nvPr/>
        </p:nvSpPr>
        <p:spPr>
          <a:xfrm>
            <a:off x="3098129" y="3295445"/>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0" name="Google Shape;460;p44"/>
          <p:cNvSpPr/>
          <p:nvPr/>
        </p:nvSpPr>
        <p:spPr>
          <a:xfrm>
            <a:off x="4191653" y="3657673"/>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1" name="Google Shape;461;p44"/>
          <p:cNvSpPr/>
          <p:nvPr/>
        </p:nvSpPr>
        <p:spPr>
          <a:xfrm>
            <a:off x="4191651" y="4035423"/>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2" name="Google Shape;462;p44"/>
          <p:cNvSpPr/>
          <p:nvPr/>
        </p:nvSpPr>
        <p:spPr>
          <a:xfrm>
            <a:off x="3628930" y="4035423"/>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3" name="Google Shape;463;p44"/>
          <p:cNvSpPr/>
          <p:nvPr/>
        </p:nvSpPr>
        <p:spPr>
          <a:xfrm>
            <a:off x="3638554" y="4437238"/>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4" name="Google Shape;464;p44"/>
          <p:cNvSpPr/>
          <p:nvPr/>
        </p:nvSpPr>
        <p:spPr>
          <a:xfrm>
            <a:off x="3641078" y="3294359"/>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5" name="Google Shape;465;p44"/>
          <p:cNvSpPr/>
          <p:nvPr/>
        </p:nvSpPr>
        <p:spPr>
          <a:xfrm>
            <a:off x="3650702" y="3696174"/>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6" name="Google Shape;466;p44"/>
          <p:cNvSpPr/>
          <p:nvPr/>
        </p:nvSpPr>
        <p:spPr>
          <a:xfrm>
            <a:off x="5285345" y="4063929"/>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7" name="Google Shape;467;p44"/>
          <p:cNvSpPr/>
          <p:nvPr/>
        </p:nvSpPr>
        <p:spPr>
          <a:xfrm>
            <a:off x="5294969" y="4465744"/>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8" name="Google Shape;468;p44"/>
          <p:cNvSpPr/>
          <p:nvPr/>
        </p:nvSpPr>
        <p:spPr>
          <a:xfrm>
            <a:off x="3138958" y="3714991"/>
            <a:ext cx="45719" cy="4571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9" name="Google Shape;469;p44"/>
          <p:cNvSpPr/>
          <p:nvPr/>
        </p:nvSpPr>
        <p:spPr>
          <a:xfrm>
            <a:off x="3148582" y="4116806"/>
            <a:ext cx="45719" cy="4571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0" name="Google Shape;470;p44"/>
          <p:cNvSpPr/>
          <p:nvPr/>
        </p:nvSpPr>
        <p:spPr>
          <a:xfrm>
            <a:off x="4802522" y="4095949"/>
            <a:ext cx="45719" cy="4571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1" name="Google Shape;471;p44"/>
          <p:cNvSpPr/>
          <p:nvPr/>
        </p:nvSpPr>
        <p:spPr>
          <a:xfrm>
            <a:off x="4768270" y="3679451"/>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2" name="Google Shape;472;p44"/>
          <p:cNvSpPr/>
          <p:nvPr/>
        </p:nvSpPr>
        <p:spPr>
          <a:xfrm>
            <a:off x="4779471" y="4437238"/>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3" name="Google Shape;473;p44"/>
          <p:cNvSpPr/>
          <p:nvPr/>
        </p:nvSpPr>
        <p:spPr>
          <a:xfrm>
            <a:off x="4201013" y="3303570"/>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4" name="Google Shape;474;p44"/>
          <p:cNvSpPr/>
          <p:nvPr/>
        </p:nvSpPr>
        <p:spPr>
          <a:xfrm>
            <a:off x="3103582" y="2510901"/>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5" name="Google Shape;475;p44"/>
          <p:cNvSpPr/>
          <p:nvPr/>
        </p:nvSpPr>
        <p:spPr>
          <a:xfrm>
            <a:off x="3128283" y="4465744"/>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6" name="Google Shape;476;p44"/>
          <p:cNvSpPr/>
          <p:nvPr/>
        </p:nvSpPr>
        <p:spPr>
          <a:xfrm>
            <a:off x="4206728" y="4437238"/>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7" name="Google Shape;477;p44"/>
          <p:cNvSpPr txBox="1"/>
          <p:nvPr/>
        </p:nvSpPr>
        <p:spPr>
          <a:xfrm>
            <a:off x="4066597" y="1630356"/>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K</a:t>
            </a:r>
            <a:r>
              <a:rPr b="1" baseline="-25000" i="0" lang="en" sz="1400" u="none" cap="none" strike="noStrike">
                <a:solidFill>
                  <a:srgbClr val="000000"/>
                </a:solidFill>
                <a:latin typeface="Arial"/>
                <a:ea typeface="Arial"/>
                <a:cs typeface="Arial"/>
                <a:sym typeface="Arial"/>
              </a:rPr>
              <a:t>3</a:t>
            </a:r>
            <a:endParaRPr/>
          </a:p>
        </p:txBody>
      </p:sp>
      <p:cxnSp>
        <p:nvCxnSpPr>
          <p:cNvPr id="478" name="Google Shape;478;p44"/>
          <p:cNvCxnSpPr/>
          <p:nvPr/>
        </p:nvCxnSpPr>
        <p:spPr>
          <a:xfrm>
            <a:off x="4144400" y="1630356"/>
            <a:ext cx="273518" cy="0"/>
          </a:xfrm>
          <a:prstGeom prst="straightConnector1">
            <a:avLst/>
          </a:prstGeom>
          <a:noFill/>
          <a:ln cap="flat" cmpd="sng" w="9525">
            <a:solidFill>
              <a:schemeClr val="dk1"/>
            </a:solidFill>
            <a:prstDash val="solid"/>
            <a:round/>
            <a:headEnd len="sm" w="sm" type="none"/>
            <a:tailEnd len="med" w="med" type="triangle"/>
          </a:ln>
        </p:spPr>
      </p:cxnSp>
      <p:sp>
        <p:nvSpPr>
          <p:cNvPr id="479" name="Google Shape;479;p44"/>
          <p:cNvSpPr txBox="1"/>
          <p:nvPr/>
        </p:nvSpPr>
        <p:spPr>
          <a:xfrm>
            <a:off x="4634417" y="1625528"/>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K</a:t>
            </a:r>
            <a:r>
              <a:rPr b="1" baseline="-25000" i="0" lang="en" sz="1400" u="none" cap="none" strike="noStrike">
                <a:solidFill>
                  <a:srgbClr val="000000"/>
                </a:solidFill>
                <a:latin typeface="Arial"/>
                <a:ea typeface="Arial"/>
                <a:cs typeface="Arial"/>
                <a:sym typeface="Arial"/>
              </a:rPr>
              <a:t>4</a:t>
            </a:r>
            <a:endParaRPr/>
          </a:p>
        </p:txBody>
      </p:sp>
      <p:cxnSp>
        <p:nvCxnSpPr>
          <p:cNvPr id="480" name="Google Shape;480;p44"/>
          <p:cNvCxnSpPr/>
          <p:nvPr/>
        </p:nvCxnSpPr>
        <p:spPr>
          <a:xfrm>
            <a:off x="4712220" y="1625528"/>
            <a:ext cx="273518" cy="0"/>
          </a:xfrm>
          <a:prstGeom prst="straightConnector1">
            <a:avLst/>
          </a:prstGeom>
          <a:noFill/>
          <a:ln cap="flat" cmpd="sng" w="9525">
            <a:solidFill>
              <a:schemeClr val="dk1"/>
            </a:solidFill>
            <a:prstDash val="solid"/>
            <a:round/>
            <a:headEnd len="sm" w="sm" type="none"/>
            <a:tailEnd len="med" w="med" type="triangle"/>
          </a:ln>
        </p:spPr>
      </p:cxnSp>
      <p:sp>
        <p:nvSpPr>
          <p:cNvPr id="481" name="Google Shape;481;p44"/>
          <p:cNvSpPr txBox="1"/>
          <p:nvPr/>
        </p:nvSpPr>
        <p:spPr>
          <a:xfrm>
            <a:off x="5148965" y="1625528"/>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K</a:t>
            </a:r>
            <a:r>
              <a:rPr b="1" baseline="-25000" i="0" lang="en" sz="1400" u="none" cap="none" strike="noStrike">
                <a:solidFill>
                  <a:srgbClr val="000000"/>
                </a:solidFill>
                <a:latin typeface="Arial"/>
                <a:ea typeface="Arial"/>
                <a:cs typeface="Arial"/>
                <a:sym typeface="Arial"/>
              </a:rPr>
              <a:t>5</a:t>
            </a:r>
            <a:endParaRPr/>
          </a:p>
        </p:txBody>
      </p:sp>
      <p:cxnSp>
        <p:nvCxnSpPr>
          <p:cNvPr id="482" name="Google Shape;482;p44"/>
          <p:cNvCxnSpPr/>
          <p:nvPr/>
        </p:nvCxnSpPr>
        <p:spPr>
          <a:xfrm>
            <a:off x="5226768" y="1625528"/>
            <a:ext cx="273518" cy="0"/>
          </a:xfrm>
          <a:prstGeom prst="straightConnector1">
            <a:avLst/>
          </a:prstGeom>
          <a:noFill/>
          <a:ln cap="flat" cmpd="sng" w="9525">
            <a:solidFill>
              <a:schemeClr val="dk1"/>
            </a:solidFill>
            <a:prstDash val="solid"/>
            <a:round/>
            <a:headEnd len="sm" w="sm" type="none"/>
            <a:tailEnd len="med" w="med" type="triangle"/>
          </a:ln>
        </p:spPr>
      </p:cxnSp>
      <p:sp>
        <p:nvSpPr>
          <p:cNvPr id="483" name="Google Shape;483;p44"/>
          <p:cNvSpPr txBox="1"/>
          <p:nvPr/>
        </p:nvSpPr>
        <p:spPr>
          <a:xfrm>
            <a:off x="5688492" y="1625528"/>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K</a:t>
            </a:r>
            <a:r>
              <a:rPr b="1" baseline="-25000" i="0" lang="en" sz="1400" u="none" cap="none" strike="noStrike">
                <a:solidFill>
                  <a:srgbClr val="000000"/>
                </a:solidFill>
                <a:latin typeface="Arial"/>
                <a:ea typeface="Arial"/>
                <a:cs typeface="Arial"/>
                <a:sym typeface="Arial"/>
              </a:rPr>
              <a:t>6</a:t>
            </a:r>
            <a:endParaRPr/>
          </a:p>
        </p:txBody>
      </p:sp>
      <p:cxnSp>
        <p:nvCxnSpPr>
          <p:cNvPr id="484" name="Google Shape;484;p44"/>
          <p:cNvCxnSpPr/>
          <p:nvPr/>
        </p:nvCxnSpPr>
        <p:spPr>
          <a:xfrm>
            <a:off x="5766295" y="1625528"/>
            <a:ext cx="273518" cy="0"/>
          </a:xfrm>
          <a:prstGeom prst="straightConnector1">
            <a:avLst/>
          </a:prstGeom>
          <a:noFill/>
          <a:ln cap="flat" cmpd="sng" w="9525">
            <a:solidFill>
              <a:schemeClr val="dk1"/>
            </a:solidFill>
            <a:prstDash val="solid"/>
            <a:round/>
            <a:headEnd len="sm" w="sm" type="none"/>
            <a:tailEnd len="med" w="med" type="triangle"/>
          </a:ln>
        </p:spPr>
      </p:cxnSp>
      <p:sp>
        <p:nvSpPr>
          <p:cNvPr id="485" name="Google Shape;485;p44"/>
          <p:cNvSpPr txBox="1"/>
          <p:nvPr/>
        </p:nvSpPr>
        <p:spPr>
          <a:xfrm>
            <a:off x="6200818" y="1630356"/>
            <a:ext cx="3818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K</a:t>
            </a:r>
            <a:r>
              <a:rPr b="1" baseline="-25000" i="0" lang="en" sz="1400" u="none" cap="none" strike="noStrike">
                <a:solidFill>
                  <a:srgbClr val="000000"/>
                </a:solidFill>
                <a:latin typeface="Arial"/>
                <a:ea typeface="Arial"/>
                <a:cs typeface="Arial"/>
                <a:sym typeface="Arial"/>
              </a:rPr>
              <a:t>7</a:t>
            </a:r>
            <a:endParaRPr/>
          </a:p>
        </p:txBody>
      </p:sp>
      <p:cxnSp>
        <p:nvCxnSpPr>
          <p:cNvPr id="486" name="Google Shape;486;p44"/>
          <p:cNvCxnSpPr/>
          <p:nvPr/>
        </p:nvCxnSpPr>
        <p:spPr>
          <a:xfrm>
            <a:off x="6278621" y="1630356"/>
            <a:ext cx="273518" cy="0"/>
          </a:xfrm>
          <a:prstGeom prst="straightConnector1">
            <a:avLst/>
          </a:prstGeom>
          <a:noFill/>
          <a:ln cap="flat" cmpd="sng" w="9525">
            <a:solidFill>
              <a:schemeClr val="dk1"/>
            </a:solidFill>
            <a:prstDash val="solid"/>
            <a:round/>
            <a:headEnd len="sm" w="sm" type="none"/>
            <a:tailEnd len="med" w="med" type="triangle"/>
          </a:ln>
        </p:spPr>
      </p:cxnSp>
      <p:grpSp>
        <p:nvGrpSpPr>
          <p:cNvPr id="487" name="Google Shape;487;p44"/>
          <p:cNvGrpSpPr/>
          <p:nvPr/>
        </p:nvGrpSpPr>
        <p:grpSpPr>
          <a:xfrm>
            <a:off x="3662247" y="2100569"/>
            <a:ext cx="2821063" cy="2059058"/>
            <a:chOff x="3662247" y="2100569"/>
            <a:chExt cx="2821063" cy="2059058"/>
          </a:xfrm>
        </p:grpSpPr>
        <p:sp>
          <p:nvSpPr>
            <p:cNvPr id="488" name="Google Shape;488;p44"/>
            <p:cNvSpPr/>
            <p:nvPr/>
          </p:nvSpPr>
          <p:spPr>
            <a:xfrm>
              <a:off x="6346150" y="2490131"/>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89" name="Google Shape;489;p44"/>
            <p:cNvSpPr/>
            <p:nvPr/>
          </p:nvSpPr>
          <p:spPr>
            <a:xfrm>
              <a:off x="6355774" y="2891946"/>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0" name="Google Shape;490;p44"/>
            <p:cNvSpPr/>
            <p:nvPr/>
          </p:nvSpPr>
          <p:spPr>
            <a:xfrm>
              <a:off x="6396603" y="3311492"/>
              <a:ext cx="45719" cy="4571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1" name="Google Shape;491;p44"/>
            <p:cNvSpPr/>
            <p:nvPr/>
          </p:nvSpPr>
          <p:spPr>
            <a:xfrm>
              <a:off x="6406227" y="3713307"/>
              <a:ext cx="45719" cy="4571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2" name="Google Shape;492;p44"/>
            <p:cNvSpPr/>
            <p:nvPr/>
          </p:nvSpPr>
          <p:spPr>
            <a:xfrm>
              <a:off x="6361227" y="2107402"/>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3" name="Google Shape;493;p44"/>
            <p:cNvSpPr/>
            <p:nvPr/>
          </p:nvSpPr>
          <p:spPr>
            <a:xfrm>
              <a:off x="6385928" y="4062245"/>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4" name="Google Shape;494;p44"/>
            <p:cNvSpPr/>
            <p:nvPr/>
          </p:nvSpPr>
          <p:spPr>
            <a:xfrm>
              <a:off x="5818073" y="3269301"/>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5" name="Google Shape;495;p44"/>
            <p:cNvSpPr/>
            <p:nvPr/>
          </p:nvSpPr>
          <p:spPr>
            <a:xfrm>
              <a:off x="5827697" y="3671116"/>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6" name="Google Shape;496;p44"/>
            <p:cNvSpPr/>
            <p:nvPr/>
          </p:nvSpPr>
          <p:spPr>
            <a:xfrm>
              <a:off x="5830221" y="2528237"/>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7" name="Google Shape;497;p44"/>
            <p:cNvSpPr/>
            <p:nvPr/>
          </p:nvSpPr>
          <p:spPr>
            <a:xfrm>
              <a:off x="5839845" y="2930052"/>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8" name="Google Shape;498;p44"/>
            <p:cNvSpPr/>
            <p:nvPr/>
          </p:nvSpPr>
          <p:spPr>
            <a:xfrm>
              <a:off x="5815642" y="2100569"/>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9" name="Google Shape;499;p44"/>
            <p:cNvSpPr/>
            <p:nvPr/>
          </p:nvSpPr>
          <p:spPr>
            <a:xfrm>
              <a:off x="5293836" y="2479868"/>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0" name="Google Shape;500;p44"/>
            <p:cNvSpPr/>
            <p:nvPr/>
          </p:nvSpPr>
          <p:spPr>
            <a:xfrm>
              <a:off x="5293834" y="2857618"/>
              <a:ext cx="127536" cy="12753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1" name="Google Shape;501;p44"/>
            <p:cNvSpPr/>
            <p:nvPr/>
          </p:nvSpPr>
          <p:spPr>
            <a:xfrm>
              <a:off x="5303196" y="2125765"/>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2" name="Google Shape;502;p44"/>
            <p:cNvSpPr/>
            <p:nvPr/>
          </p:nvSpPr>
          <p:spPr>
            <a:xfrm>
              <a:off x="5308911" y="3259433"/>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3" name="Google Shape;503;p44"/>
            <p:cNvSpPr/>
            <p:nvPr/>
          </p:nvSpPr>
          <p:spPr>
            <a:xfrm>
              <a:off x="4802662" y="2542263"/>
              <a:ext cx="45719" cy="4571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4" name="Google Shape;504;p44"/>
            <p:cNvSpPr/>
            <p:nvPr/>
          </p:nvSpPr>
          <p:spPr>
            <a:xfrm>
              <a:off x="4768410" y="2125765"/>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5" name="Google Shape;505;p44"/>
            <p:cNvSpPr/>
            <p:nvPr/>
          </p:nvSpPr>
          <p:spPr>
            <a:xfrm>
              <a:off x="4779611" y="2883552"/>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6" name="Google Shape;506;p44"/>
            <p:cNvSpPr/>
            <p:nvPr/>
          </p:nvSpPr>
          <p:spPr>
            <a:xfrm>
              <a:off x="4221805" y="2122136"/>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7" name="Google Shape;507;p44"/>
            <p:cNvSpPr/>
            <p:nvPr/>
          </p:nvSpPr>
          <p:spPr>
            <a:xfrm>
              <a:off x="4231429" y="2523951"/>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8" name="Google Shape;508;p44"/>
            <p:cNvSpPr/>
            <p:nvPr/>
          </p:nvSpPr>
          <p:spPr>
            <a:xfrm>
              <a:off x="3662247" y="2116575"/>
              <a:ext cx="97382" cy="9738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509" name="Google Shape;509;p44"/>
          <p:cNvGrpSpPr/>
          <p:nvPr/>
        </p:nvGrpSpPr>
        <p:grpSpPr>
          <a:xfrm>
            <a:off x="3402566" y="2004757"/>
            <a:ext cx="5316944" cy="2267207"/>
            <a:chOff x="3402566" y="2004757"/>
            <a:chExt cx="5316944" cy="2267207"/>
          </a:xfrm>
        </p:grpSpPr>
        <p:sp>
          <p:nvSpPr>
            <p:cNvPr id="510" name="Google Shape;510;p44"/>
            <p:cNvSpPr/>
            <p:nvPr/>
          </p:nvSpPr>
          <p:spPr>
            <a:xfrm rot="10800000">
              <a:off x="3402566" y="2022261"/>
              <a:ext cx="3149569" cy="2249703"/>
            </a:xfrm>
            <a:prstGeom prst="triangle">
              <a:avLst>
                <a:gd fmla="val 0" name="adj"/>
              </a:avLst>
            </a:prstGeom>
            <a:solidFill>
              <a:srgbClr val="BFBFBF">
                <a:alpha val="84705"/>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11" name="Google Shape;511;p44"/>
            <p:cNvSpPr txBox="1"/>
            <p:nvPr/>
          </p:nvSpPr>
          <p:spPr>
            <a:xfrm>
              <a:off x="7201146" y="2004757"/>
              <a:ext cx="15183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Causal mask</a:t>
              </a:r>
              <a:endParaRPr/>
            </a:p>
          </p:txBody>
        </p:sp>
        <p:cxnSp>
          <p:nvCxnSpPr>
            <p:cNvPr id="512" name="Google Shape;512;p44"/>
            <p:cNvCxnSpPr>
              <a:endCxn id="511" idx="1"/>
            </p:cNvCxnSpPr>
            <p:nvPr/>
          </p:nvCxnSpPr>
          <p:spPr>
            <a:xfrm>
              <a:off x="6552246" y="2189423"/>
              <a:ext cx="648900" cy="0"/>
            </a:xfrm>
            <a:prstGeom prst="straightConnector1">
              <a:avLst/>
            </a:prstGeom>
            <a:noFill/>
            <a:ln cap="flat" cmpd="sng" w="9525">
              <a:solidFill>
                <a:schemeClr val="dk1"/>
              </a:solidFill>
              <a:prstDash val="solid"/>
              <a:round/>
              <a:headEnd len="sm" w="sm" type="none"/>
              <a:tailEnd len="med" w="med" type="triangle"/>
            </a:ln>
          </p:spPr>
        </p:cxnSp>
      </p:grpSp>
      <p:grpSp>
        <p:nvGrpSpPr>
          <p:cNvPr id="513" name="Google Shape;513;p44"/>
          <p:cNvGrpSpPr/>
          <p:nvPr/>
        </p:nvGrpSpPr>
        <p:grpSpPr>
          <a:xfrm>
            <a:off x="3477676" y="1995427"/>
            <a:ext cx="3191507" cy="2247434"/>
            <a:chOff x="3477676" y="1995427"/>
            <a:chExt cx="3191507" cy="2247434"/>
          </a:xfrm>
        </p:grpSpPr>
        <p:sp>
          <p:nvSpPr>
            <p:cNvPr id="514" name="Google Shape;514;p44"/>
            <p:cNvSpPr txBox="1"/>
            <p:nvPr/>
          </p:nvSpPr>
          <p:spPr>
            <a:xfrm>
              <a:off x="3477676" y="1996737"/>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15" name="Google Shape;515;p44"/>
            <p:cNvSpPr txBox="1"/>
            <p:nvPr/>
          </p:nvSpPr>
          <p:spPr>
            <a:xfrm>
              <a:off x="4043568" y="1996069"/>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16" name="Google Shape;516;p44"/>
            <p:cNvSpPr txBox="1"/>
            <p:nvPr/>
          </p:nvSpPr>
          <p:spPr>
            <a:xfrm>
              <a:off x="4577733" y="1995851"/>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17" name="Google Shape;517;p44"/>
            <p:cNvSpPr txBox="1"/>
            <p:nvPr/>
          </p:nvSpPr>
          <p:spPr>
            <a:xfrm>
              <a:off x="5107216" y="1996313"/>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18" name="Google Shape;518;p44"/>
            <p:cNvSpPr txBox="1"/>
            <p:nvPr/>
          </p:nvSpPr>
          <p:spPr>
            <a:xfrm>
              <a:off x="5673108" y="1995645"/>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19" name="Google Shape;519;p44"/>
            <p:cNvSpPr txBox="1"/>
            <p:nvPr/>
          </p:nvSpPr>
          <p:spPr>
            <a:xfrm>
              <a:off x="6207273" y="1995427"/>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0" name="Google Shape;520;p44"/>
            <p:cNvSpPr txBox="1"/>
            <p:nvPr/>
          </p:nvSpPr>
          <p:spPr>
            <a:xfrm>
              <a:off x="4033824" y="2396539"/>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1" name="Google Shape;521;p44"/>
            <p:cNvSpPr txBox="1"/>
            <p:nvPr/>
          </p:nvSpPr>
          <p:spPr>
            <a:xfrm>
              <a:off x="4567989" y="2396321"/>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2" name="Google Shape;522;p44"/>
            <p:cNvSpPr txBox="1"/>
            <p:nvPr/>
          </p:nvSpPr>
          <p:spPr>
            <a:xfrm>
              <a:off x="5097472" y="2396783"/>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3" name="Google Shape;523;p44"/>
            <p:cNvSpPr txBox="1"/>
            <p:nvPr/>
          </p:nvSpPr>
          <p:spPr>
            <a:xfrm>
              <a:off x="5663364" y="2396115"/>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4" name="Google Shape;524;p44"/>
            <p:cNvSpPr txBox="1"/>
            <p:nvPr/>
          </p:nvSpPr>
          <p:spPr>
            <a:xfrm>
              <a:off x="6197529" y="2395897"/>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5" name="Google Shape;525;p44"/>
            <p:cNvSpPr txBox="1"/>
            <p:nvPr/>
          </p:nvSpPr>
          <p:spPr>
            <a:xfrm>
              <a:off x="4572108" y="2763765"/>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6" name="Google Shape;526;p44"/>
            <p:cNvSpPr txBox="1"/>
            <p:nvPr/>
          </p:nvSpPr>
          <p:spPr>
            <a:xfrm>
              <a:off x="5101591" y="2764227"/>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7" name="Google Shape;527;p44"/>
            <p:cNvSpPr txBox="1"/>
            <p:nvPr/>
          </p:nvSpPr>
          <p:spPr>
            <a:xfrm>
              <a:off x="5667483" y="2763559"/>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8" name="Google Shape;528;p44"/>
            <p:cNvSpPr txBox="1"/>
            <p:nvPr/>
          </p:nvSpPr>
          <p:spPr>
            <a:xfrm>
              <a:off x="6201648" y="2763341"/>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29" name="Google Shape;529;p44"/>
            <p:cNvSpPr txBox="1"/>
            <p:nvPr/>
          </p:nvSpPr>
          <p:spPr>
            <a:xfrm>
              <a:off x="5124774" y="3149681"/>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30" name="Google Shape;530;p44"/>
            <p:cNvSpPr txBox="1"/>
            <p:nvPr/>
          </p:nvSpPr>
          <p:spPr>
            <a:xfrm>
              <a:off x="5690666" y="3149013"/>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31" name="Google Shape;531;p44"/>
            <p:cNvSpPr txBox="1"/>
            <p:nvPr/>
          </p:nvSpPr>
          <p:spPr>
            <a:xfrm>
              <a:off x="6224831" y="3148795"/>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32" name="Google Shape;532;p44"/>
            <p:cNvSpPr txBox="1"/>
            <p:nvPr/>
          </p:nvSpPr>
          <p:spPr>
            <a:xfrm>
              <a:off x="5685272" y="3563187"/>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33" name="Google Shape;533;p44"/>
            <p:cNvSpPr txBox="1"/>
            <p:nvPr/>
          </p:nvSpPr>
          <p:spPr>
            <a:xfrm>
              <a:off x="6219437" y="3562969"/>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sp>
          <p:nvSpPr>
            <p:cNvPr id="534" name="Google Shape;534;p44"/>
            <p:cNvSpPr txBox="1"/>
            <p:nvPr/>
          </p:nvSpPr>
          <p:spPr>
            <a:xfrm>
              <a:off x="6223740" y="3935084"/>
              <a:ext cx="4443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chemeClr val="dk1"/>
                  </a:solidFill>
                  <a:latin typeface="Roboto"/>
                  <a:ea typeface="Roboto"/>
                  <a:cs typeface="Roboto"/>
                  <a:sym typeface="Roboto"/>
                </a:rPr>
                <a:t>-∞</a:t>
              </a:r>
              <a:endParaRPr b="1" baseline="-25000" i="0" sz="1400" u="none" cap="none" strike="noStrike">
                <a:solidFill>
                  <a:schemeClr val="dk1"/>
                </a:solidFill>
                <a:latin typeface="Arial"/>
                <a:ea typeface="Arial"/>
                <a:cs typeface="Arial"/>
                <a:sym typeface="Arial"/>
              </a:endParaRPr>
            </a:p>
          </p:txBody>
        </p:sp>
      </p:grpSp>
      <p:grpSp>
        <p:nvGrpSpPr>
          <p:cNvPr id="535" name="Google Shape;535;p44"/>
          <p:cNvGrpSpPr/>
          <p:nvPr/>
        </p:nvGrpSpPr>
        <p:grpSpPr>
          <a:xfrm>
            <a:off x="6872303" y="2361561"/>
            <a:ext cx="2153889" cy="1734388"/>
            <a:chOff x="6872303" y="2361561"/>
            <a:chExt cx="2153889" cy="1734388"/>
          </a:xfrm>
        </p:grpSpPr>
        <p:pic>
          <p:nvPicPr>
            <p:cNvPr id="536" name="Google Shape;536;p44"/>
            <p:cNvPicPr preferRelativeResize="0"/>
            <p:nvPr/>
          </p:nvPicPr>
          <p:blipFill rotWithShape="1">
            <a:blip r:embed="rId3">
              <a:alphaModFix/>
            </a:blip>
            <a:srcRect b="0" l="0" r="0" t="0"/>
            <a:stretch/>
          </p:blipFill>
          <p:spPr>
            <a:xfrm>
              <a:off x="6926536" y="3688328"/>
              <a:ext cx="1502603" cy="407621"/>
            </a:xfrm>
            <a:prstGeom prst="rect">
              <a:avLst/>
            </a:prstGeom>
            <a:noFill/>
            <a:ln>
              <a:noFill/>
            </a:ln>
          </p:spPr>
        </p:pic>
        <p:pic>
          <p:nvPicPr>
            <p:cNvPr descr="A red text on a white background&#10;&#10;AI-generated content may be incorrect." id="537" name="Google Shape;537;p44"/>
            <p:cNvPicPr preferRelativeResize="0"/>
            <p:nvPr/>
          </p:nvPicPr>
          <p:blipFill rotWithShape="1">
            <a:blip r:embed="rId4">
              <a:alphaModFix/>
            </a:blip>
            <a:srcRect b="0" l="0" r="0" t="0"/>
            <a:stretch/>
          </p:blipFill>
          <p:spPr>
            <a:xfrm>
              <a:off x="6941940" y="2749126"/>
              <a:ext cx="2016761" cy="515177"/>
            </a:xfrm>
            <a:prstGeom prst="rect">
              <a:avLst/>
            </a:prstGeom>
            <a:noFill/>
            <a:ln>
              <a:noFill/>
            </a:ln>
          </p:spPr>
        </p:pic>
        <p:sp>
          <p:nvSpPr>
            <p:cNvPr id="538" name="Google Shape;538;p44"/>
            <p:cNvSpPr txBox="1"/>
            <p:nvPr/>
          </p:nvSpPr>
          <p:spPr>
            <a:xfrm>
              <a:off x="7013404" y="2361561"/>
              <a:ext cx="17107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200" u="none" cap="none" strike="noStrike">
                  <a:solidFill>
                    <a:schemeClr val="dk1"/>
                  </a:solidFill>
                  <a:latin typeface="Arial"/>
                  <a:ea typeface="Arial"/>
                  <a:cs typeface="Arial"/>
                  <a:sym typeface="Arial"/>
                </a:rPr>
                <a:t>Attention</a:t>
              </a:r>
              <a:r>
                <a:rPr b="1" i="0" lang="en" sz="1800" u="none" cap="none" strike="noStrike">
                  <a:solidFill>
                    <a:schemeClr val="dk1"/>
                  </a:solidFill>
                  <a:latin typeface="Arial"/>
                  <a:ea typeface="Arial"/>
                  <a:cs typeface="Arial"/>
                  <a:sym typeface="Arial"/>
                </a:rPr>
                <a:t> </a:t>
              </a:r>
              <a:r>
                <a:rPr b="1" i="0" lang="en" sz="1200" u="none" cap="none" strike="noStrike">
                  <a:solidFill>
                    <a:schemeClr val="dk1"/>
                  </a:solidFill>
                  <a:latin typeface="Arial"/>
                  <a:ea typeface="Arial"/>
                  <a:cs typeface="Arial"/>
                  <a:sym typeface="Arial"/>
                </a:rPr>
                <a:t>(Q,  K, V) =</a:t>
              </a:r>
              <a:endParaRPr b="1" i="0" sz="1800" u="none" cap="none" strike="noStrike">
                <a:solidFill>
                  <a:schemeClr val="dk1"/>
                </a:solidFill>
                <a:latin typeface="Arial"/>
                <a:ea typeface="Arial"/>
                <a:cs typeface="Arial"/>
                <a:sym typeface="Arial"/>
              </a:endParaRPr>
            </a:p>
          </p:txBody>
        </p:sp>
        <p:sp>
          <p:nvSpPr>
            <p:cNvPr id="539" name="Google Shape;539;p44"/>
            <p:cNvSpPr/>
            <p:nvPr/>
          </p:nvSpPr>
          <p:spPr>
            <a:xfrm>
              <a:off x="6872303" y="2420285"/>
              <a:ext cx="2153889" cy="851231"/>
            </a:xfrm>
            <a:prstGeom prst="rect">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540" name="Google Shape;540;p44"/>
            <p:cNvCxnSpPr/>
            <p:nvPr/>
          </p:nvCxnSpPr>
          <p:spPr>
            <a:xfrm>
              <a:off x="7238588" y="3093014"/>
              <a:ext cx="0" cy="651958"/>
            </a:xfrm>
            <a:prstGeom prst="straightConnector1">
              <a:avLst/>
            </a:prstGeom>
            <a:noFill/>
            <a:ln cap="flat" cmpd="sng" w="12700">
              <a:solidFill>
                <a:schemeClr val="dk1"/>
              </a:solidFill>
              <a:prstDash val="dash"/>
              <a:round/>
              <a:headEnd len="sm" w="sm" type="none"/>
              <a:tailEnd len="sm" w="sm" type="none"/>
            </a:ln>
          </p:spPr>
        </p:cxnSp>
      </p:grpSp>
      <p:sp>
        <p:nvSpPr>
          <p:cNvPr id="541" name="Google Shape;541;p44"/>
          <p:cNvSpPr txBox="1"/>
          <p:nvPr/>
        </p:nvSpPr>
        <p:spPr>
          <a:xfrm>
            <a:off x="6862795" y="4200723"/>
            <a:ext cx="190308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200" u="none" cap="none" strike="noStrike">
                <a:solidFill>
                  <a:schemeClr val="dk1"/>
                </a:solidFill>
                <a:latin typeface="Roboto"/>
                <a:ea typeface="Roboto"/>
                <a:cs typeface="Roboto"/>
                <a:sym typeface="Roboto"/>
              </a:rPr>
              <a:t>xi → -∞, softmax(xi) → 0</a:t>
            </a:r>
            <a:endParaRPr b="0" baseline="-25000" i="0" sz="1200" u="none" cap="none" strike="noStrike">
              <a:solidFill>
                <a:schemeClr val="dk1"/>
              </a:solidFill>
              <a:latin typeface="Arial"/>
              <a:ea typeface="Arial"/>
              <a:cs typeface="Arial"/>
              <a:sym typeface="Arial"/>
            </a:endParaRPr>
          </a:p>
        </p:txBody>
      </p:sp>
      <p:sp>
        <p:nvSpPr>
          <p:cNvPr id="542" name="Google Shape;542;p44"/>
          <p:cNvSpPr txBox="1"/>
          <p:nvPr/>
        </p:nvSpPr>
        <p:spPr>
          <a:xfrm>
            <a:off x="2248908" y="746679"/>
            <a:ext cx="34817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K</a:t>
            </a:r>
            <a:r>
              <a:rPr b="1" baseline="-25000" i="0" lang="en" sz="1400" u="none" cap="none" strike="noStrike">
                <a:solidFill>
                  <a:srgbClr val="000000"/>
                </a:solidFill>
                <a:latin typeface="Arial"/>
                <a:ea typeface="Arial"/>
                <a:cs typeface="Arial"/>
                <a:sym typeface="Arial"/>
              </a:rPr>
              <a:t>i</a:t>
            </a:r>
            <a:endParaRPr/>
          </a:p>
        </p:txBody>
      </p:sp>
      <p:cxnSp>
        <p:nvCxnSpPr>
          <p:cNvPr id="543" name="Google Shape;543;p44"/>
          <p:cNvCxnSpPr/>
          <p:nvPr/>
        </p:nvCxnSpPr>
        <p:spPr>
          <a:xfrm>
            <a:off x="2326711" y="746679"/>
            <a:ext cx="273518" cy="0"/>
          </a:xfrm>
          <a:prstGeom prst="straightConnector1">
            <a:avLst/>
          </a:prstGeom>
          <a:noFill/>
          <a:ln cap="flat" cmpd="sng" w="9525">
            <a:solidFill>
              <a:schemeClr val="dk1"/>
            </a:solidFill>
            <a:prstDash val="solid"/>
            <a:round/>
            <a:headEnd len="sm" w="sm" type="none"/>
            <a:tailEnd len="med" w="med" type="triangle"/>
          </a:ln>
        </p:spPr>
      </p:cxnSp>
      <p:sp>
        <p:nvSpPr>
          <p:cNvPr id="544" name="Google Shape;544;p44"/>
          <p:cNvSpPr txBox="1"/>
          <p:nvPr/>
        </p:nvSpPr>
        <p:spPr>
          <a:xfrm>
            <a:off x="2508501" y="760076"/>
            <a:ext cx="28886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a:t>
            </a:r>
            <a:endParaRPr b="1" baseline="-25000" i="0" sz="1400" u="none" cap="none" strike="noStrike">
              <a:solidFill>
                <a:srgbClr val="000000"/>
              </a:solidFill>
              <a:latin typeface="Arial"/>
              <a:ea typeface="Arial"/>
              <a:cs typeface="Arial"/>
              <a:sym typeface="Arial"/>
            </a:endParaRPr>
          </a:p>
        </p:txBody>
      </p:sp>
      <p:sp>
        <p:nvSpPr>
          <p:cNvPr id="545" name="Google Shape;545;p44"/>
          <p:cNvSpPr txBox="1"/>
          <p:nvPr/>
        </p:nvSpPr>
        <p:spPr>
          <a:xfrm>
            <a:off x="3140584" y="746679"/>
            <a:ext cx="61747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W_K</a:t>
            </a:r>
            <a:r>
              <a:rPr b="1" baseline="-25000" i="0" lang="en" sz="1400" u="none" cap="none" strike="noStrike">
                <a:solidFill>
                  <a:srgbClr val="000000"/>
                </a:solidFill>
                <a:latin typeface="Arial"/>
                <a:ea typeface="Arial"/>
                <a:cs typeface="Arial"/>
                <a:sym typeface="Arial"/>
              </a:rPr>
              <a:t>i</a:t>
            </a:r>
            <a:endParaRPr b="1" baseline="-25000" i="0" sz="1400" u="none" cap="none" strike="noStrike">
              <a:solidFill>
                <a:srgbClr val="000000"/>
              </a:solidFill>
              <a:latin typeface="Arial"/>
              <a:ea typeface="Arial"/>
              <a:cs typeface="Arial"/>
              <a:sym typeface="Arial"/>
            </a:endParaRPr>
          </a:p>
        </p:txBody>
      </p:sp>
      <p:cxnSp>
        <p:nvCxnSpPr>
          <p:cNvPr id="546" name="Google Shape;546;p44"/>
          <p:cNvCxnSpPr/>
          <p:nvPr/>
        </p:nvCxnSpPr>
        <p:spPr>
          <a:xfrm>
            <a:off x="3218387" y="746679"/>
            <a:ext cx="432315" cy="0"/>
          </a:xfrm>
          <a:prstGeom prst="straightConnector1">
            <a:avLst/>
          </a:prstGeom>
          <a:noFill/>
          <a:ln cap="flat" cmpd="sng" w="9525">
            <a:solidFill>
              <a:schemeClr val="dk1"/>
            </a:solidFill>
            <a:prstDash val="solid"/>
            <a:round/>
            <a:headEnd len="sm" w="sm" type="none"/>
            <a:tailEnd len="med" w="med" type="triangle"/>
          </a:ln>
        </p:spPr>
      </p:cxnSp>
      <p:sp>
        <p:nvSpPr>
          <p:cNvPr id="547" name="Google Shape;547;p44"/>
          <p:cNvSpPr txBox="1"/>
          <p:nvPr/>
        </p:nvSpPr>
        <p:spPr>
          <a:xfrm>
            <a:off x="2741355" y="746679"/>
            <a:ext cx="3385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E</a:t>
            </a:r>
            <a:r>
              <a:rPr b="1" baseline="-25000" i="0" lang="en" sz="1400" u="none" cap="none" strike="noStrike">
                <a:solidFill>
                  <a:srgbClr val="000000"/>
                </a:solidFill>
                <a:latin typeface="Arial"/>
                <a:ea typeface="Arial"/>
                <a:cs typeface="Arial"/>
                <a:sym typeface="Arial"/>
              </a:rPr>
              <a:t>i</a:t>
            </a:r>
            <a:endParaRPr/>
          </a:p>
        </p:txBody>
      </p:sp>
      <p:cxnSp>
        <p:nvCxnSpPr>
          <p:cNvPr id="548" name="Google Shape;548;p44"/>
          <p:cNvCxnSpPr/>
          <p:nvPr/>
        </p:nvCxnSpPr>
        <p:spPr>
          <a:xfrm>
            <a:off x="2819158" y="746679"/>
            <a:ext cx="273518" cy="0"/>
          </a:xfrm>
          <a:prstGeom prst="straightConnector1">
            <a:avLst/>
          </a:prstGeom>
          <a:noFill/>
          <a:ln cap="flat" cmpd="sng" w="9525">
            <a:solidFill>
              <a:schemeClr val="dk1"/>
            </a:solidFill>
            <a:prstDash val="solid"/>
            <a:round/>
            <a:headEnd len="sm" w="sm" type="none"/>
            <a:tailEnd len="med" w="med" type="triangle"/>
          </a:ln>
        </p:spPr>
      </p:cxnSp>
      <p:sp>
        <p:nvSpPr>
          <p:cNvPr id="549" name="Google Shape;549;p44"/>
          <p:cNvSpPr txBox="1"/>
          <p:nvPr/>
        </p:nvSpPr>
        <p:spPr>
          <a:xfrm>
            <a:off x="235265" y="1597541"/>
            <a:ext cx="35779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Q</a:t>
            </a:r>
            <a:r>
              <a:rPr b="1" baseline="-25000" i="0" lang="en" sz="1400" u="none" cap="none" strike="noStrike">
                <a:solidFill>
                  <a:srgbClr val="000000"/>
                </a:solidFill>
                <a:latin typeface="Arial"/>
                <a:ea typeface="Arial"/>
                <a:cs typeface="Arial"/>
                <a:sym typeface="Arial"/>
              </a:rPr>
              <a:t>i</a:t>
            </a:r>
            <a:endParaRPr/>
          </a:p>
        </p:txBody>
      </p:sp>
      <p:cxnSp>
        <p:nvCxnSpPr>
          <p:cNvPr id="550" name="Google Shape;550;p44"/>
          <p:cNvCxnSpPr/>
          <p:nvPr/>
        </p:nvCxnSpPr>
        <p:spPr>
          <a:xfrm>
            <a:off x="313068" y="1597541"/>
            <a:ext cx="273518" cy="0"/>
          </a:xfrm>
          <a:prstGeom prst="straightConnector1">
            <a:avLst/>
          </a:prstGeom>
          <a:noFill/>
          <a:ln cap="flat" cmpd="sng" w="9525">
            <a:solidFill>
              <a:schemeClr val="dk1"/>
            </a:solidFill>
            <a:prstDash val="solid"/>
            <a:round/>
            <a:headEnd len="sm" w="sm" type="none"/>
            <a:tailEnd len="med" w="med" type="triangle"/>
          </a:ln>
        </p:spPr>
      </p:cxnSp>
      <p:sp>
        <p:nvSpPr>
          <p:cNvPr id="551" name="Google Shape;551;p44"/>
          <p:cNvSpPr txBox="1"/>
          <p:nvPr/>
        </p:nvSpPr>
        <p:spPr>
          <a:xfrm>
            <a:off x="494858" y="1610938"/>
            <a:ext cx="28886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a:t>
            </a:r>
            <a:endParaRPr b="1" baseline="-25000" i="0" sz="1400" u="none" cap="none" strike="noStrike">
              <a:solidFill>
                <a:srgbClr val="000000"/>
              </a:solidFill>
              <a:latin typeface="Arial"/>
              <a:ea typeface="Arial"/>
              <a:cs typeface="Arial"/>
              <a:sym typeface="Arial"/>
            </a:endParaRPr>
          </a:p>
        </p:txBody>
      </p:sp>
      <p:sp>
        <p:nvSpPr>
          <p:cNvPr id="552" name="Google Shape;552;p44"/>
          <p:cNvSpPr txBox="1"/>
          <p:nvPr/>
        </p:nvSpPr>
        <p:spPr>
          <a:xfrm>
            <a:off x="1126941" y="1597541"/>
            <a:ext cx="62709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W_Q</a:t>
            </a:r>
            <a:r>
              <a:rPr b="1" baseline="-25000" i="0" lang="en" sz="1400" u="none" cap="none" strike="noStrike">
                <a:solidFill>
                  <a:srgbClr val="000000"/>
                </a:solidFill>
                <a:latin typeface="Arial"/>
                <a:ea typeface="Arial"/>
                <a:cs typeface="Arial"/>
                <a:sym typeface="Arial"/>
              </a:rPr>
              <a:t>i</a:t>
            </a:r>
            <a:endParaRPr b="1" baseline="-25000" i="0" sz="1400" u="none" cap="none" strike="noStrike">
              <a:solidFill>
                <a:srgbClr val="000000"/>
              </a:solidFill>
              <a:latin typeface="Arial"/>
              <a:ea typeface="Arial"/>
              <a:cs typeface="Arial"/>
              <a:sym typeface="Arial"/>
            </a:endParaRPr>
          </a:p>
        </p:txBody>
      </p:sp>
      <p:cxnSp>
        <p:nvCxnSpPr>
          <p:cNvPr id="553" name="Google Shape;553;p44"/>
          <p:cNvCxnSpPr/>
          <p:nvPr/>
        </p:nvCxnSpPr>
        <p:spPr>
          <a:xfrm>
            <a:off x="1204744" y="1597541"/>
            <a:ext cx="477099" cy="0"/>
          </a:xfrm>
          <a:prstGeom prst="straightConnector1">
            <a:avLst/>
          </a:prstGeom>
          <a:noFill/>
          <a:ln cap="flat" cmpd="sng" w="9525">
            <a:solidFill>
              <a:schemeClr val="dk1"/>
            </a:solidFill>
            <a:prstDash val="solid"/>
            <a:round/>
            <a:headEnd len="sm" w="sm" type="none"/>
            <a:tailEnd len="med" w="med" type="triangle"/>
          </a:ln>
        </p:spPr>
      </p:cxnSp>
      <p:sp>
        <p:nvSpPr>
          <p:cNvPr id="554" name="Google Shape;554;p44"/>
          <p:cNvSpPr txBox="1"/>
          <p:nvPr/>
        </p:nvSpPr>
        <p:spPr>
          <a:xfrm>
            <a:off x="727712" y="1597541"/>
            <a:ext cx="3385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1400" u="none" cap="none" strike="noStrike">
                <a:solidFill>
                  <a:srgbClr val="000000"/>
                </a:solidFill>
                <a:latin typeface="Arial"/>
                <a:ea typeface="Arial"/>
                <a:cs typeface="Arial"/>
                <a:sym typeface="Arial"/>
              </a:rPr>
              <a:t>E</a:t>
            </a:r>
            <a:r>
              <a:rPr b="1" baseline="-25000" i="0" lang="en" sz="1400" u="none" cap="none" strike="noStrike">
                <a:solidFill>
                  <a:srgbClr val="000000"/>
                </a:solidFill>
                <a:latin typeface="Arial"/>
                <a:ea typeface="Arial"/>
                <a:cs typeface="Arial"/>
                <a:sym typeface="Arial"/>
              </a:rPr>
              <a:t>i</a:t>
            </a:r>
            <a:endParaRPr/>
          </a:p>
        </p:txBody>
      </p:sp>
      <p:cxnSp>
        <p:nvCxnSpPr>
          <p:cNvPr id="555" name="Google Shape;555;p44"/>
          <p:cNvCxnSpPr/>
          <p:nvPr/>
        </p:nvCxnSpPr>
        <p:spPr>
          <a:xfrm>
            <a:off x="805515" y="1597541"/>
            <a:ext cx="273518" cy="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8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61" name="Google Shape;561;p45"/>
          <p:cNvSpPr txBox="1"/>
          <p:nvPr/>
        </p:nvSpPr>
        <p:spPr>
          <a:xfrm>
            <a:off x="311700" y="445025"/>
            <a:ext cx="8520600" cy="705349"/>
          </a:xfrm>
          <a:prstGeom prst="rect">
            <a:avLst/>
          </a:prstGeom>
          <a:noFill/>
          <a:ln>
            <a:noFill/>
          </a:ln>
        </p:spPr>
        <p:txBody>
          <a:bodyPr anchorCtr="0" anchor="t" bIns="91425" lIns="91425" spcFirstLastPara="1" rIns="91425" wrap="square" tIns="91425">
            <a:normAutofit fontScale="97500"/>
          </a:bodyPr>
          <a:lstStyle/>
          <a:p>
            <a:pPr indent="0" lvl="0" marL="0" marR="0" rtl="0" algn="l">
              <a:lnSpc>
                <a:spcPct val="100000"/>
              </a:lnSpc>
              <a:spcBef>
                <a:spcPts val="0"/>
              </a:spcBef>
              <a:spcAft>
                <a:spcPts val="0"/>
              </a:spcAft>
              <a:buNone/>
            </a:pPr>
            <a:r>
              <a:rPr b="0" i="0" lang="en" sz="2500" u="none" cap="none" strike="noStrike">
                <a:solidFill>
                  <a:srgbClr val="000000"/>
                </a:solidFill>
                <a:latin typeface="Arial"/>
                <a:ea typeface="Arial"/>
                <a:cs typeface="Arial"/>
                <a:sym typeface="Arial"/>
              </a:rPr>
              <a:t>Separating Attention Heads</a:t>
            </a:r>
            <a:endParaRPr b="0" baseline="30000" i="0" sz="2500" u="none" cap="none" strike="noStrike">
              <a:solidFill>
                <a:srgbClr val="000000"/>
              </a:solidFill>
              <a:latin typeface="Arial"/>
              <a:ea typeface="Arial"/>
              <a:cs typeface="Arial"/>
              <a:sym typeface="Arial"/>
            </a:endParaRPr>
          </a:p>
        </p:txBody>
      </p:sp>
      <p:grpSp>
        <p:nvGrpSpPr>
          <p:cNvPr id="562" name="Google Shape;562;p45"/>
          <p:cNvGrpSpPr/>
          <p:nvPr/>
        </p:nvGrpSpPr>
        <p:grpSpPr>
          <a:xfrm>
            <a:off x="385483" y="1262390"/>
            <a:ext cx="7436994" cy="523220"/>
            <a:chOff x="385483" y="1262390"/>
            <a:chExt cx="7436994" cy="523220"/>
          </a:xfrm>
        </p:grpSpPr>
        <p:sp>
          <p:nvSpPr>
            <p:cNvPr id="563" name="Google Shape;563;p45"/>
            <p:cNvSpPr txBox="1"/>
            <p:nvPr/>
          </p:nvSpPr>
          <p:spPr>
            <a:xfrm>
              <a:off x="385483" y="1262390"/>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Consolas"/>
                  <a:ea typeface="Consolas"/>
                  <a:cs typeface="Consolas"/>
                  <a:sym typeface="Consolas"/>
                </a:rPr>
                <a:t>q = [[1, 2, 3, 4, 5, 6],  # Token 1</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Consolas"/>
                  <a:ea typeface="Consolas"/>
                  <a:cs typeface="Consolas"/>
                  <a:sym typeface="Consolas"/>
                </a:rPr>
                <a:t>     [7, 8, 9, 10, 11, 12]]  # Token 2</a:t>
              </a:r>
              <a:endParaRPr/>
            </a:p>
          </p:txBody>
        </p:sp>
        <p:sp>
          <p:nvSpPr>
            <p:cNvPr id="564" name="Google Shape;564;p45"/>
            <p:cNvSpPr txBox="1"/>
            <p:nvPr/>
          </p:nvSpPr>
          <p:spPr>
            <a:xfrm>
              <a:off x="5351929" y="1262390"/>
              <a:ext cx="247054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(seq_len, hidden_dim): (2, 6)</a:t>
              </a:r>
              <a:endParaRPr/>
            </a:p>
          </p:txBody>
        </p:sp>
      </p:grpSp>
      <p:grpSp>
        <p:nvGrpSpPr>
          <p:cNvPr id="565" name="Google Shape;565;p45"/>
          <p:cNvGrpSpPr/>
          <p:nvPr/>
        </p:nvGrpSpPr>
        <p:grpSpPr>
          <a:xfrm>
            <a:off x="385483" y="2045586"/>
            <a:ext cx="8700160" cy="786141"/>
            <a:chOff x="385483" y="2045586"/>
            <a:chExt cx="8700160" cy="786141"/>
          </a:xfrm>
        </p:grpSpPr>
        <p:sp>
          <p:nvSpPr>
            <p:cNvPr id="566" name="Google Shape;566;p45"/>
            <p:cNvSpPr txBox="1"/>
            <p:nvPr/>
          </p:nvSpPr>
          <p:spPr>
            <a:xfrm>
              <a:off x="385483" y="2308507"/>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Consolas"/>
                  <a:ea typeface="Consolas"/>
                  <a:cs typeface="Consolas"/>
                  <a:sym typeface="Consolas"/>
                </a:rPr>
                <a:t>q = [[1, 2, 3, 4, 5, 6],  # Token 1</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Consolas"/>
                  <a:ea typeface="Consolas"/>
                  <a:cs typeface="Consolas"/>
                  <a:sym typeface="Consolas"/>
                </a:rPr>
                <a:t>     [7, 8, 9, 10, 11, 12]]  # Token 2</a:t>
              </a:r>
              <a:endParaRPr/>
            </a:p>
          </p:txBody>
        </p:sp>
        <p:sp>
          <p:nvSpPr>
            <p:cNvPr id="567" name="Google Shape;567;p45"/>
            <p:cNvSpPr txBox="1"/>
            <p:nvPr/>
          </p:nvSpPr>
          <p:spPr>
            <a:xfrm>
              <a:off x="5351929" y="2308507"/>
              <a:ext cx="373371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(seq_len, num_qo_heads * head_dim): (2, 6)</a:t>
              </a:r>
              <a:endParaRPr/>
            </a:p>
          </p:txBody>
        </p:sp>
        <p:sp>
          <p:nvSpPr>
            <p:cNvPr id="568" name="Google Shape;568;p45"/>
            <p:cNvSpPr txBox="1"/>
            <p:nvPr/>
          </p:nvSpPr>
          <p:spPr>
            <a:xfrm>
              <a:off x="6840070" y="2045587"/>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a:t>
              </a:r>
              <a:endParaRPr/>
            </a:p>
          </p:txBody>
        </p:sp>
        <p:sp>
          <p:nvSpPr>
            <p:cNvPr id="569" name="Google Shape;569;p45"/>
            <p:cNvSpPr txBox="1"/>
            <p:nvPr/>
          </p:nvSpPr>
          <p:spPr>
            <a:xfrm>
              <a:off x="7820830" y="2045586"/>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3</a:t>
              </a:r>
              <a:endParaRPr/>
            </a:p>
          </p:txBody>
        </p:sp>
      </p:grpSp>
      <p:grpSp>
        <p:nvGrpSpPr>
          <p:cNvPr id="570" name="Google Shape;570;p45"/>
          <p:cNvGrpSpPr/>
          <p:nvPr/>
        </p:nvGrpSpPr>
        <p:grpSpPr>
          <a:xfrm>
            <a:off x="385483" y="3181351"/>
            <a:ext cx="9538446" cy="1432471"/>
            <a:chOff x="385483" y="3181351"/>
            <a:chExt cx="9538446" cy="1432471"/>
          </a:xfrm>
        </p:grpSpPr>
        <p:sp>
          <p:nvSpPr>
            <p:cNvPr id="571" name="Google Shape;571;p45"/>
            <p:cNvSpPr txBox="1"/>
            <p:nvPr/>
          </p:nvSpPr>
          <p:spPr>
            <a:xfrm>
              <a:off x="385483" y="3444271"/>
              <a:ext cx="4814046"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Consolas"/>
                  <a:ea typeface="Consolas"/>
                  <a:cs typeface="Consolas"/>
                  <a:sym typeface="Consolas"/>
                </a:rPr>
                <a:t>sub_q = [[[1, 2, 3],  # Head 1 for Token 1</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Consolas"/>
                  <a:ea typeface="Consolas"/>
                  <a:cs typeface="Consolas"/>
                  <a:sym typeface="Consolas"/>
                </a:rPr>
                <a:t>          [4, 5, 6]],  # Head 2 for Token 1</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None/>
              </a:pPr>
              <a:r>
                <a:rPr b="0" i="0" lang="en" sz="1400" u="none" cap="none" strike="noStrike">
                  <a:solidFill>
                    <a:srgbClr val="000000"/>
                  </a:solidFill>
                  <a:latin typeface="Consolas"/>
                  <a:ea typeface="Consolas"/>
                  <a:cs typeface="Consolas"/>
                  <a:sym typeface="Consolas"/>
                </a:rPr>
                <a:t>         [[7, 8, 9],  # Head 1 for Token 2</a:t>
              </a:r>
              <a:endParaRPr/>
            </a:p>
            <a:p>
              <a:pPr indent="0" lvl="0" marL="0" marR="0" rtl="0" algn="l">
                <a:lnSpc>
                  <a:spcPct val="100000"/>
                </a:lnSpc>
                <a:spcBef>
                  <a:spcPts val="0"/>
                </a:spcBef>
                <a:spcAft>
                  <a:spcPts val="0"/>
                </a:spcAft>
                <a:buNone/>
              </a:pPr>
              <a:r>
                <a:rPr b="0" i="0" lang="en" sz="1400" u="none" cap="none" strike="noStrike">
                  <a:solidFill>
                    <a:srgbClr val="000000"/>
                  </a:solidFill>
                  <a:latin typeface="Consolas"/>
                  <a:ea typeface="Consolas"/>
                  <a:cs typeface="Consolas"/>
                  <a:sym typeface="Consolas"/>
                </a:rPr>
                <a:t>          [10, 11, 12]]]  # Head 2 for Token 2</a:t>
              </a:r>
              <a:endParaRPr/>
            </a:p>
          </p:txBody>
        </p:sp>
        <p:sp>
          <p:nvSpPr>
            <p:cNvPr id="572" name="Google Shape;572;p45"/>
            <p:cNvSpPr txBox="1"/>
            <p:nvPr/>
          </p:nvSpPr>
          <p:spPr>
            <a:xfrm>
              <a:off x="5351929" y="3444271"/>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chemeClr val="dk1"/>
                  </a:solidFill>
                  <a:latin typeface="Arial"/>
                  <a:ea typeface="Arial"/>
                  <a:cs typeface="Arial"/>
                  <a:sym typeface="Arial"/>
                </a:rPr>
                <a:t>(seq_len, num_qo_heads, head_dim)</a:t>
              </a:r>
              <a:endParaRPr b="0" i="0" sz="1400" u="none" cap="none" strike="noStrike">
                <a:solidFill>
                  <a:schemeClr val="dk1"/>
                </a:solidFill>
                <a:latin typeface="Arial"/>
                <a:ea typeface="Arial"/>
                <a:cs typeface="Arial"/>
                <a:sym typeface="Arial"/>
              </a:endParaRPr>
            </a:p>
          </p:txBody>
        </p:sp>
        <p:sp>
          <p:nvSpPr>
            <p:cNvPr id="573" name="Google Shape;573;p45"/>
            <p:cNvSpPr txBox="1"/>
            <p:nvPr/>
          </p:nvSpPr>
          <p:spPr>
            <a:xfrm>
              <a:off x="6840070" y="3181351"/>
              <a:ext cx="80021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(2, 2, 3)</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46"/>
          <p:cNvSpPr txBox="1"/>
          <p:nvPr>
            <p:ph type="title"/>
          </p:nvPr>
        </p:nvSpPr>
        <p:spPr>
          <a:xfrm>
            <a:off x="311700" y="190752"/>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Residual Connections</a:t>
            </a:r>
            <a:endParaRPr/>
          </a:p>
        </p:txBody>
      </p:sp>
      <p:sp>
        <p:nvSpPr>
          <p:cNvPr id="579" name="Google Shape;57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580" name="Google Shape;580;p46"/>
          <p:cNvPicPr preferRelativeResize="0"/>
          <p:nvPr/>
        </p:nvPicPr>
        <p:blipFill rotWithShape="1">
          <a:blip r:embed="rId3">
            <a:alphaModFix/>
          </a:blip>
          <a:srcRect b="0" l="0" r="0" t="0"/>
          <a:stretch/>
        </p:blipFill>
        <p:spPr>
          <a:xfrm>
            <a:off x="97974" y="1130934"/>
            <a:ext cx="9046026" cy="2492604"/>
          </a:xfrm>
          <a:prstGeom prst="rect">
            <a:avLst/>
          </a:prstGeom>
          <a:noFill/>
          <a:ln>
            <a:noFill/>
          </a:ln>
        </p:spPr>
      </p:pic>
      <p:pic>
        <p:nvPicPr>
          <p:cNvPr id="581" name="Google Shape;581;p46"/>
          <p:cNvPicPr preferRelativeResize="0"/>
          <p:nvPr/>
        </p:nvPicPr>
        <p:blipFill rotWithShape="1">
          <a:blip r:embed="rId4">
            <a:alphaModFix/>
          </a:blip>
          <a:srcRect b="0" l="0" r="0" t="0"/>
          <a:stretch/>
        </p:blipFill>
        <p:spPr>
          <a:xfrm>
            <a:off x="4235687" y="1543322"/>
            <a:ext cx="1423481" cy="1653428"/>
          </a:xfrm>
          <a:prstGeom prst="rect">
            <a:avLst/>
          </a:prstGeom>
          <a:noFill/>
          <a:ln>
            <a:noFill/>
          </a:ln>
        </p:spPr>
      </p:pic>
      <p:pic>
        <p:nvPicPr>
          <p:cNvPr id="582" name="Google Shape;582;p46"/>
          <p:cNvPicPr preferRelativeResize="0"/>
          <p:nvPr/>
        </p:nvPicPr>
        <p:blipFill rotWithShape="1">
          <a:blip r:embed="rId5">
            <a:alphaModFix/>
          </a:blip>
          <a:srcRect b="0" l="0" r="0" t="0"/>
          <a:stretch/>
        </p:blipFill>
        <p:spPr>
          <a:xfrm>
            <a:off x="5343703" y="1678005"/>
            <a:ext cx="2083930" cy="902665"/>
          </a:xfrm>
          <a:prstGeom prst="rect">
            <a:avLst/>
          </a:prstGeom>
          <a:noFill/>
          <a:ln>
            <a:noFill/>
          </a:ln>
        </p:spPr>
      </p:pic>
      <p:pic>
        <p:nvPicPr>
          <p:cNvPr id="583" name="Google Shape;583;p46"/>
          <p:cNvPicPr preferRelativeResize="0"/>
          <p:nvPr/>
        </p:nvPicPr>
        <p:blipFill rotWithShape="1">
          <a:blip r:embed="rId6">
            <a:alphaModFix/>
          </a:blip>
          <a:srcRect b="0" l="0" r="0" t="0"/>
          <a:stretch/>
        </p:blipFill>
        <p:spPr>
          <a:xfrm>
            <a:off x="5342359" y="2167750"/>
            <a:ext cx="2095075" cy="824657"/>
          </a:xfrm>
          <a:prstGeom prst="rect">
            <a:avLst/>
          </a:prstGeom>
          <a:noFill/>
          <a:ln>
            <a:noFill/>
          </a:ln>
        </p:spPr>
      </p:pic>
      <p:pic>
        <p:nvPicPr>
          <p:cNvPr id="584" name="Google Shape;584;p46"/>
          <p:cNvPicPr preferRelativeResize="0"/>
          <p:nvPr/>
        </p:nvPicPr>
        <p:blipFill rotWithShape="1">
          <a:blip r:embed="rId7">
            <a:alphaModFix/>
          </a:blip>
          <a:srcRect b="0" l="0" r="0" t="0"/>
          <a:stretch/>
        </p:blipFill>
        <p:spPr>
          <a:xfrm>
            <a:off x="7105650" y="1543322"/>
            <a:ext cx="457805" cy="1656818"/>
          </a:xfrm>
          <a:prstGeom prst="rect">
            <a:avLst/>
          </a:prstGeom>
          <a:noFill/>
          <a:ln>
            <a:noFill/>
          </a:ln>
        </p:spPr>
      </p:pic>
      <p:pic>
        <p:nvPicPr>
          <p:cNvPr id="585" name="Google Shape;585;p46"/>
          <p:cNvPicPr preferRelativeResize="0"/>
          <p:nvPr/>
        </p:nvPicPr>
        <p:blipFill rotWithShape="1">
          <a:blip r:embed="rId8">
            <a:alphaModFix/>
          </a:blip>
          <a:srcRect b="0" l="0" r="0" t="0"/>
          <a:stretch/>
        </p:blipFill>
        <p:spPr>
          <a:xfrm>
            <a:off x="7257954" y="1507718"/>
            <a:ext cx="1718694" cy="1653428"/>
          </a:xfrm>
          <a:prstGeom prst="rect">
            <a:avLst/>
          </a:prstGeom>
          <a:noFill/>
          <a:ln>
            <a:noFill/>
          </a:ln>
        </p:spPr>
      </p:pic>
      <p:grpSp>
        <p:nvGrpSpPr>
          <p:cNvPr id="586" name="Google Shape;586;p46"/>
          <p:cNvGrpSpPr/>
          <p:nvPr/>
        </p:nvGrpSpPr>
        <p:grpSpPr>
          <a:xfrm>
            <a:off x="744183" y="2262892"/>
            <a:ext cx="7777571" cy="1057849"/>
            <a:chOff x="744183" y="2262892"/>
            <a:chExt cx="7777571" cy="1057849"/>
          </a:xfrm>
        </p:grpSpPr>
        <p:cxnSp>
          <p:nvCxnSpPr>
            <p:cNvPr id="587" name="Google Shape;587;p46"/>
            <p:cNvCxnSpPr/>
            <p:nvPr/>
          </p:nvCxnSpPr>
          <p:spPr>
            <a:xfrm>
              <a:off x="4956437" y="2372154"/>
              <a:ext cx="105517" cy="0"/>
            </a:xfrm>
            <a:prstGeom prst="straightConnector1">
              <a:avLst/>
            </a:prstGeom>
            <a:noFill/>
            <a:ln cap="flat" cmpd="sng" w="12700">
              <a:solidFill>
                <a:schemeClr val="dk1"/>
              </a:solidFill>
              <a:prstDash val="solid"/>
              <a:round/>
              <a:headEnd len="sm" w="sm" type="none"/>
              <a:tailEnd len="med" w="med" type="stealth"/>
            </a:ln>
          </p:spPr>
        </p:cxnSp>
        <p:cxnSp>
          <p:nvCxnSpPr>
            <p:cNvPr id="588" name="Google Shape;588;p46"/>
            <p:cNvCxnSpPr/>
            <p:nvPr/>
          </p:nvCxnSpPr>
          <p:spPr>
            <a:xfrm>
              <a:off x="744183" y="3320716"/>
              <a:ext cx="4389120" cy="0"/>
            </a:xfrm>
            <a:prstGeom prst="straightConnector1">
              <a:avLst/>
            </a:prstGeom>
            <a:noFill/>
            <a:ln cap="flat" cmpd="sng" w="12700">
              <a:solidFill>
                <a:schemeClr val="dk1"/>
              </a:solidFill>
              <a:prstDash val="solid"/>
              <a:round/>
              <a:headEnd len="sm" w="sm" type="none"/>
              <a:tailEnd len="sm" w="sm" type="none"/>
            </a:ln>
          </p:spPr>
        </p:cxnSp>
        <p:cxnSp>
          <p:nvCxnSpPr>
            <p:cNvPr id="589" name="Google Shape;589;p46"/>
            <p:cNvCxnSpPr/>
            <p:nvPr/>
          </p:nvCxnSpPr>
          <p:spPr>
            <a:xfrm rot="10800000">
              <a:off x="748397" y="2378562"/>
              <a:ext cx="0" cy="942154"/>
            </a:xfrm>
            <a:prstGeom prst="straightConnector1">
              <a:avLst/>
            </a:prstGeom>
            <a:noFill/>
            <a:ln cap="flat" cmpd="sng" w="12700">
              <a:solidFill>
                <a:schemeClr val="dk1"/>
              </a:solidFill>
              <a:prstDash val="solid"/>
              <a:round/>
              <a:headEnd len="sm" w="sm" type="none"/>
              <a:tailEnd len="sm" w="sm" type="none"/>
            </a:ln>
          </p:spPr>
        </p:cxnSp>
        <p:cxnSp>
          <p:nvCxnSpPr>
            <p:cNvPr id="590" name="Google Shape;590;p46"/>
            <p:cNvCxnSpPr/>
            <p:nvPr/>
          </p:nvCxnSpPr>
          <p:spPr>
            <a:xfrm rot="10800000">
              <a:off x="5125781" y="2429564"/>
              <a:ext cx="2892" cy="891152"/>
            </a:xfrm>
            <a:prstGeom prst="straightConnector1">
              <a:avLst/>
            </a:prstGeom>
            <a:noFill/>
            <a:ln cap="flat" cmpd="sng" w="12700">
              <a:solidFill>
                <a:schemeClr val="dk1"/>
              </a:solidFill>
              <a:prstDash val="solid"/>
              <a:round/>
              <a:headEnd len="sm" w="sm" type="none"/>
              <a:tailEnd len="med" w="med" type="stealth"/>
            </a:ln>
          </p:spPr>
        </p:cxnSp>
        <p:cxnSp>
          <p:nvCxnSpPr>
            <p:cNvPr id="591" name="Google Shape;591;p46"/>
            <p:cNvCxnSpPr>
              <a:endCxn id="592" idx="4"/>
            </p:cNvCxnSpPr>
            <p:nvPr/>
          </p:nvCxnSpPr>
          <p:spPr>
            <a:xfrm rot="10800000">
              <a:off x="8459030" y="2388341"/>
              <a:ext cx="2700" cy="932400"/>
            </a:xfrm>
            <a:prstGeom prst="straightConnector1">
              <a:avLst/>
            </a:prstGeom>
            <a:noFill/>
            <a:ln cap="flat" cmpd="sng" w="12700">
              <a:solidFill>
                <a:schemeClr val="dk1"/>
              </a:solidFill>
              <a:prstDash val="solid"/>
              <a:round/>
              <a:headEnd len="sm" w="sm" type="none"/>
              <a:tailEnd len="med" w="med" type="stealth"/>
            </a:ln>
          </p:spPr>
        </p:cxnSp>
        <p:sp>
          <p:nvSpPr>
            <p:cNvPr id="593" name="Google Shape;593;p46"/>
            <p:cNvSpPr/>
            <p:nvPr/>
          </p:nvSpPr>
          <p:spPr>
            <a:xfrm>
              <a:off x="5061954" y="2304115"/>
              <a:ext cx="125449" cy="125449"/>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lt1"/>
                  </a:solidFill>
                  <a:latin typeface="Arial"/>
                  <a:ea typeface="Arial"/>
                  <a:cs typeface="Arial"/>
                  <a:sym typeface="Arial"/>
                </a:rPr>
                <a:t>+</a:t>
              </a:r>
              <a:endParaRPr/>
            </a:p>
          </p:txBody>
        </p:sp>
        <p:cxnSp>
          <p:nvCxnSpPr>
            <p:cNvPr id="594" name="Google Shape;594;p46"/>
            <p:cNvCxnSpPr/>
            <p:nvPr/>
          </p:nvCxnSpPr>
          <p:spPr>
            <a:xfrm>
              <a:off x="5203954" y="3320716"/>
              <a:ext cx="3265238" cy="0"/>
            </a:xfrm>
            <a:prstGeom prst="straightConnector1">
              <a:avLst/>
            </a:prstGeom>
            <a:noFill/>
            <a:ln cap="flat" cmpd="sng" w="12700">
              <a:solidFill>
                <a:schemeClr val="dk1"/>
              </a:solidFill>
              <a:prstDash val="solid"/>
              <a:round/>
              <a:headEnd len="sm" w="sm" type="none"/>
              <a:tailEnd len="sm" w="sm" type="none"/>
            </a:ln>
          </p:spPr>
        </p:cxnSp>
        <p:cxnSp>
          <p:nvCxnSpPr>
            <p:cNvPr id="595" name="Google Shape;595;p46"/>
            <p:cNvCxnSpPr/>
            <p:nvPr/>
          </p:nvCxnSpPr>
          <p:spPr>
            <a:xfrm rot="10800000">
              <a:off x="5206766" y="2374348"/>
              <a:ext cx="0" cy="946368"/>
            </a:xfrm>
            <a:prstGeom prst="straightConnector1">
              <a:avLst/>
            </a:prstGeom>
            <a:noFill/>
            <a:ln cap="flat" cmpd="sng" w="12700">
              <a:solidFill>
                <a:schemeClr val="dk1"/>
              </a:solidFill>
              <a:prstDash val="solid"/>
              <a:round/>
              <a:headEnd len="sm" w="sm" type="none"/>
              <a:tailEnd len="sm" w="sm" type="none"/>
            </a:ln>
          </p:spPr>
        </p:cxnSp>
        <p:sp>
          <p:nvSpPr>
            <p:cNvPr id="592" name="Google Shape;592;p46"/>
            <p:cNvSpPr/>
            <p:nvPr/>
          </p:nvSpPr>
          <p:spPr>
            <a:xfrm>
              <a:off x="8396305" y="2262892"/>
              <a:ext cx="125449" cy="125449"/>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400" u="none" cap="none" strike="noStrike">
                  <a:solidFill>
                    <a:schemeClr val="lt1"/>
                  </a:solidFill>
                  <a:latin typeface="Arial"/>
                  <a:ea typeface="Arial"/>
                  <a:cs typeface="Arial"/>
                  <a:sym typeface="Arial"/>
                </a:rPr>
                <a:t>+</a:t>
              </a:r>
              <a:endParaRPr/>
            </a:p>
          </p:txBody>
        </p:sp>
        <p:cxnSp>
          <p:nvCxnSpPr>
            <p:cNvPr id="596" name="Google Shape;596;p46"/>
            <p:cNvCxnSpPr/>
            <p:nvPr/>
          </p:nvCxnSpPr>
          <p:spPr>
            <a:xfrm>
              <a:off x="8299590" y="2329574"/>
              <a:ext cx="105517" cy="0"/>
            </a:xfrm>
            <a:prstGeom prst="straightConnector1">
              <a:avLst/>
            </a:prstGeom>
            <a:noFill/>
            <a:ln cap="flat" cmpd="sng" w="12700">
              <a:solidFill>
                <a:schemeClr val="dk1"/>
              </a:solidFill>
              <a:prstDash val="solid"/>
              <a:round/>
              <a:headEnd len="sm" w="sm" type="none"/>
              <a:tailEnd len="med" w="med" type="stealth"/>
            </a:ln>
          </p:spPr>
        </p:cxnSp>
      </p:grpSp>
      <p:pic>
        <p:nvPicPr>
          <p:cNvPr descr="Blank Yin Yang Clip Art at Clker.com - vector clip art online, royalty free  &amp; public domain" id="597" name="Google Shape;597;p46"/>
          <p:cNvPicPr preferRelativeResize="0"/>
          <p:nvPr/>
        </p:nvPicPr>
        <p:blipFill rotWithShape="1">
          <a:blip r:embed="rId9">
            <a:alphaModFix/>
          </a:blip>
          <a:srcRect b="0" l="0" r="0" t="0"/>
          <a:stretch/>
        </p:blipFill>
        <p:spPr>
          <a:xfrm rot="5400000">
            <a:off x="2176663" y="1620406"/>
            <a:ext cx="169793" cy="169793"/>
          </a:xfrm>
          <a:prstGeom prst="rect">
            <a:avLst/>
          </a:prstGeom>
          <a:noFill/>
          <a:ln>
            <a:noFill/>
          </a:ln>
        </p:spPr>
      </p:pic>
      <p:pic>
        <p:nvPicPr>
          <p:cNvPr descr="Blank Yin Yang Clip Art at Clker.com - vector clip art online, royalty free  &amp; public domain" id="598" name="Google Shape;598;p46"/>
          <p:cNvPicPr preferRelativeResize="0"/>
          <p:nvPr/>
        </p:nvPicPr>
        <p:blipFill rotWithShape="1">
          <a:blip r:embed="rId9">
            <a:alphaModFix/>
          </a:blip>
          <a:srcRect b="0" l="0" r="0" t="0"/>
          <a:stretch/>
        </p:blipFill>
        <p:spPr>
          <a:xfrm rot="5400000">
            <a:off x="2176663" y="2143999"/>
            <a:ext cx="169793" cy="169793"/>
          </a:xfrm>
          <a:prstGeom prst="rect">
            <a:avLst/>
          </a:prstGeom>
          <a:noFill/>
          <a:ln>
            <a:noFill/>
          </a:ln>
        </p:spPr>
      </p:pic>
      <p:sp>
        <p:nvSpPr>
          <p:cNvPr id="599" name="Google Shape;599;p46"/>
          <p:cNvSpPr/>
          <p:nvPr/>
        </p:nvSpPr>
        <p:spPr>
          <a:xfrm>
            <a:off x="4938958" y="2167749"/>
            <a:ext cx="393600" cy="393600"/>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0" name="Google Shape;600;p46"/>
          <p:cNvSpPr/>
          <p:nvPr/>
        </p:nvSpPr>
        <p:spPr>
          <a:xfrm>
            <a:off x="8262229" y="2131577"/>
            <a:ext cx="393600" cy="393600"/>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601" name="Google Shape;601;p46"/>
          <p:cNvCxnSpPr>
            <a:stCxn id="599" idx="4"/>
          </p:cNvCxnSpPr>
          <p:nvPr/>
        </p:nvCxnSpPr>
        <p:spPr>
          <a:xfrm>
            <a:off x="5135758" y="2561349"/>
            <a:ext cx="1591800" cy="1429800"/>
          </a:xfrm>
          <a:prstGeom prst="straightConnector1">
            <a:avLst/>
          </a:prstGeom>
          <a:noFill/>
          <a:ln cap="flat" cmpd="sng" w="25400">
            <a:solidFill>
              <a:srgbClr val="FF0000"/>
            </a:solidFill>
            <a:prstDash val="solid"/>
            <a:round/>
            <a:headEnd len="sm" w="sm" type="none"/>
            <a:tailEnd len="sm" w="sm" type="none"/>
          </a:ln>
        </p:spPr>
      </p:cxnSp>
      <p:cxnSp>
        <p:nvCxnSpPr>
          <p:cNvPr id="602" name="Google Shape;602;p46"/>
          <p:cNvCxnSpPr>
            <a:stCxn id="600" idx="4"/>
          </p:cNvCxnSpPr>
          <p:nvPr/>
        </p:nvCxnSpPr>
        <p:spPr>
          <a:xfrm flipH="1">
            <a:off x="7084429" y="2525177"/>
            <a:ext cx="1374600" cy="1465800"/>
          </a:xfrm>
          <a:prstGeom prst="straightConnector1">
            <a:avLst/>
          </a:prstGeom>
          <a:noFill/>
          <a:ln cap="flat" cmpd="sng" w="25400">
            <a:solidFill>
              <a:srgbClr val="FF0000"/>
            </a:solidFill>
            <a:prstDash val="solid"/>
            <a:round/>
            <a:headEnd len="sm" w="sm" type="none"/>
            <a:tailEnd len="sm" w="sm" type="none"/>
          </a:ln>
        </p:spPr>
      </p:cxnSp>
      <p:sp>
        <p:nvSpPr>
          <p:cNvPr id="603" name="Google Shape;603;p46"/>
          <p:cNvSpPr txBox="1"/>
          <p:nvPr/>
        </p:nvSpPr>
        <p:spPr>
          <a:xfrm>
            <a:off x="6140914" y="4071425"/>
            <a:ext cx="195758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Residual connections*</a:t>
            </a:r>
            <a:endParaRPr/>
          </a:p>
        </p:txBody>
      </p:sp>
      <p:sp>
        <p:nvSpPr>
          <p:cNvPr id="604" name="Google Shape;604;p46"/>
          <p:cNvSpPr txBox="1"/>
          <p:nvPr/>
        </p:nvSpPr>
        <p:spPr>
          <a:xfrm>
            <a:off x="6154328" y="4758830"/>
            <a:ext cx="2501501" cy="271869"/>
          </a:xfrm>
          <a:prstGeom prst="rect">
            <a:avLst/>
          </a:prstGeom>
          <a:noFill/>
          <a:ln>
            <a:noFill/>
          </a:ln>
        </p:spPr>
        <p:txBody>
          <a:bodyPr anchorCtr="0" anchor="t" bIns="45700" lIns="91425" spcFirstLastPara="1" rIns="91425" wrap="square" tIns="45700">
            <a:spAutoFit/>
          </a:bodyPr>
          <a:lstStyle/>
          <a:p>
            <a:pPr indent="0" lvl="0" marL="0" marR="0" rtl="0" algn="l">
              <a:lnSpc>
                <a:spcPct val="112500"/>
              </a:lnSpc>
              <a:spcBef>
                <a:spcPts val="0"/>
              </a:spcBef>
              <a:spcAft>
                <a:spcPts val="0"/>
              </a:spcAft>
              <a:buNone/>
            </a:pPr>
            <a:r>
              <a:rPr b="0" i="0" lang="en" sz="1200" u="none" cap="none" strike="noStrike">
                <a:solidFill>
                  <a:srgbClr val="BFBFBF"/>
                </a:solidFill>
                <a:latin typeface="Arial"/>
                <a:ea typeface="Arial"/>
                <a:cs typeface="Arial"/>
                <a:sym typeface="Arial"/>
              </a:rPr>
              <a:t>*https://arxiv.org/abs/1512.03385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自定义 2">
      <a:dk1>
        <a:srgbClr val="000000"/>
      </a:dk1>
      <a:lt1>
        <a:srgbClr val="000000"/>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Custom 5">
    <a:dk1>
      <a:srgbClr val="000000"/>
    </a:dk1>
    <a:lt1>
      <a:srgbClr val="E8D3A2"/>
    </a:lt1>
    <a:dk2>
      <a:srgbClr val="32006E"/>
    </a:dk2>
    <a:lt2>
      <a:srgbClr val="FFFFFF"/>
    </a:lt2>
    <a:accent1>
      <a:srgbClr val="4B2E83"/>
    </a:accent1>
    <a:accent2>
      <a:srgbClr val="E8D3A2"/>
    </a:accent2>
    <a:accent3>
      <a:srgbClr val="FFFFFF"/>
    </a:accent3>
    <a:accent4>
      <a:srgbClr val="B2B2B2"/>
    </a:accent4>
    <a:accent5>
      <a:srgbClr val="FFC700"/>
    </a:accent5>
    <a:accent6>
      <a:srgbClr val="917B4C"/>
    </a:accent6>
    <a:hlink>
      <a:srgbClr val="32006E"/>
    </a:hlink>
    <a:folHlink>
      <a:srgbClr val="4B2E83"/>
    </a:folHlink>
  </a:clrScheme>
</a:themeOverride>
</file>