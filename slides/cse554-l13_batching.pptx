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5"/>
    <p:sldMasterId id="2147483691" r:id="rId6"/>
    <p:sldMasterId id="2147483692" r:id="rId7"/>
    <p:sldMasterId id="2147483693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</p:sldIdLst>
  <p:sldSz cy="5143500" cx="9144000"/>
  <p:notesSz cx="6858000" cy="9144000"/>
  <p:embeddedFontLst>
    <p:embeddedFont>
      <p:font typeface="Play"/>
      <p:regular r:id="rId54"/>
      <p:bold r:id="rId55"/>
    </p:embeddedFont>
    <p:embeddedFont>
      <p:font typeface="Encode Sans"/>
      <p:regular r:id="rId56"/>
      <p:bold r:id="rId57"/>
    </p:embeddedFont>
    <p:embeddedFont>
      <p:font typeface="Encode Sans Black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25C183-F875-4C94-BDF7-FD53D3BF93A3}">
  <a:tblStyle styleId="{4425C183-F875-4C94-BDF7-FD53D3BF93A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font" Target="fonts/Play-bold.fntdata"/><Relationship Id="rId10" Type="http://schemas.openxmlformats.org/officeDocument/2006/relationships/slide" Target="slides/slide1.xml"/><Relationship Id="rId54" Type="http://schemas.openxmlformats.org/officeDocument/2006/relationships/font" Target="fonts/Play-regular.fntdata"/><Relationship Id="rId13" Type="http://schemas.openxmlformats.org/officeDocument/2006/relationships/slide" Target="slides/slide4.xml"/><Relationship Id="rId57" Type="http://schemas.openxmlformats.org/officeDocument/2006/relationships/font" Target="fonts/EncodeSans-bold.fntdata"/><Relationship Id="rId12" Type="http://schemas.openxmlformats.org/officeDocument/2006/relationships/slide" Target="slides/slide3.xml"/><Relationship Id="rId56" Type="http://schemas.openxmlformats.org/officeDocument/2006/relationships/font" Target="fonts/EncodeSans-regular.fntdata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58" Type="http://schemas.openxmlformats.org/officeDocument/2006/relationships/font" Target="fonts/EncodeSansBlack-bold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b49788d46_0_34:notes"/>
          <p:cNvSpPr/>
          <p:nvPr>
            <p:ph idx="2" type="sldImg"/>
          </p:nvPr>
        </p:nvSpPr>
        <p:spPr>
          <a:xfrm>
            <a:off x="464456" y="1143179"/>
            <a:ext cx="59289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bb49788d46_0_34:notes"/>
          <p:cNvSpPr txBox="1"/>
          <p:nvPr>
            <p:ph idx="1" type="body"/>
          </p:nvPr>
        </p:nvSpPr>
        <p:spPr>
          <a:xfrm>
            <a:off x="685800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25" lIns="93250" spcFirstLastPara="1" rIns="93250" wrap="square" tIns="4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bb49788d46_0_34:notes"/>
          <p:cNvSpPr txBox="1"/>
          <p:nvPr>
            <p:ph idx="12" type="sldNum"/>
          </p:nvPr>
        </p:nvSpPr>
        <p:spPr>
          <a:xfrm>
            <a:off x="3884613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625" lIns="93250" spcFirstLastPara="1" rIns="93250" wrap="square" tIns="46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c9e6a8e4d_6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bc9e6a8e4d_6_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addbcd639_2_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caddbcd639_2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addbcd639_2_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TPOT in this class is about maximum latency: if any two </a:t>
            </a:r>
            <a:r>
              <a:rPr lang="en"/>
              <a:t>token</a:t>
            </a:r>
            <a:r>
              <a:rPr lang="en"/>
              <a:t> have an interval larger than say a specific TPOT, then that hurst user experience.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IBT: interval between tokens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ITL: Inter-token latency</a:t>
            </a:r>
            <a:endParaRPr/>
          </a:p>
        </p:txBody>
      </p:sp>
      <p:sp>
        <p:nvSpPr>
          <p:cNvPr id="264" name="Google Shape;264;g3caddbcd639_2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addbcd639_2_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caddbcd639_2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addbcd639_2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addbcd639_2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addbcd639_2_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caddbcd639_2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addbcd639_2_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caddbcd639_2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addbcd639_2_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caddbcd639_2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addbcd639_2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caddbcd639_2_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batch requests with different prompt lengths, we </a:t>
            </a:r>
            <a:r>
              <a:rPr lang="en"/>
              <a:t>aggregate</a:t>
            </a:r>
            <a:r>
              <a:rPr lang="en"/>
              <a:t> all these tokens for GEMMs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doesn’t get benefit. Why is that? What’s the exception to that?</a:t>
            </a:r>
            <a:endParaRPr/>
          </a:p>
        </p:txBody>
      </p:sp>
      <p:sp>
        <p:nvSpPr>
          <p:cNvPr id="334" name="Google Shape;334;g3caddbcd639_2_1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addbcd639_2_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caddbcd639_2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addbcd639_2_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caddbcd639_2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addbcd639_2_2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caddbcd639_2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caddbcd639_2_2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caddbcd639_2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addbcd639_2_2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caddbcd639_2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caddbcd639_2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caddbcd639_2_2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caddbcd639_2_2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addbcd639_2_2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caddbcd639_2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caddbcd639_2_2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caddbcd639_2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addbcd639_2_2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caddbcd639_2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addbcd639_2_2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caddbcd639_2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addbcd639_2_2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caddbcd639_2_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addbcd639_2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caddbcd639_2_3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caddbcd639_2_3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caddbcd639_2_3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caddbcd639_2_3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caddbcd639_2_3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caddbcd639_2_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addbcd639_2_3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caddbcd639_2_3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addbcd639_2_4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caddbcd639_2_4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caddbcd639_2_4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caddbcd639_2_4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caddbcd639_2_4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caddbcd639_2_4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caddbcd639_2_4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caddbcd639_2_4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caddbcd639_2_4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caddbcd639_2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caddbcd639_2_4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caddbcd639_2_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addbcd639_2_4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caddbcd639_2_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addbcd639_2_4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caddbcd639_2_4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addbcd639_2_4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caddbcd639_2_4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caddbcd639_2_4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caddbcd639_2_4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caddbcd639_2_4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caddbcd639_2_4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caddbcd639_2_4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caddbcd639_2_4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caddbcd639_2_4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3caddbcd639_2_4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caddbcd639_2_5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3caddbcd639_2_5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caddbcd639_2_5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caddbcd639_2_5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caddbcd639_2_5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caddbcd639_2_5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caddbcd639_2_5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caddbcd639_2_5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caddbcd639_2_5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g3caddbcd639_2_5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caddbcd639_2_5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caddbcd639_2_5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1085850" y="655385"/>
            <a:ext cx="69723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id="53" name="Google Shape;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2" y="4598607"/>
            <a:ext cx="2416272" cy="21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3600"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17500" lvl="0" marL="4572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17500" lvl="0" marL="4572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er + Subheader + Content">
  <p:cSld name="1_Header + Subheader + Content">
    <p:bg>
      <p:bgPr>
        <a:solidFill>
          <a:schemeClr val="l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39469" y="4681862"/>
            <a:ext cx="482876" cy="3263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17500" lvl="0" marL="4572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marR="0" algn="r"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6" name="Google Shape;86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>
  <p:cSld name="节标题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1" name="Google Shape;111;p26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3" name="Google Shape;113;p26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9" name="Google Shape;129;p2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0" name="Google Shape;130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/>
        </p:txBody>
      </p:sp>
      <p:sp>
        <p:nvSpPr>
          <p:cNvPr id="160" name="Google Shape;16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8" name="Google Shape;168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4" name="Google Shape;174;p3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3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80" name="Google Shape;180;p3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3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6" name="Google Shape;186;p3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3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4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3" name="Google Shape;193;p4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4" name="Google Shape;194;p4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5" name="Google Shape;195;p4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6" name="Google Shape;196;p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4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4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1" name="Google Shape;201;p4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4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4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0" name="Google Shape;210;p4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11" name="Google Shape;211;p4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12" name="Google Shape;212;p4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3" name="Google Shape;213;p4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4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7" name="Google Shape;217;p4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4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19" name="Google Shape;219;p4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0" name="Google Shape;220;p4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4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4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5" name="Google Shape;225;p4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6" name="Google Shape;226;p4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7" name="Google Shape;227;p4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4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2" name="Google Shape;232;p4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4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54" name="Google Shape;154;p3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7"/>
          <p:cNvSpPr txBox="1"/>
          <p:nvPr>
            <p:ph type="title"/>
          </p:nvPr>
        </p:nvSpPr>
        <p:spPr>
          <a:xfrm>
            <a:off x="240743" y="110049"/>
            <a:ext cx="86625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en" sz="4100"/>
              <a:t>CSE 554 Machine Learning Systems</a:t>
            </a:r>
            <a:endParaRPr sz="4100"/>
          </a:p>
        </p:txBody>
      </p:sp>
      <p:sp>
        <p:nvSpPr>
          <p:cNvPr id="240" name="Google Shape;240;p47"/>
          <p:cNvSpPr txBox="1"/>
          <p:nvPr/>
        </p:nvSpPr>
        <p:spPr>
          <a:xfrm>
            <a:off x="477361" y="2400067"/>
            <a:ext cx="82323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Encode Sans Black"/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41" name="Google Shape;241;p47"/>
          <p:cNvSpPr txBox="1"/>
          <p:nvPr/>
        </p:nvSpPr>
        <p:spPr>
          <a:xfrm>
            <a:off x="352304" y="1687546"/>
            <a:ext cx="86625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Encode Sans Black"/>
              <a:buNone/>
            </a:pPr>
            <a:r>
              <a:rPr b="0" i="0" lang="en" sz="21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rPr>
              <a:t>Week 1 Lecture 1 </a:t>
            </a:r>
            <a:endParaRPr sz="1100"/>
          </a:p>
        </p:txBody>
      </p:sp>
      <p:sp>
        <p:nvSpPr>
          <p:cNvPr id="242" name="Google Shape;242;p47"/>
          <p:cNvSpPr txBox="1"/>
          <p:nvPr/>
        </p:nvSpPr>
        <p:spPr>
          <a:xfrm>
            <a:off x="434340" y="1691356"/>
            <a:ext cx="86625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Encode Sans Black"/>
              <a:buNone/>
            </a:pPr>
            <a:r>
              <a:rPr lang="en" sz="2700">
                <a:solidFill>
                  <a:schemeClr val="dk1"/>
                </a:solidFill>
              </a:rPr>
              <a:t>Lecture 13 - Batching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Encode Sans Black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243" name="Google Shape;24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5262" y="3575257"/>
            <a:ext cx="1113465" cy="71408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7"/>
          <p:cNvSpPr txBox="1"/>
          <p:nvPr/>
        </p:nvSpPr>
        <p:spPr>
          <a:xfrm>
            <a:off x="3504650" y="3039475"/>
            <a:ext cx="2177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Encode Sans Black"/>
              <a:buNone/>
            </a:pPr>
            <a:r>
              <a:rPr lang="en" sz="2000">
                <a:solidFill>
                  <a:schemeClr val="dk1"/>
                </a:solidFill>
              </a:rPr>
              <a:t>Baris Kasikci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Class Overview</a:t>
            </a:r>
            <a:endParaRPr/>
          </a:p>
        </p:txBody>
      </p:sp>
      <p:sp>
        <p:nvSpPr>
          <p:cNvPr id="250" name="Google Shape;250;p48"/>
          <p:cNvSpPr txBox="1"/>
          <p:nvPr>
            <p:ph idx="1" type="body"/>
          </p:nvPr>
        </p:nvSpPr>
        <p:spPr>
          <a:xfrm>
            <a:off x="311700" y="1017726"/>
            <a:ext cx="8520600" cy="3904342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AutoNum type="arabicPeriod"/>
            </a:pPr>
            <a:r>
              <a:rPr lang="en">
                <a:solidFill>
                  <a:srgbClr val="BFBFBF"/>
                </a:solidFill>
              </a:rPr>
              <a:t>GPU Architecture and Programming</a:t>
            </a:r>
            <a:endParaRPr>
              <a:solidFill>
                <a:srgbClr val="BFBFBF"/>
              </a:solidFill>
            </a:endParaRPr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AutoNum type="arabicPeriod"/>
            </a:pPr>
            <a:r>
              <a:rPr lang="en">
                <a:solidFill>
                  <a:srgbClr val="BFBFBF"/>
                </a:solidFill>
              </a:rPr>
              <a:t>Transformers (Architecture and Implementation)  </a:t>
            </a:r>
            <a:endParaRPr>
              <a:solidFill>
                <a:srgbClr val="BFBFBF"/>
              </a:solidFill>
            </a:endParaRPr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AutoNum type="arabicPeriod"/>
            </a:pPr>
            <a:r>
              <a:rPr lang="en">
                <a:solidFill>
                  <a:srgbClr val="BFBFBF"/>
                </a:solidFill>
              </a:rPr>
              <a:t>Performance Modeling   </a:t>
            </a:r>
            <a:endParaRPr/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AutoNum type="arabicPeriod"/>
            </a:pPr>
            <a:r>
              <a:rPr lang="en">
                <a:solidFill>
                  <a:srgbClr val="BFBFBF"/>
                </a:solidFill>
              </a:rPr>
              <a:t>Quantization</a:t>
            </a:r>
            <a:endParaRPr/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AutoNum type="arabicPeriod"/>
            </a:pPr>
            <a:r>
              <a:rPr lang="en">
                <a:solidFill>
                  <a:srgbClr val="BFBFBF"/>
                </a:solidFill>
              </a:rPr>
              <a:t>Memory Management</a:t>
            </a:r>
            <a:endParaRPr b="1"/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AutoNum type="arabicPeriod"/>
            </a:pPr>
            <a:r>
              <a:rPr lang="en">
                <a:solidFill>
                  <a:srgbClr val="BFBFBF"/>
                </a:solidFill>
              </a:rPr>
              <a:t>NVIDIA Blackwell Architecture</a:t>
            </a:r>
            <a:endParaRPr/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AutoNum type="arabicPeriod"/>
            </a:pPr>
            <a:r>
              <a:rPr lang="en">
                <a:solidFill>
                  <a:srgbClr val="BFBFBF"/>
                </a:solidFill>
              </a:rPr>
              <a:t>Sparsity</a:t>
            </a:r>
            <a:endParaRPr b="1">
              <a:solidFill>
                <a:srgbClr val="BFBFBF"/>
              </a:solidFill>
            </a:endParaRPr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AutoNum type="arabicPeriod"/>
            </a:pPr>
            <a:r>
              <a:rPr lang="en">
                <a:solidFill>
                  <a:srgbClr val="BFBFBF"/>
                </a:solidFill>
              </a:rPr>
              <a:t>Mixture of Experts (MoE)</a:t>
            </a:r>
            <a:endParaRPr>
              <a:solidFill>
                <a:srgbClr val="BFBFBF"/>
              </a:solidFill>
            </a:endParaRPr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AutoNum type="arabicPeriod"/>
            </a:pPr>
            <a:r>
              <a:rPr lang="en">
                <a:solidFill>
                  <a:srgbClr val="BFBFBF"/>
                </a:solidFill>
              </a:rPr>
              <a:t>Speculative decoding</a:t>
            </a:r>
            <a:endParaRPr b="1"/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/>
              <a:t>Batching</a:t>
            </a:r>
            <a:endParaRPr b="1"/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/>
              <a:t>Parallelism</a:t>
            </a:r>
            <a:endParaRPr/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/>
              <a:t>RL for LLMs</a:t>
            </a:r>
            <a:endParaRPr/>
          </a:p>
          <a:p>
            <a:pPr indent="-381000" lvl="0" marL="495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/>
              <a:t>Agentic systems</a:t>
            </a:r>
            <a:endParaRPr/>
          </a:p>
        </p:txBody>
      </p:sp>
      <p:sp>
        <p:nvSpPr>
          <p:cNvPr id="251" name="Google Shape;25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Batching is important in LLM serving</a:t>
            </a:r>
            <a:endParaRPr/>
          </a:p>
        </p:txBody>
      </p:sp>
      <p:sp>
        <p:nvSpPr>
          <p:cNvPr id="257" name="Google Shape;257;p4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H100 needs a batch size of 333 to reach peak performance</a:t>
            </a:r>
            <a:endParaRPr/>
          </a:p>
        </p:txBody>
      </p:sp>
      <p:pic>
        <p:nvPicPr>
          <p:cNvPr descr="Roofline intro" id="258" name="Google Shape;25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1784" y="1152475"/>
            <a:ext cx="4480322" cy="342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9"/>
          <p:cNvSpPr txBox="1"/>
          <p:nvPr/>
        </p:nvSpPr>
        <p:spPr>
          <a:xfrm>
            <a:off x="681968" y="2352459"/>
            <a:ext cx="3519764" cy="438581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to form a batch?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9"/>
          <p:cNvSpPr txBox="1"/>
          <p:nvPr/>
        </p:nvSpPr>
        <p:spPr>
          <a:xfrm>
            <a:off x="681966" y="4105260"/>
            <a:ext cx="3519764" cy="807914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Consideration 2: Throughput</a:t>
            </a:r>
            <a:endParaRPr sz="1100"/>
          </a:p>
        </p:txBody>
      </p:sp>
      <p:sp>
        <p:nvSpPr>
          <p:cNvPr id="261" name="Google Shape;261;p49"/>
          <p:cNvSpPr txBox="1"/>
          <p:nvPr/>
        </p:nvSpPr>
        <p:spPr>
          <a:xfrm>
            <a:off x="681967" y="3072365"/>
            <a:ext cx="3519764" cy="807913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Consideration 1: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How to define user experience</a:t>
            </a:r>
            <a:endParaRPr/>
          </a:p>
        </p:txBody>
      </p:sp>
      <p:sp>
        <p:nvSpPr>
          <p:cNvPr id="267" name="Google Shape;26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Time to First Token (TTFT)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The time between user submitting the request and the generation of first token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TTFT = Queuing time + Prefill time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Time Per Output Token (TPOT/ITL/IBT)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The time between each output token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Average TPOT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The average time of producing one output token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End to end time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The time to queue, prefill and decode the whole request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Normalized Latency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End-to-end time / number of output tokens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Service Level Agreement</a:t>
            </a:r>
            <a:endParaRPr/>
          </a:p>
        </p:txBody>
      </p:sp>
      <p:sp>
        <p:nvSpPr>
          <p:cNvPr id="273" name="Google Shape;273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TTFT + TPOT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TTFT + Avg TPOT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End to end time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Service Level Objective</a:t>
            </a:r>
            <a:endParaRPr/>
          </a:p>
        </p:txBody>
      </p:sp>
      <p:graphicFrame>
        <p:nvGraphicFramePr>
          <p:cNvPr id="279" name="Google Shape;279;p52"/>
          <p:cNvGraphicFramePr/>
          <p:nvPr/>
        </p:nvGraphicFramePr>
        <p:xfrm>
          <a:off x="422825" y="181135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212625"/>
                <a:gridCol w="245175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  <a:gridCol w="228900"/>
              </a:tblGrid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/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</a:tr>
              <a:tr h="18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11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12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13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14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15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16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17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18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0" name="Google Shape;280;p52"/>
          <p:cNvSpPr/>
          <p:nvPr/>
        </p:nvSpPr>
        <p:spPr>
          <a:xfrm>
            <a:off x="832397" y="1416420"/>
            <a:ext cx="218661" cy="2049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2"/>
          <p:cNvSpPr txBox="1"/>
          <p:nvPr/>
        </p:nvSpPr>
        <p:spPr>
          <a:xfrm>
            <a:off x="1167704" y="1388665"/>
            <a:ext cx="616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Arrival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2"/>
          <p:cNvSpPr/>
          <p:nvPr/>
        </p:nvSpPr>
        <p:spPr>
          <a:xfrm>
            <a:off x="1943647" y="1416420"/>
            <a:ext cx="218661" cy="2049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2"/>
          <p:cNvSpPr txBox="1"/>
          <p:nvPr/>
        </p:nvSpPr>
        <p:spPr>
          <a:xfrm>
            <a:off x="2278953" y="1388665"/>
            <a:ext cx="808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2"/>
          <p:cNvSpPr/>
          <p:nvPr/>
        </p:nvSpPr>
        <p:spPr>
          <a:xfrm>
            <a:off x="3280322" y="1416420"/>
            <a:ext cx="218661" cy="2049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2"/>
          <p:cNvSpPr txBox="1"/>
          <p:nvPr/>
        </p:nvSpPr>
        <p:spPr>
          <a:xfrm>
            <a:off x="3615628" y="1388665"/>
            <a:ext cx="808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6" name="Google Shape;286;p52"/>
          <p:cNvGraphicFramePr/>
          <p:nvPr/>
        </p:nvGraphicFramePr>
        <p:xfrm>
          <a:off x="5034858" y="1026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{4425C183-F875-4C94-BDF7-FD53D3BF93A3}</a:tableStyleId>
              </a:tblPr>
              <a:tblGrid>
                <a:gridCol w="509025"/>
                <a:gridCol w="630775"/>
                <a:gridCol w="663225"/>
                <a:gridCol w="468600"/>
                <a:gridCol w="807400"/>
                <a:gridCol w="760200"/>
              </a:tblGrid>
              <a:tr h="66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TTFT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TPOT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</a:rPr>
                        <a:t>avg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TPOT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</a:rPr>
                        <a:t>max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E2E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TTFT+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  TPOT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</a:rPr>
                        <a:t>avg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TTFT+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   TPOT</a:t>
                      </a:r>
                      <a:r>
                        <a:rPr baseline="-25000" lang="en" sz="1100">
                          <a:solidFill>
                            <a:schemeClr val="dk1"/>
                          </a:solidFill>
                        </a:rPr>
                        <a:t>max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CAEC"/>
                    </a:solidFill>
                  </a:tcPr>
                </a:tc>
              </a:tr>
              <a:tr h="445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</a:tr>
              <a:tr h="445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TTFT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TTFT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</a:tr>
              <a:tr h="445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TPOT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TPOT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</a:tr>
              <a:tr h="445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TTFT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TTFT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</a:tr>
              <a:tr h="445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TPOT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</a:tr>
              <a:tr h="445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TPOT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9EDD"/>
                    </a:solidFill>
                  </a:tcPr>
                </a:tc>
              </a:tr>
            </a:tbl>
          </a:graphicData>
        </a:graphic>
      </p:graphicFrame>
      <p:sp>
        <p:nvSpPr>
          <p:cNvPr id="287" name="Google Shape;287;p52"/>
          <p:cNvSpPr txBox="1"/>
          <p:nvPr/>
        </p:nvSpPr>
        <p:spPr>
          <a:xfrm>
            <a:off x="1076457" y="4588510"/>
            <a:ext cx="7115833" cy="438581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Difficulty: TTFT+TPOT</a:t>
            </a:r>
            <a:r>
              <a:rPr baseline="-25000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&gt;TTFT+TPOT</a:t>
            </a:r>
            <a:r>
              <a:rPr baseline="-25000"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avg</a:t>
            </a:r>
            <a:r>
              <a:rPr lang="e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&gt;E2E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2"/>
          <p:cNvSpPr txBox="1"/>
          <p:nvPr/>
        </p:nvSpPr>
        <p:spPr>
          <a:xfrm>
            <a:off x="360657" y="1073605"/>
            <a:ext cx="271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Assumption: TTFT SLO of 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" name="Google Shape;293;p53"/>
          <p:cNvGraphicFramePr/>
          <p:nvPr/>
        </p:nvGraphicFramePr>
        <p:xfrm>
          <a:off x="1851025" y="1468057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263250"/>
                <a:gridCol w="303525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</a:tblGrid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</a:tr>
              <a:tr h="22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11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12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13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14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15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18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Service Level Objective</a:t>
            </a:r>
            <a:endParaRPr/>
          </a:p>
        </p:txBody>
      </p:sp>
      <p:sp>
        <p:nvSpPr>
          <p:cNvPr id="295" name="Google Shape;295;p53"/>
          <p:cNvSpPr/>
          <p:nvPr/>
        </p:nvSpPr>
        <p:spPr>
          <a:xfrm>
            <a:off x="1793874" y="2476500"/>
            <a:ext cx="5499100" cy="447675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3"/>
          <p:cNvSpPr/>
          <p:nvPr/>
        </p:nvSpPr>
        <p:spPr>
          <a:xfrm>
            <a:off x="1793874" y="1376499"/>
            <a:ext cx="5499100" cy="447675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53"/>
          <p:cNvCxnSpPr>
            <a:stCxn id="295" idx="3"/>
            <a:endCxn id="296" idx="3"/>
          </p:cNvCxnSpPr>
          <p:nvPr/>
        </p:nvCxnSpPr>
        <p:spPr>
          <a:xfrm flipH="1" rot="10800000">
            <a:off x="7292974" y="1600238"/>
            <a:ext cx="600" cy="1100100"/>
          </a:xfrm>
          <a:prstGeom prst="curvedConnector3">
            <a:avLst>
              <a:gd fmla="val 3810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8" name="Google Shape;298;p53"/>
          <p:cNvSpPr txBox="1"/>
          <p:nvPr/>
        </p:nvSpPr>
        <p:spPr>
          <a:xfrm>
            <a:off x="7607300" y="1703388"/>
            <a:ext cx="1447799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“Faster” token generation but does not meet TTFT+TPOT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3"/>
          <p:cNvSpPr/>
          <p:nvPr/>
        </p:nvSpPr>
        <p:spPr>
          <a:xfrm>
            <a:off x="3784599" y="3613150"/>
            <a:ext cx="952501" cy="447675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3"/>
          <p:cNvSpPr txBox="1"/>
          <p:nvPr/>
        </p:nvSpPr>
        <p:spPr>
          <a:xfrm>
            <a:off x="3022598" y="3373439"/>
            <a:ext cx="3346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Generation stall but still passes TPOT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" name="Google Shape;305;p54"/>
          <p:cNvGraphicFramePr/>
          <p:nvPr/>
        </p:nvGraphicFramePr>
        <p:xfrm>
          <a:off x="1733549" y="1287132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263250"/>
                <a:gridCol w="303525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</a:tblGrid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</a:tr>
              <a:tr h="22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11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12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13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14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15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18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Delay output and Deadline based SLO</a:t>
            </a:r>
            <a:endParaRPr/>
          </a:p>
        </p:txBody>
      </p:sp>
      <p:cxnSp>
        <p:nvCxnSpPr>
          <p:cNvPr id="307" name="Google Shape;307;p54"/>
          <p:cNvCxnSpPr/>
          <p:nvPr/>
        </p:nvCxnSpPr>
        <p:spPr>
          <a:xfrm>
            <a:off x="2879725" y="2529701"/>
            <a:ext cx="561975" cy="0"/>
          </a:xfrm>
          <a:prstGeom prst="straightConnector1">
            <a:avLst/>
          </a:prstGeom>
          <a:noFill/>
          <a:ln cap="flat" cmpd="sng" w="38100">
            <a:solidFill>
              <a:srgbClr val="50154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8" name="Google Shape;308;p54"/>
          <p:cNvSpPr txBox="1"/>
          <p:nvPr/>
        </p:nvSpPr>
        <p:spPr>
          <a:xfrm>
            <a:off x="2574922" y="2125745"/>
            <a:ext cx="13747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the token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4"/>
          <p:cNvSpPr txBox="1"/>
          <p:nvPr/>
        </p:nvSpPr>
        <p:spPr>
          <a:xfrm>
            <a:off x="7187165" y="2264244"/>
            <a:ext cx="1833010" cy="530915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Now meets TTFT+TPOT</a:t>
            </a:r>
            <a:endParaRPr sz="1100"/>
          </a:p>
        </p:txBody>
      </p:sp>
      <p:cxnSp>
        <p:nvCxnSpPr>
          <p:cNvPr id="310" name="Google Shape;310;p54"/>
          <p:cNvCxnSpPr/>
          <p:nvPr/>
        </p:nvCxnSpPr>
        <p:spPr>
          <a:xfrm>
            <a:off x="4291013" y="4206101"/>
            <a:ext cx="280988" cy="0"/>
          </a:xfrm>
          <a:prstGeom prst="straightConnector1">
            <a:avLst/>
          </a:prstGeom>
          <a:noFill/>
          <a:ln cap="flat" cmpd="sng" w="38100">
            <a:solidFill>
              <a:srgbClr val="50154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1" name="Google Shape;311;p54"/>
          <p:cNvSpPr txBox="1"/>
          <p:nvPr/>
        </p:nvSpPr>
        <p:spPr>
          <a:xfrm>
            <a:off x="3441700" y="3794399"/>
            <a:ext cx="13747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the token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4"/>
          <p:cNvSpPr txBox="1"/>
          <p:nvPr/>
        </p:nvSpPr>
        <p:spPr>
          <a:xfrm>
            <a:off x="7187165" y="3908894"/>
            <a:ext cx="1833010" cy="530914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Now the generation is more smooth</a:t>
            </a:r>
            <a:endParaRPr sz="1100"/>
          </a:p>
        </p:txBody>
      </p:sp>
      <p:cxnSp>
        <p:nvCxnSpPr>
          <p:cNvPr id="313" name="Google Shape;313;p54"/>
          <p:cNvCxnSpPr/>
          <p:nvPr/>
        </p:nvCxnSpPr>
        <p:spPr>
          <a:xfrm>
            <a:off x="3865562" y="4206101"/>
            <a:ext cx="169863" cy="0"/>
          </a:xfrm>
          <a:prstGeom prst="straightConnector1">
            <a:avLst/>
          </a:prstGeom>
          <a:noFill/>
          <a:ln cap="flat" cmpd="sng" w="38100">
            <a:solidFill>
              <a:srgbClr val="50154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4" name="Google Shape;314;p54"/>
          <p:cNvSpPr txBox="1"/>
          <p:nvPr/>
        </p:nvSpPr>
        <p:spPr>
          <a:xfrm>
            <a:off x="7187165" y="3494317"/>
            <a:ext cx="1833010" cy="300082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Cannot delay!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Delay output and Deadline based SLO</a:t>
            </a:r>
            <a:endParaRPr/>
          </a:p>
        </p:txBody>
      </p:sp>
      <p:graphicFrame>
        <p:nvGraphicFramePr>
          <p:cNvPr id="320" name="Google Shape;320;p55"/>
          <p:cNvGraphicFramePr/>
          <p:nvPr/>
        </p:nvGraphicFramePr>
        <p:xfrm>
          <a:off x="889000" y="129738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263250"/>
                <a:gridCol w="303525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  <a:gridCol w="283400"/>
              </a:tblGrid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/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FFFF"/>
                    </a:solidFill>
                  </a:tcPr>
                </a:tc>
              </a:tr>
              <a:tr h="27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3775" marB="43775" marR="87550" marL="87550">
                    <a:solidFill>
                      <a:srgbClr val="CCD2D8"/>
                    </a:solidFill>
                  </a:tcPr>
                </a:tc>
              </a:tr>
              <a:tr h="22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11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12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13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14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15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18</a:t>
                      </a:r>
                      <a:endParaRPr sz="11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21" name="Google Shape;321;p55"/>
          <p:cNvCxnSpPr/>
          <p:nvPr/>
        </p:nvCxnSpPr>
        <p:spPr>
          <a:xfrm>
            <a:off x="2867025" y="1146175"/>
            <a:ext cx="0" cy="346152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2" name="Google Shape;322;p55"/>
          <p:cNvCxnSpPr/>
          <p:nvPr/>
        </p:nvCxnSpPr>
        <p:spPr>
          <a:xfrm>
            <a:off x="3441700" y="1146175"/>
            <a:ext cx="0" cy="346152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3" name="Google Shape;323;p55"/>
          <p:cNvCxnSpPr/>
          <p:nvPr/>
        </p:nvCxnSpPr>
        <p:spPr>
          <a:xfrm>
            <a:off x="4000500" y="1146175"/>
            <a:ext cx="0" cy="346152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4" name="Google Shape;324;p55"/>
          <p:cNvCxnSpPr/>
          <p:nvPr/>
        </p:nvCxnSpPr>
        <p:spPr>
          <a:xfrm>
            <a:off x="4575174" y="1146175"/>
            <a:ext cx="1" cy="346152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5" name="Google Shape;325;p55"/>
          <p:cNvSpPr txBox="1"/>
          <p:nvPr/>
        </p:nvSpPr>
        <p:spPr>
          <a:xfrm>
            <a:off x="2544761" y="914279"/>
            <a:ext cx="6635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DDL 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5"/>
          <p:cNvSpPr txBox="1"/>
          <p:nvPr/>
        </p:nvSpPr>
        <p:spPr>
          <a:xfrm>
            <a:off x="3109912" y="914279"/>
            <a:ext cx="6635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DDL 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55"/>
          <p:cNvSpPr txBox="1"/>
          <p:nvPr/>
        </p:nvSpPr>
        <p:spPr>
          <a:xfrm>
            <a:off x="3668712" y="913167"/>
            <a:ext cx="6635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DDL 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5"/>
          <p:cNvSpPr txBox="1"/>
          <p:nvPr/>
        </p:nvSpPr>
        <p:spPr>
          <a:xfrm>
            <a:off x="4243387" y="912056"/>
            <a:ext cx="6635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DDL 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5"/>
          <p:cNvSpPr txBox="1"/>
          <p:nvPr/>
        </p:nvSpPr>
        <p:spPr>
          <a:xfrm>
            <a:off x="6340475" y="2397759"/>
            <a:ext cx="2803525" cy="900247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deadlines are met, we can use delay to achieve TTFT+TPOT</a:t>
            </a:r>
            <a:r>
              <a:rPr baseline="-25000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55"/>
          <p:cNvSpPr txBox="1"/>
          <p:nvPr/>
        </p:nvSpPr>
        <p:spPr>
          <a:xfrm>
            <a:off x="1901826" y="4678040"/>
            <a:ext cx="5534025" cy="346249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TTFT+TPOT</a:t>
            </a:r>
            <a:r>
              <a:rPr baseline="-25000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&gt;=DDL &gt; TTFT+TPOT</a:t>
            </a:r>
            <a:r>
              <a:rPr baseline="-25000"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avg</a:t>
            </a:r>
            <a:r>
              <a:rPr lang="e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&gt;E2E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Batching Requests with Different Input Lengths</a:t>
            </a:r>
            <a:endParaRPr/>
          </a:p>
        </p:txBody>
      </p:sp>
      <p:graphicFrame>
        <p:nvGraphicFramePr>
          <p:cNvPr id="337" name="Google Shape;337;p56"/>
          <p:cNvGraphicFramePr/>
          <p:nvPr/>
        </p:nvGraphicFramePr>
        <p:xfrm>
          <a:off x="311700" y="199263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902200"/>
                <a:gridCol w="427175"/>
                <a:gridCol w="427175"/>
                <a:gridCol w="427175"/>
                <a:gridCol w="427175"/>
                <a:gridCol w="427175"/>
                <a:gridCol w="427175"/>
                <a:gridCol w="427175"/>
                <a:gridCol w="427175"/>
                <a:gridCol w="427175"/>
                <a:gridCol w="427175"/>
              </a:tblGrid>
              <a:tr h="4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42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42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42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42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38" name="Google Shape;338;p56"/>
          <p:cNvSpPr txBox="1"/>
          <p:nvPr/>
        </p:nvSpPr>
        <p:spPr>
          <a:xfrm>
            <a:off x="1237510" y="1614367"/>
            <a:ext cx="1196362" cy="300083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 sz="1100"/>
          </a:p>
        </p:txBody>
      </p:sp>
      <p:sp>
        <p:nvSpPr>
          <p:cNvPr id="339" name="Google Shape;339;p56"/>
          <p:cNvSpPr txBox="1"/>
          <p:nvPr/>
        </p:nvSpPr>
        <p:spPr>
          <a:xfrm>
            <a:off x="2583415" y="1614367"/>
            <a:ext cx="1196363" cy="300083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100"/>
          </a:p>
        </p:txBody>
      </p:sp>
      <p:graphicFrame>
        <p:nvGraphicFramePr>
          <p:cNvPr id="340" name="Google Shape;340;p56"/>
          <p:cNvGraphicFramePr/>
          <p:nvPr/>
        </p:nvGraphicFramePr>
        <p:xfrm>
          <a:off x="5563785" y="182309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288025"/>
                <a:gridCol w="288025"/>
                <a:gridCol w="288025"/>
                <a:gridCol w="284600"/>
                <a:gridCol w="291450"/>
                <a:gridCol w="288025"/>
                <a:gridCol w="288025"/>
                <a:gridCol w="288025"/>
                <a:gridCol w="288025"/>
                <a:gridCol w="288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1" name="Google Shape;341;p56"/>
          <p:cNvSpPr txBox="1"/>
          <p:nvPr/>
        </p:nvSpPr>
        <p:spPr>
          <a:xfrm>
            <a:off x="6543676" y="1316943"/>
            <a:ext cx="805815" cy="300083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GEMM</a:t>
            </a:r>
            <a:endParaRPr sz="1100"/>
          </a:p>
        </p:txBody>
      </p:sp>
      <p:sp>
        <p:nvSpPr>
          <p:cNvPr id="342" name="Google Shape;342;p56"/>
          <p:cNvSpPr txBox="1"/>
          <p:nvPr/>
        </p:nvSpPr>
        <p:spPr>
          <a:xfrm>
            <a:off x="6259830" y="2732621"/>
            <a:ext cx="1674494" cy="300083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Attn</a:t>
            </a:r>
            <a:endParaRPr sz="1100"/>
          </a:p>
        </p:txBody>
      </p:sp>
      <p:graphicFrame>
        <p:nvGraphicFramePr>
          <p:cNvPr id="343" name="Google Shape;343;p56"/>
          <p:cNvGraphicFramePr/>
          <p:nvPr/>
        </p:nvGraphicFramePr>
        <p:xfrm>
          <a:off x="4970143" y="331163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623175"/>
                <a:gridCol w="295050"/>
                <a:gridCol w="295050"/>
                <a:gridCol w="295050"/>
                <a:gridCol w="295050"/>
                <a:gridCol w="295050"/>
                <a:gridCol w="295050"/>
                <a:gridCol w="295050"/>
                <a:gridCol w="295050"/>
                <a:gridCol w="295050"/>
                <a:gridCol w="2950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44" name="Google Shape;344;p56"/>
          <p:cNvCxnSpPr/>
          <p:nvPr/>
        </p:nvCxnSpPr>
        <p:spPr>
          <a:xfrm>
            <a:off x="8366760" y="3217545"/>
            <a:ext cx="0" cy="155448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5" name="Google Shape;345;p56"/>
          <p:cNvSpPr txBox="1"/>
          <p:nvPr/>
        </p:nvSpPr>
        <p:spPr>
          <a:xfrm>
            <a:off x="7269475" y="3826475"/>
            <a:ext cx="1196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Sequentially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" name="Google Shape;350;p57"/>
          <p:cNvGraphicFramePr/>
          <p:nvPr/>
        </p:nvGraphicFramePr>
        <p:xfrm>
          <a:off x="6082659" y="156469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0285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</a:tblGrid>
              <a:tr h="30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Req 1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30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2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30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3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2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30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4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6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30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5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351" name="Google Shape;35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Batching Requests with Different Input Lengths</a:t>
            </a:r>
            <a:endParaRPr/>
          </a:p>
        </p:txBody>
      </p:sp>
      <p:graphicFrame>
        <p:nvGraphicFramePr>
          <p:cNvPr id="352" name="Google Shape;352;p57"/>
          <p:cNvGraphicFramePr/>
          <p:nvPr/>
        </p:nvGraphicFramePr>
        <p:xfrm>
          <a:off x="3019897" y="160746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42855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</a:tblGrid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Req 1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2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3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2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4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6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5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53" name="Google Shape;353;p57"/>
          <p:cNvSpPr txBox="1"/>
          <p:nvPr/>
        </p:nvSpPr>
        <p:spPr>
          <a:xfrm>
            <a:off x="1028700" y="1103251"/>
            <a:ext cx="106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0</a:t>
            </a:r>
            <a:endParaRPr sz="1100"/>
          </a:p>
        </p:txBody>
      </p:sp>
      <p:sp>
        <p:nvSpPr>
          <p:cNvPr id="354" name="Google Shape;354;p57"/>
          <p:cNvSpPr txBox="1"/>
          <p:nvPr/>
        </p:nvSpPr>
        <p:spPr>
          <a:xfrm>
            <a:off x="4160520" y="1103251"/>
            <a:ext cx="106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sz="1100"/>
          </a:p>
        </p:txBody>
      </p:sp>
      <p:sp>
        <p:nvSpPr>
          <p:cNvPr id="355" name="Google Shape;355;p57"/>
          <p:cNvSpPr txBox="1"/>
          <p:nvPr/>
        </p:nvSpPr>
        <p:spPr>
          <a:xfrm>
            <a:off x="7292340" y="1103251"/>
            <a:ext cx="106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sz="1100"/>
          </a:p>
        </p:txBody>
      </p:sp>
      <p:graphicFrame>
        <p:nvGraphicFramePr>
          <p:cNvPr id="356" name="Google Shape;356;p57"/>
          <p:cNvGraphicFramePr/>
          <p:nvPr/>
        </p:nvGraphicFramePr>
        <p:xfrm>
          <a:off x="76258" y="393764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288025"/>
                <a:gridCol w="288025"/>
                <a:gridCol w="288025"/>
                <a:gridCol w="284600"/>
                <a:gridCol w="291450"/>
                <a:gridCol w="288025"/>
                <a:gridCol w="288025"/>
                <a:gridCol w="288025"/>
                <a:gridCol w="288025"/>
                <a:gridCol w="2880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4F15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7" name="Google Shape;357;p57"/>
          <p:cNvSpPr txBox="1"/>
          <p:nvPr/>
        </p:nvSpPr>
        <p:spPr>
          <a:xfrm>
            <a:off x="1092371" y="3431493"/>
            <a:ext cx="805800" cy="300000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GEMM</a:t>
            </a:r>
            <a:endParaRPr sz="1100"/>
          </a:p>
        </p:txBody>
      </p:sp>
      <p:sp>
        <p:nvSpPr>
          <p:cNvPr id="358" name="Google Shape;358;p57"/>
          <p:cNvSpPr txBox="1"/>
          <p:nvPr/>
        </p:nvSpPr>
        <p:spPr>
          <a:xfrm>
            <a:off x="4143371" y="3431493"/>
            <a:ext cx="805800" cy="300000"/>
          </a:xfrm>
          <a:prstGeom prst="rect">
            <a:avLst/>
          </a:prstGeom>
          <a:noFill/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GEMM</a:t>
            </a:r>
            <a:endParaRPr sz="1100"/>
          </a:p>
        </p:txBody>
      </p:sp>
      <p:graphicFrame>
        <p:nvGraphicFramePr>
          <p:cNvPr id="359" name="Google Shape;359;p57"/>
          <p:cNvGraphicFramePr/>
          <p:nvPr/>
        </p:nvGraphicFramePr>
        <p:xfrm>
          <a:off x="3865035" y="393764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267675"/>
                <a:gridCol w="267675"/>
                <a:gridCol w="267675"/>
                <a:gridCol w="267675"/>
                <a:gridCol w="2676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2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4F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360" name="Google Shape;360;p57"/>
          <p:cNvSpPr txBox="1"/>
          <p:nvPr/>
        </p:nvSpPr>
        <p:spPr>
          <a:xfrm>
            <a:off x="1882140" y="4717037"/>
            <a:ext cx="5294610" cy="300082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Large batch size for prefill, small batch size for decode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7"/>
          <p:cNvSpPr txBox="1"/>
          <p:nvPr/>
        </p:nvSpPr>
        <p:spPr>
          <a:xfrm>
            <a:off x="6621566" y="1650255"/>
            <a:ext cx="943500" cy="253800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362" name="Google Shape;362;p57"/>
          <p:cNvSpPr txBox="1"/>
          <p:nvPr/>
        </p:nvSpPr>
        <p:spPr>
          <a:xfrm>
            <a:off x="6621566" y="1918920"/>
            <a:ext cx="943500" cy="253800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363" name="Google Shape;363;p57"/>
          <p:cNvSpPr txBox="1"/>
          <p:nvPr/>
        </p:nvSpPr>
        <p:spPr>
          <a:xfrm>
            <a:off x="6621566" y="2187585"/>
            <a:ext cx="943500" cy="253800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364" name="Google Shape;364;p57"/>
          <p:cNvSpPr txBox="1"/>
          <p:nvPr/>
        </p:nvSpPr>
        <p:spPr>
          <a:xfrm>
            <a:off x="6621566" y="2724915"/>
            <a:ext cx="943500" cy="253800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365" name="Google Shape;365;p57"/>
          <p:cNvSpPr txBox="1"/>
          <p:nvPr/>
        </p:nvSpPr>
        <p:spPr>
          <a:xfrm>
            <a:off x="6621566" y="2456250"/>
            <a:ext cx="943500" cy="253800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graphicFrame>
        <p:nvGraphicFramePr>
          <p:cNvPr id="366" name="Google Shape;366;p57"/>
          <p:cNvGraphicFramePr/>
          <p:nvPr/>
        </p:nvGraphicFramePr>
        <p:xfrm>
          <a:off x="-55958" y="157569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432575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  <a:gridCol w="337200"/>
              </a:tblGrid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Req 1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2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3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4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9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800"/>
                        <a:t>Req 5</a:t>
                      </a:r>
                      <a:endParaRPr sz="5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Batching Requests with Different Output Lengths</a:t>
            </a:r>
            <a:endParaRPr/>
          </a:p>
        </p:txBody>
      </p:sp>
      <p:graphicFrame>
        <p:nvGraphicFramePr>
          <p:cNvPr id="372" name="Google Shape;372;p58"/>
          <p:cNvGraphicFramePr/>
          <p:nvPr/>
        </p:nvGraphicFramePr>
        <p:xfrm>
          <a:off x="311700" y="13802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65350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p58"/>
          <p:cNvSpPr txBox="1"/>
          <p:nvPr/>
        </p:nvSpPr>
        <p:spPr>
          <a:xfrm>
            <a:off x="1028700" y="1017725"/>
            <a:ext cx="106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0</a:t>
            </a:r>
            <a:endParaRPr sz="1100"/>
          </a:p>
        </p:txBody>
      </p:sp>
      <p:graphicFrame>
        <p:nvGraphicFramePr>
          <p:cNvPr id="374" name="Google Shape;374;p58"/>
          <p:cNvGraphicFramePr/>
          <p:nvPr/>
        </p:nvGraphicFramePr>
        <p:xfrm>
          <a:off x="3391450" y="13802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65350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75" name="Google Shape;375;p58"/>
          <p:cNvSpPr txBox="1"/>
          <p:nvPr/>
        </p:nvSpPr>
        <p:spPr>
          <a:xfrm>
            <a:off x="4178300" y="1032526"/>
            <a:ext cx="106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1</a:t>
            </a:r>
            <a:endParaRPr sz="1100"/>
          </a:p>
        </p:txBody>
      </p:sp>
      <p:sp>
        <p:nvSpPr>
          <p:cNvPr id="376" name="Google Shape;376;p58"/>
          <p:cNvSpPr txBox="1"/>
          <p:nvPr/>
        </p:nvSpPr>
        <p:spPr>
          <a:xfrm>
            <a:off x="7147435" y="1017725"/>
            <a:ext cx="106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2</a:t>
            </a:r>
            <a:endParaRPr sz="1100"/>
          </a:p>
        </p:txBody>
      </p:sp>
      <p:graphicFrame>
        <p:nvGraphicFramePr>
          <p:cNvPr id="377" name="Google Shape;377;p58"/>
          <p:cNvGraphicFramePr/>
          <p:nvPr/>
        </p:nvGraphicFramePr>
        <p:xfrm>
          <a:off x="6245776" y="13802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8" name="Google Shape;378;p58"/>
          <p:cNvGraphicFramePr/>
          <p:nvPr/>
        </p:nvGraphicFramePr>
        <p:xfrm>
          <a:off x="311700" y="32136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79" name="Google Shape;379;p58"/>
          <p:cNvSpPr txBox="1"/>
          <p:nvPr/>
        </p:nvSpPr>
        <p:spPr>
          <a:xfrm>
            <a:off x="1130811" y="2860625"/>
            <a:ext cx="106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3</a:t>
            </a:r>
            <a:endParaRPr sz="1100"/>
          </a:p>
        </p:txBody>
      </p:sp>
      <p:sp>
        <p:nvSpPr>
          <p:cNvPr id="380" name="Google Shape;380;p58"/>
          <p:cNvSpPr txBox="1"/>
          <p:nvPr/>
        </p:nvSpPr>
        <p:spPr>
          <a:xfrm>
            <a:off x="4178300" y="2860625"/>
            <a:ext cx="106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4</a:t>
            </a:r>
            <a:endParaRPr sz="1100"/>
          </a:p>
        </p:txBody>
      </p:sp>
      <p:graphicFrame>
        <p:nvGraphicFramePr>
          <p:cNvPr id="381" name="Google Shape;381;p58"/>
          <p:cNvGraphicFramePr/>
          <p:nvPr/>
        </p:nvGraphicFramePr>
        <p:xfrm>
          <a:off x="3277150" y="32136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2" name="Google Shape;382;p58"/>
          <p:cNvGraphicFramePr/>
          <p:nvPr/>
        </p:nvGraphicFramePr>
        <p:xfrm>
          <a:off x="6306743" y="32136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83" name="Google Shape;383;p58"/>
          <p:cNvSpPr txBox="1"/>
          <p:nvPr/>
        </p:nvSpPr>
        <p:spPr>
          <a:xfrm>
            <a:off x="7283450" y="2837375"/>
            <a:ext cx="10687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6</a:t>
            </a:r>
            <a:endParaRPr sz="1100"/>
          </a:p>
        </p:txBody>
      </p:sp>
      <p:sp>
        <p:nvSpPr>
          <p:cNvPr id="384" name="Google Shape;384;p58"/>
          <p:cNvSpPr txBox="1"/>
          <p:nvPr/>
        </p:nvSpPr>
        <p:spPr>
          <a:xfrm>
            <a:off x="1898015" y="4746917"/>
            <a:ext cx="5294610" cy="300082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Bottlenecked by the longest decode request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Orca: Continuous batching</a:t>
            </a:r>
            <a:endParaRPr/>
          </a:p>
        </p:txBody>
      </p:sp>
      <p:sp>
        <p:nvSpPr>
          <p:cNvPr id="391" name="Google Shape;391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Key insight: admit new request when the decode requests finish</a:t>
            </a:r>
            <a:endParaRPr/>
          </a:p>
        </p:txBody>
      </p:sp>
      <p:graphicFrame>
        <p:nvGraphicFramePr>
          <p:cNvPr id="392" name="Google Shape;392;p59"/>
          <p:cNvGraphicFramePr/>
          <p:nvPr/>
        </p:nvGraphicFramePr>
        <p:xfrm>
          <a:off x="378376" y="19517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93" name="Google Shape;393;p59"/>
          <p:cNvSpPr txBox="1"/>
          <p:nvPr/>
        </p:nvSpPr>
        <p:spPr>
          <a:xfrm>
            <a:off x="970916" y="2237693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394" name="Google Shape;394;p59"/>
          <p:cNvSpPr txBox="1"/>
          <p:nvPr/>
        </p:nvSpPr>
        <p:spPr>
          <a:xfrm>
            <a:off x="970916" y="2511527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395" name="Google Shape;395;p59"/>
          <p:cNvSpPr txBox="1"/>
          <p:nvPr/>
        </p:nvSpPr>
        <p:spPr>
          <a:xfrm>
            <a:off x="970916" y="2784417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graphicFrame>
        <p:nvGraphicFramePr>
          <p:cNvPr id="396" name="Google Shape;396;p59"/>
          <p:cNvGraphicFramePr/>
          <p:nvPr/>
        </p:nvGraphicFramePr>
        <p:xfrm>
          <a:off x="3394625" y="194862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7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8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7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59"/>
          <p:cNvSpPr txBox="1"/>
          <p:nvPr/>
        </p:nvSpPr>
        <p:spPr>
          <a:xfrm>
            <a:off x="3993516" y="1948480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graphicFrame>
        <p:nvGraphicFramePr>
          <p:cNvPr id="398" name="Google Shape;398;p59"/>
          <p:cNvGraphicFramePr/>
          <p:nvPr/>
        </p:nvGraphicFramePr>
        <p:xfrm>
          <a:off x="6201325" y="194848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/>
                        <a:t>Req 9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7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8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7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399" name="Google Shape;399;p59"/>
          <p:cNvSpPr txBox="1"/>
          <p:nvPr/>
        </p:nvSpPr>
        <p:spPr>
          <a:xfrm>
            <a:off x="1189990" y="3458099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5</a:t>
            </a:r>
            <a:endParaRPr sz="1100"/>
          </a:p>
        </p:txBody>
      </p:sp>
      <p:sp>
        <p:nvSpPr>
          <p:cNvPr id="400" name="Google Shape;400;p59"/>
          <p:cNvSpPr txBox="1"/>
          <p:nvPr/>
        </p:nvSpPr>
        <p:spPr>
          <a:xfrm>
            <a:off x="4095116" y="3483499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9</a:t>
            </a:r>
            <a:endParaRPr sz="1100"/>
          </a:p>
        </p:txBody>
      </p:sp>
      <p:sp>
        <p:nvSpPr>
          <p:cNvPr id="401" name="Google Shape;401;p59"/>
          <p:cNvSpPr txBox="1"/>
          <p:nvPr/>
        </p:nvSpPr>
        <p:spPr>
          <a:xfrm>
            <a:off x="7054216" y="3458099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9</a:t>
            </a:r>
            <a:endParaRPr sz="1100"/>
          </a:p>
        </p:txBody>
      </p:sp>
      <p:sp>
        <p:nvSpPr>
          <p:cNvPr id="402" name="Google Shape;402;p59"/>
          <p:cNvSpPr txBox="1"/>
          <p:nvPr/>
        </p:nvSpPr>
        <p:spPr>
          <a:xfrm>
            <a:off x="1878965" y="4370792"/>
            <a:ext cx="5294610" cy="530914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Now the system achieves a stable batch size and will not be bottlenecked by the longest decoding request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Continuous Batching Batch Size Calculation</a:t>
            </a:r>
            <a:endParaRPr/>
          </a:p>
        </p:txBody>
      </p:sp>
      <p:sp>
        <p:nvSpPr>
          <p:cNvPr id="408" name="Google Shape;408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251"/>
            </a:stretch>
          </a:blipFill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Continuous Batching Batch Size Calculation</a:t>
            </a:r>
            <a:endParaRPr/>
          </a:p>
        </p:txBody>
      </p:sp>
      <p:sp>
        <p:nvSpPr>
          <p:cNvPr id="414" name="Google Shape;41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 size calculation for various d, p</a:t>
            </a:r>
            <a:endParaRPr/>
          </a:p>
        </p:txBody>
      </p:sp>
      <p:sp>
        <p:nvSpPr>
          <p:cNvPr id="421" name="Google Shape;421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68" l="0" r="0" t="-1204"/>
            </a:stretch>
          </a:blipFill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Continuous Batching Performance Analysis</a:t>
            </a:r>
            <a:endParaRPr/>
          </a:p>
        </p:txBody>
      </p:sp>
      <p:sp>
        <p:nvSpPr>
          <p:cNvPr id="427" name="Google Shape;427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Higher throughput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No need to wait for the longest decode request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Stabilize the GEMM batch size</a:t>
            </a:r>
            <a:endParaRPr/>
          </a:p>
          <a:p>
            <a:pPr indent="-3238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GEMM performance is a concave shape</a:t>
            </a:r>
            <a:endParaRPr/>
          </a:p>
          <a:p>
            <a:pPr indent="-3238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GEMM of batch size 1 and 4095 is slower than 2 * GEMM of batch size 2048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Higher prefill latency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Now prefill is batched with decode request, so the prefill speed is reduced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Higher decode latency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Prefill also slows down the concurrent decode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Reduced queuing time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Now, a request can enter the batch at the token granularity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Simple Continuous batching struggles to meet SLO</a:t>
            </a:r>
            <a:endParaRPr/>
          </a:p>
        </p:txBody>
      </p:sp>
      <p:graphicFrame>
        <p:nvGraphicFramePr>
          <p:cNvPr id="433" name="Google Shape;433;p64"/>
          <p:cNvGraphicFramePr/>
          <p:nvPr/>
        </p:nvGraphicFramePr>
        <p:xfrm>
          <a:off x="225976" y="17644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434" name="Google Shape;434;p64"/>
          <p:cNvSpPr txBox="1"/>
          <p:nvPr/>
        </p:nvSpPr>
        <p:spPr>
          <a:xfrm>
            <a:off x="818516" y="2050367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435" name="Google Shape;435;p64"/>
          <p:cNvSpPr txBox="1"/>
          <p:nvPr/>
        </p:nvSpPr>
        <p:spPr>
          <a:xfrm>
            <a:off x="818516" y="2324201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436" name="Google Shape;436;p64"/>
          <p:cNvSpPr txBox="1"/>
          <p:nvPr/>
        </p:nvSpPr>
        <p:spPr>
          <a:xfrm>
            <a:off x="818516" y="2597092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graphicFrame>
        <p:nvGraphicFramePr>
          <p:cNvPr id="437" name="Google Shape;437;p64"/>
          <p:cNvGraphicFramePr/>
          <p:nvPr/>
        </p:nvGraphicFramePr>
        <p:xfrm>
          <a:off x="3242225" y="176129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7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8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7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438" name="Google Shape;438;p64"/>
          <p:cNvSpPr txBox="1"/>
          <p:nvPr/>
        </p:nvSpPr>
        <p:spPr>
          <a:xfrm>
            <a:off x="3841116" y="1761155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graphicFrame>
        <p:nvGraphicFramePr>
          <p:cNvPr id="439" name="Google Shape;439;p64"/>
          <p:cNvGraphicFramePr/>
          <p:nvPr/>
        </p:nvGraphicFramePr>
        <p:xfrm>
          <a:off x="6131474" y="124363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/>
                        <a:t>Req 9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</a:tr>
              <a:tr h="249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</a:tr>
              <a:tr h="249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7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8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7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440" name="Google Shape;440;p64"/>
          <p:cNvSpPr txBox="1"/>
          <p:nvPr/>
        </p:nvSpPr>
        <p:spPr>
          <a:xfrm>
            <a:off x="1037590" y="3270774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5</a:t>
            </a:r>
            <a:endParaRPr sz="1100"/>
          </a:p>
        </p:txBody>
      </p:sp>
      <p:sp>
        <p:nvSpPr>
          <p:cNvPr id="441" name="Google Shape;441;p64"/>
          <p:cNvSpPr txBox="1"/>
          <p:nvPr/>
        </p:nvSpPr>
        <p:spPr>
          <a:xfrm>
            <a:off x="3942716" y="3296174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9</a:t>
            </a:r>
            <a:endParaRPr sz="1100"/>
          </a:p>
        </p:txBody>
      </p:sp>
      <p:sp>
        <p:nvSpPr>
          <p:cNvPr id="442" name="Google Shape;442;p64"/>
          <p:cNvSpPr txBox="1"/>
          <p:nvPr/>
        </p:nvSpPr>
        <p:spPr>
          <a:xfrm>
            <a:off x="6887685" y="3296174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24</a:t>
            </a:r>
            <a:endParaRPr sz="1100"/>
          </a:p>
        </p:txBody>
      </p:sp>
      <p:sp>
        <p:nvSpPr>
          <p:cNvPr id="443" name="Google Shape;443;p64"/>
          <p:cNvSpPr/>
          <p:nvPr/>
        </p:nvSpPr>
        <p:spPr>
          <a:xfrm>
            <a:off x="498475" y="4260850"/>
            <a:ext cx="1222375" cy="25391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Dec(1,2,3,4,5)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4"/>
          <p:cNvSpPr/>
          <p:nvPr/>
        </p:nvSpPr>
        <p:spPr>
          <a:xfrm>
            <a:off x="1720850" y="4260850"/>
            <a:ext cx="1720850" cy="25391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Pf(6,7,8) Dec(1,5)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4"/>
          <p:cNvSpPr/>
          <p:nvPr/>
        </p:nvSpPr>
        <p:spPr>
          <a:xfrm>
            <a:off x="3441701" y="4260850"/>
            <a:ext cx="4260850" cy="25391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Pf(9) Dec(5,6,8)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4"/>
          <p:cNvSpPr/>
          <p:nvPr/>
        </p:nvSpPr>
        <p:spPr>
          <a:xfrm>
            <a:off x="7702551" y="4260850"/>
            <a:ext cx="1152525" cy="25391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64"/>
          <p:cNvCxnSpPr/>
          <p:nvPr/>
        </p:nvCxnSpPr>
        <p:spPr>
          <a:xfrm>
            <a:off x="311700" y="4664075"/>
            <a:ext cx="869895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8" name="Google Shape;448;p64"/>
          <p:cNvSpPr txBox="1"/>
          <p:nvPr/>
        </p:nvSpPr>
        <p:spPr>
          <a:xfrm>
            <a:off x="8508500" y="4698475"/>
            <a:ext cx="746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64"/>
          <p:cNvCxnSpPr/>
          <p:nvPr/>
        </p:nvCxnSpPr>
        <p:spPr>
          <a:xfrm flipH="1">
            <a:off x="1152526" y="3524690"/>
            <a:ext cx="718820" cy="7361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0" name="Google Shape;450;p64"/>
          <p:cNvCxnSpPr>
            <a:stCxn id="441" idx="2"/>
          </p:cNvCxnSpPr>
          <p:nvPr/>
        </p:nvCxnSpPr>
        <p:spPr>
          <a:xfrm flipH="1">
            <a:off x="2579307" y="3550089"/>
            <a:ext cx="2154300" cy="706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1" name="Google Shape;451;p64"/>
          <p:cNvCxnSpPr>
            <a:stCxn id="442" idx="2"/>
            <a:endCxn id="445" idx="0"/>
          </p:cNvCxnSpPr>
          <p:nvPr/>
        </p:nvCxnSpPr>
        <p:spPr>
          <a:xfrm flipH="1">
            <a:off x="5571977" y="3550089"/>
            <a:ext cx="2106600" cy="710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" name="Google Shape;452;p64"/>
          <p:cNvSpPr txBox="1"/>
          <p:nvPr/>
        </p:nvSpPr>
        <p:spPr>
          <a:xfrm>
            <a:off x="6734967" y="2343176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453" name="Google Shape;453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SLO Attainment</a:t>
            </a:r>
            <a:endParaRPr/>
          </a:p>
        </p:txBody>
      </p:sp>
      <p:sp>
        <p:nvSpPr>
          <p:cNvPr id="459" name="Google Shape;459;p65"/>
          <p:cNvSpPr/>
          <p:nvPr/>
        </p:nvSpPr>
        <p:spPr>
          <a:xfrm>
            <a:off x="2203450" y="1654175"/>
            <a:ext cx="1120774" cy="25391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Dec(1,2,3,4,5)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65"/>
          <p:cNvSpPr/>
          <p:nvPr/>
        </p:nvSpPr>
        <p:spPr>
          <a:xfrm>
            <a:off x="3324224" y="1654175"/>
            <a:ext cx="1409701" cy="25391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Pf(6,7,8) Dec(1,5)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65"/>
          <p:cNvSpPr/>
          <p:nvPr/>
        </p:nvSpPr>
        <p:spPr>
          <a:xfrm>
            <a:off x="4733925" y="1654175"/>
            <a:ext cx="3616325" cy="25391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Pf(9) Dec(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5,67,8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2" name="Google Shape;462;p65"/>
          <p:cNvGraphicFramePr/>
          <p:nvPr/>
        </p:nvGraphicFramePr>
        <p:xfrm>
          <a:off x="85725" y="198597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166625"/>
                <a:gridCol w="507525"/>
                <a:gridCol w="357700"/>
                <a:gridCol w="364425"/>
                <a:gridCol w="361050"/>
                <a:gridCol w="361050"/>
                <a:gridCol w="361050"/>
                <a:gridCol w="361050"/>
                <a:gridCol w="366125"/>
                <a:gridCol w="35600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</a:tblGrid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1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2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3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4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5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6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7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8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9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</a:tr>
              <a:tr h="18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11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12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13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14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15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16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17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18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21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22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3" name="Google Shape;463;p65"/>
          <p:cNvSpPr/>
          <p:nvPr/>
        </p:nvSpPr>
        <p:spPr>
          <a:xfrm>
            <a:off x="1123950" y="1654175"/>
            <a:ext cx="1079500" cy="25391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Pf(1,2,3,4,5)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5"/>
          <p:cNvSpPr txBox="1"/>
          <p:nvPr/>
        </p:nvSpPr>
        <p:spPr>
          <a:xfrm>
            <a:off x="5344635" y="3745579"/>
            <a:ext cx="2945291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Very long stall &gt; TPOT</a:t>
            </a:r>
            <a:endParaRPr sz="1100"/>
          </a:p>
        </p:txBody>
      </p:sp>
      <p:sp>
        <p:nvSpPr>
          <p:cNvPr id="465" name="Google Shape;465;p65"/>
          <p:cNvSpPr txBox="1"/>
          <p:nvPr/>
        </p:nvSpPr>
        <p:spPr>
          <a:xfrm>
            <a:off x="5344635" y="3134495"/>
            <a:ext cx="2945291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Very long stall &gt; TPOT</a:t>
            </a:r>
            <a:endParaRPr sz="1100"/>
          </a:p>
        </p:txBody>
      </p:sp>
      <p:sp>
        <p:nvSpPr>
          <p:cNvPr id="466" name="Google Shape;466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Chunked prefill</a:t>
            </a:r>
            <a:endParaRPr/>
          </a:p>
        </p:txBody>
      </p:sp>
      <p:graphicFrame>
        <p:nvGraphicFramePr>
          <p:cNvPr id="472" name="Google Shape;472;p66"/>
          <p:cNvGraphicFramePr/>
          <p:nvPr/>
        </p:nvGraphicFramePr>
        <p:xfrm>
          <a:off x="225976" y="111989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473" name="Google Shape;473;p66"/>
          <p:cNvSpPr txBox="1"/>
          <p:nvPr/>
        </p:nvSpPr>
        <p:spPr>
          <a:xfrm>
            <a:off x="818516" y="1405842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474" name="Google Shape;474;p66"/>
          <p:cNvSpPr txBox="1"/>
          <p:nvPr/>
        </p:nvSpPr>
        <p:spPr>
          <a:xfrm>
            <a:off x="818516" y="1679676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475" name="Google Shape;475;p66"/>
          <p:cNvSpPr txBox="1"/>
          <p:nvPr/>
        </p:nvSpPr>
        <p:spPr>
          <a:xfrm>
            <a:off x="818516" y="1952567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graphicFrame>
        <p:nvGraphicFramePr>
          <p:cNvPr id="476" name="Google Shape;476;p66"/>
          <p:cNvGraphicFramePr/>
          <p:nvPr/>
        </p:nvGraphicFramePr>
        <p:xfrm>
          <a:off x="3242225" y="111677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7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8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7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477" name="Google Shape;477;p66"/>
          <p:cNvSpPr txBox="1"/>
          <p:nvPr/>
        </p:nvSpPr>
        <p:spPr>
          <a:xfrm>
            <a:off x="3841116" y="1116629"/>
            <a:ext cx="943610" cy="253916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graphicFrame>
        <p:nvGraphicFramePr>
          <p:cNvPr id="478" name="Google Shape;478;p66"/>
          <p:cNvGraphicFramePr/>
          <p:nvPr/>
        </p:nvGraphicFramePr>
        <p:xfrm>
          <a:off x="6108067" y="85310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/>
                        <a:t>Req 9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</a:tr>
              <a:tr h="249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</a:tr>
              <a:tr h="249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7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8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7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479" name="Google Shape;479;p66"/>
          <p:cNvSpPr txBox="1"/>
          <p:nvPr/>
        </p:nvSpPr>
        <p:spPr>
          <a:xfrm>
            <a:off x="1037590" y="2626249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5</a:t>
            </a:r>
            <a:endParaRPr sz="1100"/>
          </a:p>
        </p:txBody>
      </p:sp>
      <p:sp>
        <p:nvSpPr>
          <p:cNvPr id="480" name="Google Shape;480;p66"/>
          <p:cNvSpPr txBox="1"/>
          <p:nvPr/>
        </p:nvSpPr>
        <p:spPr>
          <a:xfrm>
            <a:off x="3942716" y="2651648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9</a:t>
            </a:r>
            <a:endParaRPr sz="1100"/>
          </a:p>
        </p:txBody>
      </p:sp>
      <p:sp>
        <p:nvSpPr>
          <p:cNvPr id="481" name="Google Shape;481;p66"/>
          <p:cNvSpPr txBox="1"/>
          <p:nvPr/>
        </p:nvSpPr>
        <p:spPr>
          <a:xfrm>
            <a:off x="6864277" y="2905649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11</a:t>
            </a:r>
            <a:endParaRPr sz="1100"/>
          </a:p>
        </p:txBody>
      </p:sp>
      <p:sp>
        <p:nvSpPr>
          <p:cNvPr id="482" name="Google Shape;482;p66"/>
          <p:cNvSpPr txBox="1"/>
          <p:nvPr/>
        </p:nvSpPr>
        <p:spPr>
          <a:xfrm>
            <a:off x="6625042" y="368356"/>
            <a:ext cx="26191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Chunk size = 8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prefill the first 8 tokens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3" name="Google Shape;483;p66"/>
          <p:cNvGraphicFramePr/>
          <p:nvPr/>
        </p:nvGraphicFramePr>
        <p:xfrm>
          <a:off x="225976" y="31178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/>
                        <a:t>Req 9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</a:tr>
              <a:tr h="249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</a:tr>
              <a:tr h="249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8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7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p66"/>
          <p:cNvSpPr txBox="1"/>
          <p:nvPr/>
        </p:nvSpPr>
        <p:spPr>
          <a:xfrm>
            <a:off x="1086960" y="4855845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11</a:t>
            </a:r>
            <a:endParaRPr sz="1100"/>
          </a:p>
        </p:txBody>
      </p:sp>
      <p:sp>
        <p:nvSpPr>
          <p:cNvPr id="485" name="Google Shape;485;p66"/>
          <p:cNvSpPr txBox="1"/>
          <p:nvPr/>
        </p:nvSpPr>
        <p:spPr>
          <a:xfrm>
            <a:off x="6686363" y="1952651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graphicFrame>
        <p:nvGraphicFramePr>
          <p:cNvPr id="486" name="Google Shape;486;p66"/>
          <p:cNvGraphicFramePr/>
          <p:nvPr/>
        </p:nvGraphicFramePr>
        <p:xfrm>
          <a:off x="3242225" y="307963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/>
                        <a:t>Req 9</a:t>
                      </a:r>
                      <a:endParaRPr sz="1100"/>
                    </a:p>
                  </a:txBody>
                  <a:tcPr marT="34300" marB="34300" marR="68600" marL="686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</a:tr>
              <a:tr h="249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</a:tr>
              <a:tr h="249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400"/>
                        <a:t>Req 8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7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FFC000"/>
                        </a:solidFill>
                      </a:endParaRPr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487" name="Google Shape;487;p66"/>
          <p:cNvSpPr txBox="1"/>
          <p:nvPr/>
        </p:nvSpPr>
        <p:spPr>
          <a:xfrm>
            <a:off x="4103209" y="4817628"/>
            <a:ext cx="1581784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Batch Size = 8</a:t>
            </a:r>
            <a:endParaRPr sz="1100"/>
          </a:p>
        </p:txBody>
      </p:sp>
      <p:sp>
        <p:nvSpPr>
          <p:cNvPr id="488" name="Google Shape;488;p66"/>
          <p:cNvSpPr txBox="1"/>
          <p:nvPr/>
        </p:nvSpPr>
        <p:spPr>
          <a:xfrm>
            <a:off x="6388489" y="4353551"/>
            <a:ext cx="2580175" cy="300082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Consistent batch size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Chunked Prefill eliminates generation stall</a:t>
            </a:r>
            <a:endParaRPr/>
          </a:p>
        </p:txBody>
      </p:sp>
      <p:sp>
        <p:nvSpPr>
          <p:cNvPr id="495" name="Google Shape;495;p67"/>
          <p:cNvSpPr/>
          <p:nvPr/>
        </p:nvSpPr>
        <p:spPr>
          <a:xfrm>
            <a:off x="2203451" y="1485900"/>
            <a:ext cx="1079500" cy="42219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Dec(1,2,3,4,5)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7"/>
          <p:cNvSpPr/>
          <p:nvPr/>
        </p:nvSpPr>
        <p:spPr>
          <a:xfrm>
            <a:off x="3282952" y="1485900"/>
            <a:ext cx="1409701" cy="42219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Pf(6,7,8)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Dec(1,5)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7"/>
          <p:cNvSpPr/>
          <p:nvPr/>
        </p:nvSpPr>
        <p:spPr>
          <a:xfrm>
            <a:off x="4692653" y="1485900"/>
            <a:ext cx="1492245" cy="42219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</a:t>
            </a: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9_P1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Dec(5,6,8)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8" name="Google Shape;498;p67"/>
          <p:cNvGraphicFramePr/>
          <p:nvPr/>
        </p:nvGraphicFramePr>
        <p:xfrm>
          <a:off x="85725" y="198597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166625"/>
                <a:gridCol w="507525"/>
                <a:gridCol w="357700"/>
                <a:gridCol w="364425"/>
                <a:gridCol w="361050"/>
                <a:gridCol w="361050"/>
                <a:gridCol w="361050"/>
                <a:gridCol w="361050"/>
                <a:gridCol w="366125"/>
                <a:gridCol w="35600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  <a:gridCol w="361050"/>
              </a:tblGrid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1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2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3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4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5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6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7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8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F0"/>
                    </a:solidFill>
                  </a:tcPr>
                </a:tc>
              </a:tr>
              <a:tr h="22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 9</a:t>
                      </a:r>
                      <a:endParaRPr sz="12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</a:tr>
              <a:tr h="18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11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12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13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14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15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16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17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18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21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22</a:t>
                      </a:r>
                      <a:endParaRPr sz="9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9" name="Google Shape;499;p67"/>
          <p:cNvSpPr/>
          <p:nvPr/>
        </p:nvSpPr>
        <p:spPr>
          <a:xfrm>
            <a:off x="1123950" y="1485900"/>
            <a:ext cx="1079500" cy="42219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Pf(1,2,3,4,5)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67"/>
          <p:cNvSpPr/>
          <p:nvPr/>
        </p:nvSpPr>
        <p:spPr>
          <a:xfrm>
            <a:off x="6184899" y="1485900"/>
            <a:ext cx="1447801" cy="42219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</a:t>
            </a: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9_P2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Dec(5,6,8)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67"/>
          <p:cNvSpPr/>
          <p:nvPr/>
        </p:nvSpPr>
        <p:spPr>
          <a:xfrm>
            <a:off x="7632700" y="1485900"/>
            <a:ext cx="1063623" cy="42219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Pf(</a:t>
            </a: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9_P3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Dec(5,6,8)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7"/>
          <p:cNvSpPr txBox="1"/>
          <p:nvPr/>
        </p:nvSpPr>
        <p:spPr>
          <a:xfrm>
            <a:off x="5096985" y="2622428"/>
            <a:ext cx="1087913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No Stall</a:t>
            </a:r>
            <a:endParaRPr sz="1100"/>
          </a:p>
        </p:txBody>
      </p:sp>
      <p:sp>
        <p:nvSpPr>
          <p:cNvPr id="503" name="Google Shape;503;p67"/>
          <p:cNvSpPr txBox="1"/>
          <p:nvPr/>
        </p:nvSpPr>
        <p:spPr>
          <a:xfrm>
            <a:off x="5096985" y="4444559"/>
            <a:ext cx="3599338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Longer Prefill Time</a:t>
            </a:r>
            <a:endParaRPr sz="1100"/>
          </a:p>
        </p:txBody>
      </p:sp>
      <p:sp>
        <p:nvSpPr>
          <p:cNvPr id="504" name="Google Shape;504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Fixed Token Budget Chunked Prefill</a:t>
            </a:r>
            <a:endParaRPr/>
          </a:p>
        </p:txBody>
      </p:sp>
      <p:sp>
        <p:nvSpPr>
          <p:cNvPr id="511" name="Google Shape;511;p68"/>
          <p:cNvSpPr txBox="1"/>
          <p:nvPr/>
        </p:nvSpPr>
        <p:spPr>
          <a:xfrm>
            <a:off x="1144270" y="1741804"/>
            <a:ext cx="12505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Request 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68"/>
          <p:cNvSpPr/>
          <p:nvPr/>
        </p:nvSpPr>
        <p:spPr>
          <a:xfrm>
            <a:off x="2702934" y="1814004"/>
            <a:ext cx="688057" cy="1492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8"/>
          <p:cNvSpPr txBox="1"/>
          <p:nvPr/>
        </p:nvSpPr>
        <p:spPr>
          <a:xfrm>
            <a:off x="1144270" y="2004034"/>
            <a:ext cx="12505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Request 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8"/>
          <p:cNvSpPr/>
          <p:nvPr/>
        </p:nvSpPr>
        <p:spPr>
          <a:xfrm>
            <a:off x="2702934" y="2076234"/>
            <a:ext cx="688057" cy="1492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8"/>
          <p:cNvSpPr txBox="1"/>
          <p:nvPr/>
        </p:nvSpPr>
        <p:spPr>
          <a:xfrm>
            <a:off x="1144270" y="2413076"/>
            <a:ext cx="127342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Request 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68"/>
          <p:cNvSpPr/>
          <p:nvPr/>
        </p:nvSpPr>
        <p:spPr>
          <a:xfrm>
            <a:off x="2702934" y="2485276"/>
            <a:ext cx="688057" cy="1492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68"/>
          <p:cNvSpPr txBox="1"/>
          <p:nvPr/>
        </p:nvSpPr>
        <p:spPr>
          <a:xfrm>
            <a:off x="1593841" y="2150847"/>
            <a:ext cx="273152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68"/>
          <p:cNvSpPr txBox="1"/>
          <p:nvPr/>
        </p:nvSpPr>
        <p:spPr>
          <a:xfrm>
            <a:off x="1223645" y="2979691"/>
            <a:ext cx="114719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Prefill Request 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68"/>
          <p:cNvSpPr/>
          <p:nvPr/>
        </p:nvSpPr>
        <p:spPr>
          <a:xfrm>
            <a:off x="2702934" y="3060877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8"/>
          <p:cNvSpPr txBox="1"/>
          <p:nvPr/>
        </p:nvSpPr>
        <p:spPr>
          <a:xfrm>
            <a:off x="1207388" y="3509318"/>
            <a:ext cx="114719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Prefill Request 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68"/>
          <p:cNvSpPr/>
          <p:nvPr/>
        </p:nvSpPr>
        <p:spPr>
          <a:xfrm>
            <a:off x="2702934" y="2909969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8"/>
          <p:cNvSpPr/>
          <p:nvPr/>
        </p:nvSpPr>
        <p:spPr>
          <a:xfrm>
            <a:off x="2702934" y="3214777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8"/>
          <p:cNvSpPr/>
          <p:nvPr/>
        </p:nvSpPr>
        <p:spPr>
          <a:xfrm>
            <a:off x="2702939" y="3650650"/>
            <a:ext cx="688057" cy="14922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68"/>
          <p:cNvSpPr/>
          <p:nvPr/>
        </p:nvSpPr>
        <p:spPr>
          <a:xfrm>
            <a:off x="2702934" y="3503087"/>
            <a:ext cx="688057" cy="14922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68"/>
          <p:cNvSpPr/>
          <p:nvPr/>
        </p:nvSpPr>
        <p:spPr>
          <a:xfrm>
            <a:off x="5231777" y="1771281"/>
            <a:ext cx="686253" cy="180418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68"/>
          <p:cNvSpPr/>
          <p:nvPr/>
        </p:nvSpPr>
        <p:spPr>
          <a:xfrm>
            <a:off x="3387381" y="3060877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8"/>
          <p:cNvSpPr/>
          <p:nvPr/>
        </p:nvSpPr>
        <p:spPr>
          <a:xfrm>
            <a:off x="3387381" y="2909969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8"/>
          <p:cNvSpPr/>
          <p:nvPr/>
        </p:nvSpPr>
        <p:spPr>
          <a:xfrm>
            <a:off x="3387381" y="3214777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8"/>
          <p:cNvSpPr/>
          <p:nvPr/>
        </p:nvSpPr>
        <p:spPr>
          <a:xfrm>
            <a:off x="3387385" y="3650650"/>
            <a:ext cx="688057" cy="14922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8"/>
          <p:cNvSpPr/>
          <p:nvPr/>
        </p:nvSpPr>
        <p:spPr>
          <a:xfrm>
            <a:off x="3387381" y="3503087"/>
            <a:ext cx="688057" cy="14922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4988448" y="1413714"/>
            <a:ext cx="929582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Budget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68"/>
          <p:cNvSpPr/>
          <p:nvPr/>
        </p:nvSpPr>
        <p:spPr>
          <a:xfrm>
            <a:off x="5233582" y="1772088"/>
            <a:ext cx="688057" cy="1492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68"/>
          <p:cNvSpPr/>
          <p:nvPr/>
        </p:nvSpPr>
        <p:spPr>
          <a:xfrm>
            <a:off x="5233582" y="1919260"/>
            <a:ext cx="688057" cy="1492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68"/>
          <p:cNvSpPr/>
          <p:nvPr/>
        </p:nvSpPr>
        <p:spPr>
          <a:xfrm>
            <a:off x="5233582" y="2205029"/>
            <a:ext cx="688057" cy="1492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68"/>
          <p:cNvSpPr/>
          <p:nvPr/>
        </p:nvSpPr>
        <p:spPr>
          <a:xfrm>
            <a:off x="5233582" y="2061352"/>
            <a:ext cx="688057" cy="1492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68"/>
          <p:cNvSpPr/>
          <p:nvPr/>
        </p:nvSpPr>
        <p:spPr>
          <a:xfrm>
            <a:off x="5233582" y="2353043"/>
            <a:ext cx="688057" cy="1492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68"/>
          <p:cNvSpPr/>
          <p:nvPr/>
        </p:nvSpPr>
        <p:spPr>
          <a:xfrm>
            <a:off x="5233582" y="2659469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8"/>
          <p:cNvSpPr/>
          <p:nvPr/>
        </p:nvSpPr>
        <p:spPr>
          <a:xfrm>
            <a:off x="5233582" y="2508562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68"/>
          <p:cNvSpPr/>
          <p:nvPr/>
        </p:nvSpPr>
        <p:spPr>
          <a:xfrm>
            <a:off x="5233582" y="2813370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8"/>
          <p:cNvSpPr/>
          <p:nvPr/>
        </p:nvSpPr>
        <p:spPr>
          <a:xfrm>
            <a:off x="5233582" y="3117623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68"/>
          <p:cNvSpPr/>
          <p:nvPr/>
        </p:nvSpPr>
        <p:spPr>
          <a:xfrm>
            <a:off x="5233582" y="2966715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68"/>
          <p:cNvSpPr/>
          <p:nvPr/>
        </p:nvSpPr>
        <p:spPr>
          <a:xfrm>
            <a:off x="5233582" y="3271523"/>
            <a:ext cx="688057" cy="149225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0642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68"/>
          <p:cNvSpPr/>
          <p:nvPr/>
        </p:nvSpPr>
        <p:spPr>
          <a:xfrm>
            <a:off x="5230874" y="3418697"/>
            <a:ext cx="688057" cy="14922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68"/>
          <p:cNvSpPr/>
          <p:nvPr/>
        </p:nvSpPr>
        <p:spPr>
          <a:xfrm>
            <a:off x="6136969" y="3492249"/>
            <a:ext cx="688057" cy="14922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8"/>
          <p:cNvSpPr/>
          <p:nvPr/>
        </p:nvSpPr>
        <p:spPr>
          <a:xfrm>
            <a:off x="6136964" y="3344685"/>
            <a:ext cx="688057" cy="14922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68"/>
          <p:cNvSpPr/>
          <p:nvPr/>
        </p:nvSpPr>
        <p:spPr>
          <a:xfrm>
            <a:off x="6136964" y="3646968"/>
            <a:ext cx="688057" cy="149225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0A2D0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8"/>
          <p:cNvSpPr txBox="1"/>
          <p:nvPr/>
        </p:nvSpPr>
        <p:spPr>
          <a:xfrm>
            <a:off x="6030091" y="3076210"/>
            <a:ext cx="794930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round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8"/>
          <p:cNvSpPr txBox="1"/>
          <p:nvPr/>
        </p:nvSpPr>
        <p:spPr>
          <a:xfrm>
            <a:off x="2910841" y="4463274"/>
            <a:ext cx="3402253" cy="300082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Constant GEMM batch size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Chunked Prefill Performance Analysis</a:t>
            </a:r>
            <a:endParaRPr/>
          </a:p>
        </p:txBody>
      </p:sp>
      <p:sp>
        <p:nvSpPr>
          <p:cNvPr id="555" name="Google Shape;555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Slightly higher throughput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Additional KV cache load for chunked prefill</a:t>
            </a:r>
            <a:endParaRPr/>
          </a:p>
          <a:p>
            <a:pPr indent="-3238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When the chunk size is large enough, it is still compute-bound</a:t>
            </a:r>
            <a:endParaRPr/>
          </a:p>
          <a:p>
            <a:pPr indent="-3238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The additional load is negligible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Further stabilized the batch size</a:t>
            </a:r>
            <a:endParaRPr/>
          </a:p>
          <a:p>
            <a:pPr indent="-3238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Again, since the TFLOPs curve is concave, GPU utilization is higher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Further harm the prefill latency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Now need to batch with decode requests for more cycles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Fractional chunks can add additional latency (e.g., 128 chunk, 257 length)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Controlled decode latency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Prefill Decode Disaggregation</a:t>
            </a:r>
            <a:endParaRPr/>
          </a:p>
        </p:txBody>
      </p:sp>
      <p:pic>
        <p:nvPicPr>
          <p:cNvPr id="561" name="Google Shape;56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171" y="1917493"/>
            <a:ext cx="1755775" cy="175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8699" y="1917493"/>
            <a:ext cx="1755775" cy="175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70"/>
          <p:cNvSpPr txBox="1"/>
          <p:nvPr/>
        </p:nvSpPr>
        <p:spPr>
          <a:xfrm>
            <a:off x="1371296" y="1434046"/>
            <a:ext cx="17938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Prefill Server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6041723" y="1434046"/>
            <a:ext cx="17938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Server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5" name="Google Shape;565;p70"/>
          <p:cNvCxnSpPr/>
          <p:nvPr/>
        </p:nvCxnSpPr>
        <p:spPr>
          <a:xfrm>
            <a:off x="3015946" y="2795381"/>
            <a:ext cx="2952753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566" name="Google Shape;566;p70"/>
          <p:cNvSpPr txBox="1"/>
          <p:nvPr/>
        </p:nvSpPr>
        <p:spPr>
          <a:xfrm>
            <a:off x="3965271" y="2404855"/>
            <a:ext cx="121602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KV Cache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7" name="Google Shape;567;p70"/>
          <p:cNvGraphicFramePr/>
          <p:nvPr/>
        </p:nvGraphicFramePr>
        <p:xfrm>
          <a:off x="698059" y="381046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68" name="Google Shape;568;p70"/>
          <p:cNvCxnSpPr/>
          <p:nvPr/>
        </p:nvCxnSpPr>
        <p:spPr>
          <a:xfrm>
            <a:off x="3422483" y="3947626"/>
            <a:ext cx="2093293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graphicFrame>
        <p:nvGraphicFramePr>
          <p:cNvPr id="569" name="Google Shape;569;p70"/>
          <p:cNvGraphicFramePr/>
          <p:nvPr/>
        </p:nvGraphicFramePr>
        <p:xfrm>
          <a:off x="5642777" y="381046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0" name="Google Shape;570;p70"/>
          <p:cNvGraphicFramePr/>
          <p:nvPr/>
        </p:nvGraphicFramePr>
        <p:xfrm>
          <a:off x="5642777" y="434767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71" name="Google Shape;571;p70"/>
          <p:cNvCxnSpPr/>
          <p:nvPr/>
        </p:nvCxnSpPr>
        <p:spPr>
          <a:xfrm>
            <a:off x="7158990" y="4084786"/>
            <a:ext cx="0" cy="26289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572" name="Google Shape;572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Prefill Decode Disaggregation</a:t>
            </a:r>
            <a:endParaRPr/>
          </a:p>
        </p:txBody>
      </p:sp>
      <p:graphicFrame>
        <p:nvGraphicFramePr>
          <p:cNvPr id="578" name="Google Shape;578;p71"/>
          <p:cNvGraphicFramePr/>
          <p:nvPr/>
        </p:nvGraphicFramePr>
        <p:xfrm>
          <a:off x="146683" y="153402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65350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9" name="Google Shape;579;p71"/>
          <p:cNvSpPr txBox="1"/>
          <p:nvPr/>
        </p:nvSpPr>
        <p:spPr>
          <a:xfrm>
            <a:off x="251156" y="1140921"/>
            <a:ext cx="17938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Prefill Server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71"/>
          <p:cNvSpPr txBox="1"/>
          <p:nvPr/>
        </p:nvSpPr>
        <p:spPr>
          <a:xfrm>
            <a:off x="115104" y="2973947"/>
            <a:ext cx="17938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Server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1" name="Google Shape;581;p71"/>
          <p:cNvGraphicFramePr/>
          <p:nvPr/>
        </p:nvGraphicFramePr>
        <p:xfrm>
          <a:off x="2916553" y="148717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65350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82" name="Google Shape;582;p71"/>
          <p:cNvSpPr txBox="1"/>
          <p:nvPr/>
        </p:nvSpPr>
        <p:spPr>
          <a:xfrm>
            <a:off x="3021026" y="1094065"/>
            <a:ext cx="17938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Prefill Server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71"/>
          <p:cNvSpPr txBox="1"/>
          <p:nvPr/>
        </p:nvSpPr>
        <p:spPr>
          <a:xfrm>
            <a:off x="1988036" y="2981445"/>
            <a:ext cx="17938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Server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4" name="Google Shape;584;p71"/>
          <p:cNvGraphicFramePr/>
          <p:nvPr/>
        </p:nvGraphicFramePr>
        <p:xfrm>
          <a:off x="1817523" y="350429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65350"/>
                <a:gridCol w="267675"/>
                <a:gridCol w="267675"/>
                <a:gridCol w="267675"/>
                <a:gridCol w="267675"/>
                <a:gridCol w="267675"/>
                <a:gridCol w="2676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585" name="Google Shape;585;p71"/>
          <p:cNvSpPr txBox="1"/>
          <p:nvPr/>
        </p:nvSpPr>
        <p:spPr>
          <a:xfrm>
            <a:off x="5978002" y="1125248"/>
            <a:ext cx="17938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Prefill Server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71"/>
          <p:cNvSpPr txBox="1"/>
          <p:nvPr/>
        </p:nvSpPr>
        <p:spPr>
          <a:xfrm>
            <a:off x="4191398" y="2984243"/>
            <a:ext cx="17938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Server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7" name="Google Shape;587;p71"/>
          <p:cNvGraphicFramePr/>
          <p:nvPr/>
        </p:nvGraphicFramePr>
        <p:xfrm>
          <a:off x="3985253" y="346584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2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E59D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8" name="Google Shape;588;p71"/>
          <p:cNvGraphicFramePr/>
          <p:nvPr/>
        </p:nvGraphicFramePr>
        <p:xfrm>
          <a:off x="5951220" y="14949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4375"/>
                <a:gridCol w="271950"/>
                <a:gridCol w="271950"/>
                <a:gridCol w="271950"/>
                <a:gridCol w="271950"/>
                <a:gridCol w="271950"/>
                <a:gridCol w="271950"/>
                <a:gridCol w="2719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/>
                        <a:t>Req 6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7820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9" name="Google Shape;589;p71"/>
          <p:cNvGraphicFramePr/>
          <p:nvPr/>
        </p:nvGraphicFramePr>
        <p:xfrm>
          <a:off x="1817523" y="403596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65350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2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0" name="Google Shape;590;p71"/>
          <p:cNvGraphicFramePr/>
          <p:nvPr/>
        </p:nvGraphicFramePr>
        <p:xfrm>
          <a:off x="3985253" y="399683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73975"/>
                <a:gridCol w="271750"/>
                <a:gridCol w="271750"/>
                <a:gridCol w="271750"/>
                <a:gridCol w="271750"/>
                <a:gridCol w="271750"/>
                <a:gridCol w="271750"/>
                <a:gridCol w="271750"/>
                <a:gridCol w="271750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3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3E5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4E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1350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1" name="Google Shape;591;p71"/>
          <p:cNvGraphicFramePr/>
          <p:nvPr/>
        </p:nvGraphicFramePr>
        <p:xfrm>
          <a:off x="6320790" y="3730772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65350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  <a:gridCol w="2676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4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6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/>
                        <a:t>Req 5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AC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2" name="Google Shape;592;p71"/>
          <p:cNvGraphicFramePr/>
          <p:nvPr/>
        </p:nvGraphicFramePr>
        <p:xfrm>
          <a:off x="6320790" y="346599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{4425C183-F875-4C94-BDF7-FD53D3BF93A3}</a:tableStyleId>
              </a:tblPr>
              <a:tblGrid>
                <a:gridCol w="565350"/>
                <a:gridCol w="267675"/>
                <a:gridCol w="267675"/>
                <a:gridCol w="267675"/>
                <a:gridCol w="267675"/>
                <a:gridCol w="267675"/>
                <a:gridCol w="267675"/>
              </a:tblGrid>
              <a:tr h="24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Req 1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A6C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215F9A"/>
                    </a:solidFill>
                  </a:tcPr>
                </a:tc>
              </a:tr>
            </a:tbl>
          </a:graphicData>
        </a:graphic>
      </p:graphicFrame>
      <p:sp>
        <p:nvSpPr>
          <p:cNvPr id="593" name="Google Shape;593;p71"/>
          <p:cNvSpPr txBox="1"/>
          <p:nvPr/>
        </p:nvSpPr>
        <p:spPr>
          <a:xfrm>
            <a:off x="6359288" y="2973947"/>
            <a:ext cx="179387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Server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" name="Google Shape;594;p71"/>
          <p:cNvCxnSpPr>
            <a:endCxn id="583" idx="0"/>
          </p:cNvCxnSpPr>
          <p:nvPr/>
        </p:nvCxnSpPr>
        <p:spPr>
          <a:xfrm>
            <a:off x="2044974" y="2357145"/>
            <a:ext cx="840000" cy="624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5" name="Google Shape;595;p71"/>
          <p:cNvCxnSpPr>
            <a:endCxn id="593" idx="0"/>
          </p:cNvCxnSpPr>
          <p:nvPr/>
        </p:nvCxnSpPr>
        <p:spPr>
          <a:xfrm>
            <a:off x="4519325" y="2283047"/>
            <a:ext cx="2736900" cy="69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6" name="Google Shape;596;p71"/>
          <p:cNvSpPr txBox="1"/>
          <p:nvPr/>
        </p:nvSpPr>
        <p:spPr>
          <a:xfrm>
            <a:off x="2056466" y="4719012"/>
            <a:ext cx="5031067" cy="300082"/>
          </a:xfrm>
          <a:prstGeom prst="rect">
            <a:avLst/>
          </a:prstGeom>
          <a:solidFill>
            <a:srgbClr val="34006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Decoupled Prefill and Decode Latency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71"/>
          <p:cNvSpPr txBox="1"/>
          <p:nvPr/>
        </p:nvSpPr>
        <p:spPr>
          <a:xfrm>
            <a:off x="2501995" y="2413735"/>
            <a:ext cx="11478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KV Cache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71"/>
          <p:cNvSpPr txBox="1"/>
          <p:nvPr/>
        </p:nvSpPr>
        <p:spPr>
          <a:xfrm>
            <a:off x="5985272" y="2350699"/>
            <a:ext cx="11478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KV Cache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71"/>
          <p:cNvSpPr txBox="1"/>
          <p:nvPr/>
        </p:nvSpPr>
        <p:spPr>
          <a:xfrm>
            <a:off x="4571999" y="3742922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600" name="Google Shape;600;p71"/>
          <p:cNvSpPr txBox="1"/>
          <p:nvPr/>
        </p:nvSpPr>
        <p:spPr>
          <a:xfrm>
            <a:off x="4572000" y="3996838"/>
            <a:ext cx="943610" cy="253915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3300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006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100"/>
          </a:p>
        </p:txBody>
      </p:sp>
      <p:sp>
        <p:nvSpPr>
          <p:cNvPr id="601" name="Google Shape;601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Prefill Decode Disaggregation KV Transfer</a:t>
            </a:r>
            <a:endParaRPr/>
          </a:p>
        </p:txBody>
      </p:sp>
      <p:sp>
        <p:nvSpPr>
          <p:cNvPr id="607" name="Google Shape;607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KV cache movement overhead can be significant in PD disaggregation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PF 16K token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2*2*16K*8*128*32 = 2GB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Net = 100Gbps = 12.5GB/s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Transfer overhead = 160ms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However, prefill itself is even slower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PF throughput = 16000 token/s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Prefill time = 1s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Therefore, we can use chunked prefill and layer-wise transfer to overlap the KV transfer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When prefill finishes, only need to transfer the last layer of last chunk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Prefill Decode Disaggregation KV Transfer</a:t>
            </a:r>
            <a:endParaRPr/>
          </a:p>
        </p:txBody>
      </p:sp>
      <p:cxnSp>
        <p:nvCxnSpPr>
          <p:cNvPr id="613" name="Google Shape;613;p73"/>
          <p:cNvCxnSpPr/>
          <p:nvPr/>
        </p:nvCxnSpPr>
        <p:spPr>
          <a:xfrm>
            <a:off x="262437" y="4283075"/>
            <a:ext cx="869895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4" name="Google Shape;614;p73"/>
          <p:cNvSpPr txBox="1"/>
          <p:nvPr/>
        </p:nvSpPr>
        <p:spPr>
          <a:xfrm>
            <a:off x="8459237" y="4317475"/>
            <a:ext cx="746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73"/>
          <p:cNvSpPr/>
          <p:nvPr/>
        </p:nvSpPr>
        <p:spPr>
          <a:xfrm>
            <a:off x="803909" y="1550670"/>
            <a:ext cx="636271" cy="304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C0L0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3"/>
          <p:cNvSpPr txBox="1"/>
          <p:nvPr/>
        </p:nvSpPr>
        <p:spPr>
          <a:xfrm>
            <a:off x="179070" y="1573530"/>
            <a:ext cx="5372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GPU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3"/>
          <p:cNvSpPr txBox="1"/>
          <p:nvPr/>
        </p:nvSpPr>
        <p:spPr>
          <a:xfrm>
            <a:off x="179070" y="2167890"/>
            <a:ext cx="5372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73"/>
          <p:cNvSpPr txBox="1"/>
          <p:nvPr/>
        </p:nvSpPr>
        <p:spPr>
          <a:xfrm>
            <a:off x="179070" y="2743200"/>
            <a:ext cx="929640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Cluster CPU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73"/>
          <p:cNvSpPr txBox="1"/>
          <p:nvPr/>
        </p:nvSpPr>
        <p:spPr>
          <a:xfrm>
            <a:off x="179070" y="3500015"/>
            <a:ext cx="92964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 GPU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73"/>
          <p:cNvSpPr/>
          <p:nvPr/>
        </p:nvSpPr>
        <p:spPr>
          <a:xfrm>
            <a:off x="1440180" y="1550670"/>
            <a:ext cx="636271" cy="304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C0L1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73"/>
          <p:cNvSpPr/>
          <p:nvPr/>
        </p:nvSpPr>
        <p:spPr>
          <a:xfrm>
            <a:off x="2076451" y="1550670"/>
            <a:ext cx="636271" cy="304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73"/>
          <p:cNvSpPr/>
          <p:nvPr/>
        </p:nvSpPr>
        <p:spPr>
          <a:xfrm>
            <a:off x="2712722" y="1550670"/>
            <a:ext cx="636271" cy="304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C0L31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73"/>
          <p:cNvSpPr/>
          <p:nvPr/>
        </p:nvSpPr>
        <p:spPr>
          <a:xfrm>
            <a:off x="3348992" y="1550670"/>
            <a:ext cx="636271" cy="304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C1L0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73"/>
          <p:cNvSpPr/>
          <p:nvPr/>
        </p:nvSpPr>
        <p:spPr>
          <a:xfrm>
            <a:off x="3985263" y="1550670"/>
            <a:ext cx="636271" cy="304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C1L1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73"/>
          <p:cNvSpPr/>
          <p:nvPr/>
        </p:nvSpPr>
        <p:spPr>
          <a:xfrm>
            <a:off x="4621534" y="1550670"/>
            <a:ext cx="636271" cy="304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73"/>
          <p:cNvSpPr/>
          <p:nvPr/>
        </p:nvSpPr>
        <p:spPr>
          <a:xfrm>
            <a:off x="5257805" y="1550670"/>
            <a:ext cx="636271" cy="304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73"/>
          <p:cNvSpPr/>
          <p:nvPr/>
        </p:nvSpPr>
        <p:spPr>
          <a:xfrm>
            <a:off x="5889313" y="1550670"/>
            <a:ext cx="636271" cy="304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C8L31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73"/>
          <p:cNvSpPr/>
          <p:nvPr/>
        </p:nvSpPr>
        <p:spPr>
          <a:xfrm>
            <a:off x="1440180" y="2140089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C0L0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73"/>
          <p:cNvSpPr/>
          <p:nvPr/>
        </p:nvSpPr>
        <p:spPr>
          <a:xfrm>
            <a:off x="2076451" y="2140089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C0L1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73"/>
          <p:cNvSpPr/>
          <p:nvPr/>
        </p:nvSpPr>
        <p:spPr>
          <a:xfrm>
            <a:off x="2712722" y="2140089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73"/>
          <p:cNvSpPr/>
          <p:nvPr/>
        </p:nvSpPr>
        <p:spPr>
          <a:xfrm>
            <a:off x="3348992" y="2140089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C0L31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73"/>
          <p:cNvSpPr/>
          <p:nvPr/>
        </p:nvSpPr>
        <p:spPr>
          <a:xfrm>
            <a:off x="3985263" y="2140089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C1L0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73"/>
          <p:cNvSpPr/>
          <p:nvPr/>
        </p:nvSpPr>
        <p:spPr>
          <a:xfrm>
            <a:off x="4621534" y="2140089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C1L1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73"/>
          <p:cNvSpPr/>
          <p:nvPr/>
        </p:nvSpPr>
        <p:spPr>
          <a:xfrm>
            <a:off x="5257805" y="2140089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73"/>
          <p:cNvSpPr/>
          <p:nvPr/>
        </p:nvSpPr>
        <p:spPr>
          <a:xfrm>
            <a:off x="5894075" y="2140089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73"/>
          <p:cNvSpPr/>
          <p:nvPr/>
        </p:nvSpPr>
        <p:spPr>
          <a:xfrm>
            <a:off x="6525584" y="2140089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C8L31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73"/>
          <p:cNvSpPr/>
          <p:nvPr/>
        </p:nvSpPr>
        <p:spPr>
          <a:xfrm>
            <a:off x="1922228" y="2977834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C0L0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73"/>
          <p:cNvSpPr/>
          <p:nvPr/>
        </p:nvSpPr>
        <p:spPr>
          <a:xfrm>
            <a:off x="2558498" y="2977834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C0L1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73"/>
          <p:cNvSpPr/>
          <p:nvPr/>
        </p:nvSpPr>
        <p:spPr>
          <a:xfrm>
            <a:off x="3194769" y="2977834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73"/>
          <p:cNvSpPr/>
          <p:nvPr/>
        </p:nvSpPr>
        <p:spPr>
          <a:xfrm>
            <a:off x="3831040" y="2977834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C0L31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73"/>
          <p:cNvSpPr/>
          <p:nvPr/>
        </p:nvSpPr>
        <p:spPr>
          <a:xfrm>
            <a:off x="4467311" y="2977834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C1L0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73"/>
          <p:cNvSpPr/>
          <p:nvPr/>
        </p:nvSpPr>
        <p:spPr>
          <a:xfrm>
            <a:off x="5103581" y="2977834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C1L1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73"/>
          <p:cNvSpPr/>
          <p:nvPr/>
        </p:nvSpPr>
        <p:spPr>
          <a:xfrm>
            <a:off x="5739852" y="2977834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73"/>
          <p:cNvSpPr/>
          <p:nvPr/>
        </p:nvSpPr>
        <p:spPr>
          <a:xfrm>
            <a:off x="6376123" y="2977834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3"/>
          <p:cNvSpPr/>
          <p:nvPr/>
        </p:nvSpPr>
        <p:spPr>
          <a:xfrm>
            <a:off x="7007631" y="2977834"/>
            <a:ext cx="636271" cy="3048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C8L31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Prefill Decode Disaggregation Performance Analysis </a:t>
            </a:r>
            <a:endParaRPr/>
          </a:p>
        </p:txBody>
      </p:sp>
      <p:sp>
        <p:nvSpPr>
          <p:cNvPr id="652" name="Google Shape;652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Throughput is not increased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The prefill cluster is fully utilized, while the decode cluster is underutilized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TTFT and TPOT are decoupled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By increasing machines, TTFT and TPOT can be reduced to “optimal”, when one request is exclusively executed on one machine</a:t>
            </a:r>
            <a:endParaRPr/>
          </a:p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Comparison</a:t>
            </a:r>
            <a:endParaRPr/>
          </a:p>
        </p:txBody>
      </p:sp>
      <p:graphicFrame>
        <p:nvGraphicFramePr>
          <p:cNvPr id="658" name="Google Shape;658;p75"/>
          <p:cNvGraphicFramePr/>
          <p:nvPr/>
        </p:nvGraphicFramePr>
        <p:xfrm>
          <a:off x="589721" y="14905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{4425C183-F875-4C94-BDF7-FD53D3BF93A3}</a:tableStyleId>
              </a:tblPr>
              <a:tblGrid>
                <a:gridCol w="1571025"/>
                <a:gridCol w="1571025"/>
                <a:gridCol w="1313275"/>
                <a:gridCol w="1480200"/>
                <a:gridCol w="191962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Method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Throughput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TTFT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TPOT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Infra Complexity</a:t>
                      </a:r>
                      <a:endParaRPr sz="18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Simple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Lowest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Short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Short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Low</a:t>
                      </a:r>
                      <a:endParaRPr sz="18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Continuous Batching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High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Longer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Long, Unstable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Low</a:t>
                      </a:r>
                      <a:endParaRPr sz="18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Chunked Prefill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Highest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Longest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Long,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Controlled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Medium</a:t>
                      </a:r>
                      <a:endParaRPr sz="18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PD DisAgg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Low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Short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Short</a:t>
                      </a:r>
                      <a:endParaRPr sz="18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High</a:t>
                      </a:r>
                      <a:endParaRPr sz="18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659" name="Google Shape;659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Limiting factors of batching</a:t>
            </a:r>
            <a:endParaRPr/>
          </a:p>
        </p:txBody>
      </p:sp>
      <p:sp>
        <p:nvSpPr>
          <p:cNvPr id="665" name="Google Shape;665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Batching is good for throughput, but there are limits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SLO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Larger batching means higher iteration time, which may violate TTFT and TPOT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KV cache capacity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The available memory for GPU is limited, and the KV cache must fit in GPU memory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 Limit due to SLO</a:t>
            </a:r>
            <a:endParaRPr/>
          </a:p>
        </p:txBody>
      </p:sp>
      <p:sp>
        <p:nvSpPr>
          <p:cNvPr id="671" name="Google Shape;671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935"/>
            </a:stretch>
          </a:blipFill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 Limit due to GPU capacity</a:t>
            </a:r>
            <a:endParaRPr/>
          </a:p>
        </p:txBody>
      </p:sp>
      <p:sp>
        <p:nvSpPr>
          <p:cNvPr id="677" name="Google Shape;677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Total KV cache tokens &lt; limit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For 8B, H100, num tokens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64*1024*1024*1024/2/2/32/1024 = 524288 = 512K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Challenges: KV cache can grow over time, and output length is unknown</a:t>
            </a:r>
            <a:endParaRPr/>
          </a:p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Example: 1K input, 1K output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If scheduled at once, all request reach max length at same time, max batch = 512K / (1K+1K) = 256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If scheduled uniformly, average length is then 1.5K, max batch = 341</a:t>
            </a:r>
            <a:endParaRPr/>
          </a:p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 Limit due to GPU capacity</a:t>
            </a:r>
            <a:endParaRPr/>
          </a:p>
        </p:txBody>
      </p:sp>
      <p:sp>
        <p:nvSpPr>
          <p:cNvPr id="683" name="Google Shape;683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What if output length is various?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1k input, 50% 1k output, 50% 4k output</a:t>
            </a:r>
            <a:endParaRPr/>
          </a:p>
        </p:txBody>
      </p:sp>
      <p:pic>
        <p:nvPicPr>
          <p:cNvPr descr="A graph showing a number of steps&#10;&#10;AI-generated content may be incorrect." id="684" name="Google Shape;684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080" y="2276454"/>
            <a:ext cx="5829300" cy="2292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 Limit due to GPU capacity</a:t>
            </a:r>
            <a:endParaRPr/>
          </a:p>
        </p:txBody>
      </p:sp>
      <p:sp>
        <p:nvSpPr>
          <p:cNvPr id="690" name="Google Shape;690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1k input, uniform distribution (0-4k) output length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Average output length = 2k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Batch size = 512 / (1+2/2) = 256?</a:t>
            </a:r>
            <a:endParaRPr/>
          </a:p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 Limit due to GPU capacity</a:t>
            </a:r>
            <a:endParaRPr/>
          </a:p>
        </p:txBody>
      </p:sp>
      <p:sp>
        <p:nvSpPr>
          <p:cNvPr id="696" name="Google Shape;696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1k input, uniform distribution (0-4k) output length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Indeed, batch size is ~ 220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Longer request stays longer in the KV cache!</a:t>
            </a:r>
            <a:endParaRPr/>
          </a:p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A graph with orange lines&#10;&#10;AI-generated content may be incorrect." id="697" name="Google Shape;69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807" y="2199542"/>
            <a:ext cx="7019192" cy="2760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 size limit for various output length</a:t>
            </a:r>
            <a:endParaRPr/>
          </a:p>
        </p:txBody>
      </p:sp>
      <p:sp>
        <p:nvSpPr>
          <p:cNvPr id="703" name="Google Shape;703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448" t="-268"/>
            </a:stretch>
          </a:blipFill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Batch size limit for various output length</a:t>
            </a:r>
            <a:endParaRPr/>
          </a:p>
        </p:txBody>
      </p:sp>
      <p:sp>
        <p:nvSpPr>
          <p:cNvPr id="709" name="Google Shape;709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 </a:t>
            </a:r>
            <a:endParaRPr/>
          </a:p>
        </p:txBody>
      </p:sp>
      <p:pic>
        <p:nvPicPr>
          <p:cNvPr id="710" name="Google Shape;710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8615" y="1836230"/>
            <a:ext cx="3647342" cy="1356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Control the batch size through prediction</a:t>
            </a:r>
            <a:r>
              <a:rPr b="0" i="0" lang="en" u="none" strike="noStrike">
                <a:solidFill>
                  <a:srgbClr val="000000"/>
                </a:solidFill>
              </a:rPr>
              <a:t>  </a:t>
            </a:r>
            <a:endParaRPr/>
          </a:p>
        </p:txBody>
      </p:sp>
      <p:sp>
        <p:nvSpPr>
          <p:cNvPr id="716" name="Google Shape;716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717" name="Google Shape;71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622" y="1135904"/>
            <a:ext cx="6663275" cy="3449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Control batch size for PD Disaggregation</a:t>
            </a:r>
            <a:endParaRPr/>
          </a:p>
        </p:txBody>
      </p:sp>
      <p:sp>
        <p:nvSpPr>
          <p:cNvPr id="723" name="Google Shape;723;p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Add a decode pending queue to hold prefilled requests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Use prediction to limit the decode batch size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Control batch size for Chunked Prefill</a:t>
            </a:r>
            <a:endParaRPr/>
          </a:p>
        </p:txBody>
      </p:sp>
      <p:sp>
        <p:nvSpPr>
          <p:cNvPr id="729" name="Google Shape;729;p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Stop prefill when the KV cache is predicted to exceed the capacity</a:t>
            </a:r>
            <a:endParaRPr/>
          </a:p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When the KV cache is enough, the system will stabilize for both prefill and decode batch size</a:t>
            </a:r>
            <a:endParaRPr/>
          </a:p>
        </p:txBody>
      </p:sp>
      <p:pic>
        <p:nvPicPr>
          <p:cNvPr id="730" name="Google Shape;730;p86"/>
          <p:cNvPicPr preferRelativeResize="0"/>
          <p:nvPr/>
        </p:nvPicPr>
        <p:blipFill rotWithShape="1">
          <a:blip r:embed="rId3">
            <a:alphaModFix/>
          </a:blip>
          <a:srcRect b="1433" l="5636" r="6606" t="0"/>
          <a:stretch/>
        </p:blipFill>
        <p:spPr>
          <a:xfrm>
            <a:off x="4200525" y="1470513"/>
            <a:ext cx="4943475" cy="2776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Control Batch Size for Chunked Prefill</a:t>
            </a:r>
            <a:endParaRPr/>
          </a:p>
        </p:txBody>
      </p:sp>
      <p:sp>
        <p:nvSpPr>
          <p:cNvPr id="736" name="Google Shape;736;p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2661" t="-268"/>
            </a:stretch>
          </a:blipFill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 </a:t>
            </a:r>
            <a:endParaRPr/>
          </a:p>
        </p:txBody>
      </p:sp>
      <p:pic>
        <p:nvPicPr>
          <p:cNvPr id="737" name="Google Shape;737;p87"/>
          <p:cNvPicPr preferRelativeResize="0"/>
          <p:nvPr/>
        </p:nvPicPr>
        <p:blipFill rotWithShape="1">
          <a:blip r:embed="rId4">
            <a:alphaModFix/>
          </a:blip>
          <a:srcRect b="2489" l="5280" r="9427" t="6108"/>
          <a:stretch/>
        </p:blipFill>
        <p:spPr>
          <a:xfrm>
            <a:off x="3574074" y="1239715"/>
            <a:ext cx="4972050" cy="2664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Output length prediction</a:t>
            </a:r>
            <a:endParaRPr/>
          </a:p>
        </p:txBody>
      </p:sp>
      <p:sp>
        <p:nvSpPr>
          <p:cNvPr id="743" name="Google Shape;743;p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Predicting output length is hard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For same input, different trials may have different output length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Still, rough estimation is possible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E.g. translation task will have similar input and output length</a:t>
            </a:r>
            <a:endParaRPr/>
          </a:p>
          <a:p>
            <a:pPr indent="-254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Use a small encoder model to predict length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Reuse the token embedding of the target model to predict the length</a:t>
            </a:r>
            <a:endParaRPr/>
          </a:p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Handling out of memory</a:t>
            </a:r>
            <a:endParaRPr/>
          </a:p>
        </p:txBody>
      </p:sp>
      <p:sp>
        <p:nvSpPr>
          <p:cNvPr id="749" name="Google Shape;749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Similar to prefix sharing eviction, when the GPU is actually out of memory during decoding, we need to either evict the KV cache or offload the KV cache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Again, offloading is faster than recompution</a:t>
            </a:r>
            <a:endParaRPr/>
          </a:p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696"/>
              <a:buFont typeface="Play"/>
              <a:buNone/>
            </a:pPr>
            <a:r>
              <a:rPr lang="en"/>
              <a:t>Tricks for “higher” SLO attainment</a:t>
            </a:r>
            <a:endParaRPr/>
          </a:p>
        </p:txBody>
      </p:sp>
      <p:sp>
        <p:nvSpPr>
          <p:cNvPr id="755" name="Google Shape;755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To maintain 95% SLO attainment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Can we drop the long input/output request?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Can we infinitely delay the request if we predict it will not satisfy SLO?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Can we only serve higher SLO requests and violate low SLO requests?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Need additional constraints and SLO evaluation methods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Fairness: all request should make progress, and every user get equal share of the throughput</a:t>
            </a:r>
            <a:endParaRPr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SLO violation “Badness”: instead of attain or violate SLO, we calculate the gap between the actual token generation and SLO deadline.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Custom Design">
  <a:themeElements>
    <a:clrScheme name="自定义 2">
      <a:dk1>
        <a:srgbClr val="000000"/>
      </a:dk1>
      <a:lt1>
        <a:srgbClr val="000000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Custom 5">
    <a:dk1>
      <a:srgbClr val="000000"/>
    </a:dk1>
    <a:lt1>
      <a:srgbClr val="E8D3A2"/>
    </a:lt1>
    <a:dk2>
      <a:srgbClr val="32006E"/>
    </a:dk2>
    <a:lt2>
      <a:srgbClr val="FFFFFF"/>
    </a:lt2>
    <a:accent1>
      <a:srgbClr val="4B2E83"/>
    </a:accent1>
    <a:accent2>
      <a:srgbClr val="E8D3A2"/>
    </a:accent2>
    <a:accent3>
      <a:srgbClr val="FFFFFF"/>
    </a:accent3>
    <a:accent4>
      <a:srgbClr val="B2B2B2"/>
    </a:accent4>
    <a:accent5>
      <a:srgbClr val="FFC700"/>
    </a:accent5>
    <a:accent6>
      <a:srgbClr val="917B4C"/>
    </a:accent6>
    <a:hlink>
      <a:srgbClr val="32006E"/>
    </a:hlink>
    <a:folHlink>
      <a:srgbClr val="4B2E83"/>
    </a:folHlink>
  </a:clrScheme>
</a:themeOverride>
</file>