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 id="2147483680" r:id="rId5"/>
    <p:sldMasterId id="2147483681" r:id="rId6"/>
    <p:sldMasterId id="214748368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y="5143500" cx="9144000"/>
  <p:notesSz cx="6858000" cy="9144000"/>
  <p:embeddedFontLst>
    <p:embeddedFont>
      <p:font typeface="Play"/>
      <p:regular r:id="rId53"/>
      <p:bold r:id="rId54"/>
    </p:embeddedFont>
    <p:embeddedFont>
      <p:font typeface="Roboto"/>
      <p:regular r:id="rId55"/>
      <p:bold r:id="rId56"/>
      <p:italic r:id="rId57"/>
      <p:boldItalic r:id="rId58"/>
    </p:embeddedFont>
    <p:embeddedFont>
      <p:font typeface="Encode Sans"/>
      <p:regular r:id="rId59"/>
      <p:bold r:id="rId60"/>
    </p:embeddedFont>
    <p:embeddedFont>
      <p:font typeface="Encode Sans Black"/>
      <p:bold r:id="rId61"/>
    </p:embeddedFont>
    <p:embeddedFont>
      <p:font typeface="Cambria Math"/>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CambriaMath-regular.fntdata"/><Relationship Id="rId61" Type="http://schemas.openxmlformats.org/officeDocument/2006/relationships/font" Target="fonts/EncodeSansBlack-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EncodeSans-bold.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Play-regular.fntdata"/><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font" Target="fonts/Roboto-regular.fntdata"/><Relationship Id="rId10" Type="http://schemas.openxmlformats.org/officeDocument/2006/relationships/slide" Target="slides/slide2.xml"/><Relationship Id="rId54" Type="http://schemas.openxmlformats.org/officeDocument/2006/relationships/font" Target="fonts/Play-bold.fntdata"/><Relationship Id="rId13" Type="http://schemas.openxmlformats.org/officeDocument/2006/relationships/slide" Target="slides/slide5.xml"/><Relationship Id="rId57" Type="http://schemas.openxmlformats.org/officeDocument/2006/relationships/font" Target="fonts/Roboto-italic.fntdata"/><Relationship Id="rId12" Type="http://schemas.openxmlformats.org/officeDocument/2006/relationships/slide" Target="slides/slide4.xml"/><Relationship Id="rId56" Type="http://schemas.openxmlformats.org/officeDocument/2006/relationships/font" Target="fonts/Roboto-bold.fntdata"/><Relationship Id="rId15" Type="http://schemas.openxmlformats.org/officeDocument/2006/relationships/slide" Target="slides/slide7.xml"/><Relationship Id="rId59" Type="http://schemas.openxmlformats.org/officeDocument/2006/relationships/font" Target="fonts/EncodeSans-regular.fntdata"/><Relationship Id="rId14" Type="http://schemas.openxmlformats.org/officeDocument/2006/relationships/slide" Target="slides/slide6.xml"/><Relationship Id="rId58" Type="http://schemas.openxmlformats.org/officeDocument/2006/relationships/font" Target="fonts/Roboto-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b49788d46_0_34:notes"/>
          <p:cNvSpPr/>
          <p:nvPr>
            <p:ph idx="2" type="sldImg"/>
          </p:nvPr>
        </p:nvSpPr>
        <p:spPr>
          <a:xfrm>
            <a:off x="464456" y="1143179"/>
            <a:ext cx="59289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68" name="Google Shape;168;g3bb49788d46_0_34:notes"/>
          <p:cNvSpPr txBox="1"/>
          <p:nvPr>
            <p:ph idx="1" type="body"/>
          </p:nvPr>
        </p:nvSpPr>
        <p:spPr>
          <a:xfrm>
            <a:off x="685800" y="4400555"/>
            <a:ext cx="5486400" cy="3600600"/>
          </a:xfrm>
          <a:prstGeom prst="rect">
            <a:avLst/>
          </a:prstGeom>
          <a:noFill/>
          <a:ln>
            <a:noFill/>
          </a:ln>
        </p:spPr>
        <p:txBody>
          <a:bodyPr anchorCtr="0" anchor="t" bIns="46625" lIns="93250" spcFirstLastPara="1" rIns="93250" wrap="square" tIns="46625">
            <a:noAutofit/>
          </a:bodyPr>
          <a:lstStyle/>
          <a:p>
            <a:pPr indent="0" lvl="0" marL="0" rtl="0" algn="l">
              <a:spcBef>
                <a:spcPts val="0"/>
              </a:spcBef>
              <a:spcAft>
                <a:spcPts val="0"/>
              </a:spcAft>
              <a:buNone/>
            </a:pPr>
            <a:r>
              <a:t/>
            </a:r>
            <a:endParaRPr/>
          </a:p>
        </p:txBody>
      </p:sp>
      <p:sp>
        <p:nvSpPr>
          <p:cNvPr id="169" name="Google Shape;169;g3bb49788d46_0_34:notes"/>
          <p:cNvSpPr txBox="1"/>
          <p:nvPr>
            <p:ph idx="12" type="sldNum"/>
          </p:nvPr>
        </p:nvSpPr>
        <p:spPr>
          <a:xfrm>
            <a:off x="3884613" y="8685225"/>
            <a:ext cx="2971800" cy="459000"/>
          </a:xfrm>
          <a:prstGeom prst="rect">
            <a:avLst/>
          </a:prstGeom>
          <a:noFill/>
          <a:ln>
            <a:noFill/>
          </a:ln>
        </p:spPr>
        <p:txBody>
          <a:bodyPr anchorCtr="0" anchor="b" bIns="46625" lIns="93250" spcFirstLastPara="1" rIns="93250" wrap="square" tIns="46625">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f4d405776_2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4f4d405776_2_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f4d405776_2_10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4f4d405776_2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f4d405776_2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4f4d405776_2_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X axis is the number of FLOPS that your kernel can perform or your accelerator can achieve.</a:t>
            </a:r>
            <a:endParaRPr/>
          </a:p>
        </p:txBody>
      </p:sp>
      <p:sp>
        <p:nvSpPr>
          <p:cNvPr id="193" name="Google Shape;193;g34f4d405776_2_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f4d405776_2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4f4d405776_2_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You can raise the ceiling by designing a new </a:t>
            </a:r>
            <a:r>
              <a:rPr lang="en"/>
              <a:t>accelerator</a:t>
            </a:r>
            <a:r>
              <a:rPr lang="en"/>
              <a:t> like a GPU.</a:t>
            </a:r>
            <a:endParaRPr/>
          </a:p>
        </p:txBody>
      </p:sp>
      <p:sp>
        <p:nvSpPr>
          <p:cNvPr id="214" name="Google Shape;214;g34f4d405776_2_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f4d405776_2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4f4d405776_2_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Non-Uniform Memory Access: recall GPU interconnections in a server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BW-bound segment has a 45 degree slope: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Performance=I⋅B</a:t>
            </a:r>
            <a:endParaRPr/>
          </a:p>
          <a:p>
            <a:pPr indent="0" lvl="0" marL="0" rtl="0" algn="l">
              <a:spcBef>
                <a:spcPts val="0"/>
              </a:spcBef>
              <a:spcAft>
                <a:spcPts val="0"/>
              </a:spcAft>
              <a:buNone/>
            </a:pPr>
            <a:r>
              <a:rPr lang="en"/>
              <a:t>log(Performance)=log(I⋅B)=log(I)+log(B)</a:t>
            </a:r>
            <a:endParaRPr/>
          </a:p>
          <a:p>
            <a:pPr indent="0" lvl="0" marL="0" rtl="0" algn="l">
              <a:spcBef>
                <a:spcPts val="0"/>
              </a:spcBef>
              <a:spcAft>
                <a:spcPts val="0"/>
              </a:spcAft>
              <a:buNone/>
            </a:pPr>
            <a:r>
              <a:rPr lang="en"/>
              <a:t>y=x+log(B)</a:t>
            </a:r>
            <a:endParaRPr/>
          </a:p>
        </p:txBody>
      </p:sp>
      <p:sp>
        <p:nvSpPr>
          <p:cNvPr id="236" name="Google Shape;236;g34f4d405776_2_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f4d405776_2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4f4d405776_2_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4f4d405776_2_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f4d405776_2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4f4d405776_2_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
              <a:t>If OI is </a:t>
            </a:r>
            <a:r>
              <a:rPr b="1" lang="en"/>
              <a:t>low</a:t>
            </a:r>
            <a:r>
              <a:rPr lang="en"/>
              <a:t>, it means you're doing </a:t>
            </a:r>
            <a:r>
              <a:rPr b="1" lang="en"/>
              <a:t>very little computation</a:t>
            </a:r>
            <a:r>
              <a:rPr lang="en"/>
              <a:t> for each byte of data fetched from memory. So, you're spending most of your time </a:t>
            </a:r>
            <a:r>
              <a:rPr b="1" lang="en"/>
              <a:t>waiting for data</a:t>
            </a:r>
            <a:r>
              <a:rPr lang="en"/>
              <a:t> to arrive rather than doing math.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5" name="Google Shape;275;g34f4d405776_2_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f4d405776_2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4f4d405776_2_2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TODO:redraw</a:t>
            </a:r>
            <a:endParaRPr/>
          </a:p>
        </p:txBody>
      </p:sp>
      <p:sp>
        <p:nvSpPr>
          <p:cNvPr id="282" name="Google Shape;282;g34f4d405776_2_2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4f4d405776_2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4f4d405776_2_2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34f4d405776_2_2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4f4d405776_2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4f4d405776_2_2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Interesting point: Dot product’s operational intensity doesn’t depend on the matrix shapes/sizes</a:t>
            </a:r>
            <a:endParaRPr/>
          </a:p>
        </p:txBody>
      </p:sp>
      <p:sp>
        <p:nvSpPr>
          <p:cNvPr id="335" name="Google Shape;335;g34f4d405776_2_2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f4d405776_2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4f4d405776_2_2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 because of FP16</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
                <a:solidFill>
                  <a:srgbClr val="E8E8E8"/>
                </a:solidFill>
                <a:latin typeface="Roboto"/>
                <a:ea typeface="Roboto"/>
                <a:cs typeface="Roboto"/>
                <a:sym typeface="Roboto"/>
              </a:rPr>
              <a:t>From the Google book: as we scale up our matmul size, it becomes </a:t>
            </a:r>
            <a:r>
              <a:rPr b="0" i="1" lang="en">
                <a:solidFill>
                  <a:srgbClr val="E8E8E8"/>
                </a:solidFill>
                <a:latin typeface="Roboto"/>
                <a:ea typeface="Roboto"/>
                <a:cs typeface="Roboto"/>
                <a:sym typeface="Roboto"/>
              </a:rPr>
              <a:t>easier</a:t>
            </a:r>
            <a:r>
              <a:rPr b="0" i="0" lang="en">
                <a:solidFill>
                  <a:srgbClr val="E8E8E8"/>
                </a:solidFill>
                <a:latin typeface="Roboto"/>
                <a:ea typeface="Roboto"/>
                <a:cs typeface="Roboto"/>
                <a:sym typeface="Roboto"/>
              </a:rPr>
              <a:t> to hit the compute-saturated limit. This is extremely unusual, mainly because compute capacity increases faster than memory capacity and explains in large part why we use architectures dominated by matrix multiplication - they’re amenable to being scaled!</a:t>
            </a:r>
            <a:endParaRPr/>
          </a:p>
        </p:txBody>
      </p:sp>
      <p:sp>
        <p:nvSpPr>
          <p:cNvPr id="371" name="Google Shape;371;g34f4d405776_2_2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4f4d405776_2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4f4d405776_2_3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4f4d405776_2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g34f4d405776_2_3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g34f4d405776_2_3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4f4d405776_2_3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4f4d405776_2_3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4f4d405776_2_3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4f4d405776_2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4f4d405776_2_3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34f4d405776_2_3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4f4d405776_2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4f4d405776_2_3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g34f4d405776_2_3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4f4d405776_2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4f4d405776_2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a:t>And we’ll do that by estimating the time it takes to go through one iteration of the transformer from the perspective of memory accesses. Here, we assume that we are operating at the maximum possible batch size, as this is necessary to approach optimal serving throughput.</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In this setup, </a:t>
            </a:r>
            <a:r>
              <a:rPr b="1" lang="en"/>
              <a:t>&lt;click&gt;</a:t>
            </a:r>
            <a:r>
              <a:rPr lang="en"/>
              <a:t> weights, inputs/activations and the KV-cache would occupy the entire GPU memory, and all of these would need to be loaded to GPU registers once during one iteration of a transformer.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So we can estimate the execution time of an iteration of a transformer from a memory perspective to simply be the ratio of the GPU memory capacity to GPU memory bandwidth.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4f4d405776_2_3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4f4d405776_2_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a:t>For compute, almost all the demand comes from dense operations which are due to activations being multiplied with large weight matrices in large batches.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In these dense general matrix matrix multiplication operations, GEMMs, every element is computed via a dot product of one row of the input with one column of the weight. Let's assume a weight matrix of KxN</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 </a:t>
            </a:r>
            <a:r>
              <a:rPr lang="en"/>
              <a:t>Therefore, K multiplications and K additions are required to compute one element, so that's how we get the 2 K term.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a:t>
            </a:r>
            <a:r>
              <a:rPr lang="en"/>
              <a:t> There are B_dense*N output elements, where B_dense is the size of the input batch involved in dense operations.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Therefore, for one GEMM, 2B_dense KN compute operations is needed. &lt;click&gt; We can sum all the dense operations to derive the total number of compute operations. Note that the K N product is the number of elements inside weight matrices.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Therefore, if we factor out the  2xBdense term, </a:t>
            </a:r>
            <a:r>
              <a:rPr b="1" lang="en"/>
              <a:t>&lt;click&gt;</a:t>
            </a:r>
            <a:r>
              <a:rPr lang="en"/>
              <a:t> the remaining sum is the total number of elements in all weight matrices, which can be approximated by the number of parameters of the Model, which we denote as Pmodel. I find this a neat way to think about compute demand of a model.</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Therefore, we can estimate the execution time from the compute perspective to be 2Bdense Pmodel divided by the compute capacity of the GPU in FLOPS/s.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f4d405776_2_4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4f4d405776_2_4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a:t>Finally, let’s estimate the time for network operations. To do this, let’s first recap how an all gather works.</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You have data that’s sharded across multiple GPUs, and the idea is you move shards to other GPUs until they all have the same data.</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So if you have N_GPUs, &lt;click&gt; you need to go over N_GPU-1 hops.</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 </a:t>
            </a:r>
            <a:r>
              <a:rPr lang="en"/>
              <a:t>let’s keep track of these here in the corner</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4f4d405776_2_5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4f4d405776_2_5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a:t>All right, so how many all gathers we have per layer. </a:t>
            </a:r>
            <a:r>
              <a:rPr b="1" lang="en"/>
              <a:t>&lt;click&gt; </a:t>
            </a:r>
            <a:r>
              <a:rPr lang="en"/>
              <a:t>Well, we have 2 all gathers in Attention, and we have </a:t>
            </a:r>
            <a:r>
              <a:rPr b="1" lang="en"/>
              <a:t>&lt;click&gt;</a:t>
            </a:r>
            <a:r>
              <a:rPr lang="en"/>
              <a:t> an AllReduce in the feed forward network.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And as we just discussed AllReduce is like 2 AllGathers.</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So all in all, we have the equivalent of 4 AllGathers per layer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4f4d405776_2_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g34f4d405776_2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spcBef>
                <a:spcPts val="0"/>
              </a:spcBef>
              <a:spcAft>
                <a:spcPts val="0"/>
              </a:spcAft>
              <a:buClr>
                <a:schemeClr val="dk1"/>
              </a:buClr>
              <a:buSzPts val="1200"/>
              <a:buFont typeface="Arial"/>
              <a:buChar char="-"/>
            </a:pPr>
            <a:r>
              <a:rPr lang="en"/>
              <a:t>The size of the data transmitted with collective communications equals the size of inputs for dense operations, because as we can see, collective communications are followed by these dense operations.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
              <a:t>&lt;click&gt; The size of inputs to these dense operations is Bdense x Dmodel, Dmodel is the hidden dimension size</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
              <a:t>&lt;click&gt; Finally, each of the input element is of size Stype.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4f4d405776_2_5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g34f4d405776_2_5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spcBef>
                <a:spcPts val="0"/>
              </a:spcBef>
              <a:spcAft>
                <a:spcPts val="0"/>
              </a:spcAft>
              <a:buClr>
                <a:schemeClr val="dk1"/>
              </a:buClr>
              <a:buSzPts val="1200"/>
              <a:buFont typeface="Arial"/>
              <a:buChar char="-"/>
            </a:pPr>
            <a:r>
              <a:rPr lang="en"/>
              <a:t>So if we bring it all together, the per layer execution time from a network’s perspective is the product of these terms divided by the network bandwidth.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
              <a:t>&lt;click&gt; So assuming we have L layers in one iteration, we also have an L term that will be multiplied with this expression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4f4d405776_2_6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4f4d405776_2_6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we have the following execution times wrt different resources.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4f4d405776_2_6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4f4d405776_2_6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Let’s first compare compute versus networking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4f4d405776_2_6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4f4d405776_2_6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this is what the ratio of the two execution time models look like. I actually have a more analytical way to compare these but it is a bit involved and so I won’t get into the details here, instead, I’ll qualitatively compare them and then show some empirical validation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 We can see that increasing model sizes and network bandwidth pushes this ratio towards a compute bound regime, and both of these have been on a steep rise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 Increasing compute capacity and sizes of types would push the ratio in favor of a network bound regime. Compute capacity keeps increasing, mainly due to increased parallelism, but it is stunted at an individual core or SM level due to slowdown of effects such as Moore’s law. The sizes of datatypes tend to somewhat decrease thanks to advances in quantization methods.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 Finally, the dense batch size has no effect on this ratio as you can see.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 So the increase trend in network boundness lags behind that of compute boundness, therefore, LLM serving is more compute-bound than network-bound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4f4d405776_2_6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4f4d405776_2_6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As you can see for most GPUs and larger models, compute boundness dominates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Detail: PCIE is the main issue for Ada6000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Llama-3-8B 8GPU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[22.27]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4f4d405776_2_6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g34f4d405776_2_6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Ok now</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4f4d405776_2_6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4f4d405776_2_6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Let’s compare execution time based on compute to the one based on memory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4f4d405776_2_6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4f4d405776_2_6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If we take the ratio of execution times wrt memory and compute we get this quantity.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before we reason about this ratio, there is one more detail I should mention and that’s wrt an attention optimization called grouped query attention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bb4a5a91ec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3" name="Google Shape;793;g3bb4a5a91ec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let’s look at this GPU memory diagram again, where we can see that not only the KV-cache occupies a large space as determined empirically by most existing work, it also primarily determines the size of input batches.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Why is that? &lt;click&gt; Recall that, each batch is processed by multiple transformer layers and heads, and each request in a batch has a corresponding KV cache entry per attention head.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bb4a5a91ec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0" name="Google Shape;840;g3bb4a5a91ec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idea in GQA is…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b4a5a91ec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3" name="Google Shape;883;g3bb4a5a91ec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for multiple query heads to share a KV cache, which of course means that attention operation is somewhat weakened since we don’t have individual keys and values for each query head, but it turns out that not to a degree that matters much in terms of accuracy.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a:t>
            </a:r>
            <a:r>
              <a:rPr lang="en"/>
              <a:t> Here, I show a group size of 4, which means 4 heads share a KV cache.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a:t>
            </a:r>
            <a:r>
              <a:rPr lang="en"/>
              <a:t> So what does this mean then? It means that we can accommodate 4 times more heads, which would correspond to a 4 times larger input batch!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 </a:t>
            </a:r>
            <a:r>
              <a:rPr b="0" lang="en"/>
              <a:t>So GQA allows increasing the batch size by a factor of its group size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4f4d405776_2_8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g34f4d405776_2_8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
              <a:t>Going back to the ratio of memory to compute times, grouped query attention, </a:t>
            </a:r>
            <a:r>
              <a:rPr b="1" lang="en"/>
              <a:t>&lt;click&gt;</a:t>
            </a:r>
            <a:r>
              <a:rPr lang="en"/>
              <a:t> used in more modern LLMs, yields to large batches.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a:t>
            </a:r>
            <a:r>
              <a:rPr lang="en"/>
              <a:t> Similarly, the model size tends to increase pushing this ratio more towards a compute bound-regime.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&lt;click&gt; Again, we can further expand this formula get further insight into more detailed factors that impact this ratio for example length of decode requests, but we’ll skip that for the sake of time.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 </a:t>
            </a:r>
            <a:r>
              <a:rPr b="0" lang="en"/>
              <a:t>Overall, there are more trends that contribute to the compute-boundness of modern models, and LLM serving ends up being is more compute-bound than memory-bound. I should add that for things like MLA in Deepseek, there is a similar effect, since in essence MLA achieves something similar to GQA.</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4f4d405776_2_8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g34f4d405776_2_8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If you look at older models like LLaMA 7B, which don’t use GQA, they can be more memory-bound, but on balance, most models are primarily compute-bound for a wide range of workloads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 Therefore, high compute utilization is key for high throughput LLM serving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4f4d405776_2_8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g34f4d405776_2_8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a:t>Based on this insight, we can finally derive the optimal throughput of LLM serving.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 </a:t>
            </a:r>
            <a:r>
              <a:rPr lang="en"/>
              <a:t>Total throughput is the sum of decode throughput and prefill throughput, which can be expressed as the ratio between the sum of decode and prefill batches, divided by the execution time.</a:t>
            </a:r>
            <a:endParaRPr/>
          </a:p>
          <a:p>
            <a:pPr indent="0" lvl="0" marL="0" rtl="0" algn="l">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b="1" lang="en"/>
              <a:t>&lt;click&gt;</a:t>
            </a:r>
            <a:r>
              <a:rPr lang="en"/>
              <a:t> Since the input to dense layers batches both decode and prefill requests, this is equal to Bdense in the nominator. </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b="1" lang="en"/>
              <a:t>&lt;click&gt;</a:t>
            </a:r>
            <a:r>
              <a:rPr lang="en"/>
              <a:t> The execution time is from the perspective of compute, since we showed previously that compute is our bottleneck, so if we substitute our previous derivation in the denominator</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
              <a:t>&lt;click&gt;</a:t>
            </a:r>
            <a:r>
              <a:rPr lang="en"/>
              <a:t> The Bdense terms cancel out and we get a nice and clean formula for throughput, which is the compute capacity divide by 2 times the number of model parameters.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I like this formula because I want to stress that it is independent of user input statistics as long as the workload is in the compute-bound regime. It is also independent of the actual batch size, GPU memory, or types of parallelism used. It gives us a very clean way to think about the resource needs of modern transformers.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Using this formula, we can easily calculate the optimal throughput for different models. </a:t>
            </a:r>
            <a:r>
              <a:rPr b="1" lang="en"/>
              <a:t>&lt;click&gt;</a:t>
            </a:r>
            <a:r>
              <a:rPr lang="en"/>
              <a:t> For example, LLaMa 70B on A100 can reach 1857 token/s/GPU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
              <a:t>Detail: For MoE models, we need to calculate the effective model size, which is defined as activated size of weights. For example, in Mixtral 8*7, each token activates two experts, so the weight sizes for FFNs would be counted twice.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4f4d405776_2_8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g34f4d405776_2_8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Arial"/>
              <a:buNone/>
            </a:pPr>
            <a:r>
              <a:rPr lang="en"/>
              <a:t>&lt;click&gt; That’s sort of where the line I showed earlier on this graph comes from, so there is still a large gap to optimal throughput.</a:t>
            </a:r>
            <a:endParaRPr/>
          </a:p>
          <a:p>
            <a:pPr indent="0" lvl="0" marL="158750" rtl="0" algn="l">
              <a:spcBef>
                <a:spcPts val="0"/>
              </a:spcBef>
              <a:spcAft>
                <a:spcPts val="0"/>
              </a:spcAft>
              <a:buClr>
                <a:schemeClr val="dk1"/>
              </a:buClr>
              <a:buSzPts val="1200"/>
              <a:buFont typeface="Arial"/>
              <a:buNone/>
            </a:pPr>
            <a:r>
              <a:t/>
            </a:r>
            <a:endParaRPr/>
          </a:p>
          <a:p>
            <a:pPr indent="0" lvl="0" marL="158750" rtl="0" algn="l">
              <a:spcBef>
                <a:spcPts val="0"/>
              </a:spcBef>
              <a:spcAft>
                <a:spcPts val="0"/>
              </a:spcAft>
              <a:buClr>
                <a:schemeClr val="dk1"/>
              </a:buClr>
              <a:buSzPts val="1200"/>
              <a:buFont typeface="Arial"/>
              <a:buNone/>
            </a:pPr>
            <a:r>
              <a:rPr lang="en"/>
              <a:t>Detail: Even tensorrtllm only reaches less than half of the throughput.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4f4d405776_2_8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g34f4d405776_2_8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2" name="Google Shape;1002;g34f4d405776_2_8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4f4d405776_2_8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g34f4d405776_2_8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g34f4d405776_2_8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4f4d405776_2_108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g34f4d405776_2_10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34f4d405776_2_1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2" name="Google Shape;1502;g34f4d405776_2_13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3" name="Google Shape;1503;g34f4d405776_2_13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34f4d405776_2_15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2" name="Google Shape;1712;g34f4d405776_2_15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3" name="Google Shape;1713;g34f4d405776_2_15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g34f4d405776_2_18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2" name="Google Shape;1982;g34f4d405776_2_18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3" name="Google Shape;1983;g34f4d405776_2_18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g34f4d405776_2_20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5" name="Google Shape;2195;g34f4d405776_2_20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6" name="Google Shape;2196;g34f4d405776_2_20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5.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14"/>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algn="ctr">
              <a:lnSpc>
                <a:spcPct val="90000"/>
              </a:lnSpc>
              <a:spcBef>
                <a:spcPts val="0"/>
              </a:spcBef>
              <a:spcAft>
                <a:spcPts val="0"/>
              </a:spcAft>
              <a:buClr>
                <a:schemeClr val="dk1"/>
              </a:buClr>
              <a:buSzPts val="2700"/>
              <a:buFont typeface="Play"/>
              <a:buNone/>
              <a:defRPr sz="3600"/>
            </a:lvl1pPr>
            <a:lvl2pPr lvl="1" algn="ctr">
              <a:spcBef>
                <a:spcPts val="0"/>
              </a:spcBef>
              <a:spcAft>
                <a:spcPts val="0"/>
              </a:spcAft>
              <a:buSzPts val="2700"/>
              <a:buNone/>
              <a:defRPr sz="3600"/>
            </a:lvl2pPr>
            <a:lvl3pPr lvl="2" algn="ctr">
              <a:spcBef>
                <a:spcPts val="0"/>
              </a:spcBef>
              <a:spcAft>
                <a:spcPts val="0"/>
              </a:spcAft>
              <a:buSzPts val="2700"/>
              <a:buNone/>
              <a:defRPr sz="3600"/>
            </a:lvl3pPr>
            <a:lvl4pPr lvl="3" algn="ctr">
              <a:spcBef>
                <a:spcPts val="0"/>
              </a:spcBef>
              <a:spcAft>
                <a:spcPts val="0"/>
              </a:spcAft>
              <a:buSzPts val="2700"/>
              <a:buNone/>
              <a:defRPr sz="3600"/>
            </a:lvl4pPr>
            <a:lvl5pPr lvl="4" algn="ctr">
              <a:spcBef>
                <a:spcPts val="0"/>
              </a:spcBef>
              <a:spcAft>
                <a:spcPts val="0"/>
              </a:spcAft>
              <a:buSzPts val="2700"/>
              <a:buNone/>
              <a:defRPr sz="3600"/>
            </a:lvl5pPr>
            <a:lvl6pPr lvl="5" algn="ctr">
              <a:spcBef>
                <a:spcPts val="0"/>
              </a:spcBef>
              <a:spcAft>
                <a:spcPts val="0"/>
              </a:spcAft>
              <a:buSzPts val="2700"/>
              <a:buNone/>
              <a:defRPr sz="3600"/>
            </a:lvl6pPr>
            <a:lvl7pPr lvl="6" algn="ctr">
              <a:spcBef>
                <a:spcPts val="0"/>
              </a:spcBef>
              <a:spcAft>
                <a:spcPts val="0"/>
              </a:spcAft>
              <a:buSzPts val="2700"/>
              <a:buNone/>
              <a:defRPr sz="3600"/>
            </a:lvl7pPr>
            <a:lvl8pPr lvl="7" algn="ctr">
              <a:spcBef>
                <a:spcPts val="0"/>
              </a:spcBef>
              <a:spcAft>
                <a:spcPts val="0"/>
              </a:spcAft>
              <a:buSzPts val="2700"/>
              <a:buNone/>
              <a:defRPr sz="3600"/>
            </a:lvl8pPr>
            <a:lvl9pPr lvl="8" algn="ctr">
              <a:spcBef>
                <a:spcPts val="0"/>
              </a:spcBef>
              <a:spcAft>
                <a:spcPts val="0"/>
              </a:spcAft>
              <a:buSzPts val="2700"/>
              <a:buNone/>
              <a:defRPr sz="3600"/>
            </a:lvl9pPr>
          </a:lstStyle>
          <a:p/>
        </p:txBody>
      </p:sp>
      <p:sp>
        <p:nvSpPr>
          <p:cNvPr id="58" name="Google Shape;58;p14"/>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757575"/>
              </a:buClr>
              <a:buSzPts val="900"/>
              <a:buFont typeface="Arial"/>
              <a:buNone/>
              <a:defRPr b="0" i="0" sz="900" u="none" cap="none" strike="noStrike">
                <a:solidFill>
                  <a:srgbClr val="757575"/>
                </a:solidFill>
                <a:latin typeface="Arial"/>
                <a:ea typeface="Arial"/>
                <a:cs typeface="Arial"/>
                <a:sym typeface="Arial"/>
              </a:defRPr>
            </a:lvl1pPr>
            <a:lvl2pPr indent="0" lvl="1" marL="0" algn="r">
              <a:buClr>
                <a:srgbClr val="757575"/>
              </a:buClr>
              <a:buSzPts val="900"/>
              <a:buFont typeface="Arial"/>
              <a:buNone/>
              <a:defRPr b="0" i="0" sz="900" u="none" cap="none" strike="noStrike">
                <a:solidFill>
                  <a:srgbClr val="757575"/>
                </a:solidFill>
                <a:latin typeface="Arial"/>
                <a:ea typeface="Arial"/>
                <a:cs typeface="Arial"/>
                <a:sym typeface="Arial"/>
              </a:defRPr>
            </a:lvl2pPr>
            <a:lvl3pPr indent="0" lvl="2" marL="0" algn="r">
              <a:buClr>
                <a:srgbClr val="757575"/>
              </a:buClr>
              <a:buSzPts val="900"/>
              <a:buFont typeface="Arial"/>
              <a:buNone/>
              <a:defRPr b="0" i="0" sz="900" u="none" cap="none" strike="noStrike">
                <a:solidFill>
                  <a:srgbClr val="757575"/>
                </a:solidFill>
                <a:latin typeface="Arial"/>
                <a:ea typeface="Arial"/>
                <a:cs typeface="Arial"/>
                <a:sym typeface="Arial"/>
              </a:defRPr>
            </a:lvl3pPr>
            <a:lvl4pPr indent="0" lvl="3" marL="0" algn="r">
              <a:buClr>
                <a:srgbClr val="757575"/>
              </a:buClr>
              <a:buSzPts val="900"/>
              <a:buFont typeface="Arial"/>
              <a:buNone/>
              <a:defRPr b="0" i="0" sz="900" u="none" cap="none" strike="noStrike">
                <a:solidFill>
                  <a:srgbClr val="757575"/>
                </a:solidFill>
                <a:latin typeface="Arial"/>
                <a:ea typeface="Arial"/>
                <a:cs typeface="Arial"/>
                <a:sym typeface="Arial"/>
              </a:defRPr>
            </a:lvl4pPr>
            <a:lvl5pPr indent="0" lvl="4" marL="0" algn="r">
              <a:buClr>
                <a:srgbClr val="757575"/>
              </a:buClr>
              <a:buSzPts val="900"/>
              <a:buFont typeface="Arial"/>
              <a:buNone/>
              <a:defRPr b="0" i="0" sz="900" u="none" cap="none" strike="noStrike">
                <a:solidFill>
                  <a:srgbClr val="757575"/>
                </a:solidFill>
                <a:latin typeface="Arial"/>
                <a:ea typeface="Arial"/>
                <a:cs typeface="Arial"/>
                <a:sym typeface="Arial"/>
              </a:defRPr>
            </a:lvl5pPr>
            <a:lvl6pPr indent="0" lvl="5" marL="0" algn="r">
              <a:buClr>
                <a:srgbClr val="757575"/>
              </a:buClr>
              <a:buSzPts val="900"/>
              <a:buFont typeface="Arial"/>
              <a:buNone/>
              <a:defRPr b="0" i="0" sz="900" u="none" cap="none" strike="noStrike">
                <a:solidFill>
                  <a:srgbClr val="757575"/>
                </a:solidFill>
                <a:latin typeface="Arial"/>
                <a:ea typeface="Arial"/>
                <a:cs typeface="Arial"/>
                <a:sym typeface="Arial"/>
              </a:defRPr>
            </a:lvl6pPr>
            <a:lvl7pPr indent="0" lvl="6" marL="0" algn="r">
              <a:buClr>
                <a:srgbClr val="757575"/>
              </a:buClr>
              <a:buSzPts val="900"/>
              <a:buFont typeface="Arial"/>
              <a:buNone/>
              <a:defRPr b="0" i="0" sz="900" u="none" cap="none" strike="noStrike">
                <a:solidFill>
                  <a:srgbClr val="757575"/>
                </a:solidFill>
                <a:latin typeface="Arial"/>
                <a:ea typeface="Arial"/>
                <a:cs typeface="Arial"/>
                <a:sym typeface="Arial"/>
              </a:defRPr>
            </a:lvl7pPr>
            <a:lvl8pPr indent="0" lvl="7" marL="0" algn="r">
              <a:buClr>
                <a:srgbClr val="757575"/>
              </a:buClr>
              <a:buSzPts val="900"/>
              <a:buFont typeface="Arial"/>
              <a:buNone/>
              <a:defRPr b="0" i="0" sz="900" u="none" cap="none" strike="noStrike">
                <a:solidFill>
                  <a:srgbClr val="757575"/>
                </a:solidFill>
                <a:latin typeface="Arial"/>
                <a:ea typeface="Arial"/>
                <a:cs typeface="Arial"/>
                <a:sym typeface="Arial"/>
              </a:defRPr>
            </a:lvl8pPr>
            <a:lvl9pPr indent="0" lvl="8" marL="0" algn="r">
              <a:buClr>
                <a:srgbClr val="757575"/>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Arial"/>
              <a:buNone/>
              <a:defRPr>
                <a:latin typeface="Arial"/>
                <a:ea typeface="Arial"/>
                <a:cs typeface="Arial"/>
                <a:sym typeface="Arial"/>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61" name="Google Shape;61;p15"/>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solidFill>
                  <a:schemeClr val="dk1"/>
                </a:solidFill>
              </a:defRPr>
            </a:lvl1pPr>
            <a:lvl2pPr indent="-298450" lvl="1" marL="914400" algn="l">
              <a:lnSpc>
                <a:spcPct val="90000"/>
              </a:lnSpc>
              <a:spcBef>
                <a:spcPts val="0"/>
              </a:spcBef>
              <a:spcAft>
                <a:spcPts val="0"/>
              </a:spcAft>
              <a:buClr>
                <a:schemeClr val="dk1"/>
              </a:buClr>
              <a:buSzPts val="1100"/>
              <a:buChar char="○"/>
              <a:defRPr/>
            </a:lvl2pPr>
            <a:lvl3pPr indent="-298450" lvl="2" marL="1371600" algn="l">
              <a:lnSpc>
                <a:spcPct val="90000"/>
              </a:lnSpc>
              <a:spcBef>
                <a:spcPts val="0"/>
              </a:spcBef>
              <a:spcAft>
                <a:spcPts val="0"/>
              </a:spcAft>
              <a:buClr>
                <a:schemeClr val="dk1"/>
              </a:buClr>
              <a:buSzPts val="1100"/>
              <a:buChar char="■"/>
              <a:defRPr/>
            </a:lvl3pPr>
            <a:lvl4pPr indent="-298450" lvl="3" marL="1828800" algn="l">
              <a:lnSpc>
                <a:spcPct val="90000"/>
              </a:lnSpc>
              <a:spcBef>
                <a:spcPts val="0"/>
              </a:spcBef>
              <a:spcAft>
                <a:spcPts val="0"/>
              </a:spcAft>
              <a:buClr>
                <a:schemeClr val="dk1"/>
              </a:buClr>
              <a:buSzPts val="1100"/>
              <a:buChar char="●"/>
              <a:defRPr/>
            </a:lvl4pPr>
            <a:lvl5pPr indent="-298450" lvl="4" marL="2286000" algn="l">
              <a:lnSpc>
                <a:spcPct val="90000"/>
              </a:lnSpc>
              <a:spcBef>
                <a:spcPts val="0"/>
              </a:spcBef>
              <a:spcAft>
                <a:spcPts val="0"/>
              </a:spcAft>
              <a:buClr>
                <a:schemeClr val="dk1"/>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2" name="Google Shape;62;p1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rgbClr val="757575"/>
              </a:buClr>
              <a:buSzPts val="900"/>
              <a:buFont typeface="Arial"/>
              <a:buNone/>
              <a:defRPr b="0" i="0" sz="900" u="none" cap="none" strike="noStrike">
                <a:solidFill>
                  <a:srgbClr val="757575"/>
                </a:solidFill>
                <a:latin typeface="Arial"/>
                <a:ea typeface="Arial"/>
                <a:cs typeface="Arial"/>
                <a:sym typeface="Arial"/>
              </a:defRPr>
            </a:lvl1pPr>
            <a:lvl2pPr indent="0" lvl="1" marL="0" algn="r">
              <a:buClr>
                <a:srgbClr val="757575"/>
              </a:buClr>
              <a:buSzPts val="900"/>
              <a:buFont typeface="Arial"/>
              <a:buNone/>
              <a:defRPr b="0" i="0" sz="900" u="none" cap="none" strike="noStrike">
                <a:solidFill>
                  <a:srgbClr val="757575"/>
                </a:solidFill>
                <a:latin typeface="Arial"/>
                <a:ea typeface="Arial"/>
                <a:cs typeface="Arial"/>
                <a:sym typeface="Arial"/>
              </a:defRPr>
            </a:lvl2pPr>
            <a:lvl3pPr indent="0" lvl="2" marL="0" algn="r">
              <a:buClr>
                <a:srgbClr val="757575"/>
              </a:buClr>
              <a:buSzPts val="900"/>
              <a:buFont typeface="Arial"/>
              <a:buNone/>
              <a:defRPr b="0" i="0" sz="900" u="none" cap="none" strike="noStrike">
                <a:solidFill>
                  <a:srgbClr val="757575"/>
                </a:solidFill>
                <a:latin typeface="Arial"/>
                <a:ea typeface="Arial"/>
                <a:cs typeface="Arial"/>
                <a:sym typeface="Arial"/>
              </a:defRPr>
            </a:lvl3pPr>
            <a:lvl4pPr indent="0" lvl="3" marL="0" algn="r">
              <a:buClr>
                <a:srgbClr val="757575"/>
              </a:buClr>
              <a:buSzPts val="900"/>
              <a:buFont typeface="Arial"/>
              <a:buNone/>
              <a:defRPr b="0" i="0" sz="900" u="none" cap="none" strike="noStrike">
                <a:solidFill>
                  <a:srgbClr val="757575"/>
                </a:solidFill>
                <a:latin typeface="Arial"/>
                <a:ea typeface="Arial"/>
                <a:cs typeface="Arial"/>
                <a:sym typeface="Arial"/>
              </a:defRPr>
            </a:lvl4pPr>
            <a:lvl5pPr indent="0" lvl="4" marL="0" algn="r">
              <a:buClr>
                <a:srgbClr val="757575"/>
              </a:buClr>
              <a:buSzPts val="900"/>
              <a:buFont typeface="Arial"/>
              <a:buNone/>
              <a:defRPr b="0" i="0" sz="900" u="none" cap="none" strike="noStrike">
                <a:solidFill>
                  <a:srgbClr val="757575"/>
                </a:solidFill>
                <a:latin typeface="Arial"/>
                <a:ea typeface="Arial"/>
                <a:cs typeface="Arial"/>
                <a:sym typeface="Arial"/>
              </a:defRPr>
            </a:lvl5pPr>
            <a:lvl6pPr indent="0" lvl="5" marL="0" algn="r">
              <a:buClr>
                <a:srgbClr val="757575"/>
              </a:buClr>
              <a:buSzPts val="900"/>
              <a:buFont typeface="Arial"/>
              <a:buNone/>
              <a:defRPr b="0" i="0" sz="900" u="none" cap="none" strike="noStrike">
                <a:solidFill>
                  <a:srgbClr val="757575"/>
                </a:solidFill>
                <a:latin typeface="Arial"/>
                <a:ea typeface="Arial"/>
                <a:cs typeface="Arial"/>
                <a:sym typeface="Arial"/>
              </a:defRPr>
            </a:lvl6pPr>
            <a:lvl7pPr indent="0" lvl="6" marL="0" algn="r">
              <a:buClr>
                <a:srgbClr val="757575"/>
              </a:buClr>
              <a:buSzPts val="900"/>
              <a:buFont typeface="Arial"/>
              <a:buNone/>
              <a:defRPr b="0" i="0" sz="900" u="none" cap="none" strike="noStrike">
                <a:solidFill>
                  <a:srgbClr val="757575"/>
                </a:solidFill>
                <a:latin typeface="Arial"/>
                <a:ea typeface="Arial"/>
                <a:cs typeface="Arial"/>
                <a:sym typeface="Arial"/>
              </a:defRPr>
            </a:lvl7pPr>
            <a:lvl8pPr indent="0" lvl="7" marL="0" algn="r">
              <a:buClr>
                <a:srgbClr val="757575"/>
              </a:buClr>
              <a:buSzPts val="900"/>
              <a:buFont typeface="Arial"/>
              <a:buNone/>
              <a:defRPr b="0" i="0" sz="900" u="none" cap="none" strike="noStrike">
                <a:solidFill>
                  <a:srgbClr val="757575"/>
                </a:solidFill>
                <a:latin typeface="Arial"/>
                <a:ea typeface="Arial"/>
                <a:cs typeface="Arial"/>
                <a:sym typeface="Arial"/>
              </a:defRPr>
            </a:lvl8pPr>
            <a:lvl9pPr indent="0" lvl="8" marL="0" algn="r">
              <a:buClr>
                <a:srgbClr val="757575"/>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1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Arial"/>
              <a:buNone/>
              <a:defRPr>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1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7"/>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2" name="Google Shape;72;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900">
                <a:solidFill>
                  <a:srgbClr val="757575"/>
                </a:solidFill>
                <a:latin typeface="Arial"/>
                <a:ea typeface="Arial"/>
                <a:cs typeface="Arial"/>
                <a:sym typeface="Arial"/>
              </a:defRPr>
            </a:lvl1pPr>
            <a:lvl2pPr indent="0" lvl="1" marL="0" algn="r">
              <a:spcBef>
                <a:spcPts val="0"/>
              </a:spcBef>
              <a:buNone/>
              <a:defRPr sz="900">
                <a:solidFill>
                  <a:srgbClr val="757575"/>
                </a:solidFill>
                <a:latin typeface="Arial"/>
                <a:ea typeface="Arial"/>
                <a:cs typeface="Arial"/>
                <a:sym typeface="Arial"/>
              </a:defRPr>
            </a:lvl2pPr>
            <a:lvl3pPr indent="0" lvl="2" marL="0" algn="r">
              <a:spcBef>
                <a:spcPts val="0"/>
              </a:spcBef>
              <a:buNone/>
              <a:defRPr sz="900">
                <a:solidFill>
                  <a:srgbClr val="757575"/>
                </a:solidFill>
                <a:latin typeface="Arial"/>
                <a:ea typeface="Arial"/>
                <a:cs typeface="Arial"/>
                <a:sym typeface="Arial"/>
              </a:defRPr>
            </a:lvl3pPr>
            <a:lvl4pPr indent="0" lvl="3" marL="0" algn="r">
              <a:spcBef>
                <a:spcPts val="0"/>
              </a:spcBef>
              <a:buNone/>
              <a:defRPr sz="900">
                <a:solidFill>
                  <a:srgbClr val="757575"/>
                </a:solidFill>
                <a:latin typeface="Arial"/>
                <a:ea typeface="Arial"/>
                <a:cs typeface="Arial"/>
                <a:sym typeface="Arial"/>
              </a:defRPr>
            </a:lvl4pPr>
            <a:lvl5pPr indent="0" lvl="4" marL="0" algn="r">
              <a:spcBef>
                <a:spcPts val="0"/>
              </a:spcBef>
              <a:buNone/>
              <a:defRPr sz="900">
                <a:solidFill>
                  <a:srgbClr val="757575"/>
                </a:solidFill>
                <a:latin typeface="Arial"/>
                <a:ea typeface="Arial"/>
                <a:cs typeface="Arial"/>
                <a:sym typeface="Arial"/>
              </a:defRPr>
            </a:lvl5pPr>
            <a:lvl6pPr indent="0" lvl="5" marL="0" algn="r">
              <a:spcBef>
                <a:spcPts val="0"/>
              </a:spcBef>
              <a:buNone/>
              <a:defRPr sz="900">
                <a:solidFill>
                  <a:srgbClr val="757575"/>
                </a:solidFill>
                <a:latin typeface="Arial"/>
                <a:ea typeface="Arial"/>
                <a:cs typeface="Arial"/>
                <a:sym typeface="Arial"/>
              </a:defRPr>
            </a:lvl6pPr>
            <a:lvl7pPr indent="0" lvl="6" marL="0" algn="r">
              <a:spcBef>
                <a:spcPts val="0"/>
              </a:spcBef>
              <a:buNone/>
              <a:defRPr sz="900">
                <a:solidFill>
                  <a:srgbClr val="757575"/>
                </a:solidFill>
                <a:latin typeface="Arial"/>
                <a:ea typeface="Arial"/>
                <a:cs typeface="Arial"/>
                <a:sym typeface="Arial"/>
              </a:defRPr>
            </a:lvl7pPr>
            <a:lvl8pPr indent="0" lvl="7" marL="0" algn="r">
              <a:spcBef>
                <a:spcPts val="0"/>
              </a:spcBef>
              <a:buNone/>
              <a:defRPr sz="900">
                <a:solidFill>
                  <a:srgbClr val="757575"/>
                </a:solidFill>
                <a:latin typeface="Arial"/>
                <a:ea typeface="Arial"/>
                <a:cs typeface="Arial"/>
                <a:sym typeface="Arial"/>
              </a:defRPr>
            </a:lvl8pPr>
            <a:lvl9pPr indent="0" lvl="8" marL="0" algn="r">
              <a:spcBef>
                <a:spcPts val="0"/>
              </a:spcBef>
              <a:buNone/>
              <a:defRPr sz="9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5" name="Shape 75"/>
        <p:cNvGrpSpPr/>
        <p:nvPr/>
      </p:nvGrpSpPr>
      <p:grpSpPr>
        <a:xfrm>
          <a:off x="0" y="0"/>
          <a:ext cx="0" cy="0"/>
          <a:chOff x="0" y="0"/>
          <a:chExt cx="0" cy="0"/>
        </a:xfrm>
      </p:grpSpPr>
      <p:sp>
        <p:nvSpPr>
          <p:cNvPr id="76" name="Google Shape;76;p18"/>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8"/>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8" name="Google Shape;78;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9"/>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9"/>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8" name="Shape 88"/>
        <p:cNvGrpSpPr/>
        <p:nvPr/>
      </p:nvGrpSpPr>
      <p:grpSpPr>
        <a:xfrm>
          <a:off x="0" y="0"/>
          <a:ext cx="0" cy="0"/>
          <a:chOff x="0" y="0"/>
          <a:chExt cx="0" cy="0"/>
        </a:xfrm>
      </p:grpSpPr>
      <p:sp>
        <p:nvSpPr>
          <p:cNvPr id="89" name="Google Shape;89;p20"/>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20"/>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1" name="Google Shape;91;p20"/>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20"/>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3" name="Google Shape;93;p20"/>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 name="Google Shape;94;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2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 name="Google Shape;99;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
        <p:nvSpPr>
          <p:cNvPr id="103" name="Google Shape;103;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6" name="Shape 106"/>
        <p:cNvGrpSpPr/>
        <p:nvPr/>
      </p:nvGrpSpPr>
      <p:grpSpPr>
        <a:xfrm>
          <a:off x="0" y="0"/>
          <a:ext cx="0" cy="0"/>
          <a:chOff x="0" y="0"/>
          <a:chExt cx="0" cy="0"/>
        </a:xfrm>
      </p:grpSpPr>
      <p:sp>
        <p:nvSpPr>
          <p:cNvPr id="107" name="Google Shape;107;p2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3"/>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9" name="Google Shape;109;p23"/>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3" name="Shape 113"/>
        <p:cNvGrpSpPr/>
        <p:nvPr/>
      </p:nvGrpSpPr>
      <p:grpSpPr>
        <a:xfrm>
          <a:off x="0" y="0"/>
          <a:ext cx="0" cy="0"/>
          <a:chOff x="0" y="0"/>
          <a:chExt cx="0" cy="0"/>
        </a:xfrm>
      </p:grpSpPr>
      <p:sp>
        <p:nvSpPr>
          <p:cNvPr id="114" name="Google Shape;114;p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4"/>
          <p:cNvSpPr/>
          <p:nvPr>
            <p:ph idx="2" type="pic"/>
          </p:nvPr>
        </p:nvSpPr>
        <p:spPr>
          <a:xfrm>
            <a:off x="3887391" y="740569"/>
            <a:ext cx="4629150" cy="3655219"/>
          </a:xfrm>
          <a:prstGeom prst="rect">
            <a:avLst/>
          </a:prstGeom>
          <a:noFill/>
          <a:ln>
            <a:noFill/>
          </a:ln>
        </p:spPr>
      </p:sp>
      <p:sp>
        <p:nvSpPr>
          <p:cNvPr id="116" name="Google Shape;116;p24"/>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7" name="Google Shape;117;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2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5"/>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26"/>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 Subheader + Content">
  <p:cSld name="1_Header + Subheader + Content">
    <p:bg>
      <p:bgPr>
        <a:solidFill>
          <a:schemeClr val="lt2"/>
        </a:solidFill>
      </p:bgPr>
    </p:bg>
    <p:spTree>
      <p:nvGrpSpPr>
        <p:cNvPr id="132" name="Shape 132"/>
        <p:cNvGrpSpPr/>
        <p:nvPr/>
      </p:nvGrpSpPr>
      <p:grpSpPr>
        <a:xfrm>
          <a:off x="0" y="0"/>
          <a:ext cx="0" cy="0"/>
          <a:chOff x="0" y="0"/>
          <a:chExt cx="0" cy="0"/>
        </a:xfrm>
      </p:grpSpPr>
      <p:pic>
        <p:nvPicPr>
          <p:cNvPr id="133" name="Google Shape;133;p27"/>
          <p:cNvPicPr preferRelativeResize="0"/>
          <p:nvPr/>
        </p:nvPicPr>
        <p:blipFill rotWithShape="1">
          <a:blip r:embed="rId2">
            <a:alphaModFix/>
          </a:blip>
          <a:srcRect b="0" l="0" r="0" t="0"/>
          <a:stretch/>
        </p:blipFill>
        <p:spPr>
          <a:xfrm>
            <a:off x="8639469" y="4681862"/>
            <a:ext cx="482876" cy="326388"/>
          </a:xfrm>
          <a:prstGeom prst="rect">
            <a:avLst/>
          </a:prstGeom>
          <a:noFill/>
          <a:ln>
            <a:noFill/>
          </a:ln>
        </p:spPr>
      </p:pic>
      <p:sp>
        <p:nvSpPr>
          <p:cNvPr id="134" name="Google Shape;134;p2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Arial"/>
              <a:buNone/>
              <a:defRPr>
                <a:solidFill>
                  <a:schemeClr val="dk1"/>
                </a:solidFill>
                <a:latin typeface="Arial"/>
                <a:ea typeface="Arial"/>
                <a:cs typeface="Arial"/>
                <a:sym typeface="Arial"/>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35" name="Google Shape;135;p2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solidFill>
                  <a:schemeClr val="dk1"/>
                </a:solidFill>
                <a:latin typeface="Arial"/>
                <a:ea typeface="Arial"/>
                <a:cs typeface="Arial"/>
                <a:sym typeface="Arial"/>
              </a:defRPr>
            </a:lvl1pPr>
            <a:lvl2pPr indent="-298450" lvl="1" marL="914400" algn="l">
              <a:lnSpc>
                <a:spcPct val="90000"/>
              </a:lnSpc>
              <a:spcBef>
                <a:spcPts val="0"/>
              </a:spcBef>
              <a:spcAft>
                <a:spcPts val="0"/>
              </a:spcAft>
              <a:buClr>
                <a:schemeClr val="dk1"/>
              </a:buClr>
              <a:buSzPts val="1100"/>
              <a:buChar char="○"/>
              <a:defRPr>
                <a:solidFill>
                  <a:schemeClr val="dk1"/>
                </a:solidFill>
              </a:defRPr>
            </a:lvl2pPr>
            <a:lvl3pPr indent="-298450" lvl="2" marL="1371600" algn="l">
              <a:lnSpc>
                <a:spcPct val="90000"/>
              </a:lnSpc>
              <a:spcBef>
                <a:spcPts val="0"/>
              </a:spcBef>
              <a:spcAft>
                <a:spcPts val="0"/>
              </a:spcAft>
              <a:buClr>
                <a:schemeClr val="lt1"/>
              </a:buClr>
              <a:buSzPts val="1100"/>
              <a:buChar char="■"/>
              <a:defRPr/>
            </a:lvl3pPr>
            <a:lvl4pPr indent="-298450" lvl="3" marL="1828800" algn="l">
              <a:lnSpc>
                <a:spcPct val="90000"/>
              </a:lnSpc>
              <a:spcBef>
                <a:spcPts val="0"/>
              </a:spcBef>
              <a:spcAft>
                <a:spcPts val="0"/>
              </a:spcAft>
              <a:buClr>
                <a:schemeClr val="lt1"/>
              </a:buClr>
              <a:buSzPts val="1100"/>
              <a:buChar char="●"/>
              <a:defRPr/>
            </a:lvl4pPr>
            <a:lvl5pPr indent="-298450" lvl="4" marL="2286000" algn="l">
              <a:lnSpc>
                <a:spcPct val="90000"/>
              </a:lnSpc>
              <a:spcBef>
                <a:spcPts val="0"/>
              </a:spcBef>
              <a:spcAft>
                <a:spcPts val="0"/>
              </a:spcAft>
              <a:buClr>
                <a:schemeClr val="lt1"/>
              </a:buClr>
              <a:buSzPts val="1100"/>
              <a:buChar char="○"/>
              <a:defRPr/>
            </a:lvl5pPr>
            <a:lvl6pPr indent="-298450" lvl="5" marL="2743200" algn="l">
              <a:lnSpc>
                <a:spcPct val="90000"/>
              </a:lnSpc>
              <a:spcBef>
                <a:spcPts val="0"/>
              </a:spcBef>
              <a:spcAft>
                <a:spcPts val="0"/>
              </a:spcAft>
              <a:buClr>
                <a:schemeClr val="lt1"/>
              </a:buClr>
              <a:buSzPts val="1100"/>
              <a:buChar char="■"/>
              <a:defRPr/>
            </a:lvl6pPr>
            <a:lvl7pPr indent="-298450" lvl="6" marL="3200400" algn="l">
              <a:lnSpc>
                <a:spcPct val="90000"/>
              </a:lnSpc>
              <a:spcBef>
                <a:spcPts val="0"/>
              </a:spcBef>
              <a:spcAft>
                <a:spcPts val="0"/>
              </a:spcAft>
              <a:buClr>
                <a:schemeClr val="lt1"/>
              </a:buClr>
              <a:buSzPts val="1100"/>
              <a:buChar char="●"/>
              <a:defRPr/>
            </a:lvl7pPr>
            <a:lvl8pPr indent="-298450" lvl="7" marL="3657600" algn="l">
              <a:lnSpc>
                <a:spcPct val="90000"/>
              </a:lnSpc>
              <a:spcBef>
                <a:spcPts val="0"/>
              </a:spcBef>
              <a:spcAft>
                <a:spcPts val="0"/>
              </a:spcAft>
              <a:buClr>
                <a:schemeClr val="lt1"/>
              </a:buClr>
              <a:buSzPts val="1100"/>
              <a:buChar char="○"/>
              <a:defRPr/>
            </a:lvl8pPr>
            <a:lvl9pPr indent="-298450" lvl="8" marL="4114800" algn="l">
              <a:lnSpc>
                <a:spcPct val="90000"/>
              </a:lnSpc>
              <a:spcBef>
                <a:spcPts val="0"/>
              </a:spcBef>
              <a:spcAft>
                <a:spcPts val="0"/>
              </a:spcAft>
              <a:buClr>
                <a:schemeClr val="lt1"/>
              </a:buClr>
              <a:buSzPts val="11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 Subheader + Content">
  <p:cSld name="1_Header + Subheader + Content">
    <p:bg>
      <p:bgPr>
        <a:solidFill>
          <a:schemeClr val="lt2"/>
        </a:solidFill>
      </p:bgPr>
    </p:bg>
    <p:spTree>
      <p:nvGrpSpPr>
        <p:cNvPr id="142" name="Shape 142"/>
        <p:cNvGrpSpPr/>
        <p:nvPr/>
      </p:nvGrpSpPr>
      <p:grpSpPr>
        <a:xfrm>
          <a:off x="0" y="0"/>
          <a:ext cx="0" cy="0"/>
          <a:chOff x="0" y="0"/>
          <a:chExt cx="0" cy="0"/>
        </a:xfrm>
      </p:grpSpPr>
      <p:pic>
        <p:nvPicPr>
          <p:cNvPr id="143" name="Google Shape;143;p29"/>
          <p:cNvPicPr preferRelativeResize="0"/>
          <p:nvPr/>
        </p:nvPicPr>
        <p:blipFill rotWithShape="1">
          <a:blip r:embed="rId2">
            <a:alphaModFix/>
          </a:blip>
          <a:srcRect b="0" l="0" r="0" t="0"/>
          <a:stretch/>
        </p:blipFill>
        <p:spPr>
          <a:xfrm>
            <a:off x="8639469" y="4681862"/>
            <a:ext cx="482876" cy="326388"/>
          </a:xfrm>
          <a:prstGeom prst="rect">
            <a:avLst/>
          </a:prstGeom>
          <a:noFill/>
          <a:ln>
            <a:noFill/>
          </a:ln>
        </p:spPr>
      </p:pic>
      <p:sp>
        <p:nvSpPr>
          <p:cNvPr id="144" name="Google Shape;144;p2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algn="l">
              <a:lnSpc>
                <a:spcPct val="90000"/>
              </a:lnSpc>
              <a:spcBef>
                <a:spcPts val="0"/>
              </a:spcBef>
              <a:spcAft>
                <a:spcPts val="0"/>
              </a:spcAft>
              <a:buClr>
                <a:schemeClr val="dk1"/>
              </a:buClr>
              <a:buSzPts val="2100"/>
              <a:buFont typeface="Arial"/>
              <a:buNone/>
              <a:defRPr>
                <a:solidFill>
                  <a:schemeClr val="dk1"/>
                </a:solidFill>
                <a:latin typeface="Arial"/>
                <a:ea typeface="Arial"/>
                <a:cs typeface="Arial"/>
                <a:sym typeface="Arial"/>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45" name="Google Shape;145;p2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algn="l">
              <a:lnSpc>
                <a:spcPct val="90000"/>
              </a:lnSpc>
              <a:spcBef>
                <a:spcPts val="0"/>
              </a:spcBef>
              <a:spcAft>
                <a:spcPts val="0"/>
              </a:spcAft>
              <a:buClr>
                <a:schemeClr val="dk1"/>
              </a:buClr>
              <a:buSzPts val="1400"/>
              <a:buChar char="●"/>
              <a:defRPr>
                <a:solidFill>
                  <a:schemeClr val="dk1"/>
                </a:solidFill>
                <a:latin typeface="Arial"/>
                <a:ea typeface="Arial"/>
                <a:cs typeface="Arial"/>
                <a:sym typeface="Arial"/>
              </a:defRPr>
            </a:lvl1pPr>
            <a:lvl2pPr indent="-298450" lvl="1" marL="914400" algn="l">
              <a:lnSpc>
                <a:spcPct val="90000"/>
              </a:lnSpc>
              <a:spcBef>
                <a:spcPts val="0"/>
              </a:spcBef>
              <a:spcAft>
                <a:spcPts val="0"/>
              </a:spcAft>
              <a:buClr>
                <a:schemeClr val="dk1"/>
              </a:buClr>
              <a:buSzPts val="1100"/>
              <a:buChar char="○"/>
              <a:defRPr>
                <a:solidFill>
                  <a:schemeClr val="dk1"/>
                </a:solidFill>
              </a:defRPr>
            </a:lvl2pPr>
            <a:lvl3pPr indent="-298450" lvl="2" marL="1371600" algn="l">
              <a:lnSpc>
                <a:spcPct val="90000"/>
              </a:lnSpc>
              <a:spcBef>
                <a:spcPts val="0"/>
              </a:spcBef>
              <a:spcAft>
                <a:spcPts val="0"/>
              </a:spcAft>
              <a:buClr>
                <a:schemeClr val="lt1"/>
              </a:buClr>
              <a:buSzPts val="1100"/>
              <a:buChar char="■"/>
              <a:defRPr/>
            </a:lvl3pPr>
            <a:lvl4pPr indent="-298450" lvl="3" marL="1828800" algn="l">
              <a:lnSpc>
                <a:spcPct val="90000"/>
              </a:lnSpc>
              <a:spcBef>
                <a:spcPts val="0"/>
              </a:spcBef>
              <a:spcAft>
                <a:spcPts val="0"/>
              </a:spcAft>
              <a:buClr>
                <a:schemeClr val="lt1"/>
              </a:buClr>
              <a:buSzPts val="1100"/>
              <a:buChar char="●"/>
              <a:defRPr/>
            </a:lvl4pPr>
            <a:lvl5pPr indent="-298450" lvl="4" marL="2286000" algn="l">
              <a:lnSpc>
                <a:spcPct val="90000"/>
              </a:lnSpc>
              <a:spcBef>
                <a:spcPts val="0"/>
              </a:spcBef>
              <a:spcAft>
                <a:spcPts val="0"/>
              </a:spcAft>
              <a:buClr>
                <a:schemeClr val="lt1"/>
              </a:buClr>
              <a:buSzPts val="1100"/>
              <a:buChar char="○"/>
              <a:defRPr/>
            </a:lvl5pPr>
            <a:lvl6pPr indent="-298450" lvl="5" marL="2743200" algn="l">
              <a:lnSpc>
                <a:spcPct val="90000"/>
              </a:lnSpc>
              <a:spcBef>
                <a:spcPts val="0"/>
              </a:spcBef>
              <a:spcAft>
                <a:spcPts val="0"/>
              </a:spcAft>
              <a:buClr>
                <a:schemeClr val="lt1"/>
              </a:buClr>
              <a:buSzPts val="1100"/>
              <a:buChar char="■"/>
              <a:defRPr/>
            </a:lvl6pPr>
            <a:lvl7pPr indent="-298450" lvl="6" marL="3200400" algn="l">
              <a:lnSpc>
                <a:spcPct val="90000"/>
              </a:lnSpc>
              <a:spcBef>
                <a:spcPts val="0"/>
              </a:spcBef>
              <a:spcAft>
                <a:spcPts val="0"/>
              </a:spcAft>
              <a:buClr>
                <a:schemeClr val="lt1"/>
              </a:buClr>
              <a:buSzPts val="1100"/>
              <a:buChar char="●"/>
              <a:defRPr/>
            </a:lvl7pPr>
            <a:lvl8pPr indent="-298450" lvl="7" marL="3657600" algn="l">
              <a:lnSpc>
                <a:spcPct val="90000"/>
              </a:lnSpc>
              <a:spcBef>
                <a:spcPts val="0"/>
              </a:spcBef>
              <a:spcAft>
                <a:spcPts val="0"/>
              </a:spcAft>
              <a:buClr>
                <a:schemeClr val="lt1"/>
              </a:buClr>
              <a:buSzPts val="1100"/>
              <a:buChar char="○"/>
              <a:defRPr/>
            </a:lvl8pPr>
            <a:lvl9pPr indent="-298450" lvl="8" marL="4114800" algn="l">
              <a:lnSpc>
                <a:spcPct val="90000"/>
              </a:lnSpc>
              <a:spcBef>
                <a:spcPts val="0"/>
              </a:spcBef>
              <a:spcAft>
                <a:spcPts val="0"/>
              </a:spcAft>
              <a:buClr>
                <a:schemeClr val="lt1"/>
              </a:buClr>
              <a:buSzPts val="11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2"/>
        </a:solidFill>
      </p:bgPr>
    </p:bg>
    <p:spTree>
      <p:nvGrpSpPr>
        <p:cNvPr id="147" name="Shape 147"/>
        <p:cNvGrpSpPr/>
        <p:nvPr/>
      </p:nvGrpSpPr>
      <p:grpSpPr>
        <a:xfrm>
          <a:off x="0" y="0"/>
          <a:ext cx="0" cy="0"/>
          <a:chOff x="0" y="0"/>
          <a:chExt cx="0" cy="0"/>
        </a:xfrm>
      </p:grpSpPr>
      <p:sp>
        <p:nvSpPr>
          <p:cNvPr id="148" name="Google Shape;148;p31"/>
          <p:cNvSpPr txBox="1"/>
          <p:nvPr>
            <p:ph type="title"/>
          </p:nvPr>
        </p:nvSpPr>
        <p:spPr>
          <a:xfrm>
            <a:off x="1085850" y="655385"/>
            <a:ext cx="6972300" cy="2641800"/>
          </a:xfrm>
          <a:prstGeom prst="rect">
            <a:avLst/>
          </a:prstGeom>
          <a:noFill/>
          <a:ln>
            <a:noFill/>
          </a:ln>
        </p:spPr>
        <p:txBody>
          <a:bodyPr anchorCtr="0" anchor="b" bIns="34275" lIns="68575" spcFirstLastPara="1" rIns="68575" wrap="square" tIns="34275">
            <a:noAutofit/>
          </a:bodyPr>
          <a:lstStyle>
            <a:lvl1pPr lvl="0" marR="0" algn="ctr">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pic>
        <p:nvPicPr>
          <p:cNvPr id="149" name="Google Shape;149;p31"/>
          <p:cNvPicPr preferRelativeResize="0"/>
          <p:nvPr/>
        </p:nvPicPr>
        <p:blipFill rotWithShape="1">
          <a:blip r:embed="rId2">
            <a:alphaModFix/>
          </a:blip>
          <a:srcRect b="0" l="0" r="0" t="0"/>
          <a:stretch/>
        </p:blipFill>
        <p:spPr>
          <a:xfrm>
            <a:off x="568082" y="4598607"/>
            <a:ext cx="2416272" cy="213486"/>
          </a:xfrm>
          <a:prstGeom prst="rect">
            <a:avLst/>
          </a:prstGeom>
          <a:noFill/>
          <a:ln>
            <a:noFill/>
          </a:ln>
        </p:spPr>
      </p:pic>
      <p:pic>
        <p:nvPicPr>
          <p:cNvPr id="150" name="Google Shape;150;p31"/>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p32"/>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marR="0" algn="ctr">
              <a:spcBef>
                <a:spcPts val="0"/>
              </a:spcBef>
              <a:spcAft>
                <a:spcPts val="0"/>
              </a:spcAft>
              <a:buClr>
                <a:schemeClr val="dk1"/>
              </a:buClr>
              <a:buSzPts val="2700"/>
              <a:buFont typeface="Arial"/>
              <a:buNone/>
              <a:defRPr b="0" i="0" sz="3600" u="none" cap="none" strike="noStrike">
                <a:solidFill>
                  <a:schemeClr val="dk1"/>
                </a:solidFill>
                <a:latin typeface="Arial"/>
                <a:ea typeface="Arial"/>
                <a:cs typeface="Arial"/>
                <a:sym typeface="Arial"/>
              </a:defRPr>
            </a:lvl1pPr>
            <a:lvl2pPr lvl="1" algn="ctr">
              <a:spcBef>
                <a:spcPts val="0"/>
              </a:spcBef>
              <a:spcAft>
                <a:spcPts val="0"/>
              </a:spcAft>
              <a:buSzPts val="2700"/>
              <a:buFont typeface="Arial"/>
              <a:buNone/>
              <a:defRPr sz="3600"/>
            </a:lvl2pPr>
            <a:lvl3pPr lvl="2" algn="ctr">
              <a:spcBef>
                <a:spcPts val="0"/>
              </a:spcBef>
              <a:spcAft>
                <a:spcPts val="0"/>
              </a:spcAft>
              <a:buSzPts val="2700"/>
              <a:buFont typeface="Arial"/>
              <a:buNone/>
              <a:defRPr sz="3600"/>
            </a:lvl3pPr>
            <a:lvl4pPr lvl="3" algn="ctr">
              <a:spcBef>
                <a:spcPts val="0"/>
              </a:spcBef>
              <a:spcAft>
                <a:spcPts val="0"/>
              </a:spcAft>
              <a:buSzPts val="2700"/>
              <a:buFont typeface="Arial"/>
              <a:buNone/>
              <a:defRPr sz="3600"/>
            </a:lvl4pPr>
            <a:lvl5pPr lvl="4" algn="ctr">
              <a:spcBef>
                <a:spcPts val="0"/>
              </a:spcBef>
              <a:spcAft>
                <a:spcPts val="0"/>
              </a:spcAft>
              <a:buSzPts val="2700"/>
              <a:buFont typeface="Arial"/>
              <a:buNone/>
              <a:defRPr sz="3600"/>
            </a:lvl5pPr>
            <a:lvl6pPr lvl="5" algn="ctr">
              <a:spcBef>
                <a:spcPts val="0"/>
              </a:spcBef>
              <a:spcAft>
                <a:spcPts val="0"/>
              </a:spcAft>
              <a:buSzPts val="2700"/>
              <a:buFont typeface="Arial"/>
              <a:buNone/>
              <a:defRPr sz="3600"/>
            </a:lvl6pPr>
            <a:lvl7pPr lvl="6" algn="ctr">
              <a:spcBef>
                <a:spcPts val="0"/>
              </a:spcBef>
              <a:spcAft>
                <a:spcPts val="0"/>
              </a:spcAft>
              <a:buSzPts val="2700"/>
              <a:buFont typeface="Arial"/>
              <a:buNone/>
              <a:defRPr sz="3600"/>
            </a:lvl7pPr>
            <a:lvl8pPr lvl="7" algn="ctr">
              <a:spcBef>
                <a:spcPts val="0"/>
              </a:spcBef>
              <a:spcAft>
                <a:spcPts val="0"/>
              </a:spcAft>
              <a:buSzPts val="2700"/>
              <a:buFont typeface="Arial"/>
              <a:buNone/>
              <a:defRPr sz="3600"/>
            </a:lvl8pPr>
            <a:lvl9pPr lvl="8" algn="ctr">
              <a:spcBef>
                <a:spcPts val="0"/>
              </a:spcBef>
              <a:spcAft>
                <a:spcPts val="0"/>
              </a:spcAft>
              <a:buSzPts val="2700"/>
              <a:buFont typeface="Arial"/>
              <a:buNone/>
              <a:defRPr sz="3600"/>
            </a:lvl9pPr>
          </a:lstStyle>
          <a:p/>
        </p:txBody>
      </p:sp>
      <p:sp>
        <p:nvSpPr>
          <p:cNvPr id="153" name="Google Shape;153;p3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p3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56" name="Google Shape;156;p33"/>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157" name="Google Shape;157;p33"/>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158" name="Shape 158"/>
        <p:cNvGrpSpPr/>
        <p:nvPr/>
      </p:nvGrpSpPr>
      <p:grpSpPr>
        <a:xfrm>
          <a:off x="0" y="0"/>
          <a:ext cx="0" cy="0"/>
          <a:chOff x="0" y="0"/>
          <a:chExt cx="0" cy="0"/>
        </a:xfrm>
      </p:grpSpPr>
      <p:sp>
        <p:nvSpPr>
          <p:cNvPr id="159" name="Google Shape;159;p3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l">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60" name="Google Shape;160;p34"/>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 Subheader + Content">
  <p:cSld name="1_Header + Subheader + Content">
    <p:bg>
      <p:bgPr>
        <a:solidFill>
          <a:schemeClr val="lt2"/>
        </a:solidFill>
      </p:bgPr>
    </p:bg>
    <p:spTree>
      <p:nvGrpSpPr>
        <p:cNvPr id="161" name="Shape 161"/>
        <p:cNvGrpSpPr/>
        <p:nvPr/>
      </p:nvGrpSpPr>
      <p:grpSpPr>
        <a:xfrm>
          <a:off x="0" y="0"/>
          <a:ext cx="0" cy="0"/>
          <a:chOff x="0" y="0"/>
          <a:chExt cx="0" cy="0"/>
        </a:xfrm>
      </p:grpSpPr>
      <p:pic>
        <p:nvPicPr>
          <p:cNvPr id="162" name="Google Shape;162;p35"/>
          <p:cNvPicPr preferRelativeResize="0"/>
          <p:nvPr/>
        </p:nvPicPr>
        <p:blipFill rotWithShape="1">
          <a:blip r:embed="rId2">
            <a:alphaModFix/>
          </a:blip>
          <a:srcRect b="0" l="0" r="0" t="0"/>
          <a:stretch/>
        </p:blipFill>
        <p:spPr>
          <a:xfrm>
            <a:off x="8639469" y="4681862"/>
            <a:ext cx="482876" cy="326388"/>
          </a:xfrm>
          <a:prstGeom prst="rect">
            <a:avLst/>
          </a:prstGeom>
          <a:noFill/>
          <a:ln>
            <a:noFill/>
          </a:ln>
        </p:spPr>
      </p:pic>
      <p:sp>
        <p:nvSpPr>
          <p:cNvPr id="163" name="Google Shape;163;p3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64" name="Google Shape;164;p35"/>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dk1"/>
              </a:buClr>
              <a:buSzPts val="1100"/>
              <a:buFont typeface="Arial"/>
              <a:buChar char="○"/>
              <a:defRPr b="0" i="0" sz="2100" u="none" cap="none" strike="noStrike">
                <a:solidFill>
                  <a:schemeClr val="dk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dk1"/>
              </a:buClr>
              <a:buSzPts val="1400"/>
              <a:buFont typeface="Arial"/>
              <a:buNone/>
              <a:defRPr sz="1400">
                <a:solidFill>
                  <a:schemeClr val="dk1"/>
                </a:solidFill>
                <a:latin typeface="Arial"/>
                <a:ea typeface="Arial"/>
                <a:cs typeface="Arial"/>
                <a:sym typeface="Arial"/>
              </a:defRPr>
            </a:lvl1pPr>
            <a:lvl2pPr indent="0" lvl="1" marL="0" marR="0" algn="r">
              <a:buClr>
                <a:schemeClr val="dk1"/>
              </a:buClr>
              <a:buSzPts val="1400"/>
              <a:buFont typeface="Arial"/>
              <a:buNone/>
              <a:defRPr sz="1400">
                <a:solidFill>
                  <a:schemeClr val="dk1"/>
                </a:solidFill>
                <a:latin typeface="Arial"/>
                <a:ea typeface="Arial"/>
                <a:cs typeface="Arial"/>
                <a:sym typeface="Arial"/>
              </a:defRPr>
            </a:lvl2pPr>
            <a:lvl3pPr indent="0" lvl="2" marL="0" marR="0" algn="r">
              <a:buClr>
                <a:schemeClr val="dk1"/>
              </a:buClr>
              <a:buSzPts val="1400"/>
              <a:buFont typeface="Arial"/>
              <a:buNone/>
              <a:defRPr sz="1400">
                <a:solidFill>
                  <a:schemeClr val="dk1"/>
                </a:solidFill>
                <a:latin typeface="Arial"/>
                <a:ea typeface="Arial"/>
                <a:cs typeface="Arial"/>
                <a:sym typeface="Arial"/>
              </a:defRPr>
            </a:lvl3pPr>
            <a:lvl4pPr indent="0" lvl="3" marL="0" marR="0" algn="r">
              <a:buClr>
                <a:schemeClr val="dk1"/>
              </a:buClr>
              <a:buSzPts val="1400"/>
              <a:buFont typeface="Arial"/>
              <a:buNone/>
              <a:defRPr sz="1400">
                <a:solidFill>
                  <a:schemeClr val="dk1"/>
                </a:solidFill>
                <a:latin typeface="Arial"/>
                <a:ea typeface="Arial"/>
                <a:cs typeface="Arial"/>
                <a:sym typeface="Arial"/>
              </a:defRPr>
            </a:lvl4pPr>
            <a:lvl5pPr indent="0" lvl="4" marL="0" marR="0" algn="r">
              <a:buClr>
                <a:schemeClr val="dk1"/>
              </a:buClr>
              <a:buSzPts val="1400"/>
              <a:buFont typeface="Arial"/>
              <a:buNone/>
              <a:defRPr sz="1400">
                <a:solidFill>
                  <a:schemeClr val="dk1"/>
                </a:solidFill>
                <a:latin typeface="Arial"/>
                <a:ea typeface="Arial"/>
                <a:cs typeface="Arial"/>
                <a:sym typeface="Arial"/>
              </a:defRPr>
            </a:lvl5pPr>
            <a:lvl6pPr indent="0" lvl="5" marL="0" marR="0" algn="r">
              <a:buClr>
                <a:schemeClr val="dk1"/>
              </a:buClr>
              <a:buSzPts val="1400"/>
              <a:buFont typeface="Arial"/>
              <a:buNone/>
              <a:defRPr sz="1400">
                <a:solidFill>
                  <a:schemeClr val="dk1"/>
                </a:solidFill>
                <a:latin typeface="Arial"/>
                <a:ea typeface="Arial"/>
                <a:cs typeface="Arial"/>
                <a:sym typeface="Arial"/>
              </a:defRPr>
            </a:lvl6pPr>
            <a:lvl7pPr indent="0" lvl="6" marL="0" marR="0" algn="r">
              <a:buClr>
                <a:schemeClr val="dk1"/>
              </a:buClr>
              <a:buSzPts val="1400"/>
              <a:buFont typeface="Arial"/>
              <a:buNone/>
              <a:defRPr sz="1400">
                <a:solidFill>
                  <a:schemeClr val="dk1"/>
                </a:solidFill>
                <a:latin typeface="Arial"/>
                <a:ea typeface="Arial"/>
                <a:cs typeface="Arial"/>
                <a:sym typeface="Arial"/>
              </a:defRPr>
            </a:lvl7pPr>
            <a:lvl8pPr indent="0" lvl="7" marL="0" marR="0" algn="r">
              <a:buClr>
                <a:schemeClr val="dk1"/>
              </a:buClr>
              <a:buSzPts val="1400"/>
              <a:buFont typeface="Arial"/>
              <a:buNone/>
              <a:defRPr sz="1400">
                <a:solidFill>
                  <a:schemeClr val="dk1"/>
                </a:solidFill>
                <a:latin typeface="Arial"/>
                <a:ea typeface="Arial"/>
                <a:cs typeface="Arial"/>
                <a:sym typeface="Arial"/>
              </a:defRPr>
            </a:lvl8pPr>
            <a:lvl9pPr indent="0" lvl="8" marL="0" marR="0" algn="r">
              <a:buClr>
                <a:schemeClr val="dk1"/>
              </a:buClr>
              <a:buSzPts val="1400"/>
              <a:buFont typeface="Arial"/>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6" name="Shape 136"/>
        <p:cNvGrpSpPr/>
        <p:nvPr/>
      </p:nvGrpSpPr>
      <p:grpSpPr>
        <a:xfrm>
          <a:off x="0" y="0"/>
          <a:ext cx="0" cy="0"/>
          <a:chOff x="0" y="0"/>
          <a:chExt cx="0" cy="0"/>
        </a:xfrm>
      </p:grpSpPr>
      <p:sp>
        <p:nvSpPr>
          <p:cNvPr id="137" name="Google Shape;137;p2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lt1"/>
              </a:buClr>
              <a:buSzPts val="3300"/>
              <a:buFont typeface="Play"/>
              <a:buNone/>
              <a:defRPr b="0" i="0" sz="3300" u="none" cap="none" strike="noStrike">
                <a:solidFill>
                  <a:schemeClr val="lt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8" name="Google Shape;138;p2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lt1"/>
              </a:buClr>
              <a:buSzPts val="2100"/>
              <a:buFont typeface="Arial"/>
              <a:buChar char="•"/>
              <a:defRPr b="0" i="0" sz="2100" u="none" cap="none" strike="noStrike">
                <a:solidFill>
                  <a:schemeClr val="lt1"/>
                </a:solidFill>
                <a:latin typeface="Arial"/>
                <a:ea typeface="Arial"/>
                <a:cs typeface="Arial"/>
                <a:sym typeface="Arial"/>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5pPr>
            <a:lvl6pPr indent="-317500" lvl="5" marL="27432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6pPr>
            <a:lvl7pPr indent="-317500" lvl="6" marL="32004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7pPr>
            <a:lvl8pPr indent="-317500" lvl="7" marL="36576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8pPr>
            <a:lvl9pPr indent="-317500" lvl="8" marL="4114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9pPr>
          </a:lstStyle>
          <a:p/>
        </p:txBody>
      </p:sp>
      <p:sp>
        <p:nvSpPr>
          <p:cNvPr id="139" name="Google Shape;139;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sz="900">
                <a:solidFill>
                  <a:srgbClr val="ECDCB7"/>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lt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lt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lt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lt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lt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lt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lt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lt1"/>
                </a:solidFill>
                <a:latin typeface="Arial"/>
                <a:ea typeface="Arial"/>
                <a:cs typeface="Arial"/>
                <a:sym typeface="Arial"/>
              </a:defRPr>
            </a:lvl9pPr>
          </a:lstStyle>
          <a:p/>
        </p:txBody>
      </p:sp>
      <p:sp>
        <p:nvSpPr>
          <p:cNvPr id="140" name="Google Shape;140;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sz="900">
                <a:solidFill>
                  <a:srgbClr val="ECDCB7"/>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lt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lt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lt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lt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lt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lt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lt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lt1"/>
                </a:solidFill>
                <a:latin typeface="Arial"/>
                <a:ea typeface="Arial"/>
                <a:cs typeface="Arial"/>
                <a:sym typeface="Arial"/>
              </a:defRPr>
            </a:lvl9pPr>
          </a:lstStyle>
          <a:p/>
        </p:txBody>
      </p:sp>
      <p:sp>
        <p:nvSpPr>
          <p:cNvPr id="141" name="Google Shape;141;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sz="900" u="none">
                <a:solidFill>
                  <a:srgbClr val="ECDCB7"/>
                </a:solidFill>
                <a:latin typeface="Arial"/>
                <a:ea typeface="Arial"/>
                <a:cs typeface="Arial"/>
                <a:sym typeface="Arial"/>
              </a:defRPr>
            </a:lvl1pPr>
            <a:lvl2pPr indent="0" lvl="1" marL="0" marR="0" rtl="0" algn="r">
              <a:spcBef>
                <a:spcPts val="0"/>
              </a:spcBef>
              <a:buNone/>
              <a:defRPr b="0" sz="900" u="none">
                <a:solidFill>
                  <a:srgbClr val="ECDCB7"/>
                </a:solidFill>
                <a:latin typeface="Arial"/>
                <a:ea typeface="Arial"/>
                <a:cs typeface="Arial"/>
                <a:sym typeface="Arial"/>
              </a:defRPr>
            </a:lvl2pPr>
            <a:lvl3pPr indent="0" lvl="2" marL="0" marR="0" rtl="0" algn="r">
              <a:spcBef>
                <a:spcPts val="0"/>
              </a:spcBef>
              <a:buNone/>
              <a:defRPr b="0" sz="900" u="none">
                <a:solidFill>
                  <a:srgbClr val="ECDCB7"/>
                </a:solidFill>
                <a:latin typeface="Arial"/>
                <a:ea typeface="Arial"/>
                <a:cs typeface="Arial"/>
                <a:sym typeface="Arial"/>
              </a:defRPr>
            </a:lvl3pPr>
            <a:lvl4pPr indent="0" lvl="3" marL="0" marR="0" rtl="0" algn="r">
              <a:spcBef>
                <a:spcPts val="0"/>
              </a:spcBef>
              <a:buNone/>
              <a:defRPr b="0" sz="900" u="none">
                <a:solidFill>
                  <a:srgbClr val="ECDCB7"/>
                </a:solidFill>
                <a:latin typeface="Arial"/>
                <a:ea typeface="Arial"/>
                <a:cs typeface="Arial"/>
                <a:sym typeface="Arial"/>
              </a:defRPr>
            </a:lvl4pPr>
            <a:lvl5pPr indent="0" lvl="4" marL="0" marR="0" rtl="0" algn="r">
              <a:spcBef>
                <a:spcPts val="0"/>
              </a:spcBef>
              <a:buNone/>
              <a:defRPr b="0" sz="900" u="none">
                <a:solidFill>
                  <a:srgbClr val="ECDCB7"/>
                </a:solidFill>
                <a:latin typeface="Arial"/>
                <a:ea typeface="Arial"/>
                <a:cs typeface="Arial"/>
                <a:sym typeface="Arial"/>
              </a:defRPr>
            </a:lvl5pPr>
            <a:lvl6pPr indent="0" lvl="5" marL="0" marR="0" rtl="0" algn="r">
              <a:spcBef>
                <a:spcPts val="0"/>
              </a:spcBef>
              <a:buNone/>
              <a:defRPr b="0" sz="900" u="none">
                <a:solidFill>
                  <a:srgbClr val="ECDCB7"/>
                </a:solidFill>
                <a:latin typeface="Arial"/>
                <a:ea typeface="Arial"/>
                <a:cs typeface="Arial"/>
                <a:sym typeface="Arial"/>
              </a:defRPr>
            </a:lvl6pPr>
            <a:lvl7pPr indent="0" lvl="6" marL="0" marR="0" rtl="0" algn="r">
              <a:spcBef>
                <a:spcPts val="0"/>
              </a:spcBef>
              <a:buNone/>
              <a:defRPr b="0" sz="900" u="none">
                <a:solidFill>
                  <a:srgbClr val="ECDCB7"/>
                </a:solidFill>
                <a:latin typeface="Arial"/>
                <a:ea typeface="Arial"/>
                <a:cs typeface="Arial"/>
                <a:sym typeface="Arial"/>
              </a:defRPr>
            </a:lvl7pPr>
            <a:lvl8pPr indent="0" lvl="7" marL="0" marR="0" rtl="0" algn="r">
              <a:spcBef>
                <a:spcPts val="0"/>
              </a:spcBef>
              <a:buNone/>
              <a:defRPr b="0" sz="900" u="none">
                <a:solidFill>
                  <a:srgbClr val="ECDCB7"/>
                </a:solidFill>
                <a:latin typeface="Arial"/>
                <a:ea typeface="Arial"/>
                <a:cs typeface="Arial"/>
                <a:sym typeface="Arial"/>
              </a:defRPr>
            </a:lvl8pPr>
            <a:lvl9pPr indent="0" lvl="8" marL="0" marR="0" rtl="0" algn="r">
              <a:spcBef>
                <a:spcPts val="0"/>
              </a:spcBef>
              <a:buNone/>
              <a:defRPr b="0" sz="900" u="none">
                <a:solidFill>
                  <a:srgbClr val="ECDCB7"/>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6" name="Shape 14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dl.acm.org/doi/10.1145/1498765.1498785" TargetMode="External"/><Relationship Id="rId4" Type="http://schemas.openxmlformats.org/officeDocument/2006/relationships/hyperlink" Target="https://jax-ml.github.io/scaling-book/rooflin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s://en.wikipedia.org/wiki/Task_parallelism" TargetMode="External"/><Relationship Id="rId5" Type="http://schemas.openxmlformats.org/officeDocument/2006/relationships/hyperlink" Target="https://en.wikipedia.org/wiki/Instruction-level_parallelism" TargetMode="External"/><Relationship Id="rId6" Type="http://schemas.openxmlformats.org/officeDocument/2006/relationships/hyperlink" Target="https://en.wikipedia.org/wiki/Single_instruction,_multiple_dat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hyperlink" Target="https://www.sciencedirect.com/topics/computer-science/hardware-prefetcher" TargetMode="External"/><Relationship Id="rId5" Type="http://schemas.openxmlformats.org/officeDocument/2006/relationships/hyperlink" Target="https://en.wikipedia.org/wiki/Non-uniform_memory_access" TargetMode="External"/><Relationship Id="rId6" Type="http://schemas.openxmlformats.org/officeDocument/2006/relationships/hyperlink" Target="https://dl.acm.org/doi/abs/10.1145/106972.10697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https://jax-ml.github.io/scaling-book/roofli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s://www.advancedclustering.com/wp-content/uploads/2022/03/gtc22-whitepaper-hopper.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9.png"/><Relationship Id="rId4" Type="http://schemas.openxmlformats.org/officeDocument/2006/relationships/image" Target="../media/image9.png"/><Relationship Id="rId9"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13.png"/><Relationship Id="rId8"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59.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13.png"/><Relationship Id="rId8"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59.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13.png"/><Relationship Id="rId8"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39.png"/><Relationship Id="rId9"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7.png"/><Relationship Id="rId7" Type="http://schemas.openxmlformats.org/officeDocument/2006/relationships/image" Target="../media/image41.png"/><Relationship Id="rId8"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3.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45.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44.png"/><Relationship Id="rId4" Type="http://schemas.openxmlformats.org/officeDocument/2006/relationships/image" Target="../media/image46.png"/><Relationship Id="rId9" Type="http://schemas.openxmlformats.org/officeDocument/2006/relationships/image" Target="../media/image56.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53.png"/><Relationship Id="rId8"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63.png"/><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hyperlink" Target="https://arxiv.org/abs/1901.02860" TargetMode="External"/><Relationship Id="rId4" Type="http://schemas.openxmlformats.org/officeDocument/2006/relationships/hyperlink" Target="https://arxiv.org/abs/2309.06180" TargetMode="External"/><Relationship Id="rId5" Type="http://schemas.openxmlformats.org/officeDocument/2006/relationships/hyperlink" Target="https://arxiv.org/abs/2205.1413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type="title"/>
          </p:nvPr>
        </p:nvSpPr>
        <p:spPr>
          <a:xfrm>
            <a:off x="240743" y="110049"/>
            <a:ext cx="8662500" cy="15813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100"/>
              <a:buFont typeface="Arial"/>
              <a:buNone/>
            </a:pPr>
            <a:r>
              <a:rPr lang="en" sz="4100"/>
              <a:t>CSE 554 Machine Learning Systems</a:t>
            </a:r>
            <a:endParaRPr sz="4100"/>
          </a:p>
        </p:txBody>
      </p:sp>
      <p:sp>
        <p:nvSpPr>
          <p:cNvPr id="172" name="Google Shape;172;p36"/>
          <p:cNvSpPr txBox="1"/>
          <p:nvPr/>
        </p:nvSpPr>
        <p:spPr>
          <a:xfrm>
            <a:off x="477361" y="2400067"/>
            <a:ext cx="8232300" cy="7665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1800"/>
              <a:buFont typeface="Encode Sans Black"/>
              <a:buNone/>
            </a:pPr>
            <a:r>
              <a:t/>
            </a:r>
            <a:endParaRPr b="0" i="0" sz="1800" u="none" cap="none" strike="noStrike">
              <a:solidFill>
                <a:schemeClr val="lt2"/>
              </a:solidFill>
              <a:latin typeface="Encode Sans"/>
              <a:ea typeface="Encode Sans"/>
              <a:cs typeface="Encode Sans"/>
              <a:sym typeface="Encode Sans"/>
            </a:endParaRPr>
          </a:p>
        </p:txBody>
      </p:sp>
      <p:sp>
        <p:nvSpPr>
          <p:cNvPr id="173" name="Google Shape;173;p36"/>
          <p:cNvSpPr txBox="1"/>
          <p:nvPr/>
        </p:nvSpPr>
        <p:spPr>
          <a:xfrm>
            <a:off x="352304" y="1687546"/>
            <a:ext cx="8662500" cy="15813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2100"/>
              <a:buFont typeface="Encode Sans Black"/>
              <a:buNone/>
            </a:pPr>
            <a:r>
              <a:rPr b="0" i="0" lang="en" sz="2100" u="none" cap="none" strike="noStrike">
                <a:solidFill>
                  <a:schemeClr val="lt2"/>
                </a:solidFill>
                <a:latin typeface="Encode Sans Black"/>
                <a:ea typeface="Encode Sans Black"/>
                <a:cs typeface="Encode Sans Black"/>
                <a:sym typeface="Encode Sans Black"/>
              </a:rPr>
              <a:t>Week 1 Lecture 1 </a:t>
            </a:r>
            <a:endParaRPr sz="1100"/>
          </a:p>
        </p:txBody>
      </p:sp>
      <p:sp>
        <p:nvSpPr>
          <p:cNvPr id="174" name="Google Shape;174;p36"/>
          <p:cNvSpPr txBox="1"/>
          <p:nvPr/>
        </p:nvSpPr>
        <p:spPr>
          <a:xfrm>
            <a:off x="434340" y="1691356"/>
            <a:ext cx="8662500" cy="10902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700">
                <a:solidFill>
                  <a:schemeClr val="dk1"/>
                </a:solidFill>
              </a:rPr>
              <a:t>Lecture 7 - Performance Modeling</a:t>
            </a:r>
            <a:endParaRPr sz="2700">
              <a:solidFill>
                <a:schemeClr val="dk1"/>
              </a:solidFill>
            </a:endParaRPr>
          </a:p>
        </p:txBody>
      </p:sp>
      <p:pic>
        <p:nvPicPr>
          <p:cNvPr id="175" name="Google Shape;175;p36"/>
          <p:cNvPicPr preferRelativeResize="0"/>
          <p:nvPr/>
        </p:nvPicPr>
        <p:blipFill rotWithShape="1">
          <a:blip r:embed="rId3">
            <a:alphaModFix/>
          </a:blip>
          <a:srcRect b="0" l="0" r="0" t="0"/>
          <a:stretch/>
        </p:blipFill>
        <p:spPr>
          <a:xfrm>
            <a:off x="4015262" y="3575257"/>
            <a:ext cx="1113465" cy="714082"/>
          </a:xfrm>
          <a:prstGeom prst="rect">
            <a:avLst/>
          </a:prstGeom>
          <a:noFill/>
          <a:ln>
            <a:noFill/>
          </a:ln>
        </p:spPr>
      </p:pic>
      <p:sp>
        <p:nvSpPr>
          <p:cNvPr id="176" name="Google Shape;176;p36"/>
          <p:cNvSpPr txBox="1"/>
          <p:nvPr/>
        </p:nvSpPr>
        <p:spPr>
          <a:xfrm>
            <a:off x="3504650" y="3039475"/>
            <a:ext cx="2177700" cy="4086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000">
                <a:solidFill>
                  <a:schemeClr val="dk1"/>
                </a:solidFill>
              </a:rPr>
              <a:t>Baris Kasikci</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solidFill>
                  <a:schemeClr val="dk1"/>
                </a:solidFill>
              </a:rPr>
              <a:t>Class Overview</a:t>
            </a:r>
            <a:endParaRPr/>
          </a:p>
        </p:txBody>
      </p:sp>
      <p:sp>
        <p:nvSpPr>
          <p:cNvPr id="182" name="Google Shape;182;p3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lnSpcReduction="20000"/>
          </a:bodyPr>
          <a:lstStyle/>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GPU Architecture and Programming</a:t>
            </a:r>
            <a:endParaRPr>
              <a:solidFill>
                <a:srgbClr val="BFBFBF"/>
              </a:solidFill>
            </a:endParaRPr>
          </a:p>
          <a:p>
            <a:pPr indent="-381000" lvl="0" marL="495300" rtl="0" algn="l">
              <a:lnSpc>
                <a:spcPct val="90000"/>
              </a:lnSpc>
              <a:spcBef>
                <a:spcPts val="0"/>
              </a:spcBef>
              <a:spcAft>
                <a:spcPts val="0"/>
              </a:spcAft>
              <a:buClr>
                <a:srgbClr val="BFBFBF"/>
              </a:buClr>
              <a:buSzPts val="1400"/>
              <a:buAutoNum type="arabicPeriod"/>
            </a:pPr>
            <a:r>
              <a:rPr lang="en">
                <a:solidFill>
                  <a:srgbClr val="BFBFBF"/>
                </a:solidFill>
              </a:rPr>
              <a:t>Transformers (Architecture and Implementation)  </a:t>
            </a:r>
            <a:endParaRPr>
              <a:solidFill>
                <a:srgbClr val="BFBFBF"/>
              </a:solidFill>
            </a:endParaRPr>
          </a:p>
          <a:p>
            <a:pPr indent="-381000" lvl="0" marL="495300" rtl="0" algn="l">
              <a:lnSpc>
                <a:spcPct val="90000"/>
              </a:lnSpc>
              <a:spcBef>
                <a:spcPts val="0"/>
              </a:spcBef>
              <a:spcAft>
                <a:spcPts val="0"/>
              </a:spcAft>
              <a:buClr>
                <a:schemeClr val="dk1"/>
              </a:buClr>
              <a:buSzPts val="1400"/>
              <a:buAutoNum type="arabicPeriod"/>
            </a:pPr>
            <a:r>
              <a:rPr b="1" lang="en"/>
              <a:t>Performance modeling   </a:t>
            </a:r>
            <a:endParaRPr b="1"/>
          </a:p>
          <a:p>
            <a:pPr indent="-381000" lvl="0" marL="495300" rtl="0" algn="l">
              <a:lnSpc>
                <a:spcPct val="90000"/>
              </a:lnSpc>
              <a:spcBef>
                <a:spcPts val="0"/>
              </a:spcBef>
              <a:spcAft>
                <a:spcPts val="0"/>
              </a:spcAft>
              <a:buClr>
                <a:schemeClr val="dk1"/>
              </a:buClr>
              <a:buSzPts val="1400"/>
              <a:buAutoNum type="arabicPeriod"/>
            </a:pPr>
            <a:r>
              <a:rPr lang="en"/>
              <a:t>Quantization</a:t>
            </a:r>
            <a:endParaRPr/>
          </a:p>
          <a:p>
            <a:pPr indent="-381000" lvl="0" marL="495300" rtl="0" algn="l">
              <a:lnSpc>
                <a:spcPct val="90000"/>
              </a:lnSpc>
              <a:spcBef>
                <a:spcPts val="0"/>
              </a:spcBef>
              <a:spcAft>
                <a:spcPts val="0"/>
              </a:spcAft>
              <a:buClr>
                <a:schemeClr val="dk1"/>
              </a:buClr>
              <a:buSzPts val="1400"/>
              <a:buAutoNum type="arabicPeriod"/>
            </a:pPr>
            <a:r>
              <a:rPr lang="en"/>
              <a:t>Memory Management</a:t>
            </a:r>
            <a:endParaRPr/>
          </a:p>
          <a:p>
            <a:pPr indent="-381000" lvl="0" marL="495300" rtl="0" algn="l">
              <a:lnSpc>
                <a:spcPct val="90000"/>
              </a:lnSpc>
              <a:spcBef>
                <a:spcPts val="0"/>
              </a:spcBef>
              <a:spcAft>
                <a:spcPts val="0"/>
              </a:spcAft>
              <a:buClr>
                <a:schemeClr val="dk1"/>
              </a:buClr>
              <a:buSzPts val="1400"/>
              <a:buFont typeface="Arial"/>
              <a:buAutoNum type="arabicPeriod"/>
            </a:pPr>
            <a:r>
              <a:rPr lang="en"/>
              <a:t>Sparsity</a:t>
            </a:r>
            <a:endParaRPr/>
          </a:p>
          <a:p>
            <a:pPr indent="-381000" lvl="0" marL="495300" rtl="0" algn="l">
              <a:lnSpc>
                <a:spcPct val="90000"/>
              </a:lnSpc>
              <a:spcBef>
                <a:spcPts val="0"/>
              </a:spcBef>
              <a:spcAft>
                <a:spcPts val="0"/>
              </a:spcAft>
              <a:buClr>
                <a:schemeClr val="dk1"/>
              </a:buClr>
              <a:buSzPts val="1400"/>
              <a:buAutoNum type="arabicPeriod"/>
            </a:pPr>
            <a:r>
              <a:rPr lang="en"/>
              <a:t>Mixture of Experts (MoE)</a:t>
            </a:r>
            <a:endParaRPr/>
          </a:p>
          <a:p>
            <a:pPr indent="-381000" lvl="0" marL="495300" rtl="0" algn="l">
              <a:lnSpc>
                <a:spcPct val="90000"/>
              </a:lnSpc>
              <a:spcBef>
                <a:spcPts val="0"/>
              </a:spcBef>
              <a:spcAft>
                <a:spcPts val="0"/>
              </a:spcAft>
              <a:buClr>
                <a:schemeClr val="dk1"/>
              </a:buClr>
              <a:buSzPts val="1400"/>
              <a:buAutoNum type="arabicPeriod"/>
            </a:pPr>
            <a:r>
              <a:rPr lang="en"/>
              <a:t>Batching</a:t>
            </a:r>
            <a:endParaRPr/>
          </a:p>
          <a:p>
            <a:pPr indent="-381000" lvl="0" marL="495300" rtl="0" algn="l">
              <a:lnSpc>
                <a:spcPct val="90000"/>
              </a:lnSpc>
              <a:spcBef>
                <a:spcPts val="0"/>
              </a:spcBef>
              <a:spcAft>
                <a:spcPts val="0"/>
              </a:spcAft>
              <a:buClr>
                <a:schemeClr val="dk1"/>
              </a:buClr>
              <a:buSzPts val="1400"/>
              <a:buAutoNum type="arabicPeriod"/>
            </a:pPr>
            <a:r>
              <a:rPr lang="en"/>
              <a:t>Speculative decoding</a:t>
            </a:r>
            <a:endParaRPr/>
          </a:p>
          <a:p>
            <a:pPr indent="-381000" lvl="0" marL="495300" rtl="0" algn="l">
              <a:lnSpc>
                <a:spcPct val="90000"/>
              </a:lnSpc>
              <a:spcBef>
                <a:spcPts val="0"/>
              </a:spcBef>
              <a:spcAft>
                <a:spcPts val="0"/>
              </a:spcAft>
              <a:buClr>
                <a:schemeClr val="dk1"/>
              </a:buClr>
              <a:buSzPts val="1400"/>
              <a:buAutoNum type="arabicPeriod"/>
            </a:pPr>
            <a:r>
              <a:rPr lang="en"/>
              <a:t>Parallelism</a:t>
            </a:r>
            <a:endParaRPr/>
          </a:p>
          <a:p>
            <a:pPr indent="-381000" lvl="0" marL="495300" rtl="0" algn="l">
              <a:lnSpc>
                <a:spcPct val="90000"/>
              </a:lnSpc>
              <a:spcBef>
                <a:spcPts val="0"/>
              </a:spcBef>
              <a:spcAft>
                <a:spcPts val="0"/>
              </a:spcAft>
              <a:buClr>
                <a:schemeClr val="dk1"/>
              </a:buClr>
              <a:buSzPts val="1400"/>
              <a:buAutoNum type="arabicPeriod"/>
            </a:pPr>
            <a:r>
              <a:rPr lang="en"/>
              <a:t>End-to-end serving </a:t>
            </a:r>
            <a:endParaRPr/>
          </a:p>
          <a:p>
            <a:pPr indent="-381000" lvl="0" marL="495300" rtl="0" algn="l">
              <a:lnSpc>
                <a:spcPct val="90000"/>
              </a:lnSpc>
              <a:spcBef>
                <a:spcPts val="0"/>
              </a:spcBef>
              <a:spcAft>
                <a:spcPts val="0"/>
              </a:spcAft>
              <a:buClr>
                <a:schemeClr val="dk1"/>
              </a:buClr>
              <a:buSzPts val="1400"/>
              <a:buAutoNum type="arabicPeriod"/>
            </a:pPr>
            <a:r>
              <a:rPr lang="en"/>
              <a:t>Agentic systems</a:t>
            </a:r>
            <a:endParaRPr/>
          </a:p>
          <a:p>
            <a:pPr indent="-381000" lvl="0" marL="495300" rtl="0" algn="l">
              <a:lnSpc>
                <a:spcPct val="90000"/>
              </a:lnSpc>
              <a:spcBef>
                <a:spcPts val="0"/>
              </a:spcBef>
              <a:spcAft>
                <a:spcPts val="0"/>
              </a:spcAft>
              <a:buClr>
                <a:schemeClr val="dk1"/>
              </a:buClr>
              <a:buSzPts val="1400"/>
              <a:buAutoNum type="arabicPeriod"/>
            </a:pPr>
            <a:r>
              <a:rPr lang="en"/>
              <a:t>Large-scale deployment</a:t>
            </a:r>
            <a:endParaRPr/>
          </a:p>
        </p:txBody>
      </p:sp>
      <p:sp>
        <p:nvSpPr>
          <p:cNvPr id="183" name="Google Shape;183;p3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Today</a:t>
            </a:r>
            <a:endParaRPr/>
          </a:p>
        </p:txBody>
      </p:sp>
      <p:sp>
        <p:nvSpPr>
          <p:cNvPr id="189" name="Google Shape;189;p3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Performance Analysis</a:t>
            </a:r>
            <a:endParaRPr/>
          </a:p>
          <a:p>
            <a:pPr indent="-323850" lvl="1" marL="914400" rtl="0" algn="l">
              <a:lnSpc>
                <a:spcPct val="90000"/>
              </a:lnSpc>
              <a:spcBef>
                <a:spcPts val="0"/>
              </a:spcBef>
              <a:spcAft>
                <a:spcPts val="0"/>
              </a:spcAft>
              <a:buClr>
                <a:schemeClr val="dk1"/>
              </a:buClr>
              <a:buSzPts val="1100"/>
              <a:buChar char="○"/>
            </a:pPr>
            <a:r>
              <a:rPr lang="en"/>
              <a:t>Roofline model</a:t>
            </a:r>
            <a:endParaRPr/>
          </a:p>
          <a:p>
            <a:pPr indent="-323850" lvl="2" marL="1371600" rtl="0" algn="l">
              <a:lnSpc>
                <a:spcPct val="90000"/>
              </a:lnSpc>
              <a:spcBef>
                <a:spcPts val="0"/>
              </a:spcBef>
              <a:spcAft>
                <a:spcPts val="0"/>
              </a:spcAft>
              <a:buClr>
                <a:schemeClr val="dk1"/>
              </a:buClr>
              <a:buSzPts val="1100"/>
              <a:buChar char="■"/>
            </a:pPr>
            <a:r>
              <a:rPr lang="en"/>
              <a:t>The first part will follow the </a:t>
            </a:r>
            <a:r>
              <a:rPr lang="en" u="sng">
                <a:solidFill>
                  <a:schemeClr val="hlink"/>
                </a:solidFill>
                <a:hlinkClick r:id="rId3"/>
              </a:rPr>
              <a:t>Roofline paper</a:t>
            </a:r>
            <a:r>
              <a:rPr lang="en"/>
              <a:t> and the roofline chapter from </a:t>
            </a:r>
            <a:r>
              <a:rPr lang="en" u="sng">
                <a:solidFill>
                  <a:schemeClr val="hlink"/>
                </a:solidFill>
                <a:hlinkClick r:id="rId4"/>
              </a:rPr>
              <a:t>Google’s scaling book</a:t>
            </a:r>
            <a:endParaRPr/>
          </a:p>
          <a:p>
            <a:pPr indent="-323850" lvl="1" marL="914400" rtl="0" algn="l">
              <a:lnSpc>
                <a:spcPct val="90000"/>
              </a:lnSpc>
              <a:spcBef>
                <a:spcPts val="0"/>
              </a:spcBef>
              <a:spcAft>
                <a:spcPts val="0"/>
              </a:spcAft>
              <a:buClr>
                <a:schemeClr val="dk1"/>
              </a:buClr>
              <a:buSzPts val="1100"/>
              <a:buChar char="○"/>
            </a:pPr>
            <a:r>
              <a:rPr lang="en"/>
              <a:t>Detailed model of Transformer performance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The Roofline Model</a:t>
            </a:r>
            <a:endParaRPr/>
          </a:p>
        </p:txBody>
      </p:sp>
      <p:pic>
        <p:nvPicPr>
          <p:cNvPr descr="A close-up of a sign&#10;&#10;AI-generated content may be incorrect." id="196" name="Google Shape;196;p39"/>
          <p:cNvPicPr preferRelativeResize="0"/>
          <p:nvPr/>
        </p:nvPicPr>
        <p:blipFill rotWithShape="1">
          <a:blip r:embed="rId3">
            <a:alphaModFix/>
          </a:blip>
          <a:srcRect b="0" l="0" r="0" t="0"/>
          <a:stretch/>
        </p:blipFill>
        <p:spPr>
          <a:xfrm>
            <a:off x="4014739" y="59731"/>
            <a:ext cx="5129261" cy="957994"/>
          </a:xfrm>
          <a:prstGeom prst="rect">
            <a:avLst/>
          </a:prstGeom>
          <a:noFill/>
          <a:ln>
            <a:noFill/>
          </a:ln>
        </p:spPr>
      </p:pic>
      <p:pic>
        <p:nvPicPr>
          <p:cNvPr descr="A graph with a line&#10;&#10;AI-generated content may be incorrect." id="197" name="Google Shape;197;p39"/>
          <p:cNvPicPr preferRelativeResize="0"/>
          <p:nvPr/>
        </p:nvPicPr>
        <p:blipFill rotWithShape="1">
          <a:blip r:embed="rId4">
            <a:alphaModFix/>
          </a:blip>
          <a:srcRect b="0" l="0" r="0" t="0"/>
          <a:stretch/>
        </p:blipFill>
        <p:spPr>
          <a:xfrm>
            <a:off x="311700" y="949145"/>
            <a:ext cx="3389924" cy="3972334"/>
          </a:xfrm>
          <a:prstGeom prst="rect">
            <a:avLst/>
          </a:prstGeom>
          <a:noFill/>
          <a:ln>
            <a:noFill/>
          </a:ln>
        </p:spPr>
      </p:pic>
      <p:sp>
        <p:nvSpPr>
          <p:cNvPr id="198" name="Google Shape;198;p39"/>
          <p:cNvSpPr txBox="1"/>
          <p:nvPr/>
        </p:nvSpPr>
        <p:spPr>
          <a:xfrm>
            <a:off x="457200" y="4889349"/>
            <a:ext cx="3557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rgbClr val="000000"/>
                </a:solidFill>
                <a:latin typeface="Times New Roman"/>
                <a:ea typeface="Times New Roman"/>
                <a:cs typeface="Times New Roman"/>
                <a:sym typeface="Times New Roman"/>
              </a:rPr>
              <a:t>Roofline Model with Ceilings for Opteron X2</a:t>
            </a:r>
            <a:endParaRPr sz="1100"/>
          </a:p>
        </p:txBody>
      </p:sp>
      <p:sp>
        <p:nvSpPr>
          <p:cNvPr id="199" name="Google Shape;199;p39"/>
          <p:cNvSpPr txBox="1"/>
          <p:nvPr/>
        </p:nvSpPr>
        <p:spPr>
          <a:xfrm>
            <a:off x="4184358" y="2643350"/>
            <a:ext cx="1258020" cy="530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Operational</a:t>
            </a:r>
            <a:endParaRPr sz="1100"/>
          </a:p>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Intensity</a:t>
            </a:r>
            <a:endParaRPr b="1" sz="1500">
              <a:solidFill>
                <a:srgbClr val="000000"/>
              </a:solidFill>
              <a:latin typeface="Times New Roman"/>
              <a:ea typeface="Times New Roman"/>
              <a:cs typeface="Times New Roman"/>
              <a:sym typeface="Times New Roman"/>
            </a:endParaRPr>
          </a:p>
        </p:txBody>
      </p:sp>
      <p:sp>
        <p:nvSpPr>
          <p:cNvPr id="200" name="Google Shape;200;p39"/>
          <p:cNvSpPr txBox="1"/>
          <p:nvPr/>
        </p:nvSpPr>
        <p:spPr>
          <a:xfrm>
            <a:off x="5061138" y="2754844"/>
            <a:ext cx="1005840"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a:t>
            </a:r>
            <a:endParaRPr sz="1100"/>
          </a:p>
        </p:txBody>
      </p:sp>
      <p:sp>
        <p:nvSpPr>
          <p:cNvPr id="201" name="Google Shape;201;p39"/>
          <p:cNvSpPr txBox="1"/>
          <p:nvPr/>
        </p:nvSpPr>
        <p:spPr>
          <a:xfrm>
            <a:off x="5905476" y="2505635"/>
            <a:ext cx="1444491"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 of Operations</a:t>
            </a:r>
            <a:endParaRPr sz="1100"/>
          </a:p>
        </p:txBody>
      </p:sp>
      <p:cxnSp>
        <p:nvCxnSpPr>
          <p:cNvPr id="202" name="Google Shape;202;p39"/>
          <p:cNvCxnSpPr/>
          <p:nvPr/>
        </p:nvCxnSpPr>
        <p:spPr>
          <a:xfrm>
            <a:off x="5848827" y="2904885"/>
            <a:ext cx="1493520" cy="0"/>
          </a:xfrm>
          <a:prstGeom prst="straightConnector1">
            <a:avLst/>
          </a:prstGeom>
          <a:noFill/>
          <a:ln cap="flat" cmpd="sng" w="19050">
            <a:solidFill>
              <a:schemeClr val="accent1"/>
            </a:solidFill>
            <a:prstDash val="solid"/>
            <a:miter lim="800000"/>
            <a:headEnd len="sm" w="sm" type="none"/>
            <a:tailEnd len="sm" w="sm" type="none"/>
          </a:ln>
        </p:spPr>
      </p:cxnSp>
      <p:sp>
        <p:nvSpPr>
          <p:cNvPr id="203" name="Google Shape;203;p39"/>
          <p:cNvSpPr txBox="1"/>
          <p:nvPr/>
        </p:nvSpPr>
        <p:spPr>
          <a:xfrm>
            <a:off x="5813528" y="2974408"/>
            <a:ext cx="1564117"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 of Bytes Moved</a:t>
            </a:r>
            <a:endParaRPr sz="1100"/>
          </a:p>
        </p:txBody>
      </p:sp>
      <p:sp>
        <p:nvSpPr>
          <p:cNvPr id="204" name="Google Shape;204;p39"/>
          <p:cNvSpPr txBox="1"/>
          <p:nvPr/>
        </p:nvSpPr>
        <p:spPr>
          <a:xfrm>
            <a:off x="6845590" y="3737280"/>
            <a:ext cx="1564117" cy="99257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500">
                <a:solidFill>
                  <a:srgbClr val="000000"/>
                </a:solidFill>
                <a:latin typeface="Times New Roman"/>
                <a:ea typeface="Times New Roman"/>
                <a:cs typeface="Times New Roman"/>
                <a:sym typeface="Times New Roman"/>
              </a:rPr>
              <a:t>E.g.,</a:t>
            </a:r>
            <a:r>
              <a:rPr lang="en" sz="1500">
                <a:solidFill>
                  <a:srgbClr val="000000"/>
                </a:solidFill>
                <a:latin typeface="Times New Roman"/>
                <a:ea typeface="Times New Roman"/>
                <a:cs typeface="Times New Roman"/>
                <a:sym typeface="Times New Roman"/>
              </a:rPr>
              <a:t> Bytes/sec (Memory or Network Bandwidth)</a:t>
            </a:r>
            <a:endParaRPr sz="1100"/>
          </a:p>
        </p:txBody>
      </p:sp>
      <p:cxnSp>
        <p:nvCxnSpPr>
          <p:cNvPr id="205" name="Google Shape;205;p39"/>
          <p:cNvCxnSpPr>
            <a:stCxn id="203" idx="2"/>
            <a:endCxn id="204" idx="0"/>
          </p:cNvCxnSpPr>
          <p:nvPr/>
        </p:nvCxnSpPr>
        <p:spPr>
          <a:xfrm>
            <a:off x="6595587" y="3274490"/>
            <a:ext cx="1032000" cy="462900"/>
          </a:xfrm>
          <a:prstGeom prst="straightConnector1">
            <a:avLst/>
          </a:prstGeom>
          <a:noFill/>
          <a:ln cap="flat" cmpd="sng" w="19050">
            <a:solidFill>
              <a:schemeClr val="accent1"/>
            </a:solidFill>
            <a:prstDash val="dash"/>
            <a:miter lim="800000"/>
            <a:headEnd len="sm" w="sm" type="none"/>
            <a:tailEnd len="sm" w="sm" type="none"/>
          </a:ln>
        </p:spPr>
      </p:cxnSp>
      <p:sp>
        <p:nvSpPr>
          <p:cNvPr id="206" name="Google Shape;206;p39"/>
          <p:cNvSpPr txBox="1"/>
          <p:nvPr/>
        </p:nvSpPr>
        <p:spPr>
          <a:xfrm>
            <a:off x="7386302" y="1289332"/>
            <a:ext cx="1564117"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500">
                <a:solidFill>
                  <a:srgbClr val="000000"/>
                </a:solidFill>
                <a:latin typeface="Times New Roman"/>
                <a:ea typeface="Times New Roman"/>
                <a:cs typeface="Times New Roman"/>
                <a:sym typeface="Times New Roman"/>
              </a:rPr>
              <a:t>E.g., </a:t>
            </a:r>
            <a:r>
              <a:rPr lang="en" sz="1500">
                <a:solidFill>
                  <a:srgbClr val="000000"/>
                </a:solidFill>
                <a:latin typeface="Times New Roman"/>
                <a:ea typeface="Times New Roman"/>
                <a:cs typeface="Times New Roman"/>
                <a:sym typeface="Times New Roman"/>
              </a:rPr>
              <a:t>FLOPs/Sec</a:t>
            </a:r>
            <a:endParaRPr sz="1100"/>
          </a:p>
        </p:txBody>
      </p:sp>
      <p:cxnSp>
        <p:nvCxnSpPr>
          <p:cNvPr id="207" name="Google Shape;207;p39"/>
          <p:cNvCxnSpPr>
            <a:stCxn id="201" idx="0"/>
            <a:endCxn id="206" idx="1"/>
          </p:cNvCxnSpPr>
          <p:nvPr/>
        </p:nvCxnSpPr>
        <p:spPr>
          <a:xfrm flipH="1" rot="10800000">
            <a:off x="6627722" y="1439435"/>
            <a:ext cx="758700" cy="1066200"/>
          </a:xfrm>
          <a:prstGeom prst="straightConnector1">
            <a:avLst/>
          </a:prstGeom>
          <a:noFill/>
          <a:ln cap="flat" cmpd="sng" w="19050">
            <a:solidFill>
              <a:schemeClr val="accent1"/>
            </a:solidFill>
            <a:prstDash val="dash"/>
            <a:miter lim="800000"/>
            <a:headEnd len="sm" w="sm" type="none"/>
            <a:tailEnd len="sm" w="sm" type="none"/>
          </a:ln>
        </p:spPr>
      </p:cxnSp>
      <p:grpSp>
        <p:nvGrpSpPr>
          <p:cNvPr id="208" name="Google Shape;208;p39"/>
          <p:cNvGrpSpPr/>
          <p:nvPr/>
        </p:nvGrpSpPr>
        <p:grpSpPr>
          <a:xfrm>
            <a:off x="2993560" y="3174264"/>
            <a:ext cx="1805268" cy="1654585"/>
            <a:chOff x="3991413" y="4232352"/>
            <a:chExt cx="2407024" cy="2206113"/>
          </a:xfrm>
        </p:grpSpPr>
        <p:cxnSp>
          <p:nvCxnSpPr>
            <p:cNvPr id="209" name="Google Shape;209;p39"/>
            <p:cNvCxnSpPr/>
            <p:nvPr/>
          </p:nvCxnSpPr>
          <p:spPr>
            <a:xfrm rot="10800000">
              <a:off x="6387353" y="4232352"/>
              <a:ext cx="0" cy="2206113"/>
            </a:xfrm>
            <a:prstGeom prst="straightConnector1">
              <a:avLst/>
            </a:prstGeom>
            <a:noFill/>
            <a:ln cap="flat" cmpd="sng" w="19050">
              <a:solidFill>
                <a:schemeClr val="accent1"/>
              </a:solidFill>
              <a:prstDash val="dash"/>
              <a:miter lim="800000"/>
              <a:headEnd len="sm" w="sm" type="none"/>
              <a:tailEnd len="med" w="med" type="triangle"/>
            </a:ln>
          </p:spPr>
        </p:cxnSp>
        <p:cxnSp>
          <p:nvCxnSpPr>
            <p:cNvPr id="210" name="Google Shape;210;p39"/>
            <p:cNvCxnSpPr/>
            <p:nvPr/>
          </p:nvCxnSpPr>
          <p:spPr>
            <a:xfrm>
              <a:off x="3991413" y="6438465"/>
              <a:ext cx="2407024" cy="0"/>
            </a:xfrm>
            <a:prstGeom prst="straightConnector1">
              <a:avLst/>
            </a:prstGeom>
            <a:noFill/>
            <a:ln cap="flat" cmpd="sng" w="19050">
              <a:solidFill>
                <a:schemeClr val="accent1"/>
              </a:solidFill>
              <a:prstDash val="dash"/>
              <a:miter lim="800000"/>
              <a:headEnd len="sm" w="sm" type="none"/>
              <a:tailEnd len="sm" w="sm"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The Roofline Model – Computational Ceilings</a:t>
            </a:r>
            <a:endParaRPr/>
          </a:p>
        </p:txBody>
      </p:sp>
      <p:pic>
        <p:nvPicPr>
          <p:cNvPr descr="A graph with a line&#10;&#10;AI-generated content may be incorrect." id="217" name="Google Shape;217;p40"/>
          <p:cNvPicPr preferRelativeResize="0"/>
          <p:nvPr/>
        </p:nvPicPr>
        <p:blipFill rotWithShape="1">
          <a:blip r:embed="rId3">
            <a:alphaModFix/>
          </a:blip>
          <a:srcRect b="0" l="0" r="0" t="0"/>
          <a:stretch/>
        </p:blipFill>
        <p:spPr>
          <a:xfrm>
            <a:off x="311700" y="949145"/>
            <a:ext cx="3389924" cy="3972334"/>
          </a:xfrm>
          <a:prstGeom prst="rect">
            <a:avLst/>
          </a:prstGeom>
          <a:noFill/>
          <a:ln>
            <a:noFill/>
          </a:ln>
        </p:spPr>
      </p:pic>
      <p:sp>
        <p:nvSpPr>
          <p:cNvPr id="218" name="Google Shape;218;p40"/>
          <p:cNvSpPr txBox="1"/>
          <p:nvPr/>
        </p:nvSpPr>
        <p:spPr>
          <a:xfrm>
            <a:off x="457200" y="4889350"/>
            <a:ext cx="3504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00000"/>
                </a:solidFill>
                <a:latin typeface="Times New Roman"/>
                <a:ea typeface="Times New Roman"/>
                <a:cs typeface="Times New Roman"/>
                <a:sym typeface="Times New Roman"/>
              </a:rPr>
              <a:t>Roofline Model with Ceilings for Opteron X2</a:t>
            </a:r>
            <a:endParaRPr sz="1100"/>
          </a:p>
        </p:txBody>
      </p:sp>
      <p:grpSp>
        <p:nvGrpSpPr>
          <p:cNvPr id="219" name="Google Shape;219;p40"/>
          <p:cNvGrpSpPr/>
          <p:nvPr/>
        </p:nvGrpSpPr>
        <p:grpSpPr>
          <a:xfrm>
            <a:off x="3610509" y="2246132"/>
            <a:ext cx="1995019" cy="346249"/>
            <a:chOff x="4814012" y="2994842"/>
            <a:chExt cx="2660025" cy="461665"/>
          </a:xfrm>
        </p:grpSpPr>
        <p:cxnSp>
          <p:nvCxnSpPr>
            <p:cNvPr id="220" name="Google Shape;220;p40"/>
            <p:cNvCxnSpPr/>
            <p:nvPr/>
          </p:nvCxnSpPr>
          <p:spPr>
            <a:xfrm>
              <a:off x="4814012" y="3190171"/>
              <a:ext cx="1281988" cy="0"/>
            </a:xfrm>
            <a:prstGeom prst="straightConnector1">
              <a:avLst/>
            </a:prstGeom>
            <a:noFill/>
            <a:ln cap="flat" cmpd="sng" w="19050">
              <a:solidFill>
                <a:schemeClr val="accent1"/>
              </a:solidFill>
              <a:prstDash val="dash"/>
              <a:miter lim="800000"/>
              <a:headEnd len="sm" w="sm" type="none"/>
              <a:tailEnd len="med" w="med" type="triangle"/>
            </a:ln>
          </p:spPr>
        </p:cxnSp>
        <p:sp>
          <p:nvSpPr>
            <p:cNvPr id="221" name="Google Shape;221;p40"/>
            <p:cNvSpPr txBox="1"/>
            <p:nvPr/>
          </p:nvSpPr>
          <p:spPr>
            <a:xfrm>
              <a:off x="6192049" y="2994842"/>
              <a:ext cx="1281988"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Roofline</a:t>
              </a:r>
              <a:endParaRPr sz="1100"/>
            </a:p>
          </p:txBody>
        </p:sp>
      </p:grpSp>
      <p:grpSp>
        <p:nvGrpSpPr>
          <p:cNvPr id="222" name="Google Shape;222;p40"/>
          <p:cNvGrpSpPr/>
          <p:nvPr/>
        </p:nvGrpSpPr>
        <p:grpSpPr>
          <a:xfrm>
            <a:off x="3610509" y="2623353"/>
            <a:ext cx="2165213" cy="346249"/>
            <a:chOff x="4814012" y="3497804"/>
            <a:chExt cx="2886951" cy="461665"/>
          </a:xfrm>
        </p:grpSpPr>
        <p:sp>
          <p:nvSpPr>
            <p:cNvPr id="223" name="Google Shape;223;p40"/>
            <p:cNvSpPr txBox="1"/>
            <p:nvPr/>
          </p:nvSpPr>
          <p:spPr>
            <a:xfrm>
              <a:off x="6192049" y="3497804"/>
              <a:ext cx="1508914"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Ceiling #2</a:t>
              </a:r>
              <a:endParaRPr sz="1100"/>
            </a:p>
          </p:txBody>
        </p:sp>
        <p:cxnSp>
          <p:nvCxnSpPr>
            <p:cNvPr id="224" name="Google Shape;224;p40"/>
            <p:cNvCxnSpPr/>
            <p:nvPr/>
          </p:nvCxnSpPr>
          <p:spPr>
            <a:xfrm>
              <a:off x="4814012" y="3770840"/>
              <a:ext cx="1281988" cy="0"/>
            </a:xfrm>
            <a:prstGeom prst="straightConnector1">
              <a:avLst/>
            </a:prstGeom>
            <a:noFill/>
            <a:ln cap="flat" cmpd="sng" w="19050">
              <a:solidFill>
                <a:schemeClr val="accent1"/>
              </a:solidFill>
              <a:prstDash val="dash"/>
              <a:miter lim="800000"/>
              <a:headEnd len="sm" w="sm" type="none"/>
              <a:tailEnd len="med" w="med" type="triangle"/>
            </a:ln>
          </p:spPr>
        </p:cxnSp>
      </p:grpSp>
      <p:sp>
        <p:nvSpPr>
          <p:cNvPr id="225" name="Google Shape;225;p40"/>
          <p:cNvSpPr/>
          <p:nvPr/>
        </p:nvSpPr>
        <p:spPr>
          <a:xfrm>
            <a:off x="1971005" y="1188413"/>
            <a:ext cx="1618870" cy="3414035"/>
          </a:xfrm>
          <a:prstGeom prst="rect">
            <a:avLst/>
          </a:prstGeom>
          <a:solidFill>
            <a:srgbClr val="FFF3CD">
              <a:alpha val="24705"/>
            </a:srgb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Compute </a:t>
            </a:r>
            <a:endParaRPr sz="1100"/>
          </a:p>
          <a:p>
            <a:pPr indent="0" lvl="0" marL="0" marR="0" rtl="0" algn="ctr">
              <a:spcBef>
                <a:spcPts val="0"/>
              </a:spcBef>
              <a:spcAft>
                <a:spcPts val="0"/>
              </a:spcAft>
              <a:buNone/>
            </a:pPr>
            <a:r>
              <a:rPr b="1" lang="en" sz="1400">
                <a:solidFill>
                  <a:schemeClr val="dk1"/>
                </a:solidFill>
                <a:latin typeface="Arial"/>
                <a:ea typeface="Arial"/>
                <a:cs typeface="Arial"/>
                <a:sym typeface="Arial"/>
              </a:rPr>
              <a:t>Bound</a:t>
            </a:r>
            <a:endParaRPr sz="1100"/>
          </a:p>
        </p:txBody>
      </p:sp>
      <p:sp>
        <p:nvSpPr>
          <p:cNvPr id="226" name="Google Shape;226;p40"/>
          <p:cNvSpPr/>
          <p:nvPr/>
        </p:nvSpPr>
        <p:spPr>
          <a:xfrm>
            <a:off x="729366" y="1188413"/>
            <a:ext cx="1214881" cy="3414035"/>
          </a:xfrm>
          <a:prstGeom prst="rect">
            <a:avLst/>
          </a:prstGeom>
          <a:solidFill>
            <a:srgbClr val="D5E8D4">
              <a:alpha val="24705"/>
            </a:srgb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Memory</a:t>
            </a:r>
            <a:endParaRPr sz="1100"/>
          </a:p>
          <a:p>
            <a:pPr indent="0" lvl="0" marL="0" marR="0" rtl="0" algn="ctr">
              <a:spcBef>
                <a:spcPts val="0"/>
              </a:spcBef>
              <a:spcAft>
                <a:spcPts val="0"/>
              </a:spcAft>
              <a:buNone/>
            </a:pPr>
            <a:r>
              <a:rPr b="1" lang="en" sz="1400">
                <a:solidFill>
                  <a:schemeClr val="dk1"/>
                </a:solidFill>
                <a:latin typeface="Arial"/>
                <a:ea typeface="Arial"/>
                <a:cs typeface="Arial"/>
                <a:sym typeface="Arial"/>
              </a:rPr>
              <a:t>Bound</a:t>
            </a:r>
            <a:endParaRPr sz="1100"/>
          </a:p>
        </p:txBody>
      </p:sp>
      <p:grpSp>
        <p:nvGrpSpPr>
          <p:cNvPr id="227" name="Google Shape;227;p40"/>
          <p:cNvGrpSpPr/>
          <p:nvPr/>
        </p:nvGrpSpPr>
        <p:grpSpPr>
          <a:xfrm>
            <a:off x="3596272" y="3497343"/>
            <a:ext cx="2165213" cy="346249"/>
            <a:chOff x="4795029" y="4663124"/>
            <a:chExt cx="2886951" cy="461665"/>
          </a:xfrm>
        </p:grpSpPr>
        <p:sp>
          <p:nvSpPr>
            <p:cNvPr id="228" name="Google Shape;228;p40"/>
            <p:cNvSpPr txBox="1"/>
            <p:nvPr/>
          </p:nvSpPr>
          <p:spPr>
            <a:xfrm>
              <a:off x="6173066" y="4663124"/>
              <a:ext cx="1508914"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Ceiling #1</a:t>
              </a:r>
              <a:endParaRPr sz="1100"/>
            </a:p>
          </p:txBody>
        </p:sp>
        <p:cxnSp>
          <p:nvCxnSpPr>
            <p:cNvPr id="229" name="Google Shape;229;p40"/>
            <p:cNvCxnSpPr/>
            <p:nvPr/>
          </p:nvCxnSpPr>
          <p:spPr>
            <a:xfrm>
              <a:off x="4795029" y="4936160"/>
              <a:ext cx="1281988" cy="0"/>
            </a:xfrm>
            <a:prstGeom prst="straightConnector1">
              <a:avLst/>
            </a:prstGeom>
            <a:noFill/>
            <a:ln cap="flat" cmpd="sng" w="19050">
              <a:solidFill>
                <a:schemeClr val="accent1"/>
              </a:solidFill>
              <a:prstDash val="dash"/>
              <a:miter lim="800000"/>
              <a:headEnd len="sm" w="sm" type="none"/>
              <a:tailEnd len="med" w="med" type="triangle"/>
            </a:ln>
          </p:spPr>
        </p:cxnSp>
      </p:grpSp>
      <p:grpSp>
        <p:nvGrpSpPr>
          <p:cNvPr id="230" name="Google Shape;230;p40"/>
          <p:cNvGrpSpPr/>
          <p:nvPr/>
        </p:nvGrpSpPr>
        <p:grpSpPr>
          <a:xfrm>
            <a:off x="5925741" y="2190578"/>
            <a:ext cx="2153840" cy="1872190"/>
            <a:chOff x="7900988" y="2920771"/>
            <a:chExt cx="2871786" cy="2496254"/>
          </a:xfrm>
        </p:grpSpPr>
        <p:sp>
          <p:nvSpPr>
            <p:cNvPr id="231" name="Google Shape;231;p40"/>
            <p:cNvSpPr/>
            <p:nvPr/>
          </p:nvSpPr>
          <p:spPr>
            <a:xfrm>
              <a:off x="7900988" y="2920771"/>
              <a:ext cx="701013" cy="2496254"/>
            </a:xfrm>
            <a:prstGeom prst="upArrow">
              <a:avLst>
                <a:gd fmla="val 50000" name="adj1"/>
                <a:gd fmla="val 50000" name="adj2"/>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2" name="Google Shape;232;p40"/>
            <p:cNvSpPr txBox="1"/>
            <p:nvPr/>
          </p:nvSpPr>
          <p:spPr>
            <a:xfrm>
              <a:off x="8632249" y="3125922"/>
              <a:ext cx="2140525" cy="15696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rgbClr val="000000"/>
                  </a:solidFill>
                  <a:latin typeface="Times New Roman"/>
                  <a:ea typeface="Times New Roman"/>
                  <a:cs typeface="Times New Roman"/>
                  <a:sym typeface="Times New Roman"/>
                </a:rPr>
                <a:t>Compute optimizations:</a:t>
              </a:r>
              <a:endParaRPr sz="1100"/>
            </a:p>
            <a:p>
              <a:pPr indent="0" lvl="0" marL="0" marR="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4"/>
                </a:rPr>
                <a:t>Multithreading</a:t>
              </a:r>
              <a:r>
                <a:rPr lang="en" sz="1800">
                  <a:solidFill>
                    <a:srgbClr val="000000"/>
                  </a:solidFill>
                  <a:latin typeface="Times New Roman"/>
                  <a:ea typeface="Times New Roman"/>
                  <a:cs typeface="Times New Roman"/>
                  <a:sym typeface="Times New Roman"/>
                </a:rPr>
                <a:t>,</a:t>
              </a:r>
              <a:endParaRPr sz="1100"/>
            </a:p>
            <a:p>
              <a:pPr indent="0" lvl="0" marL="0" marR="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5"/>
                </a:rPr>
                <a:t>ILP</a:t>
              </a:r>
              <a:r>
                <a:rPr lang="en" sz="1800">
                  <a:solidFill>
                    <a:srgbClr val="000000"/>
                  </a:solidFill>
                  <a:latin typeface="Times New Roman"/>
                  <a:ea typeface="Times New Roman"/>
                  <a:cs typeface="Times New Roman"/>
                  <a:sym typeface="Times New Roman"/>
                </a:rPr>
                <a:t>, </a:t>
              </a:r>
              <a:r>
                <a:rPr lang="en" sz="1800" u="sng">
                  <a:solidFill>
                    <a:schemeClr val="hlink"/>
                  </a:solidFill>
                  <a:latin typeface="Times New Roman"/>
                  <a:ea typeface="Times New Roman"/>
                  <a:cs typeface="Times New Roman"/>
                  <a:sym typeface="Times New Roman"/>
                  <a:hlinkClick r:id="rId6"/>
                </a:rPr>
                <a:t>SIMD</a:t>
              </a:r>
              <a:endParaRPr sz="1800">
                <a:solidFill>
                  <a:srgbClr val="00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The Roofline Model – Bandwidth Ceilings</a:t>
            </a:r>
            <a:endParaRPr/>
          </a:p>
        </p:txBody>
      </p:sp>
      <p:pic>
        <p:nvPicPr>
          <p:cNvPr descr="A graph with a line&#10;&#10;AI-generated content may be incorrect." id="239" name="Google Shape;239;p41"/>
          <p:cNvPicPr preferRelativeResize="0"/>
          <p:nvPr/>
        </p:nvPicPr>
        <p:blipFill rotWithShape="1">
          <a:blip r:embed="rId3">
            <a:alphaModFix/>
          </a:blip>
          <a:srcRect b="0" l="0" r="0" t="0"/>
          <a:stretch/>
        </p:blipFill>
        <p:spPr>
          <a:xfrm>
            <a:off x="310747" y="959861"/>
            <a:ext cx="3416040" cy="3970782"/>
          </a:xfrm>
          <a:prstGeom prst="rect">
            <a:avLst/>
          </a:prstGeom>
          <a:noFill/>
          <a:ln>
            <a:noFill/>
          </a:ln>
        </p:spPr>
      </p:pic>
      <p:grpSp>
        <p:nvGrpSpPr>
          <p:cNvPr id="240" name="Google Shape;240;p41"/>
          <p:cNvGrpSpPr/>
          <p:nvPr/>
        </p:nvGrpSpPr>
        <p:grpSpPr>
          <a:xfrm>
            <a:off x="1896024" y="2352445"/>
            <a:ext cx="4801241" cy="346249"/>
            <a:chOff x="4814012" y="2994842"/>
            <a:chExt cx="3016887" cy="461665"/>
          </a:xfrm>
        </p:grpSpPr>
        <p:cxnSp>
          <p:nvCxnSpPr>
            <p:cNvPr id="241" name="Google Shape;241;p41"/>
            <p:cNvCxnSpPr/>
            <p:nvPr/>
          </p:nvCxnSpPr>
          <p:spPr>
            <a:xfrm>
              <a:off x="4814012" y="3190171"/>
              <a:ext cx="1672519" cy="0"/>
            </a:xfrm>
            <a:prstGeom prst="straightConnector1">
              <a:avLst/>
            </a:prstGeom>
            <a:noFill/>
            <a:ln cap="flat" cmpd="sng" w="19050">
              <a:solidFill>
                <a:schemeClr val="accent1"/>
              </a:solidFill>
              <a:prstDash val="dash"/>
              <a:miter lim="800000"/>
              <a:headEnd len="sm" w="sm" type="none"/>
              <a:tailEnd len="med" w="med" type="triangle"/>
            </a:ln>
          </p:spPr>
        </p:cxnSp>
        <p:sp>
          <p:nvSpPr>
            <p:cNvPr id="242" name="Google Shape;242;p41"/>
            <p:cNvSpPr txBox="1"/>
            <p:nvPr/>
          </p:nvSpPr>
          <p:spPr>
            <a:xfrm>
              <a:off x="6548911" y="2994842"/>
              <a:ext cx="1281988"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Roofline</a:t>
              </a:r>
              <a:endParaRPr sz="1100"/>
            </a:p>
          </p:txBody>
        </p:sp>
      </p:grpSp>
      <p:grpSp>
        <p:nvGrpSpPr>
          <p:cNvPr id="243" name="Google Shape;243;p41"/>
          <p:cNvGrpSpPr/>
          <p:nvPr/>
        </p:nvGrpSpPr>
        <p:grpSpPr>
          <a:xfrm>
            <a:off x="1564481" y="2924894"/>
            <a:ext cx="4197004" cy="346249"/>
            <a:chOff x="2104958" y="3497804"/>
            <a:chExt cx="5596005" cy="461665"/>
          </a:xfrm>
        </p:grpSpPr>
        <p:sp>
          <p:nvSpPr>
            <p:cNvPr id="244" name="Google Shape;244;p41"/>
            <p:cNvSpPr txBox="1"/>
            <p:nvPr/>
          </p:nvSpPr>
          <p:spPr>
            <a:xfrm>
              <a:off x="6192049" y="3497804"/>
              <a:ext cx="1508914"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Ceiling #2</a:t>
              </a:r>
              <a:endParaRPr sz="1100"/>
            </a:p>
          </p:txBody>
        </p:sp>
        <p:cxnSp>
          <p:nvCxnSpPr>
            <p:cNvPr id="245" name="Google Shape;245;p41"/>
            <p:cNvCxnSpPr/>
            <p:nvPr/>
          </p:nvCxnSpPr>
          <p:spPr>
            <a:xfrm>
              <a:off x="2104958" y="3770840"/>
              <a:ext cx="3991042" cy="0"/>
            </a:xfrm>
            <a:prstGeom prst="straightConnector1">
              <a:avLst/>
            </a:prstGeom>
            <a:noFill/>
            <a:ln cap="flat" cmpd="sng" w="19050">
              <a:solidFill>
                <a:schemeClr val="accent1"/>
              </a:solidFill>
              <a:prstDash val="dash"/>
              <a:miter lim="800000"/>
              <a:headEnd len="sm" w="sm" type="none"/>
              <a:tailEnd len="med" w="med" type="triangle"/>
            </a:ln>
          </p:spPr>
        </p:cxnSp>
      </p:grpSp>
      <p:grpSp>
        <p:nvGrpSpPr>
          <p:cNvPr id="246" name="Google Shape;246;p41"/>
          <p:cNvGrpSpPr/>
          <p:nvPr/>
        </p:nvGrpSpPr>
        <p:grpSpPr>
          <a:xfrm>
            <a:off x="1564481" y="3497343"/>
            <a:ext cx="4197004" cy="346249"/>
            <a:chOff x="2085975" y="4663124"/>
            <a:chExt cx="5596005" cy="461665"/>
          </a:xfrm>
        </p:grpSpPr>
        <p:sp>
          <p:nvSpPr>
            <p:cNvPr id="247" name="Google Shape;247;p41"/>
            <p:cNvSpPr txBox="1"/>
            <p:nvPr/>
          </p:nvSpPr>
          <p:spPr>
            <a:xfrm>
              <a:off x="6173066" y="4663124"/>
              <a:ext cx="1508914"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Ceiling #1</a:t>
              </a:r>
              <a:endParaRPr sz="1100"/>
            </a:p>
          </p:txBody>
        </p:sp>
        <p:cxnSp>
          <p:nvCxnSpPr>
            <p:cNvPr id="248" name="Google Shape;248;p41"/>
            <p:cNvCxnSpPr/>
            <p:nvPr/>
          </p:nvCxnSpPr>
          <p:spPr>
            <a:xfrm>
              <a:off x="2085975" y="4936160"/>
              <a:ext cx="3991042" cy="0"/>
            </a:xfrm>
            <a:prstGeom prst="straightConnector1">
              <a:avLst/>
            </a:prstGeom>
            <a:noFill/>
            <a:ln cap="flat" cmpd="sng" w="19050">
              <a:solidFill>
                <a:schemeClr val="accent1"/>
              </a:solidFill>
              <a:prstDash val="dash"/>
              <a:miter lim="800000"/>
              <a:headEnd len="sm" w="sm" type="none"/>
              <a:tailEnd len="med" w="med" type="triangle"/>
            </a:ln>
          </p:spPr>
        </p:cxnSp>
      </p:grpSp>
      <p:grpSp>
        <p:nvGrpSpPr>
          <p:cNvPr id="249" name="Google Shape;249;p41"/>
          <p:cNvGrpSpPr/>
          <p:nvPr/>
        </p:nvGrpSpPr>
        <p:grpSpPr>
          <a:xfrm>
            <a:off x="5925741" y="2190578"/>
            <a:ext cx="2906559" cy="2162105"/>
            <a:chOff x="7900988" y="2920771"/>
            <a:chExt cx="3875412" cy="2882807"/>
          </a:xfrm>
        </p:grpSpPr>
        <p:sp>
          <p:nvSpPr>
            <p:cNvPr id="250" name="Google Shape;250;p41"/>
            <p:cNvSpPr/>
            <p:nvPr/>
          </p:nvSpPr>
          <p:spPr>
            <a:xfrm>
              <a:off x="7900988" y="2920771"/>
              <a:ext cx="701013" cy="2496254"/>
            </a:xfrm>
            <a:prstGeom prst="upArrow">
              <a:avLst>
                <a:gd fmla="val 50000" name="adj1"/>
                <a:gd fmla="val 50000" name="adj2"/>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51" name="Google Shape;251;p41"/>
            <p:cNvSpPr txBox="1"/>
            <p:nvPr/>
          </p:nvSpPr>
          <p:spPr>
            <a:xfrm>
              <a:off x="8632249" y="3125922"/>
              <a:ext cx="3144151" cy="267765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rgbClr val="000000"/>
                  </a:solidFill>
                  <a:latin typeface="Times New Roman"/>
                  <a:ea typeface="Times New Roman"/>
                  <a:cs typeface="Times New Roman"/>
                  <a:sym typeface="Times New Roman"/>
                </a:rPr>
                <a:t>Memory optimizations:</a:t>
              </a:r>
              <a:endParaRPr sz="1100"/>
            </a:p>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Stride accesses (</a:t>
              </a:r>
              <a:r>
                <a:rPr lang="en" sz="1800" u="sng">
                  <a:solidFill>
                    <a:schemeClr val="hlink"/>
                  </a:solidFill>
                  <a:latin typeface="Times New Roman"/>
                  <a:ea typeface="Times New Roman"/>
                  <a:cs typeface="Times New Roman"/>
                  <a:sym typeface="Times New Roman"/>
                  <a:hlinkClick r:id="rId4"/>
                </a:rPr>
                <a:t>HW prefetching</a:t>
              </a:r>
              <a:r>
                <a:rPr lang="en" sz="1800">
                  <a:solidFill>
                    <a:srgbClr val="000000"/>
                  </a:solidFill>
                  <a:latin typeface="Times New Roman"/>
                  <a:ea typeface="Times New Roman"/>
                  <a:cs typeface="Times New Roman"/>
                  <a:sym typeface="Times New Roman"/>
                </a:rPr>
                <a:t>),</a:t>
              </a:r>
              <a:endParaRPr sz="1100"/>
            </a:p>
            <a:p>
              <a:pPr indent="0" lvl="0" marL="0" marR="0" rtl="0" algn="l">
                <a:spcBef>
                  <a:spcPts val="0"/>
                </a:spcBef>
                <a:spcAft>
                  <a:spcPts val="0"/>
                </a:spcAft>
                <a:buNone/>
              </a:pPr>
              <a:r>
                <a:rPr lang="en" sz="1800">
                  <a:solidFill>
                    <a:srgbClr val="000000"/>
                  </a:solidFill>
                  <a:latin typeface="Times New Roman"/>
                  <a:ea typeface="Times New Roman"/>
                  <a:cs typeface="Times New Roman"/>
                  <a:sym typeface="Times New Roman"/>
                </a:rPr>
                <a:t>Memory affinity (</a:t>
              </a:r>
              <a:r>
                <a:rPr lang="en" sz="1800" u="sng">
                  <a:solidFill>
                    <a:schemeClr val="hlink"/>
                  </a:solidFill>
                  <a:latin typeface="Times New Roman"/>
                  <a:ea typeface="Times New Roman"/>
                  <a:cs typeface="Times New Roman"/>
                  <a:sym typeface="Times New Roman"/>
                  <a:hlinkClick r:id="rId5"/>
                </a:rPr>
                <a:t>NUMA effect</a:t>
              </a:r>
              <a:r>
                <a:rPr lang="en" sz="1800">
                  <a:solidFill>
                    <a:srgbClr val="000000"/>
                  </a:solidFill>
                  <a:latin typeface="Times New Roman"/>
                  <a:ea typeface="Times New Roman"/>
                  <a:cs typeface="Times New Roman"/>
                  <a:sym typeface="Times New Roman"/>
                </a:rPr>
                <a:t>), </a:t>
              </a:r>
              <a:r>
                <a:rPr lang="en" sz="1800" u="sng">
                  <a:solidFill>
                    <a:schemeClr val="hlink"/>
                  </a:solidFill>
                  <a:latin typeface="Times New Roman"/>
                  <a:ea typeface="Times New Roman"/>
                  <a:cs typeface="Times New Roman"/>
                  <a:sym typeface="Times New Roman"/>
                  <a:hlinkClick r:id="rId6"/>
                </a:rPr>
                <a:t>Software prefetching</a:t>
              </a:r>
              <a:endParaRPr sz="1800">
                <a:solidFill>
                  <a:srgbClr val="000000"/>
                </a:solidFill>
                <a:latin typeface="Times New Roman"/>
                <a:ea typeface="Times New Roman"/>
                <a:cs typeface="Times New Roman"/>
                <a:sym typeface="Times New Roman"/>
              </a:endParaRPr>
            </a:p>
          </p:txBody>
        </p:sp>
      </p:grpSp>
      <p:sp>
        <p:nvSpPr>
          <p:cNvPr id="252" name="Google Shape;252;p41"/>
          <p:cNvSpPr/>
          <p:nvPr/>
        </p:nvSpPr>
        <p:spPr>
          <a:xfrm>
            <a:off x="1971005" y="1188413"/>
            <a:ext cx="1618870" cy="3414035"/>
          </a:xfrm>
          <a:prstGeom prst="rect">
            <a:avLst/>
          </a:prstGeom>
          <a:solidFill>
            <a:srgbClr val="FFF3CD">
              <a:alpha val="24705"/>
            </a:srgb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Compute </a:t>
            </a:r>
            <a:endParaRPr sz="1100"/>
          </a:p>
          <a:p>
            <a:pPr indent="0" lvl="0" marL="0" marR="0" rtl="0" algn="ctr">
              <a:spcBef>
                <a:spcPts val="0"/>
              </a:spcBef>
              <a:spcAft>
                <a:spcPts val="0"/>
              </a:spcAft>
              <a:buNone/>
            </a:pPr>
            <a:r>
              <a:rPr b="1" lang="en" sz="1400">
                <a:solidFill>
                  <a:schemeClr val="dk1"/>
                </a:solidFill>
                <a:latin typeface="Arial"/>
                <a:ea typeface="Arial"/>
                <a:cs typeface="Arial"/>
                <a:sym typeface="Arial"/>
              </a:rPr>
              <a:t>Bound</a:t>
            </a:r>
            <a:endParaRPr sz="1100"/>
          </a:p>
        </p:txBody>
      </p:sp>
      <p:sp>
        <p:nvSpPr>
          <p:cNvPr id="253" name="Google Shape;253;p41"/>
          <p:cNvSpPr/>
          <p:nvPr/>
        </p:nvSpPr>
        <p:spPr>
          <a:xfrm>
            <a:off x="729366" y="1188413"/>
            <a:ext cx="1214881" cy="3414035"/>
          </a:xfrm>
          <a:prstGeom prst="rect">
            <a:avLst/>
          </a:prstGeom>
          <a:solidFill>
            <a:srgbClr val="D5E8D4">
              <a:alpha val="24705"/>
            </a:srgb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Memory</a:t>
            </a:r>
            <a:endParaRPr sz="1100"/>
          </a:p>
          <a:p>
            <a:pPr indent="0" lvl="0" marL="0" marR="0" rtl="0" algn="ctr">
              <a:spcBef>
                <a:spcPts val="0"/>
              </a:spcBef>
              <a:spcAft>
                <a:spcPts val="0"/>
              </a:spcAft>
              <a:buNone/>
            </a:pPr>
            <a:r>
              <a:rPr b="1" lang="en" sz="1400">
                <a:solidFill>
                  <a:schemeClr val="dk1"/>
                </a:solidFill>
                <a:latin typeface="Arial"/>
                <a:ea typeface="Arial"/>
                <a:cs typeface="Arial"/>
                <a:sym typeface="Arial"/>
              </a:rPr>
              <a:t>Bound</a:t>
            </a:r>
            <a:endParaRPr sz="1100"/>
          </a:p>
        </p:txBody>
      </p:sp>
      <p:sp>
        <p:nvSpPr>
          <p:cNvPr id="254" name="Google Shape;254;p41"/>
          <p:cNvSpPr txBox="1"/>
          <p:nvPr/>
        </p:nvSpPr>
        <p:spPr>
          <a:xfrm>
            <a:off x="457200" y="4889350"/>
            <a:ext cx="3416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00000"/>
                </a:solidFill>
                <a:latin typeface="Times New Roman"/>
                <a:ea typeface="Times New Roman"/>
                <a:cs typeface="Times New Roman"/>
                <a:sym typeface="Times New Roman"/>
              </a:rPr>
              <a:t>Roofline Model with Ceilings for Opteron X2</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ph type="title"/>
          </p:nvPr>
        </p:nvSpPr>
        <p:spPr>
          <a:xfrm>
            <a:off x="331247" y="273802"/>
            <a:ext cx="5012278" cy="748830"/>
          </a:xfrm>
          <a:prstGeom prst="rect">
            <a:avLst/>
          </a:prstGeom>
          <a:noFill/>
          <a:ln>
            <a:noFill/>
          </a:ln>
        </p:spPr>
        <p:txBody>
          <a:bodyPr anchorCtr="0" anchor="t" bIns="68575" lIns="68575" spcFirstLastPara="1" rIns="68575" wrap="square" tIns="68575">
            <a:normAutofit/>
          </a:bodyPr>
          <a:lstStyle/>
          <a:p>
            <a:pPr indent="0" lvl="0" marL="0" rtl="0" algn="l">
              <a:lnSpc>
                <a:spcPct val="90000"/>
              </a:lnSpc>
              <a:spcBef>
                <a:spcPts val="0"/>
              </a:spcBef>
              <a:spcAft>
                <a:spcPts val="0"/>
              </a:spcAft>
              <a:buClr>
                <a:schemeClr val="dk1"/>
              </a:buClr>
              <a:buSzPts val="2100"/>
              <a:buFont typeface="Arial"/>
              <a:buNone/>
            </a:pPr>
            <a:r>
              <a:rPr lang="en"/>
              <a:t>NUMA Effect with GPUs</a:t>
            </a:r>
            <a:endParaRPr/>
          </a:p>
        </p:txBody>
      </p:sp>
      <p:sp>
        <p:nvSpPr>
          <p:cNvPr id="261" name="Google Shape;261;p42"/>
          <p:cNvSpPr txBox="1"/>
          <p:nvPr/>
        </p:nvSpPr>
        <p:spPr>
          <a:xfrm>
            <a:off x="110312" y="4731199"/>
            <a:ext cx="892337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BFBFBF"/>
                </a:solidFill>
                <a:latin typeface="Arial"/>
                <a:ea typeface="Arial"/>
                <a:cs typeface="Arial"/>
                <a:sym typeface="Arial"/>
              </a:rPr>
              <a:t>https://images.nvidia.com/aem-dam/en-zz/Solutions/data-center/nvidia-ampere-architecture-whitepaper.pdf</a:t>
            </a:r>
            <a:endParaRPr sz="1100"/>
          </a:p>
        </p:txBody>
      </p:sp>
      <p:pic>
        <p:nvPicPr>
          <p:cNvPr id="262" name="Google Shape;262;p42"/>
          <p:cNvPicPr preferRelativeResize="0"/>
          <p:nvPr/>
        </p:nvPicPr>
        <p:blipFill rotWithShape="1">
          <a:blip r:embed="rId3">
            <a:alphaModFix/>
          </a:blip>
          <a:srcRect b="0" l="0" r="0" t="0"/>
          <a:stretch/>
        </p:blipFill>
        <p:spPr>
          <a:xfrm>
            <a:off x="934771" y="1452768"/>
            <a:ext cx="6987654" cy="3304593"/>
          </a:xfrm>
          <a:prstGeom prst="rect">
            <a:avLst/>
          </a:prstGeom>
          <a:noFill/>
          <a:ln>
            <a:noFill/>
          </a:ln>
        </p:spPr>
      </p:pic>
      <p:sp>
        <p:nvSpPr>
          <p:cNvPr id="263" name="Google Shape;263;p42"/>
          <p:cNvSpPr/>
          <p:nvPr/>
        </p:nvSpPr>
        <p:spPr>
          <a:xfrm>
            <a:off x="1381158" y="959792"/>
            <a:ext cx="6236074" cy="376517"/>
          </a:xfrm>
          <a:prstGeom prst="roundRect">
            <a:avLst>
              <a:gd fmla="val 16667" name="adj"/>
            </a:avLst>
          </a:prstGeom>
          <a:solidFill>
            <a:srgbClr val="43AFFF"/>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2"/>
                </a:solidFill>
                <a:latin typeface="Arial"/>
                <a:ea typeface="Arial"/>
                <a:cs typeface="Arial"/>
                <a:sym typeface="Arial"/>
              </a:rPr>
              <a:t>Data Center Network</a:t>
            </a:r>
            <a:endParaRPr sz="1400">
              <a:solidFill>
                <a:schemeClr val="lt2"/>
              </a:solidFill>
              <a:latin typeface="Arial"/>
              <a:ea typeface="Arial"/>
              <a:cs typeface="Arial"/>
              <a:sym typeface="Arial"/>
            </a:endParaRPr>
          </a:p>
        </p:txBody>
      </p:sp>
      <p:cxnSp>
        <p:nvCxnSpPr>
          <p:cNvPr id="264" name="Google Shape;264;p42"/>
          <p:cNvCxnSpPr/>
          <p:nvPr/>
        </p:nvCxnSpPr>
        <p:spPr>
          <a:xfrm flipH="1" rot="10800000">
            <a:off x="1287556" y="1336309"/>
            <a:ext cx="289112" cy="1052232"/>
          </a:xfrm>
          <a:prstGeom prst="straightConnector1">
            <a:avLst/>
          </a:prstGeom>
          <a:noFill/>
          <a:ln cap="flat" cmpd="sng" w="19050">
            <a:solidFill>
              <a:srgbClr val="43AFFF"/>
            </a:solidFill>
            <a:prstDash val="solid"/>
            <a:miter lim="800000"/>
            <a:headEnd len="sm" w="sm" type="none"/>
            <a:tailEnd len="med" w="med" type="triangle"/>
          </a:ln>
        </p:spPr>
      </p:cxnSp>
      <p:cxnSp>
        <p:nvCxnSpPr>
          <p:cNvPr id="265" name="Google Shape;265;p42"/>
          <p:cNvCxnSpPr/>
          <p:nvPr/>
        </p:nvCxnSpPr>
        <p:spPr>
          <a:xfrm rot="10800000">
            <a:off x="6784041" y="1361515"/>
            <a:ext cx="97491" cy="366432"/>
          </a:xfrm>
          <a:prstGeom prst="straightConnector1">
            <a:avLst/>
          </a:prstGeom>
          <a:noFill/>
          <a:ln cap="flat" cmpd="sng" w="19050">
            <a:solidFill>
              <a:srgbClr val="43AFFF"/>
            </a:solidFill>
            <a:prstDash val="solid"/>
            <a:miter lim="800000"/>
            <a:headEnd len="sm" w="sm" type="none"/>
            <a:tailEnd len="med" w="med" type="triangle"/>
          </a:ln>
        </p:spPr>
      </p:cxnSp>
      <p:cxnSp>
        <p:nvCxnSpPr>
          <p:cNvPr id="266" name="Google Shape;266;p42"/>
          <p:cNvCxnSpPr/>
          <p:nvPr/>
        </p:nvCxnSpPr>
        <p:spPr>
          <a:xfrm flipH="1" rot="10800000">
            <a:off x="1899397" y="1361515"/>
            <a:ext cx="238685" cy="366432"/>
          </a:xfrm>
          <a:prstGeom prst="straightConnector1">
            <a:avLst/>
          </a:prstGeom>
          <a:noFill/>
          <a:ln cap="flat" cmpd="sng" w="19050">
            <a:solidFill>
              <a:srgbClr val="43AFFF"/>
            </a:solidFill>
            <a:prstDash val="solid"/>
            <a:miter lim="800000"/>
            <a:headEnd len="sm" w="sm" type="none"/>
            <a:tailEnd len="med" w="med" type="triangle"/>
          </a:ln>
        </p:spPr>
      </p:cxnSp>
      <p:cxnSp>
        <p:nvCxnSpPr>
          <p:cNvPr id="267" name="Google Shape;267;p42"/>
          <p:cNvCxnSpPr/>
          <p:nvPr/>
        </p:nvCxnSpPr>
        <p:spPr>
          <a:xfrm flipH="1" rot="10800000">
            <a:off x="6360459" y="1396820"/>
            <a:ext cx="289112" cy="1052232"/>
          </a:xfrm>
          <a:prstGeom prst="straightConnector1">
            <a:avLst/>
          </a:prstGeom>
          <a:noFill/>
          <a:ln cap="flat" cmpd="sng" w="19050">
            <a:solidFill>
              <a:srgbClr val="43AFFF"/>
            </a:solidFill>
            <a:prstDash val="solid"/>
            <a:miter lim="800000"/>
            <a:headEnd len="sm" w="sm" type="none"/>
            <a:tailEnd len="med" w="med" type="triangle"/>
          </a:ln>
        </p:spPr>
      </p:cxnSp>
      <p:cxnSp>
        <p:nvCxnSpPr>
          <p:cNvPr id="268" name="Google Shape;268;p42"/>
          <p:cNvCxnSpPr/>
          <p:nvPr/>
        </p:nvCxnSpPr>
        <p:spPr>
          <a:xfrm rot="10800000">
            <a:off x="4709833" y="1392257"/>
            <a:ext cx="0" cy="1021490"/>
          </a:xfrm>
          <a:prstGeom prst="straightConnector1">
            <a:avLst/>
          </a:prstGeom>
          <a:noFill/>
          <a:ln cap="flat" cmpd="sng" w="19050">
            <a:solidFill>
              <a:srgbClr val="43AFFF"/>
            </a:solidFill>
            <a:prstDash val="solid"/>
            <a:miter lim="800000"/>
            <a:headEnd len="sm" w="sm" type="none"/>
            <a:tailEnd len="med" w="med" type="triangle"/>
          </a:ln>
        </p:spPr>
      </p:cxnSp>
      <p:cxnSp>
        <p:nvCxnSpPr>
          <p:cNvPr id="269" name="Google Shape;269;p42"/>
          <p:cNvCxnSpPr/>
          <p:nvPr/>
        </p:nvCxnSpPr>
        <p:spPr>
          <a:xfrm flipH="1" rot="10800000">
            <a:off x="3096185" y="1392256"/>
            <a:ext cx="346261" cy="1056796"/>
          </a:xfrm>
          <a:prstGeom prst="straightConnector1">
            <a:avLst/>
          </a:prstGeom>
          <a:noFill/>
          <a:ln cap="flat" cmpd="sng" w="19050">
            <a:solidFill>
              <a:srgbClr val="43AFFF"/>
            </a:solidFill>
            <a:prstDash val="solid"/>
            <a:miter lim="800000"/>
            <a:headEnd len="sm" w="sm" type="none"/>
            <a:tailEnd len="med" w="med" type="triangle"/>
          </a:ln>
        </p:spPr>
      </p:cxnSp>
      <p:sp>
        <p:nvSpPr>
          <p:cNvPr id="270" name="Google Shape;270;p42"/>
          <p:cNvSpPr txBox="1"/>
          <p:nvPr/>
        </p:nvSpPr>
        <p:spPr>
          <a:xfrm>
            <a:off x="7421880" y="4012006"/>
            <a:ext cx="86345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900 GB/s</a:t>
            </a:r>
            <a:endParaRPr sz="1100"/>
          </a:p>
        </p:txBody>
      </p:sp>
      <p:sp>
        <p:nvSpPr>
          <p:cNvPr id="271" name="Google Shape;271;p42"/>
          <p:cNvSpPr txBox="1"/>
          <p:nvPr/>
        </p:nvSpPr>
        <p:spPr>
          <a:xfrm>
            <a:off x="7196117" y="1755069"/>
            <a:ext cx="1671371"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200 Gb/s = 25 GB/s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Memory vs Compute Bound</a:t>
            </a:r>
            <a:endParaRPr/>
          </a:p>
        </p:txBody>
      </p:sp>
      <p:sp>
        <p:nvSpPr>
          <p:cNvPr id="278" name="Google Shape;278;p43"/>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Memory-Bound: Low Operational Intensity (OI)</a:t>
            </a:r>
            <a:endParaRPr/>
          </a:p>
          <a:p>
            <a:pPr indent="-323850" lvl="1" marL="914400" rtl="0" algn="l">
              <a:lnSpc>
                <a:spcPct val="90000"/>
              </a:lnSpc>
              <a:spcBef>
                <a:spcPts val="0"/>
              </a:spcBef>
              <a:spcAft>
                <a:spcPts val="0"/>
              </a:spcAft>
              <a:buClr>
                <a:schemeClr val="dk1"/>
              </a:buClr>
              <a:buSzPts val="1100"/>
              <a:buChar char="○"/>
            </a:pPr>
            <a:r>
              <a:rPr lang="en"/>
              <a:t>Doing little computation per byte of data fetched</a:t>
            </a:r>
            <a:endParaRPr/>
          </a:p>
          <a:p>
            <a:pPr indent="-323850" lvl="1" marL="914400" rtl="0" algn="l">
              <a:lnSpc>
                <a:spcPct val="90000"/>
              </a:lnSpc>
              <a:spcBef>
                <a:spcPts val="0"/>
              </a:spcBef>
              <a:spcAft>
                <a:spcPts val="0"/>
              </a:spcAft>
              <a:buClr>
                <a:schemeClr val="dk1"/>
              </a:buClr>
              <a:buSzPts val="1100"/>
              <a:buChar char="○"/>
            </a:pPr>
            <a:r>
              <a:rPr lang="en"/>
              <a:t>Spending time waiting for data rather than doing computation</a:t>
            </a:r>
            <a:endParaRPr/>
          </a:p>
          <a:p>
            <a:pPr indent="-342900" lvl="0" marL="457200" rtl="0" algn="l">
              <a:lnSpc>
                <a:spcPct val="90000"/>
              </a:lnSpc>
              <a:spcBef>
                <a:spcPts val="0"/>
              </a:spcBef>
              <a:spcAft>
                <a:spcPts val="0"/>
              </a:spcAft>
              <a:buClr>
                <a:schemeClr val="dk1"/>
              </a:buClr>
              <a:buSzPts val="1400"/>
              <a:buChar char="●"/>
            </a:pPr>
            <a:r>
              <a:rPr lang="en"/>
              <a:t>Example: </a:t>
            </a:r>
            <a:endParaRPr/>
          </a:p>
          <a:p>
            <a:pPr indent="-323850" lvl="1" marL="914400" rtl="0" algn="l">
              <a:lnSpc>
                <a:spcPct val="90000"/>
              </a:lnSpc>
              <a:spcBef>
                <a:spcPts val="0"/>
              </a:spcBef>
              <a:spcAft>
                <a:spcPts val="0"/>
              </a:spcAft>
              <a:buClr>
                <a:schemeClr val="dk1"/>
              </a:buClr>
              <a:buSzPts val="1100"/>
              <a:buChar char="○"/>
            </a:pPr>
            <a:r>
              <a:rPr lang="en"/>
              <a:t>Accelerator with a compute capacity of 10 TFLOPs/s</a:t>
            </a:r>
            <a:endParaRPr/>
          </a:p>
          <a:p>
            <a:pPr indent="-323850" lvl="1" marL="914400" rtl="0" algn="l">
              <a:lnSpc>
                <a:spcPct val="90000"/>
              </a:lnSpc>
              <a:spcBef>
                <a:spcPts val="0"/>
              </a:spcBef>
              <a:spcAft>
                <a:spcPts val="0"/>
              </a:spcAft>
              <a:buClr>
                <a:schemeClr val="dk1"/>
              </a:buClr>
              <a:buSzPts val="1100"/>
              <a:buChar char="○"/>
            </a:pPr>
            <a:r>
              <a:rPr lang="en"/>
              <a:t>Kernel with 1 FLOP per 10 Bytes fetched, OI: 0.1 FLOP/byte</a:t>
            </a:r>
            <a:endParaRPr/>
          </a:p>
          <a:p>
            <a:pPr indent="-323850" lvl="1" marL="914400" rtl="0" algn="l">
              <a:lnSpc>
                <a:spcPct val="90000"/>
              </a:lnSpc>
              <a:spcBef>
                <a:spcPts val="0"/>
              </a:spcBef>
              <a:spcAft>
                <a:spcPts val="0"/>
              </a:spcAft>
              <a:buClr>
                <a:schemeClr val="dk1"/>
              </a:buClr>
              <a:buSzPts val="1100"/>
              <a:buChar char="○"/>
            </a:pPr>
            <a:r>
              <a:rPr lang="en"/>
              <a:t>Memory BW of 100 GB/s</a:t>
            </a:r>
            <a:endParaRPr/>
          </a:p>
          <a:p>
            <a:pPr indent="-323850" lvl="1" marL="914400" rtl="0" algn="l">
              <a:lnSpc>
                <a:spcPct val="90000"/>
              </a:lnSpc>
              <a:spcBef>
                <a:spcPts val="0"/>
              </a:spcBef>
              <a:spcAft>
                <a:spcPts val="0"/>
              </a:spcAft>
              <a:buClr>
                <a:schemeClr val="dk1"/>
              </a:buClr>
              <a:buSzPts val="1100"/>
              <a:buChar char="○"/>
            </a:pPr>
            <a:r>
              <a:rPr lang="en"/>
              <a:t>Max performance: BW x OI = 100 x 10^9 x 0.1 = 10 GFLOPs/s</a:t>
            </a:r>
            <a:endParaRPr/>
          </a:p>
          <a:p>
            <a:pPr indent="-323850" lvl="2" marL="1371600" rtl="0" algn="l">
              <a:lnSpc>
                <a:spcPct val="90000"/>
              </a:lnSpc>
              <a:spcBef>
                <a:spcPts val="0"/>
              </a:spcBef>
              <a:spcAft>
                <a:spcPts val="0"/>
              </a:spcAft>
              <a:buClr>
                <a:schemeClr val="dk1"/>
              </a:buClr>
              <a:buSzPts val="1100"/>
              <a:buChar char="■"/>
            </a:pPr>
            <a:r>
              <a:rPr lang="en"/>
              <a:t>Even though the processor can do more,  it can’t get the data!</a:t>
            </a:r>
            <a:endParaRPr/>
          </a:p>
          <a:p>
            <a:pPr indent="-342900" lvl="0" marL="457200" rtl="0" algn="l">
              <a:lnSpc>
                <a:spcPct val="90000"/>
              </a:lnSpc>
              <a:spcBef>
                <a:spcPts val="0"/>
              </a:spcBef>
              <a:spcAft>
                <a:spcPts val="0"/>
              </a:spcAft>
              <a:buClr>
                <a:schemeClr val="dk1"/>
              </a:buClr>
              <a:buSzPts val="1400"/>
              <a:buChar char="●"/>
            </a:pPr>
            <a:r>
              <a:rPr lang="en"/>
              <a:t>Compute-bound: High OI</a:t>
            </a:r>
            <a:endParaRPr/>
          </a:p>
          <a:p>
            <a:pPr indent="-323850" lvl="1" marL="914400" rtl="0" algn="l">
              <a:lnSpc>
                <a:spcPct val="90000"/>
              </a:lnSpc>
              <a:spcBef>
                <a:spcPts val="0"/>
              </a:spcBef>
              <a:spcAft>
                <a:spcPts val="0"/>
              </a:spcAft>
              <a:buClr>
                <a:schemeClr val="dk1"/>
              </a:buClr>
              <a:buSzPts val="1100"/>
              <a:buChar char="○"/>
            </a:pPr>
            <a:r>
              <a:rPr lang="en"/>
              <a:t>Doing a lot of computation per byte of data fetched from memory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Critical Operational Intensity</a:t>
            </a:r>
            <a:endParaRPr/>
          </a:p>
        </p:txBody>
      </p:sp>
      <p:pic>
        <p:nvPicPr>
          <p:cNvPr descr="Roofline intro" id="285" name="Google Shape;285;p44"/>
          <p:cNvPicPr preferRelativeResize="0"/>
          <p:nvPr/>
        </p:nvPicPr>
        <p:blipFill rotWithShape="1">
          <a:blip r:embed="rId3">
            <a:alphaModFix/>
          </a:blip>
          <a:srcRect b="0" l="0" r="0" t="0"/>
          <a:stretch/>
        </p:blipFill>
        <p:spPr>
          <a:xfrm>
            <a:off x="213122" y="1234360"/>
            <a:ext cx="4480322" cy="3426550"/>
          </a:xfrm>
          <a:prstGeom prst="rect">
            <a:avLst/>
          </a:prstGeom>
          <a:noFill/>
          <a:ln>
            <a:noFill/>
          </a:ln>
        </p:spPr>
      </p:pic>
      <p:sp>
        <p:nvSpPr>
          <p:cNvPr id="286" name="Google Shape;286;p44"/>
          <p:cNvSpPr txBox="1"/>
          <p:nvPr/>
        </p:nvSpPr>
        <p:spPr>
          <a:xfrm>
            <a:off x="1117996" y="4265236"/>
            <a:ext cx="2853929" cy="276999"/>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00000"/>
                </a:solidFill>
                <a:latin typeface="Times New Roman"/>
                <a:ea typeface="Times New Roman"/>
                <a:cs typeface="Times New Roman"/>
                <a:sym typeface="Times New Roman"/>
              </a:rPr>
              <a:t>Operational intensity (GFLOPs/Byte)</a:t>
            </a:r>
            <a:endParaRPr sz="1100"/>
          </a:p>
        </p:txBody>
      </p:sp>
      <p:sp>
        <p:nvSpPr>
          <p:cNvPr id="287" name="Google Shape;287;p44"/>
          <p:cNvSpPr txBox="1"/>
          <p:nvPr/>
        </p:nvSpPr>
        <p:spPr>
          <a:xfrm>
            <a:off x="213125" y="4877524"/>
            <a:ext cx="8931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u="sng">
                <a:solidFill>
                  <a:schemeClr val="hlink"/>
                </a:solidFill>
                <a:latin typeface="Arial"/>
                <a:ea typeface="Arial"/>
                <a:cs typeface="Arial"/>
                <a:sym typeface="Arial"/>
                <a:hlinkClick r:id="rId4"/>
              </a:rPr>
              <a:t>https://jax-ml.github.io/scaling-book/roofline/</a:t>
            </a:r>
            <a:r>
              <a:rPr lang="en" sz="1400">
                <a:solidFill>
                  <a:srgbClr val="BFBFBF"/>
                </a:solidFill>
                <a:latin typeface="Arial"/>
                <a:ea typeface="Arial"/>
                <a:cs typeface="Arial"/>
                <a:sym typeface="Arial"/>
              </a:rPr>
              <a:t>, https://docs.nersc.gov/tools/performance/roofline/</a:t>
            </a:r>
            <a:endParaRPr sz="1100"/>
          </a:p>
        </p:txBody>
      </p:sp>
      <p:grpSp>
        <p:nvGrpSpPr>
          <p:cNvPr id="288" name="Google Shape;288;p44"/>
          <p:cNvGrpSpPr/>
          <p:nvPr/>
        </p:nvGrpSpPr>
        <p:grpSpPr>
          <a:xfrm>
            <a:off x="3032522" y="1064561"/>
            <a:ext cx="6069515" cy="1260730"/>
            <a:chOff x="4043363" y="1419415"/>
            <a:chExt cx="8092687" cy="1680973"/>
          </a:xfrm>
        </p:grpSpPr>
        <p:sp>
          <p:nvSpPr>
            <p:cNvPr id="289" name="Google Shape;289;p44"/>
            <p:cNvSpPr/>
            <p:nvPr/>
          </p:nvSpPr>
          <p:spPr>
            <a:xfrm>
              <a:off x="4043363" y="2643188"/>
              <a:ext cx="457200" cy="457200"/>
            </a:xfrm>
            <a:prstGeom prst="ellipse">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290" name="Google Shape;290;p44"/>
            <p:cNvCxnSpPr>
              <a:stCxn id="289" idx="7"/>
            </p:cNvCxnSpPr>
            <p:nvPr/>
          </p:nvCxnSpPr>
          <p:spPr>
            <a:xfrm flipH="1" rot="10800000">
              <a:off x="4433608" y="1645743"/>
              <a:ext cx="1653000" cy="1064400"/>
            </a:xfrm>
            <a:prstGeom prst="straightConnector1">
              <a:avLst/>
            </a:prstGeom>
            <a:noFill/>
            <a:ln cap="flat" cmpd="sng" w="19050">
              <a:solidFill>
                <a:schemeClr val="dk1"/>
              </a:solidFill>
              <a:prstDash val="dash"/>
              <a:miter lim="800000"/>
              <a:headEnd len="sm" w="sm" type="none"/>
              <a:tailEnd len="med" w="med" type="triangle"/>
            </a:ln>
          </p:spPr>
        </p:cxnSp>
        <p:sp>
          <p:nvSpPr>
            <p:cNvPr id="291" name="Google Shape;291;p44"/>
            <p:cNvSpPr txBox="1"/>
            <p:nvPr/>
          </p:nvSpPr>
          <p:spPr>
            <a:xfrm>
              <a:off x="6086498" y="1419415"/>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Intensity(Computation)</a:t>
              </a:r>
              <a:endParaRPr b="1" sz="1500">
                <a:solidFill>
                  <a:srgbClr val="000000"/>
                </a:solidFill>
                <a:latin typeface="Times New Roman"/>
                <a:ea typeface="Times New Roman"/>
                <a:cs typeface="Times New Roman"/>
                <a:sym typeface="Times New Roman"/>
              </a:endParaRPr>
            </a:p>
          </p:txBody>
        </p:sp>
        <p:sp>
          <p:nvSpPr>
            <p:cNvPr id="292" name="Google Shape;292;p44"/>
            <p:cNvSpPr txBox="1"/>
            <p:nvPr/>
          </p:nvSpPr>
          <p:spPr>
            <a:xfrm>
              <a:off x="9028394" y="1433747"/>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Intensity(Accelerator)</a:t>
              </a:r>
              <a:endParaRPr b="1" sz="1500">
                <a:solidFill>
                  <a:srgbClr val="000000"/>
                </a:solidFill>
                <a:latin typeface="Times New Roman"/>
                <a:ea typeface="Times New Roman"/>
                <a:cs typeface="Times New Roman"/>
                <a:sym typeface="Times New Roman"/>
              </a:endParaRPr>
            </a:p>
          </p:txBody>
        </p:sp>
        <p:sp>
          <p:nvSpPr>
            <p:cNvPr id="293" name="Google Shape;293;p44"/>
            <p:cNvSpPr txBox="1"/>
            <p:nvPr/>
          </p:nvSpPr>
          <p:spPr>
            <a:xfrm>
              <a:off x="8480747" y="1433747"/>
              <a:ext cx="1341120"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a:t>
              </a:r>
              <a:endParaRPr sz="1100"/>
            </a:p>
          </p:txBody>
        </p:sp>
      </p:grpSp>
      <p:grpSp>
        <p:nvGrpSpPr>
          <p:cNvPr id="294" name="Google Shape;294;p44"/>
          <p:cNvGrpSpPr/>
          <p:nvPr/>
        </p:nvGrpSpPr>
        <p:grpSpPr>
          <a:xfrm>
            <a:off x="5205900" y="-48095"/>
            <a:ext cx="1880775" cy="1210950"/>
            <a:chOff x="6941201" y="-64126"/>
            <a:chExt cx="2507700" cy="1614600"/>
          </a:xfrm>
        </p:grpSpPr>
        <p:sp>
          <p:nvSpPr>
            <p:cNvPr id="295" name="Google Shape;295;p44"/>
            <p:cNvSpPr txBox="1"/>
            <p:nvPr/>
          </p:nvSpPr>
          <p:spPr>
            <a:xfrm>
              <a:off x="6941201" y="-64126"/>
              <a:ext cx="2507700" cy="1241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Computation could be a GPU kernel, TPU program, CPU program etc.</a:t>
              </a:r>
              <a:endParaRPr sz="1100"/>
            </a:p>
          </p:txBody>
        </p:sp>
        <p:cxnSp>
          <p:nvCxnSpPr>
            <p:cNvPr id="296" name="Google Shape;296;p44"/>
            <p:cNvCxnSpPr>
              <a:endCxn id="295" idx="2"/>
            </p:cNvCxnSpPr>
            <p:nvPr/>
          </p:nvCxnSpPr>
          <p:spPr>
            <a:xfrm rot="10800000">
              <a:off x="8195051" y="1177574"/>
              <a:ext cx="0" cy="372900"/>
            </a:xfrm>
            <a:prstGeom prst="straightConnector1">
              <a:avLst/>
            </a:prstGeom>
            <a:noFill/>
            <a:ln cap="flat" cmpd="sng" w="19050">
              <a:solidFill>
                <a:schemeClr val="dk1"/>
              </a:solidFill>
              <a:prstDash val="dash"/>
              <a:miter lim="800000"/>
              <a:headEnd len="sm" w="sm" type="none"/>
              <a:tailEnd len="med" w="med" type="triangle"/>
            </a:ln>
          </p:spPr>
        </p:cxnSp>
      </p:grpSp>
      <p:grpSp>
        <p:nvGrpSpPr>
          <p:cNvPr id="297" name="Google Shape;297;p44"/>
          <p:cNvGrpSpPr/>
          <p:nvPr/>
        </p:nvGrpSpPr>
        <p:grpSpPr>
          <a:xfrm>
            <a:off x="4618454" y="1574007"/>
            <a:ext cx="4473520" cy="604942"/>
            <a:chOff x="6157938" y="2098676"/>
            <a:chExt cx="5964694" cy="806590"/>
          </a:xfrm>
        </p:grpSpPr>
        <p:sp>
          <p:nvSpPr>
            <p:cNvPr id="298" name="Google Shape;298;p44"/>
            <p:cNvSpPr txBox="1"/>
            <p:nvPr/>
          </p:nvSpPr>
          <p:spPr>
            <a:xfrm>
              <a:off x="6157938" y="210837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Computation FLOPs</a:t>
              </a:r>
              <a:endParaRPr sz="1500">
                <a:solidFill>
                  <a:srgbClr val="000000"/>
                </a:solidFill>
                <a:latin typeface="Times New Roman"/>
                <a:ea typeface="Times New Roman"/>
                <a:cs typeface="Times New Roman"/>
                <a:sym typeface="Times New Roman"/>
              </a:endParaRPr>
            </a:p>
          </p:txBody>
        </p:sp>
        <p:cxnSp>
          <p:nvCxnSpPr>
            <p:cNvPr id="299" name="Google Shape;299;p44"/>
            <p:cNvCxnSpPr/>
            <p:nvPr/>
          </p:nvCxnSpPr>
          <p:spPr>
            <a:xfrm>
              <a:off x="6560827" y="2495461"/>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00" name="Google Shape;300;p44"/>
            <p:cNvSpPr txBox="1"/>
            <p:nvPr/>
          </p:nvSpPr>
          <p:spPr>
            <a:xfrm>
              <a:off x="6162856" y="250515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Communication Bytes</a:t>
              </a:r>
              <a:endParaRPr sz="1500">
                <a:solidFill>
                  <a:srgbClr val="000000"/>
                </a:solidFill>
                <a:latin typeface="Times New Roman"/>
                <a:ea typeface="Times New Roman"/>
                <a:cs typeface="Times New Roman"/>
                <a:sym typeface="Times New Roman"/>
              </a:endParaRPr>
            </a:p>
          </p:txBody>
        </p:sp>
        <p:sp>
          <p:nvSpPr>
            <p:cNvPr id="301" name="Google Shape;301;p44"/>
            <p:cNvSpPr txBox="1"/>
            <p:nvPr/>
          </p:nvSpPr>
          <p:spPr>
            <a:xfrm>
              <a:off x="9010058" y="209867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Accelerator FLOPs/s</a:t>
              </a:r>
              <a:endParaRPr sz="1500">
                <a:solidFill>
                  <a:srgbClr val="000000"/>
                </a:solidFill>
                <a:latin typeface="Times New Roman"/>
                <a:ea typeface="Times New Roman"/>
                <a:cs typeface="Times New Roman"/>
                <a:sym typeface="Times New Roman"/>
              </a:endParaRPr>
            </a:p>
          </p:txBody>
        </p:sp>
        <p:cxnSp>
          <p:nvCxnSpPr>
            <p:cNvPr id="302" name="Google Shape;302;p44"/>
            <p:cNvCxnSpPr/>
            <p:nvPr/>
          </p:nvCxnSpPr>
          <p:spPr>
            <a:xfrm>
              <a:off x="9412947" y="2485766"/>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03" name="Google Shape;303;p44"/>
            <p:cNvSpPr txBox="1"/>
            <p:nvPr/>
          </p:nvSpPr>
          <p:spPr>
            <a:xfrm>
              <a:off x="9014976" y="249546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Bandwidth Bytes/s</a:t>
              </a:r>
              <a:endParaRPr sz="1500">
                <a:solidFill>
                  <a:srgbClr val="000000"/>
                </a:solidFill>
                <a:latin typeface="Times New Roman"/>
                <a:ea typeface="Times New Roman"/>
                <a:cs typeface="Times New Roman"/>
                <a:sym typeface="Times New Roman"/>
              </a:endParaRPr>
            </a:p>
          </p:txBody>
        </p:sp>
        <p:sp>
          <p:nvSpPr>
            <p:cNvPr id="304" name="Google Shape;304;p44"/>
            <p:cNvSpPr txBox="1"/>
            <p:nvPr/>
          </p:nvSpPr>
          <p:spPr>
            <a:xfrm>
              <a:off x="8480747" y="2286359"/>
              <a:ext cx="1341120"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a:t>
              </a:r>
              <a:endParaRPr sz="1100"/>
            </a:p>
          </p:txBody>
        </p:sp>
      </p:grpSp>
      <p:grpSp>
        <p:nvGrpSpPr>
          <p:cNvPr id="305" name="Google Shape;305;p44"/>
          <p:cNvGrpSpPr/>
          <p:nvPr/>
        </p:nvGrpSpPr>
        <p:grpSpPr>
          <a:xfrm>
            <a:off x="4597253" y="2522687"/>
            <a:ext cx="4473520" cy="911098"/>
            <a:chOff x="6124267" y="3205534"/>
            <a:chExt cx="5964694" cy="1214797"/>
          </a:xfrm>
        </p:grpSpPr>
        <p:grpSp>
          <p:nvGrpSpPr>
            <p:cNvPr id="306" name="Google Shape;306;p44"/>
            <p:cNvGrpSpPr/>
            <p:nvPr/>
          </p:nvGrpSpPr>
          <p:grpSpPr>
            <a:xfrm>
              <a:off x="6124267" y="3613741"/>
              <a:ext cx="5964694" cy="806590"/>
              <a:chOff x="6157938" y="2098676"/>
              <a:chExt cx="5964694" cy="806590"/>
            </a:xfrm>
          </p:grpSpPr>
          <p:sp>
            <p:nvSpPr>
              <p:cNvPr id="307" name="Google Shape;307;p44"/>
              <p:cNvSpPr txBox="1"/>
              <p:nvPr/>
            </p:nvSpPr>
            <p:spPr>
              <a:xfrm>
                <a:off x="6157938" y="210837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Computation FLOPs</a:t>
                </a:r>
                <a:endParaRPr sz="1500">
                  <a:solidFill>
                    <a:srgbClr val="000000"/>
                  </a:solidFill>
                  <a:latin typeface="Times New Roman"/>
                  <a:ea typeface="Times New Roman"/>
                  <a:cs typeface="Times New Roman"/>
                  <a:sym typeface="Times New Roman"/>
                </a:endParaRPr>
              </a:p>
            </p:txBody>
          </p:sp>
          <p:cxnSp>
            <p:nvCxnSpPr>
              <p:cNvPr id="308" name="Google Shape;308;p44"/>
              <p:cNvCxnSpPr/>
              <p:nvPr/>
            </p:nvCxnSpPr>
            <p:spPr>
              <a:xfrm>
                <a:off x="6560827" y="2495461"/>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09" name="Google Shape;309;p44"/>
              <p:cNvSpPr txBox="1"/>
              <p:nvPr/>
            </p:nvSpPr>
            <p:spPr>
              <a:xfrm>
                <a:off x="6162856" y="250515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Communication Bytes</a:t>
                </a:r>
                <a:endParaRPr sz="1500">
                  <a:solidFill>
                    <a:srgbClr val="000000"/>
                  </a:solidFill>
                  <a:latin typeface="Times New Roman"/>
                  <a:ea typeface="Times New Roman"/>
                  <a:cs typeface="Times New Roman"/>
                  <a:sym typeface="Times New Roman"/>
                </a:endParaRPr>
              </a:p>
            </p:txBody>
          </p:sp>
          <p:sp>
            <p:nvSpPr>
              <p:cNvPr id="310" name="Google Shape;310;p44"/>
              <p:cNvSpPr txBox="1"/>
              <p:nvPr/>
            </p:nvSpPr>
            <p:spPr>
              <a:xfrm>
                <a:off x="9010058" y="209867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Accelerator FLOPs/s</a:t>
                </a:r>
                <a:endParaRPr sz="1500">
                  <a:solidFill>
                    <a:srgbClr val="000000"/>
                  </a:solidFill>
                  <a:latin typeface="Times New Roman"/>
                  <a:ea typeface="Times New Roman"/>
                  <a:cs typeface="Times New Roman"/>
                  <a:sym typeface="Times New Roman"/>
                </a:endParaRPr>
              </a:p>
            </p:txBody>
          </p:sp>
          <p:cxnSp>
            <p:nvCxnSpPr>
              <p:cNvPr id="311" name="Google Shape;311;p44"/>
              <p:cNvCxnSpPr/>
              <p:nvPr/>
            </p:nvCxnSpPr>
            <p:spPr>
              <a:xfrm>
                <a:off x="9412947" y="2485766"/>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12" name="Google Shape;312;p44"/>
              <p:cNvSpPr txBox="1"/>
              <p:nvPr/>
            </p:nvSpPr>
            <p:spPr>
              <a:xfrm>
                <a:off x="9014976" y="249546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Bandwidth Bytes/s</a:t>
                </a:r>
                <a:endParaRPr sz="1500">
                  <a:solidFill>
                    <a:srgbClr val="000000"/>
                  </a:solidFill>
                  <a:latin typeface="Times New Roman"/>
                  <a:ea typeface="Times New Roman"/>
                  <a:cs typeface="Times New Roman"/>
                  <a:sym typeface="Times New Roman"/>
                </a:endParaRPr>
              </a:p>
            </p:txBody>
          </p:sp>
          <p:sp>
            <p:nvSpPr>
              <p:cNvPr id="313" name="Google Shape;313;p44"/>
              <p:cNvSpPr txBox="1"/>
              <p:nvPr/>
            </p:nvSpPr>
            <p:spPr>
              <a:xfrm>
                <a:off x="8480747" y="2286359"/>
                <a:ext cx="1341120"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&gt;</a:t>
                </a:r>
                <a:endParaRPr b="1" sz="1500">
                  <a:solidFill>
                    <a:srgbClr val="000000"/>
                  </a:solidFill>
                  <a:latin typeface="Times New Roman"/>
                  <a:ea typeface="Times New Roman"/>
                  <a:cs typeface="Times New Roman"/>
                  <a:sym typeface="Times New Roman"/>
                </a:endParaRPr>
              </a:p>
            </p:txBody>
          </p:sp>
        </p:grpSp>
        <p:sp>
          <p:nvSpPr>
            <p:cNvPr id="314" name="Google Shape;314;p44"/>
            <p:cNvSpPr txBox="1"/>
            <p:nvPr/>
          </p:nvSpPr>
          <p:spPr>
            <a:xfrm>
              <a:off x="6157938" y="3205534"/>
              <a:ext cx="2075119"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rgbClr val="000000"/>
                  </a:solidFill>
                  <a:latin typeface="Times New Roman"/>
                  <a:ea typeface="Times New Roman"/>
                  <a:cs typeface="Times New Roman"/>
                  <a:sym typeface="Times New Roman"/>
                </a:rPr>
                <a:t>Compute-Bound</a:t>
              </a:r>
              <a:endParaRPr b="1" sz="1500">
                <a:solidFill>
                  <a:srgbClr val="000000"/>
                </a:solidFill>
                <a:latin typeface="Times New Roman"/>
                <a:ea typeface="Times New Roman"/>
                <a:cs typeface="Times New Roman"/>
                <a:sym typeface="Times New Roman"/>
              </a:endParaRPr>
            </a:p>
          </p:txBody>
        </p:sp>
      </p:grpSp>
      <p:grpSp>
        <p:nvGrpSpPr>
          <p:cNvPr id="315" name="Google Shape;315;p44"/>
          <p:cNvGrpSpPr/>
          <p:nvPr/>
        </p:nvGrpSpPr>
        <p:grpSpPr>
          <a:xfrm>
            <a:off x="4572000" y="3688644"/>
            <a:ext cx="4473521" cy="911098"/>
            <a:chOff x="6096000" y="4674097"/>
            <a:chExt cx="5964694" cy="1214797"/>
          </a:xfrm>
        </p:grpSpPr>
        <p:grpSp>
          <p:nvGrpSpPr>
            <p:cNvPr id="316" name="Google Shape;316;p44"/>
            <p:cNvGrpSpPr/>
            <p:nvPr/>
          </p:nvGrpSpPr>
          <p:grpSpPr>
            <a:xfrm>
              <a:off x="6096000" y="5082304"/>
              <a:ext cx="5964694" cy="806590"/>
              <a:chOff x="6157938" y="2098676"/>
              <a:chExt cx="5964694" cy="806590"/>
            </a:xfrm>
          </p:grpSpPr>
          <p:sp>
            <p:nvSpPr>
              <p:cNvPr id="317" name="Google Shape;317;p44"/>
              <p:cNvSpPr txBox="1"/>
              <p:nvPr/>
            </p:nvSpPr>
            <p:spPr>
              <a:xfrm>
                <a:off x="6157938" y="210837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Computation FLOPs</a:t>
                </a:r>
                <a:endParaRPr sz="1500">
                  <a:solidFill>
                    <a:srgbClr val="000000"/>
                  </a:solidFill>
                  <a:latin typeface="Times New Roman"/>
                  <a:ea typeface="Times New Roman"/>
                  <a:cs typeface="Times New Roman"/>
                  <a:sym typeface="Times New Roman"/>
                </a:endParaRPr>
              </a:p>
            </p:txBody>
          </p:sp>
          <p:cxnSp>
            <p:nvCxnSpPr>
              <p:cNvPr id="318" name="Google Shape;318;p44"/>
              <p:cNvCxnSpPr/>
              <p:nvPr/>
            </p:nvCxnSpPr>
            <p:spPr>
              <a:xfrm>
                <a:off x="6560827" y="2495461"/>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19" name="Google Shape;319;p44"/>
              <p:cNvSpPr txBox="1"/>
              <p:nvPr/>
            </p:nvSpPr>
            <p:spPr>
              <a:xfrm>
                <a:off x="6162856" y="250515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Communication Bytes</a:t>
                </a:r>
                <a:endParaRPr sz="1500">
                  <a:solidFill>
                    <a:srgbClr val="000000"/>
                  </a:solidFill>
                  <a:latin typeface="Times New Roman"/>
                  <a:ea typeface="Times New Roman"/>
                  <a:cs typeface="Times New Roman"/>
                  <a:sym typeface="Times New Roman"/>
                </a:endParaRPr>
              </a:p>
            </p:txBody>
          </p:sp>
          <p:sp>
            <p:nvSpPr>
              <p:cNvPr id="320" name="Google Shape;320;p44"/>
              <p:cNvSpPr txBox="1"/>
              <p:nvPr/>
            </p:nvSpPr>
            <p:spPr>
              <a:xfrm>
                <a:off x="9010058" y="2098676"/>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Accelerator FLOPs/s</a:t>
                </a:r>
                <a:endParaRPr sz="1500">
                  <a:solidFill>
                    <a:srgbClr val="000000"/>
                  </a:solidFill>
                  <a:latin typeface="Times New Roman"/>
                  <a:ea typeface="Times New Roman"/>
                  <a:cs typeface="Times New Roman"/>
                  <a:sym typeface="Times New Roman"/>
                </a:endParaRPr>
              </a:p>
            </p:txBody>
          </p:sp>
          <p:cxnSp>
            <p:nvCxnSpPr>
              <p:cNvPr id="321" name="Google Shape;321;p44"/>
              <p:cNvCxnSpPr/>
              <p:nvPr/>
            </p:nvCxnSpPr>
            <p:spPr>
              <a:xfrm>
                <a:off x="9412947" y="2485766"/>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22" name="Google Shape;322;p44"/>
              <p:cNvSpPr txBox="1"/>
              <p:nvPr/>
            </p:nvSpPr>
            <p:spPr>
              <a:xfrm>
                <a:off x="9014976" y="2495461"/>
                <a:ext cx="3107656"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Bandwidth Bytes/s</a:t>
                </a:r>
                <a:endParaRPr sz="1500">
                  <a:solidFill>
                    <a:srgbClr val="000000"/>
                  </a:solidFill>
                  <a:latin typeface="Times New Roman"/>
                  <a:ea typeface="Times New Roman"/>
                  <a:cs typeface="Times New Roman"/>
                  <a:sym typeface="Times New Roman"/>
                </a:endParaRPr>
              </a:p>
            </p:txBody>
          </p:sp>
          <p:sp>
            <p:nvSpPr>
              <p:cNvPr id="323" name="Google Shape;323;p44"/>
              <p:cNvSpPr txBox="1"/>
              <p:nvPr/>
            </p:nvSpPr>
            <p:spPr>
              <a:xfrm>
                <a:off x="8480747" y="2286359"/>
                <a:ext cx="1341120" cy="4001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500">
                    <a:solidFill>
                      <a:srgbClr val="000000"/>
                    </a:solidFill>
                    <a:latin typeface="Times New Roman"/>
                    <a:ea typeface="Times New Roman"/>
                    <a:cs typeface="Times New Roman"/>
                    <a:sym typeface="Times New Roman"/>
                  </a:rPr>
                  <a:t>&lt;</a:t>
                </a:r>
                <a:endParaRPr b="1" sz="1500">
                  <a:solidFill>
                    <a:srgbClr val="000000"/>
                  </a:solidFill>
                  <a:latin typeface="Times New Roman"/>
                  <a:ea typeface="Times New Roman"/>
                  <a:cs typeface="Times New Roman"/>
                  <a:sym typeface="Times New Roman"/>
                </a:endParaRPr>
              </a:p>
            </p:txBody>
          </p:sp>
        </p:grpSp>
        <p:sp>
          <p:nvSpPr>
            <p:cNvPr id="324" name="Google Shape;324;p44"/>
            <p:cNvSpPr txBox="1"/>
            <p:nvPr/>
          </p:nvSpPr>
          <p:spPr>
            <a:xfrm>
              <a:off x="6129671" y="4674097"/>
              <a:ext cx="2075119"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500">
                  <a:solidFill>
                    <a:srgbClr val="000000"/>
                  </a:solidFill>
                  <a:latin typeface="Times New Roman"/>
                  <a:ea typeface="Times New Roman"/>
                  <a:cs typeface="Times New Roman"/>
                  <a:sym typeface="Times New Roman"/>
                </a:rPr>
                <a:t>Memory-Bound</a:t>
              </a:r>
              <a:endParaRPr b="1" sz="1500">
                <a:solidFill>
                  <a:srgbClr val="00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Example – </a:t>
            </a:r>
            <a:r>
              <a:rPr lang="en" u="sng">
                <a:solidFill>
                  <a:schemeClr val="hlink"/>
                </a:solidFill>
                <a:hlinkClick r:id="rId3"/>
              </a:rPr>
              <a:t>NVIDIA H100</a:t>
            </a:r>
            <a:endParaRPr/>
          </a:p>
        </p:txBody>
      </p:sp>
      <p:sp>
        <p:nvSpPr>
          <p:cNvPr id="331" name="Google Shape;331;p45"/>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sz="2400"/>
              <a:t>Peak FP16 Tensor TFLOPs/s (no sparsity/</a:t>
            </a:r>
            <a:r>
              <a:rPr lang="en" sz="2400"/>
              <a:t>with sparsity</a:t>
            </a:r>
            <a:r>
              <a:rPr lang="en" sz="2400"/>
              <a:t>)</a:t>
            </a:r>
            <a:endParaRPr/>
          </a:p>
          <a:p>
            <a:pPr indent="-323850" lvl="1" marL="914400" rtl="0" algn="l">
              <a:lnSpc>
                <a:spcPct val="90000"/>
              </a:lnSpc>
              <a:spcBef>
                <a:spcPts val="0"/>
              </a:spcBef>
              <a:spcAft>
                <a:spcPts val="0"/>
              </a:spcAft>
              <a:buClr>
                <a:schemeClr val="dk1"/>
              </a:buClr>
              <a:buSzPts val="1100"/>
              <a:buChar char="○"/>
            </a:pPr>
            <a:r>
              <a:rPr lang="en" sz="2100"/>
              <a:t>1000/2000 TFLOPs/s</a:t>
            </a:r>
            <a:endParaRPr/>
          </a:p>
          <a:p>
            <a:pPr indent="-342900" lvl="0" marL="457200" rtl="0" algn="l">
              <a:lnSpc>
                <a:spcPct val="90000"/>
              </a:lnSpc>
              <a:spcBef>
                <a:spcPts val="0"/>
              </a:spcBef>
              <a:spcAft>
                <a:spcPts val="0"/>
              </a:spcAft>
              <a:buClr>
                <a:schemeClr val="dk1"/>
              </a:buClr>
              <a:buSzPts val="1400"/>
              <a:buChar char="●"/>
            </a:pPr>
            <a:r>
              <a:rPr lang="en" sz="2400"/>
              <a:t>Memory bandwidth</a:t>
            </a:r>
            <a:endParaRPr/>
          </a:p>
          <a:p>
            <a:pPr indent="-323850" lvl="1" marL="914400" rtl="0" algn="l">
              <a:lnSpc>
                <a:spcPct val="90000"/>
              </a:lnSpc>
              <a:spcBef>
                <a:spcPts val="0"/>
              </a:spcBef>
              <a:spcAft>
                <a:spcPts val="0"/>
              </a:spcAft>
              <a:buClr>
                <a:schemeClr val="dk1"/>
              </a:buClr>
              <a:buSzPts val="1100"/>
              <a:buChar char="○"/>
            </a:pPr>
            <a:r>
              <a:rPr lang="en" sz="2100"/>
              <a:t>3000 GB/s</a:t>
            </a:r>
            <a:endParaRPr/>
          </a:p>
          <a:p>
            <a:pPr indent="-342900" lvl="0" marL="457200" rtl="0" algn="l">
              <a:lnSpc>
                <a:spcPct val="90000"/>
              </a:lnSpc>
              <a:spcBef>
                <a:spcPts val="0"/>
              </a:spcBef>
              <a:spcAft>
                <a:spcPts val="0"/>
              </a:spcAft>
              <a:buClr>
                <a:schemeClr val="dk1"/>
              </a:buClr>
              <a:buSzPts val="1400"/>
              <a:buChar char="●"/>
            </a:pPr>
            <a:r>
              <a:rPr lang="en" sz="2400"/>
              <a:t>Critical intensity:</a:t>
            </a:r>
            <a:endParaRPr/>
          </a:p>
          <a:p>
            <a:pPr indent="-323850" lvl="1" marL="914400" rtl="0" algn="l">
              <a:lnSpc>
                <a:spcPct val="90000"/>
              </a:lnSpc>
              <a:spcBef>
                <a:spcPts val="0"/>
              </a:spcBef>
              <a:spcAft>
                <a:spcPts val="0"/>
              </a:spcAft>
              <a:buClr>
                <a:schemeClr val="dk1"/>
              </a:buClr>
              <a:buSzPts val="1100"/>
              <a:buChar char="○"/>
            </a:pPr>
            <a:r>
              <a:rPr lang="en" sz="2100"/>
              <a:t>(1000*1e12) / (3000*1e9) = </a:t>
            </a:r>
            <a:r>
              <a:rPr b="1" lang="en" sz="2100"/>
              <a:t>333 FLOPs/Byte</a:t>
            </a:r>
            <a:endParaRPr/>
          </a:p>
          <a:p>
            <a:pPr indent="-323850" lvl="1" marL="914400" rtl="0" algn="l">
              <a:lnSpc>
                <a:spcPct val="90000"/>
              </a:lnSpc>
              <a:spcBef>
                <a:spcPts val="0"/>
              </a:spcBef>
              <a:spcAft>
                <a:spcPts val="0"/>
              </a:spcAft>
              <a:buClr>
                <a:schemeClr val="dk1"/>
              </a:buClr>
              <a:buSzPts val="1100"/>
              <a:buChar char="○"/>
            </a:pPr>
            <a:r>
              <a:rPr lang="en" sz="2100"/>
              <a:t>If the kernel has higher operational intensity than  333 FLOPS/Byte it is compute-bound, otherwise it is memory bound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Example: Dot Product with FP32 </a:t>
            </a:r>
            <a:endParaRPr/>
          </a:p>
        </p:txBody>
      </p:sp>
      <p:sp>
        <p:nvSpPr>
          <p:cNvPr id="338" name="Google Shape;338;p46"/>
          <p:cNvSpPr txBox="1"/>
          <p:nvPr/>
        </p:nvSpPr>
        <p:spPr>
          <a:xfrm>
            <a:off x="2708771" y="1237495"/>
            <a:ext cx="447479" cy="200824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1</a:t>
            </a:r>
            <a:endParaRPr sz="1100"/>
          </a:p>
          <a:p>
            <a:pPr indent="0" lvl="0" marL="0" marR="0" rtl="0" algn="ctr">
              <a:spcBef>
                <a:spcPts val="0"/>
              </a:spcBef>
              <a:spcAft>
                <a:spcPts val="0"/>
              </a:spcAft>
              <a:buNone/>
            </a:pP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2</a:t>
            </a:r>
            <a:endParaRPr sz="1100"/>
          </a:p>
          <a:p>
            <a:pPr indent="0" lvl="0" marL="0" marR="0" rtl="0" algn="ctr">
              <a:spcBef>
                <a:spcPts val="0"/>
              </a:spcBef>
              <a:spcAft>
                <a:spcPts val="0"/>
              </a:spcAft>
              <a:buNone/>
            </a:pP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3</a:t>
            </a:r>
            <a:endParaRPr sz="1100"/>
          </a:p>
          <a:p>
            <a:pPr indent="0" lvl="0" marL="0" marR="0" rtl="0" algn="ctr">
              <a:spcBef>
                <a:spcPts val="0"/>
              </a:spcBef>
              <a:spcAft>
                <a:spcPts val="0"/>
              </a:spcAft>
              <a:buNone/>
            </a:pPr>
            <a:r>
              <a:rPr baseline="-25000" lang="en" sz="2100">
                <a:solidFill>
                  <a:schemeClr val="dk1"/>
                </a:solidFill>
                <a:latin typeface="Arial"/>
                <a:ea typeface="Arial"/>
                <a:cs typeface="Arial"/>
                <a:sym typeface="Arial"/>
              </a:rPr>
              <a:t>.</a:t>
            </a:r>
            <a:endParaRPr sz="1100"/>
          </a:p>
          <a:p>
            <a:pPr indent="0" lvl="0" marL="0" marR="0" rtl="0" algn="ctr">
              <a:spcBef>
                <a:spcPts val="0"/>
              </a:spcBef>
              <a:spcAft>
                <a:spcPts val="0"/>
              </a:spcAft>
              <a:buNone/>
            </a:pPr>
            <a:r>
              <a:rPr baseline="-25000" lang="en" sz="2100">
                <a:solidFill>
                  <a:schemeClr val="dk1"/>
                </a:solidFill>
                <a:latin typeface="Arial"/>
                <a:ea typeface="Arial"/>
                <a:cs typeface="Arial"/>
                <a:sym typeface="Arial"/>
              </a:rPr>
              <a:t>.</a:t>
            </a:r>
            <a:endParaRPr sz="1100"/>
          </a:p>
          <a:p>
            <a:pPr indent="0" lvl="0" marL="0" marR="0" rtl="0" algn="ctr">
              <a:spcBef>
                <a:spcPts val="0"/>
              </a:spcBef>
              <a:spcAft>
                <a:spcPts val="0"/>
              </a:spcAft>
              <a:buNone/>
            </a:pPr>
            <a:r>
              <a:rPr baseline="-25000" lang="en" sz="2100">
                <a:solidFill>
                  <a:schemeClr val="dk1"/>
                </a:solidFill>
                <a:latin typeface="Arial"/>
                <a:ea typeface="Arial"/>
                <a:cs typeface="Arial"/>
                <a:sym typeface="Arial"/>
              </a:rPr>
              <a:t>.</a:t>
            </a:r>
            <a:endParaRPr sz="1100"/>
          </a:p>
          <a:p>
            <a:pPr indent="0" lvl="0" marL="0" marR="0" rtl="0" algn="ctr">
              <a:spcBef>
                <a:spcPts val="0"/>
              </a:spcBef>
              <a:spcAft>
                <a:spcPts val="0"/>
              </a:spcAft>
              <a:buNone/>
            </a:pP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N</a:t>
            </a:r>
            <a:endParaRPr sz="1100"/>
          </a:p>
        </p:txBody>
      </p:sp>
      <p:sp>
        <p:nvSpPr>
          <p:cNvPr id="339" name="Google Shape;339;p46"/>
          <p:cNvSpPr txBox="1"/>
          <p:nvPr/>
        </p:nvSpPr>
        <p:spPr>
          <a:xfrm>
            <a:off x="413938" y="1237495"/>
            <a:ext cx="1993912" cy="3924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1 </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2 </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3  .   .  .   </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N</a:t>
            </a:r>
            <a:endParaRPr sz="1100"/>
          </a:p>
        </p:txBody>
      </p:sp>
      <p:sp>
        <p:nvSpPr>
          <p:cNvPr id="340" name="Google Shape;340;p46"/>
          <p:cNvSpPr/>
          <p:nvPr/>
        </p:nvSpPr>
        <p:spPr>
          <a:xfrm>
            <a:off x="2723798" y="1226779"/>
            <a:ext cx="87511" cy="2008242"/>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1" name="Google Shape;341;p46"/>
          <p:cNvSpPr/>
          <p:nvPr/>
        </p:nvSpPr>
        <p:spPr>
          <a:xfrm rot="10800000">
            <a:off x="3053710" y="1237495"/>
            <a:ext cx="87511" cy="2008242"/>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2" name="Google Shape;342;p46"/>
          <p:cNvSpPr/>
          <p:nvPr/>
        </p:nvSpPr>
        <p:spPr>
          <a:xfrm>
            <a:off x="459023" y="1237495"/>
            <a:ext cx="34289" cy="477003"/>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3" name="Google Shape;343;p46"/>
          <p:cNvSpPr/>
          <p:nvPr/>
        </p:nvSpPr>
        <p:spPr>
          <a:xfrm rot="10800000">
            <a:off x="2323154" y="1237495"/>
            <a:ext cx="34289" cy="477003"/>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4" name="Google Shape;344;p46"/>
          <p:cNvSpPr txBox="1"/>
          <p:nvPr/>
        </p:nvSpPr>
        <p:spPr>
          <a:xfrm>
            <a:off x="3141220" y="1283661"/>
            <a:ext cx="1005840"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rgbClr val="000000"/>
                </a:solidFill>
                <a:latin typeface="Times New Roman"/>
                <a:ea typeface="Times New Roman"/>
                <a:cs typeface="Times New Roman"/>
                <a:sym typeface="Times New Roman"/>
              </a:rPr>
              <a:t>=</a:t>
            </a:r>
            <a:endParaRPr sz="1100"/>
          </a:p>
        </p:txBody>
      </p:sp>
      <p:sp>
        <p:nvSpPr>
          <p:cNvPr id="345" name="Google Shape;345;p46"/>
          <p:cNvSpPr txBox="1"/>
          <p:nvPr/>
        </p:nvSpPr>
        <p:spPr>
          <a:xfrm>
            <a:off x="3824579" y="1212761"/>
            <a:ext cx="3888036" cy="3924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1</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1 </a:t>
            </a:r>
            <a:r>
              <a:rPr lang="en" sz="2100">
                <a:solidFill>
                  <a:schemeClr val="dk1"/>
                </a:solidFill>
                <a:latin typeface="Arial"/>
                <a:ea typeface="Arial"/>
                <a:cs typeface="Arial"/>
                <a:sym typeface="Arial"/>
              </a:rPr>
              <a:t>+</a:t>
            </a:r>
            <a:r>
              <a:rPr baseline="-25000" lang="en" sz="2100">
                <a:solidFill>
                  <a:schemeClr val="dk1"/>
                </a:solidFill>
                <a:latin typeface="Arial"/>
                <a:ea typeface="Arial"/>
                <a:cs typeface="Arial"/>
                <a:sym typeface="Arial"/>
              </a:rPr>
              <a:t> </a:t>
            </a: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2</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2 </a:t>
            </a:r>
            <a:r>
              <a:rPr lang="en" sz="2100">
                <a:solidFill>
                  <a:schemeClr val="dk1"/>
                </a:solidFill>
                <a:latin typeface="Arial"/>
                <a:ea typeface="Arial"/>
                <a:cs typeface="Arial"/>
                <a:sym typeface="Arial"/>
              </a:rPr>
              <a:t>+</a:t>
            </a:r>
            <a:r>
              <a:rPr baseline="-25000" lang="en" sz="2100">
                <a:solidFill>
                  <a:schemeClr val="dk1"/>
                </a:solidFill>
                <a:latin typeface="Arial"/>
                <a:ea typeface="Arial"/>
                <a:cs typeface="Arial"/>
                <a:sym typeface="Arial"/>
              </a:rPr>
              <a:t> </a:t>
            </a: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3</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3 </a:t>
            </a:r>
            <a:r>
              <a:rPr lang="en" sz="2100">
                <a:solidFill>
                  <a:schemeClr val="dk1"/>
                </a:solidFill>
                <a:latin typeface="Arial"/>
                <a:ea typeface="Arial"/>
                <a:cs typeface="Arial"/>
                <a:sym typeface="Arial"/>
              </a:rPr>
              <a:t>+</a:t>
            </a:r>
            <a:r>
              <a:rPr baseline="-25000" lang="en" sz="2100">
                <a:solidFill>
                  <a:schemeClr val="dk1"/>
                </a:solidFill>
                <a:latin typeface="Arial"/>
                <a:ea typeface="Arial"/>
                <a:cs typeface="Arial"/>
                <a:sym typeface="Arial"/>
              </a:rPr>
              <a:t> .   .  .  </a:t>
            </a:r>
            <a:r>
              <a:rPr lang="en" sz="2100">
                <a:solidFill>
                  <a:schemeClr val="dk1"/>
                </a:solidFill>
                <a:latin typeface="Arial"/>
                <a:ea typeface="Arial"/>
                <a:cs typeface="Arial"/>
                <a:sym typeface="Arial"/>
              </a:rPr>
              <a:t>+</a:t>
            </a:r>
            <a:r>
              <a:rPr baseline="-25000" lang="en" sz="2100">
                <a:solidFill>
                  <a:schemeClr val="dk1"/>
                </a:solidFill>
                <a:latin typeface="Arial"/>
                <a:ea typeface="Arial"/>
                <a:cs typeface="Arial"/>
                <a:sym typeface="Arial"/>
              </a:rPr>
              <a:t> </a:t>
            </a:r>
            <a:r>
              <a:rPr lang="en" sz="2100">
                <a:solidFill>
                  <a:schemeClr val="dk1"/>
                </a:solidFill>
                <a:latin typeface="Arial"/>
                <a:ea typeface="Arial"/>
                <a:cs typeface="Arial"/>
                <a:sym typeface="Arial"/>
              </a:rPr>
              <a:t>A</a:t>
            </a:r>
            <a:r>
              <a:rPr baseline="-25000" lang="en" sz="2100">
                <a:solidFill>
                  <a:schemeClr val="dk1"/>
                </a:solidFill>
                <a:latin typeface="Arial"/>
                <a:ea typeface="Arial"/>
                <a:cs typeface="Arial"/>
                <a:sym typeface="Arial"/>
              </a:rPr>
              <a:t>N</a:t>
            </a:r>
            <a:r>
              <a:rPr lang="en" sz="2100">
                <a:solidFill>
                  <a:schemeClr val="dk1"/>
                </a:solidFill>
                <a:latin typeface="Arial"/>
                <a:ea typeface="Arial"/>
                <a:cs typeface="Arial"/>
                <a:sym typeface="Arial"/>
              </a:rPr>
              <a:t>B</a:t>
            </a:r>
            <a:r>
              <a:rPr baseline="-25000" lang="en" sz="2100">
                <a:solidFill>
                  <a:schemeClr val="dk1"/>
                </a:solidFill>
                <a:latin typeface="Arial"/>
                <a:ea typeface="Arial"/>
                <a:cs typeface="Arial"/>
                <a:sym typeface="Arial"/>
              </a:rPr>
              <a:t>N</a:t>
            </a:r>
            <a:endParaRPr sz="1100"/>
          </a:p>
        </p:txBody>
      </p:sp>
      <p:sp>
        <p:nvSpPr>
          <p:cNvPr id="346" name="Google Shape;346;p46"/>
          <p:cNvSpPr/>
          <p:nvPr/>
        </p:nvSpPr>
        <p:spPr>
          <a:xfrm>
            <a:off x="3852304" y="1191329"/>
            <a:ext cx="34289" cy="477003"/>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7" name="Google Shape;347;p46"/>
          <p:cNvSpPr/>
          <p:nvPr/>
        </p:nvSpPr>
        <p:spPr>
          <a:xfrm rot="10800000">
            <a:off x="7666700" y="1191329"/>
            <a:ext cx="34289" cy="477003"/>
          </a:xfrm>
          <a:prstGeom prst="leftBracket">
            <a:avLst>
              <a:gd fmla="val 8333" name="adj"/>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grpSp>
        <p:nvGrpSpPr>
          <p:cNvPr id="348" name="Google Shape;348;p46"/>
          <p:cNvGrpSpPr/>
          <p:nvPr/>
        </p:nvGrpSpPr>
        <p:grpSpPr>
          <a:xfrm>
            <a:off x="3804160" y="1739232"/>
            <a:ext cx="3973242" cy="1052416"/>
            <a:chOff x="5072213" y="2318976"/>
            <a:chExt cx="5297656" cy="1403222"/>
          </a:xfrm>
        </p:grpSpPr>
        <p:sp>
          <p:nvSpPr>
            <p:cNvPr id="349" name="Google Shape;349;p46"/>
            <p:cNvSpPr/>
            <p:nvPr/>
          </p:nvSpPr>
          <p:spPr>
            <a:xfrm rot="5400000">
              <a:off x="7576374" y="-185185"/>
              <a:ext cx="289334" cy="5297656"/>
            </a:xfrm>
            <a:prstGeom prst="righ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50" name="Google Shape;350;p46"/>
            <p:cNvSpPr txBox="1"/>
            <p:nvPr/>
          </p:nvSpPr>
          <p:spPr>
            <a:xfrm>
              <a:off x="5235568" y="2521869"/>
              <a:ext cx="4986699" cy="120032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FFC000"/>
                  </a:solidFill>
                  <a:latin typeface="Arial"/>
                  <a:ea typeface="Arial"/>
                  <a:cs typeface="Arial"/>
                  <a:sym typeface="Arial"/>
                </a:rPr>
                <a:t>Compute</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N multiplications, N additions*</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 2N FLOPs</a:t>
              </a:r>
              <a:endParaRPr sz="1100"/>
            </a:p>
          </p:txBody>
        </p:sp>
      </p:grpSp>
      <p:sp>
        <p:nvSpPr>
          <p:cNvPr id="351" name="Google Shape;351;p46"/>
          <p:cNvSpPr txBox="1"/>
          <p:nvPr/>
        </p:nvSpPr>
        <p:spPr>
          <a:xfrm>
            <a:off x="6234525" y="4784450"/>
            <a:ext cx="29094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rgbClr val="BFBFBF"/>
                </a:solidFill>
                <a:latin typeface="Arial"/>
                <a:ea typeface="Arial"/>
                <a:cs typeface="Arial"/>
                <a:sym typeface="Arial"/>
              </a:rPr>
              <a:t>* It is actually N and not N-1, why?</a:t>
            </a:r>
            <a:endParaRPr baseline="-25000" sz="1400">
              <a:solidFill>
                <a:srgbClr val="BFBFBF"/>
              </a:solidFill>
              <a:latin typeface="Arial"/>
              <a:ea typeface="Arial"/>
              <a:cs typeface="Arial"/>
              <a:sym typeface="Arial"/>
            </a:endParaRPr>
          </a:p>
        </p:txBody>
      </p:sp>
      <p:grpSp>
        <p:nvGrpSpPr>
          <p:cNvPr id="352" name="Google Shape;352;p46"/>
          <p:cNvGrpSpPr/>
          <p:nvPr/>
        </p:nvGrpSpPr>
        <p:grpSpPr>
          <a:xfrm>
            <a:off x="309558" y="3520503"/>
            <a:ext cx="2980139" cy="1124883"/>
            <a:chOff x="412744" y="4389204"/>
            <a:chExt cx="3973519" cy="1499843"/>
          </a:xfrm>
        </p:grpSpPr>
        <p:sp>
          <p:nvSpPr>
            <p:cNvPr id="353" name="Google Shape;353;p46"/>
            <p:cNvSpPr txBox="1"/>
            <p:nvPr/>
          </p:nvSpPr>
          <p:spPr>
            <a:xfrm>
              <a:off x="922546" y="4688718"/>
              <a:ext cx="2953916" cy="120032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00B050"/>
                  </a:solidFill>
                  <a:latin typeface="Arial"/>
                  <a:ea typeface="Arial"/>
                  <a:cs typeface="Arial"/>
                  <a:sym typeface="Arial"/>
                </a:rPr>
                <a:t>Memory</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2 x 4N bytes read + 4 bytes written back</a:t>
              </a:r>
              <a:endParaRPr sz="1100"/>
            </a:p>
          </p:txBody>
        </p:sp>
        <p:sp>
          <p:nvSpPr>
            <p:cNvPr id="354" name="Google Shape;354;p46"/>
            <p:cNvSpPr/>
            <p:nvPr/>
          </p:nvSpPr>
          <p:spPr>
            <a:xfrm rot="5400000">
              <a:off x="2249747" y="2552201"/>
              <a:ext cx="299514" cy="3973519"/>
            </a:xfrm>
            <a:prstGeom prst="righ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grpSp>
      <p:grpSp>
        <p:nvGrpSpPr>
          <p:cNvPr id="355" name="Google Shape;355;p46"/>
          <p:cNvGrpSpPr/>
          <p:nvPr/>
        </p:nvGrpSpPr>
        <p:grpSpPr>
          <a:xfrm>
            <a:off x="3361800" y="3206840"/>
            <a:ext cx="5432266" cy="1393750"/>
            <a:chOff x="4482400" y="4275786"/>
            <a:chExt cx="7243021" cy="1858333"/>
          </a:xfrm>
        </p:grpSpPr>
        <p:grpSp>
          <p:nvGrpSpPr>
            <p:cNvPr id="356" name="Google Shape;356;p46"/>
            <p:cNvGrpSpPr/>
            <p:nvPr/>
          </p:nvGrpSpPr>
          <p:grpSpPr>
            <a:xfrm>
              <a:off x="4858853" y="4275786"/>
              <a:ext cx="6866568" cy="1028465"/>
              <a:chOff x="4858853" y="4275786"/>
              <a:chExt cx="6866568" cy="1028465"/>
            </a:xfrm>
          </p:grpSpPr>
          <p:sp>
            <p:nvSpPr>
              <p:cNvPr id="357" name="Google Shape;357;p46"/>
              <p:cNvSpPr txBox="1"/>
              <p:nvPr/>
            </p:nvSpPr>
            <p:spPr>
              <a:xfrm>
                <a:off x="4858853" y="4387739"/>
                <a:ext cx="2140671" cy="83099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Operational </a:t>
                </a:r>
                <a:endParaRPr sz="1100"/>
              </a:p>
              <a:p>
                <a:pPr indent="0" lvl="0" marL="0" marR="0" rtl="0" algn="ctr">
                  <a:spcBef>
                    <a:spcPts val="0"/>
                  </a:spcBef>
                  <a:spcAft>
                    <a:spcPts val="0"/>
                  </a:spcAft>
                  <a:buNone/>
                </a:pPr>
                <a:r>
                  <a:rPr b="1" lang="en" sz="1800">
                    <a:solidFill>
                      <a:schemeClr val="dk1"/>
                    </a:solidFill>
                    <a:latin typeface="Arial"/>
                    <a:ea typeface="Arial"/>
                    <a:cs typeface="Arial"/>
                    <a:sym typeface="Arial"/>
                  </a:rPr>
                  <a:t>Intensity</a:t>
                </a:r>
                <a:endParaRPr sz="1800">
                  <a:solidFill>
                    <a:schemeClr val="dk1"/>
                  </a:solidFill>
                  <a:latin typeface="Arial"/>
                  <a:ea typeface="Arial"/>
                  <a:cs typeface="Arial"/>
                  <a:sym typeface="Arial"/>
                </a:endParaRPr>
              </a:p>
            </p:txBody>
          </p:sp>
          <p:sp>
            <p:nvSpPr>
              <p:cNvPr id="358" name="Google Shape;358;p46"/>
              <p:cNvSpPr txBox="1"/>
              <p:nvPr/>
            </p:nvSpPr>
            <p:spPr>
              <a:xfrm>
                <a:off x="6739630" y="4572404"/>
                <a:ext cx="74652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59" name="Google Shape;359;p46"/>
              <p:cNvSpPr txBox="1"/>
              <p:nvPr/>
            </p:nvSpPr>
            <p:spPr>
              <a:xfrm>
                <a:off x="7375523" y="427578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2N</a:t>
                </a:r>
                <a:endParaRPr sz="1100"/>
              </a:p>
            </p:txBody>
          </p:sp>
          <p:cxnSp>
            <p:nvCxnSpPr>
              <p:cNvPr id="360" name="Google Shape;360;p46"/>
              <p:cNvCxnSpPr/>
              <p:nvPr/>
            </p:nvCxnSpPr>
            <p:spPr>
              <a:xfrm>
                <a:off x="7375523" y="4797224"/>
                <a:ext cx="2283138" cy="0"/>
              </a:xfrm>
              <a:prstGeom prst="straightConnector1">
                <a:avLst/>
              </a:prstGeom>
              <a:noFill/>
              <a:ln cap="flat" cmpd="sng" w="19050">
                <a:solidFill>
                  <a:schemeClr val="accent1"/>
                </a:solidFill>
                <a:prstDash val="solid"/>
                <a:miter lim="800000"/>
                <a:headEnd len="sm" w="sm" type="none"/>
                <a:tailEnd len="sm" w="sm" type="none"/>
              </a:ln>
            </p:spPr>
          </p:cxnSp>
          <p:sp>
            <p:nvSpPr>
              <p:cNvPr id="361" name="Google Shape;361;p46"/>
              <p:cNvSpPr txBox="1"/>
              <p:nvPr/>
            </p:nvSpPr>
            <p:spPr>
              <a:xfrm>
                <a:off x="7375523" y="482763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4N + 4</a:t>
                </a:r>
                <a:endParaRPr sz="1100"/>
              </a:p>
            </p:txBody>
          </p:sp>
          <p:sp>
            <p:nvSpPr>
              <p:cNvPr id="362" name="Google Shape;362;p46"/>
              <p:cNvSpPr txBox="1"/>
              <p:nvPr/>
            </p:nvSpPr>
            <p:spPr>
              <a:xfrm>
                <a:off x="9589744" y="4474058"/>
                <a:ext cx="746521" cy="64633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700">
                    <a:solidFill>
                      <a:schemeClr val="dk1"/>
                    </a:solidFill>
                    <a:latin typeface="Arial"/>
                    <a:ea typeface="Arial"/>
                    <a:cs typeface="Arial"/>
                    <a:sym typeface="Arial"/>
                  </a:rPr>
                  <a:t>≈</a:t>
                </a:r>
                <a:endParaRPr sz="2700">
                  <a:solidFill>
                    <a:schemeClr val="dk1"/>
                  </a:solidFill>
                  <a:latin typeface="Arial"/>
                  <a:ea typeface="Arial"/>
                  <a:cs typeface="Arial"/>
                  <a:sym typeface="Arial"/>
                </a:endParaRPr>
              </a:p>
            </p:txBody>
          </p:sp>
          <p:sp>
            <p:nvSpPr>
              <p:cNvPr id="363" name="Google Shape;363;p46"/>
              <p:cNvSpPr txBox="1"/>
              <p:nvPr/>
            </p:nvSpPr>
            <p:spPr>
              <a:xfrm>
                <a:off x="9584750" y="429073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1</a:t>
                </a:r>
                <a:endParaRPr sz="1100"/>
              </a:p>
            </p:txBody>
          </p:sp>
          <p:cxnSp>
            <p:nvCxnSpPr>
              <p:cNvPr id="364" name="Google Shape;364;p46"/>
              <p:cNvCxnSpPr/>
              <p:nvPr/>
            </p:nvCxnSpPr>
            <p:spPr>
              <a:xfrm>
                <a:off x="10199118" y="4812174"/>
                <a:ext cx="873695" cy="0"/>
              </a:xfrm>
              <a:prstGeom prst="straightConnector1">
                <a:avLst/>
              </a:prstGeom>
              <a:noFill/>
              <a:ln cap="flat" cmpd="sng" w="19050">
                <a:solidFill>
                  <a:schemeClr val="accent1"/>
                </a:solidFill>
                <a:prstDash val="solid"/>
                <a:miter lim="800000"/>
                <a:headEnd len="sm" w="sm" type="none"/>
                <a:tailEnd len="sm" w="sm" type="none"/>
              </a:ln>
            </p:spPr>
          </p:cxnSp>
          <p:sp>
            <p:nvSpPr>
              <p:cNvPr id="365" name="Google Shape;365;p46"/>
              <p:cNvSpPr txBox="1"/>
              <p:nvPr/>
            </p:nvSpPr>
            <p:spPr>
              <a:xfrm>
                <a:off x="9584750" y="484258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sz="1100"/>
              </a:p>
            </p:txBody>
          </p:sp>
        </p:grpSp>
        <p:sp>
          <p:nvSpPr>
            <p:cNvPr id="366" name="Google Shape;366;p46"/>
            <p:cNvSpPr/>
            <p:nvPr/>
          </p:nvSpPr>
          <p:spPr>
            <a:xfrm>
              <a:off x="4482400" y="5429230"/>
              <a:ext cx="6787054" cy="704889"/>
            </a:xfrm>
            <a:prstGeom prst="roundRect">
              <a:avLst>
                <a:gd fmla="val 0" name="adj"/>
              </a:avLst>
            </a:prstGeom>
            <a:solidFill>
              <a:schemeClr val="lt1"/>
            </a:solidFill>
            <a:ln>
              <a:noFill/>
            </a:ln>
          </p:spPr>
          <p:txBody>
            <a:bodyPr anchorCtr="0" anchor="ctr" bIns="68575" lIns="68575" spcFirstLastPara="1" rIns="68575" wrap="square" tIns="68575">
              <a:noAutofit/>
            </a:bodyPr>
            <a:lstStyle/>
            <a:p>
              <a:pPr indent="0" lvl="0" marL="0" marR="0" rtl="0" algn="ctr">
                <a:spcBef>
                  <a:spcPts val="0"/>
                </a:spcBef>
                <a:spcAft>
                  <a:spcPts val="0"/>
                </a:spcAft>
                <a:buNone/>
              </a:pPr>
              <a:r>
                <a:rPr b="1" lang="en" sz="2100">
                  <a:solidFill>
                    <a:srgbClr val="00B050"/>
                  </a:solidFill>
                  <a:latin typeface="Arial"/>
                  <a:ea typeface="Arial"/>
                  <a:cs typeface="Arial"/>
                  <a:sym typeface="Arial"/>
                </a:rPr>
                <a:t>FP32 dot product on the H100 is memory-bound</a:t>
              </a:r>
              <a:endParaRPr b="1" sz="2100">
                <a:solidFill>
                  <a:srgbClr val="00B050"/>
                </a:solidFill>
                <a:latin typeface="Arial"/>
                <a:ea typeface="Arial"/>
                <a:cs typeface="Arial"/>
                <a:sym typeface="Arial"/>
              </a:endParaRPr>
            </a:p>
          </p:txBody>
        </p:sp>
      </p:grpSp>
      <p:sp>
        <p:nvSpPr>
          <p:cNvPr id="367" name="Google Shape;367;p46"/>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Example: Matrix Multiplication with FP16 </a:t>
            </a:r>
            <a:endParaRPr/>
          </a:p>
        </p:txBody>
      </p:sp>
      <p:sp>
        <p:nvSpPr>
          <p:cNvPr id="374" name="Google Shape;374;p47"/>
          <p:cNvSpPr txBox="1"/>
          <p:nvPr/>
        </p:nvSpPr>
        <p:spPr>
          <a:xfrm>
            <a:off x="182465" y="1841880"/>
            <a:ext cx="2972216"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00B050"/>
                </a:solidFill>
                <a:latin typeface="Arial"/>
                <a:ea typeface="Arial"/>
                <a:cs typeface="Arial"/>
                <a:sym typeface="Arial"/>
              </a:rPr>
              <a:t>Memory</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2MN + 2NK bytes read</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2MK bytes written back </a:t>
            </a:r>
            <a:endParaRPr sz="1100"/>
          </a:p>
        </p:txBody>
      </p:sp>
      <p:sp>
        <p:nvSpPr>
          <p:cNvPr id="375" name="Google Shape;375;p47"/>
          <p:cNvSpPr txBox="1"/>
          <p:nvPr/>
        </p:nvSpPr>
        <p:spPr>
          <a:xfrm>
            <a:off x="2922905" y="1801935"/>
            <a:ext cx="3066224" cy="117724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FFC000"/>
                </a:solidFill>
                <a:latin typeface="Arial"/>
                <a:ea typeface="Arial"/>
                <a:cs typeface="Arial"/>
                <a:sym typeface="Arial"/>
              </a:rPr>
              <a:t>Compute</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2MNK FLOPs </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(MNK multiplications and MNK additions)</a:t>
            </a:r>
            <a:endParaRPr sz="1100"/>
          </a:p>
        </p:txBody>
      </p:sp>
      <p:grpSp>
        <p:nvGrpSpPr>
          <p:cNvPr id="376" name="Google Shape;376;p47"/>
          <p:cNvGrpSpPr/>
          <p:nvPr/>
        </p:nvGrpSpPr>
        <p:grpSpPr>
          <a:xfrm>
            <a:off x="311700" y="3162335"/>
            <a:ext cx="6676179" cy="760136"/>
            <a:chOff x="415600" y="4216446"/>
            <a:chExt cx="8901572" cy="1013515"/>
          </a:xfrm>
        </p:grpSpPr>
        <p:sp>
          <p:nvSpPr>
            <p:cNvPr id="377" name="Google Shape;377;p47"/>
            <p:cNvSpPr txBox="1"/>
            <p:nvPr/>
          </p:nvSpPr>
          <p:spPr>
            <a:xfrm>
              <a:off x="415600" y="4328399"/>
              <a:ext cx="2140671" cy="83099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Operational </a:t>
              </a:r>
              <a:endParaRPr sz="1100"/>
            </a:p>
            <a:p>
              <a:pPr indent="0" lvl="0" marL="0" marR="0" rtl="0" algn="ctr">
                <a:spcBef>
                  <a:spcPts val="0"/>
                </a:spcBef>
                <a:spcAft>
                  <a:spcPts val="0"/>
                </a:spcAft>
                <a:buNone/>
              </a:pPr>
              <a:r>
                <a:rPr b="1" lang="en" sz="1800">
                  <a:solidFill>
                    <a:schemeClr val="dk1"/>
                  </a:solidFill>
                  <a:latin typeface="Arial"/>
                  <a:ea typeface="Arial"/>
                  <a:cs typeface="Arial"/>
                  <a:sym typeface="Arial"/>
                </a:rPr>
                <a:t>Intensity</a:t>
              </a:r>
              <a:endParaRPr sz="1800">
                <a:solidFill>
                  <a:schemeClr val="dk1"/>
                </a:solidFill>
                <a:latin typeface="Arial"/>
                <a:ea typeface="Arial"/>
                <a:cs typeface="Arial"/>
                <a:sym typeface="Arial"/>
              </a:endParaRPr>
            </a:p>
          </p:txBody>
        </p:sp>
        <p:sp>
          <p:nvSpPr>
            <p:cNvPr id="378" name="Google Shape;378;p47"/>
            <p:cNvSpPr txBox="1"/>
            <p:nvPr/>
          </p:nvSpPr>
          <p:spPr>
            <a:xfrm>
              <a:off x="2296377" y="4513064"/>
              <a:ext cx="74652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79" name="Google Shape;379;p47"/>
            <p:cNvSpPr txBox="1"/>
            <p:nvPr/>
          </p:nvSpPr>
          <p:spPr>
            <a:xfrm>
              <a:off x="3260886" y="421644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2MNK</a:t>
              </a:r>
              <a:endParaRPr sz="1100"/>
            </a:p>
          </p:txBody>
        </p:sp>
        <p:cxnSp>
          <p:nvCxnSpPr>
            <p:cNvPr id="380" name="Google Shape;380;p47"/>
            <p:cNvCxnSpPr/>
            <p:nvPr/>
          </p:nvCxnSpPr>
          <p:spPr>
            <a:xfrm>
              <a:off x="2932270" y="4737884"/>
              <a:ext cx="2866209" cy="0"/>
            </a:xfrm>
            <a:prstGeom prst="straightConnector1">
              <a:avLst/>
            </a:prstGeom>
            <a:noFill/>
            <a:ln cap="flat" cmpd="sng" w="19050">
              <a:solidFill>
                <a:schemeClr val="accent1"/>
              </a:solidFill>
              <a:prstDash val="solid"/>
              <a:miter lim="800000"/>
              <a:headEnd len="sm" w="sm" type="none"/>
              <a:tailEnd len="sm" w="sm" type="none"/>
            </a:ln>
          </p:spPr>
        </p:cxnSp>
        <p:sp>
          <p:nvSpPr>
            <p:cNvPr id="381" name="Google Shape;381;p47"/>
            <p:cNvSpPr txBox="1"/>
            <p:nvPr/>
          </p:nvSpPr>
          <p:spPr>
            <a:xfrm>
              <a:off x="2775110" y="4768296"/>
              <a:ext cx="3166246"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2MN + 2NK + 2MK</a:t>
              </a:r>
              <a:endParaRPr sz="1100"/>
            </a:p>
          </p:txBody>
        </p:sp>
        <p:sp>
          <p:nvSpPr>
            <p:cNvPr id="382" name="Google Shape;382;p47"/>
            <p:cNvSpPr txBox="1"/>
            <p:nvPr/>
          </p:nvSpPr>
          <p:spPr>
            <a:xfrm>
              <a:off x="5732911" y="4507051"/>
              <a:ext cx="74652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83" name="Google Shape;383;p47"/>
            <p:cNvSpPr txBox="1"/>
            <p:nvPr/>
          </p:nvSpPr>
          <p:spPr>
            <a:xfrm>
              <a:off x="6636702" y="4216446"/>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2MNK</a:t>
              </a:r>
              <a:endParaRPr sz="1100"/>
            </a:p>
          </p:txBody>
        </p:sp>
        <p:cxnSp>
          <p:nvCxnSpPr>
            <p:cNvPr id="384" name="Google Shape;384;p47"/>
            <p:cNvCxnSpPr/>
            <p:nvPr/>
          </p:nvCxnSpPr>
          <p:spPr>
            <a:xfrm>
              <a:off x="6308086" y="4737884"/>
              <a:ext cx="2866209" cy="0"/>
            </a:xfrm>
            <a:prstGeom prst="straightConnector1">
              <a:avLst/>
            </a:prstGeom>
            <a:noFill/>
            <a:ln cap="flat" cmpd="sng" w="19050">
              <a:solidFill>
                <a:schemeClr val="accent1"/>
              </a:solidFill>
              <a:prstDash val="solid"/>
              <a:miter lim="800000"/>
              <a:headEnd len="sm" w="sm" type="none"/>
              <a:tailEnd len="sm" w="sm" type="none"/>
            </a:ln>
          </p:spPr>
        </p:cxnSp>
        <p:sp>
          <p:nvSpPr>
            <p:cNvPr id="385" name="Google Shape;385;p47"/>
            <p:cNvSpPr txBox="1"/>
            <p:nvPr/>
          </p:nvSpPr>
          <p:spPr>
            <a:xfrm>
              <a:off x="6150926" y="4768296"/>
              <a:ext cx="3166246"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2MN + 2NK + 2MK</a:t>
              </a:r>
              <a:endParaRPr sz="1100"/>
            </a:p>
          </p:txBody>
        </p:sp>
      </p:grpSp>
      <p:grpSp>
        <p:nvGrpSpPr>
          <p:cNvPr id="386" name="Google Shape;386;p47"/>
          <p:cNvGrpSpPr/>
          <p:nvPr/>
        </p:nvGrpSpPr>
        <p:grpSpPr>
          <a:xfrm>
            <a:off x="-52917" y="1183855"/>
            <a:ext cx="3131366" cy="689681"/>
            <a:chOff x="4212222" y="1484109"/>
            <a:chExt cx="4175155" cy="919575"/>
          </a:xfrm>
        </p:grpSpPr>
        <p:sp>
          <p:nvSpPr>
            <p:cNvPr id="387" name="Google Shape;387;p47"/>
            <p:cNvSpPr txBox="1"/>
            <p:nvPr/>
          </p:nvSpPr>
          <p:spPr>
            <a:xfrm>
              <a:off x="5009195" y="1942019"/>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1" lang="en" sz="1800">
                  <a:solidFill>
                    <a:schemeClr val="dk1"/>
                  </a:solidFill>
                  <a:latin typeface="Arial"/>
                  <a:ea typeface="Arial"/>
                  <a:cs typeface="Arial"/>
                  <a:sym typeface="Arial"/>
                </a:rPr>
                <a:t>X </a:t>
              </a:r>
              <a:r>
                <a:rPr lang="en" sz="1800">
                  <a:solidFill>
                    <a:schemeClr val="dk1"/>
                  </a:solidFill>
                </a:rPr>
                <a:t>@</a:t>
              </a:r>
              <a:r>
                <a:rPr b="0" i="0" lang="en" sz="1800">
                  <a:solidFill>
                    <a:schemeClr val="dk1"/>
                  </a:solidFill>
                  <a:latin typeface="Arial"/>
                  <a:ea typeface="Arial"/>
                  <a:cs typeface="Arial"/>
                  <a:sym typeface="Arial"/>
                </a:rPr>
                <a:t> </a:t>
              </a:r>
              <a:r>
                <a:rPr b="0" i="1" lang="en" sz="1800">
                  <a:solidFill>
                    <a:schemeClr val="dk1"/>
                  </a:solidFill>
                  <a:latin typeface="Arial"/>
                  <a:ea typeface="Arial"/>
                  <a:cs typeface="Arial"/>
                  <a:sym typeface="Arial"/>
                </a:rPr>
                <a:t>Y </a:t>
              </a:r>
              <a:r>
                <a:rPr b="0" i="0" lang="en" sz="1800">
                  <a:solidFill>
                    <a:schemeClr val="dk1"/>
                  </a:solidFill>
                  <a:latin typeface="Arial"/>
                  <a:ea typeface="Arial"/>
                  <a:cs typeface="Arial"/>
                  <a:sym typeface="Arial"/>
                </a:rPr>
                <a:t>→ </a:t>
              </a:r>
              <a:r>
                <a:rPr b="0" i="1" lang="en" sz="1800">
                  <a:solidFill>
                    <a:schemeClr val="dk1"/>
                  </a:solidFill>
                  <a:latin typeface="Arial"/>
                  <a:ea typeface="Arial"/>
                  <a:cs typeface="Arial"/>
                  <a:sym typeface="Arial"/>
                </a:rPr>
                <a:t>Z</a:t>
              </a:r>
              <a:endParaRPr sz="1800">
                <a:solidFill>
                  <a:schemeClr val="dk1"/>
                </a:solidFill>
                <a:latin typeface="Arial"/>
                <a:ea typeface="Arial"/>
                <a:cs typeface="Arial"/>
                <a:sym typeface="Arial"/>
              </a:endParaRPr>
            </a:p>
          </p:txBody>
        </p:sp>
        <p:sp>
          <p:nvSpPr>
            <p:cNvPr id="388" name="Google Shape;388;p47"/>
            <p:cNvSpPr txBox="1"/>
            <p:nvPr/>
          </p:nvSpPr>
          <p:spPr>
            <a:xfrm>
              <a:off x="4212222" y="1486358"/>
              <a:ext cx="2140671"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 sz="1800">
                  <a:solidFill>
                    <a:schemeClr val="dk1"/>
                  </a:solidFill>
                  <a:latin typeface="Arial"/>
                  <a:ea typeface="Arial"/>
                  <a:cs typeface="Arial"/>
                  <a:sym typeface="Arial"/>
                </a:rPr>
                <a:t>[M,N]</a:t>
              </a:r>
              <a:endParaRPr sz="1800">
                <a:solidFill>
                  <a:schemeClr val="dk1"/>
                </a:solidFill>
                <a:latin typeface="Arial"/>
                <a:ea typeface="Arial"/>
                <a:cs typeface="Arial"/>
                <a:sym typeface="Arial"/>
              </a:endParaRPr>
            </a:p>
          </p:txBody>
        </p:sp>
        <p:sp>
          <p:nvSpPr>
            <p:cNvPr id="389" name="Google Shape;389;p47"/>
            <p:cNvSpPr txBox="1"/>
            <p:nvPr/>
          </p:nvSpPr>
          <p:spPr>
            <a:xfrm>
              <a:off x="5235858" y="1486015"/>
              <a:ext cx="2140800" cy="461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 sz="1800">
                  <a:solidFill>
                    <a:schemeClr val="dk1"/>
                  </a:solidFill>
                  <a:latin typeface="Arial"/>
                  <a:ea typeface="Arial"/>
                  <a:cs typeface="Arial"/>
                  <a:sym typeface="Arial"/>
                </a:rPr>
                <a:t>[N,</a:t>
              </a:r>
              <a:r>
                <a:rPr lang="en" sz="1800">
                  <a:solidFill>
                    <a:schemeClr val="dk1"/>
                  </a:solidFill>
                  <a:latin typeface="Arial"/>
                  <a:ea typeface="Arial"/>
                  <a:cs typeface="Arial"/>
                  <a:sym typeface="Arial"/>
                </a:rPr>
                <a:t>K</a:t>
              </a:r>
              <a:r>
                <a:rPr b="0"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90" name="Google Shape;390;p47"/>
            <p:cNvSpPr txBox="1"/>
            <p:nvPr/>
          </p:nvSpPr>
          <p:spPr>
            <a:xfrm>
              <a:off x="6246577" y="1484109"/>
              <a:ext cx="2140800" cy="461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 sz="1800">
                  <a:solidFill>
                    <a:schemeClr val="dk1"/>
                  </a:solidFill>
                  <a:latin typeface="Arial"/>
                  <a:ea typeface="Arial"/>
                  <a:cs typeface="Arial"/>
                  <a:sym typeface="Arial"/>
                </a:rPr>
                <a:t>[M,K]</a:t>
              </a:r>
              <a:endParaRPr sz="1800">
                <a:solidFill>
                  <a:schemeClr val="dk1"/>
                </a:solidFill>
                <a:latin typeface="Arial"/>
                <a:ea typeface="Arial"/>
                <a:cs typeface="Arial"/>
                <a:sym typeface="Arial"/>
              </a:endParaRPr>
            </a:p>
          </p:txBody>
        </p:sp>
        <p:sp>
          <p:nvSpPr>
            <p:cNvPr id="391" name="Google Shape;391;p47"/>
            <p:cNvSpPr txBox="1"/>
            <p:nvPr/>
          </p:nvSpPr>
          <p:spPr>
            <a:xfrm>
              <a:off x="5559343" y="1488320"/>
              <a:ext cx="391500" cy="4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rPr>
                <a:t>@</a:t>
              </a:r>
              <a:endParaRPr sz="1800">
                <a:solidFill>
                  <a:schemeClr val="dk1"/>
                </a:solidFill>
                <a:latin typeface="Arial"/>
                <a:ea typeface="Arial"/>
                <a:cs typeface="Arial"/>
                <a:sym typeface="Arial"/>
              </a:endParaRPr>
            </a:p>
          </p:txBody>
        </p:sp>
        <p:sp>
          <p:nvSpPr>
            <p:cNvPr id="392" name="Google Shape;392;p47"/>
            <p:cNvSpPr txBox="1"/>
            <p:nvPr/>
          </p:nvSpPr>
          <p:spPr>
            <a:xfrm>
              <a:off x="6507542" y="1532924"/>
              <a:ext cx="67865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p:txBody>
        </p:sp>
      </p:grpSp>
      <p:grpSp>
        <p:nvGrpSpPr>
          <p:cNvPr id="393" name="Google Shape;393;p47"/>
          <p:cNvGrpSpPr/>
          <p:nvPr/>
        </p:nvGrpSpPr>
        <p:grpSpPr>
          <a:xfrm>
            <a:off x="448462" y="4146745"/>
            <a:ext cx="8383838" cy="877080"/>
            <a:chOff x="597949" y="5528993"/>
            <a:chExt cx="11178451" cy="1169440"/>
          </a:xfrm>
        </p:grpSpPr>
        <p:sp>
          <p:nvSpPr>
            <p:cNvPr id="394" name="Google Shape;394;p47"/>
            <p:cNvSpPr txBox="1"/>
            <p:nvPr/>
          </p:nvSpPr>
          <p:spPr>
            <a:xfrm>
              <a:off x="597949" y="5528993"/>
              <a:ext cx="10240822" cy="5232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rgbClr val="FFC000"/>
                  </a:solidFill>
                  <a:latin typeface="Arial"/>
                  <a:ea typeface="Arial"/>
                  <a:cs typeface="Arial"/>
                  <a:sym typeface="Arial"/>
                </a:rPr>
                <a:t>Matrix multiplication on H100 is compute-bound if M &gt;  333</a:t>
              </a:r>
              <a:endParaRPr sz="1100"/>
            </a:p>
          </p:txBody>
        </p:sp>
        <p:sp>
          <p:nvSpPr>
            <p:cNvPr id="395" name="Google Shape;395;p47"/>
            <p:cNvSpPr txBox="1"/>
            <p:nvPr/>
          </p:nvSpPr>
          <p:spPr>
            <a:xfrm>
              <a:off x="5140867" y="6236768"/>
              <a:ext cx="6635533" cy="4616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Critical intensity for H100 from 2 slides back</a:t>
              </a:r>
              <a:endParaRPr sz="1800">
                <a:solidFill>
                  <a:schemeClr val="dk1"/>
                </a:solidFill>
                <a:latin typeface="Arial"/>
                <a:ea typeface="Arial"/>
                <a:cs typeface="Arial"/>
                <a:sym typeface="Arial"/>
              </a:endParaRPr>
            </a:p>
          </p:txBody>
        </p:sp>
        <p:cxnSp>
          <p:nvCxnSpPr>
            <p:cNvPr id="396" name="Google Shape;396;p47"/>
            <p:cNvCxnSpPr/>
            <p:nvPr/>
          </p:nvCxnSpPr>
          <p:spPr>
            <a:xfrm>
              <a:off x="9384691" y="5952162"/>
              <a:ext cx="0" cy="313182"/>
            </a:xfrm>
            <a:prstGeom prst="straightConnector1">
              <a:avLst/>
            </a:prstGeom>
            <a:noFill/>
            <a:ln cap="flat" cmpd="sng" w="19050">
              <a:solidFill>
                <a:schemeClr val="dk1"/>
              </a:solidFill>
              <a:prstDash val="dash"/>
              <a:miter lim="800000"/>
              <a:headEnd len="sm" w="sm" type="none"/>
              <a:tailEnd len="med" w="med" type="triangle"/>
            </a:ln>
          </p:spPr>
        </p:cxnSp>
      </p:grpSp>
      <p:grpSp>
        <p:nvGrpSpPr>
          <p:cNvPr id="397" name="Google Shape;397;p47"/>
          <p:cNvGrpSpPr/>
          <p:nvPr/>
        </p:nvGrpSpPr>
        <p:grpSpPr>
          <a:xfrm>
            <a:off x="5932034" y="1161401"/>
            <a:ext cx="3491541" cy="2610125"/>
            <a:chOff x="7909379" y="1548534"/>
            <a:chExt cx="4655388" cy="3480167"/>
          </a:xfrm>
        </p:grpSpPr>
        <p:sp>
          <p:nvSpPr>
            <p:cNvPr id="398" name="Google Shape;398;p47"/>
            <p:cNvSpPr txBox="1"/>
            <p:nvPr/>
          </p:nvSpPr>
          <p:spPr>
            <a:xfrm>
              <a:off x="9259730" y="4382370"/>
              <a:ext cx="746521" cy="64633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2700">
                  <a:solidFill>
                    <a:schemeClr val="dk1"/>
                  </a:solidFill>
                  <a:latin typeface="Arial"/>
                  <a:ea typeface="Arial"/>
                  <a:cs typeface="Arial"/>
                  <a:sym typeface="Arial"/>
                </a:rPr>
                <a:t>≈</a:t>
              </a:r>
              <a:endParaRPr sz="2700">
                <a:solidFill>
                  <a:schemeClr val="dk1"/>
                </a:solidFill>
                <a:latin typeface="Arial"/>
                <a:ea typeface="Arial"/>
                <a:cs typeface="Arial"/>
                <a:sym typeface="Arial"/>
              </a:endParaRPr>
            </a:p>
          </p:txBody>
        </p:sp>
        <p:grpSp>
          <p:nvGrpSpPr>
            <p:cNvPr id="399" name="Google Shape;399;p47"/>
            <p:cNvGrpSpPr/>
            <p:nvPr/>
          </p:nvGrpSpPr>
          <p:grpSpPr>
            <a:xfrm>
              <a:off x="7909379" y="1548534"/>
              <a:ext cx="4655388" cy="3374697"/>
              <a:chOff x="7909379" y="1548534"/>
              <a:chExt cx="4655388" cy="3374697"/>
            </a:xfrm>
          </p:grpSpPr>
          <p:grpSp>
            <p:nvGrpSpPr>
              <p:cNvPr id="400" name="Google Shape;400;p47"/>
              <p:cNvGrpSpPr/>
              <p:nvPr/>
            </p:nvGrpSpPr>
            <p:grpSpPr>
              <a:xfrm>
                <a:off x="7909379" y="1548534"/>
                <a:ext cx="4655388" cy="3374697"/>
                <a:chOff x="7909379" y="1548534"/>
                <a:chExt cx="4655388" cy="3374697"/>
              </a:xfrm>
            </p:grpSpPr>
            <p:grpSp>
              <p:nvGrpSpPr>
                <p:cNvPr id="401" name="Google Shape;401;p47"/>
                <p:cNvGrpSpPr/>
                <p:nvPr/>
              </p:nvGrpSpPr>
              <p:grpSpPr>
                <a:xfrm>
                  <a:off x="8265410" y="1548534"/>
                  <a:ext cx="4299357" cy="3374697"/>
                  <a:chOff x="8265410" y="1548534"/>
                  <a:chExt cx="4299357" cy="3374697"/>
                </a:xfrm>
              </p:grpSpPr>
              <p:sp>
                <p:nvSpPr>
                  <p:cNvPr id="402" name="Google Shape;402;p47"/>
                  <p:cNvSpPr txBox="1"/>
                  <p:nvPr/>
                </p:nvSpPr>
                <p:spPr>
                  <a:xfrm>
                    <a:off x="8265410" y="1548534"/>
                    <a:ext cx="4299357" cy="156966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dk1"/>
                        </a:solidFill>
                        <a:latin typeface="Arial"/>
                        <a:ea typeface="Arial"/>
                        <a:cs typeface="Arial"/>
                        <a:sym typeface="Arial"/>
                      </a:rPr>
                      <a:t>Transformer matrix multiplications </a:t>
                    </a:r>
                    <a:endParaRPr sz="1100"/>
                  </a:p>
                  <a:p>
                    <a:pPr indent="0" lvl="0" marL="0" marR="0" rtl="0" algn="ctr">
                      <a:spcBef>
                        <a:spcPts val="0"/>
                      </a:spcBef>
                      <a:spcAft>
                        <a:spcPts val="0"/>
                      </a:spcAft>
                      <a:buNone/>
                    </a:pPr>
                    <a:r>
                      <a:rPr b="1" lang="en" sz="1800">
                        <a:solidFill>
                          <a:schemeClr val="dk1"/>
                        </a:solidFill>
                        <a:latin typeface="Arial"/>
                        <a:ea typeface="Arial"/>
                        <a:cs typeface="Arial"/>
                        <a:sym typeface="Arial"/>
                      </a:rPr>
                      <a:t>(e.g., QKV generation):  </a:t>
                    </a:r>
                    <a:endParaRPr sz="1100"/>
                  </a:p>
                  <a:p>
                    <a:pPr indent="0" lvl="0" marL="0" marR="0" rtl="0" algn="ctr">
                      <a:spcBef>
                        <a:spcPts val="0"/>
                      </a:spcBef>
                      <a:spcAft>
                        <a:spcPts val="0"/>
                      </a:spcAft>
                      <a:buNone/>
                    </a:pPr>
                    <a:r>
                      <a:rPr b="1" lang="en" sz="1800">
                        <a:solidFill>
                          <a:schemeClr val="dk1"/>
                        </a:solidFill>
                        <a:latin typeface="Arial"/>
                        <a:ea typeface="Arial"/>
                        <a:cs typeface="Arial"/>
                        <a:sym typeface="Arial"/>
                      </a:rPr>
                      <a:t>N,K &gt;&gt; M</a:t>
                    </a:r>
                    <a:endParaRPr sz="1100"/>
                  </a:p>
                </p:txBody>
              </p:sp>
              <p:sp>
                <p:nvSpPr>
                  <p:cNvPr id="403" name="Google Shape;403;p47"/>
                  <p:cNvSpPr txBox="1"/>
                  <p:nvPr/>
                </p:nvSpPr>
                <p:spPr>
                  <a:xfrm>
                    <a:off x="9425536" y="4461566"/>
                    <a:ext cx="1413235" cy="4616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M</a:t>
                    </a:r>
                    <a:endParaRPr sz="1100"/>
                  </a:p>
                </p:txBody>
              </p:sp>
              <p:cxnSp>
                <p:nvCxnSpPr>
                  <p:cNvPr id="404" name="Google Shape;404;p47"/>
                  <p:cNvCxnSpPr>
                    <a:stCxn id="398" idx="0"/>
                  </p:cNvCxnSpPr>
                  <p:nvPr/>
                </p:nvCxnSpPr>
                <p:spPr>
                  <a:xfrm flipH="1" rot="10800000">
                    <a:off x="9632991" y="3672570"/>
                    <a:ext cx="433500" cy="709800"/>
                  </a:xfrm>
                  <a:prstGeom prst="straightConnector1">
                    <a:avLst/>
                  </a:prstGeom>
                  <a:noFill/>
                  <a:ln cap="flat" cmpd="sng" w="19050">
                    <a:solidFill>
                      <a:schemeClr val="dk1"/>
                    </a:solidFill>
                    <a:prstDash val="dash"/>
                    <a:miter lim="800000"/>
                    <a:headEnd len="sm" w="sm" type="none"/>
                    <a:tailEnd len="med" w="med" type="triangle"/>
                  </a:ln>
                </p:spPr>
              </p:cxnSp>
            </p:grpSp>
            <p:sp>
              <p:nvSpPr>
                <p:cNvPr id="405" name="Google Shape;405;p47"/>
                <p:cNvSpPr txBox="1"/>
                <p:nvPr/>
              </p:nvSpPr>
              <p:spPr>
                <a:xfrm>
                  <a:off x="10838771" y="3041195"/>
                  <a:ext cx="1032737"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200">
                      <a:solidFill>
                        <a:srgbClr val="0070C0"/>
                      </a:solidFill>
                      <a:latin typeface="Arial"/>
                      <a:ea typeface="Arial"/>
                      <a:cs typeface="Arial"/>
                      <a:sym typeface="Arial"/>
                    </a:rPr>
                    <a:t>seq_len</a:t>
                  </a:r>
                  <a:endParaRPr b="1" sz="1200">
                    <a:solidFill>
                      <a:srgbClr val="0070C0"/>
                    </a:solidFill>
                    <a:latin typeface="Arial"/>
                    <a:ea typeface="Arial"/>
                    <a:cs typeface="Arial"/>
                    <a:sym typeface="Arial"/>
                  </a:endParaRPr>
                </a:p>
              </p:txBody>
            </p:sp>
            <p:sp>
              <p:nvSpPr>
                <p:cNvPr id="406" name="Google Shape;406;p47"/>
                <p:cNvSpPr txBox="1"/>
                <p:nvPr/>
              </p:nvSpPr>
              <p:spPr>
                <a:xfrm>
                  <a:off x="7909379" y="2987750"/>
                  <a:ext cx="2770553" cy="58477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200">
                      <a:solidFill>
                        <a:srgbClr val="0070C0"/>
                      </a:solidFill>
                      <a:latin typeface="Arial"/>
                      <a:ea typeface="Arial"/>
                      <a:cs typeface="Arial"/>
                      <a:sym typeface="Arial"/>
                    </a:rPr>
                    <a:t>hidden_dim, num_qo_heads*head_dim </a:t>
                  </a:r>
                  <a:endParaRPr sz="1100"/>
                </a:p>
              </p:txBody>
            </p:sp>
          </p:grpSp>
          <p:sp>
            <p:nvSpPr>
              <p:cNvPr id="407" name="Google Shape;407;p47"/>
              <p:cNvSpPr/>
              <p:nvPr/>
            </p:nvSpPr>
            <p:spPr>
              <a:xfrm>
                <a:off x="7909379" y="1578474"/>
                <a:ext cx="4175529" cy="1994050"/>
              </a:xfrm>
              <a:prstGeom prst="rect">
                <a:avLst/>
              </a:prstGeom>
              <a:noFill/>
              <a:ln cap="flat" cmpd="sng" w="19050">
                <a:solidFill>
                  <a:srgbClr val="082836"/>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grpSp>
      <p:sp>
        <p:nvSpPr>
          <p:cNvPr id="408" name="Google Shape;408;p47"/>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Decoder-Only Transformer Architecture</a:t>
            </a:r>
            <a:endParaRPr/>
          </a:p>
        </p:txBody>
      </p:sp>
      <p:sp>
        <p:nvSpPr>
          <p:cNvPr id="414" name="Google Shape;414;p48"/>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pic>
        <p:nvPicPr>
          <p:cNvPr id="415" name="Google Shape;415;p48"/>
          <p:cNvPicPr preferRelativeResize="0"/>
          <p:nvPr/>
        </p:nvPicPr>
        <p:blipFill rotWithShape="1">
          <a:blip r:embed="rId3">
            <a:alphaModFix/>
          </a:blip>
          <a:srcRect b="0" l="0" r="0" t="0"/>
          <a:stretch/>
        </p:blipFill>
        <p:spPr>
          <a:xfrm>
            <a:off x="97974" y="1130934"/>
            <a:ext cx="9046026" cy="2492604"/>
          </a:xfrm>
          <a:prstGeom prst="rect">
            <a:avLst/>
          </a:prstGeom>
          <a:noFill/>
          <a:ln>
            <a:noFill/>
          </a:ln>
        </p:spPr>
      </p:pic>
      <p:pic>
        <p:nvPicPr>
          <p:cNvPr id="416" name="Google Shape;416;p48"/>
          <p:cNvPicPr preferRelativeResize="0"/>
          <p:nvPr/>
        </p:nvPicPr>
        <p:blipFill rotWithShape="1">
          <a:blip r:embed="rId4">
            <a:alphaModFix/>
          </a:blip>
          <a:srcRect b="0" l="0" r="0" t="0"/>
          <a:stretch/>
        </p:blipFill>
        <p:spPr>
          <a:xfrm>
            <a:off x="4235687" y="1543322"/>
            <a:ext cx="1423481" cy="1653428"/>
          </a:xfrm>
          <a:prstGeom prst="rect">
            <a:avLst/>
          </a:prstGeom>
          <a:noFill/>
          <a:ln>
            <a:noFill/>
          </a:ln>
        </p:spPr>
      </p:pic>
      <p:pic>
        <p:nvPicPr>
          <p:cNvPr id="417" name="Google Shape;417;p48"/>
          <p:cNvPicPr preferRelativeResize="0"/>
          <p:nvPr/>
        </p:nvPicPr>
        <p:blipFill rotWithShape="1">
          <a:blip r:embed="rId5">
            <a:alphaModFix/>
          </a:blip>
          <a:srcRect b="0" l="0" r="0" t="0"/>
          <a:stretch/>
        </p:blipFill>
        <p:spPr>
          <a:xfrm>
            <a:off x="5343704" y="1678006"/>
            <a:ext cx="2083930" cy="902665"/>
          </a:xfrm>
          <a:prstGeom prst="rect">
            <a:avLst/>
          </a:prstGeom>
          <a:noFill/>
          <a:ln>
            <a:noFill/>
          </a:ln>
        </p:spPr>
      </p:pic>
      <p:pic>
        <p:nvPicPr>
          <p:cNvPr id="418" name="Google Shape;418;p48"/>
          <p:cNvPicPr preferRelativeResize="0"/>
          <p:nvPr/>
        </p:nvPicPr>
        <p:blipFill rotWithShape="1">
          <a:blip r:embed="rId6">
            <a:alphaModFix/>
          </a:blip>
          <a:srcRect b="0" l="0" r="0" t="0"/>
          <a:stretch/>
        </p:blipFill>
        <p:spPr>
          <a:xfrm>
            <a:off x="5342360" y="2167751"/>
            <a:ext cx="2095075" cy="824657"/>
          </a:xfrm>
          <a:prstGeom prst="rect">
            <a:avLst/>
          </a:prstGeom>
          <a:noFill/>
          <a:ln>
            <a:noFill/>
          </a:ln>
        </p:spPr>
      </p:pic>
      <p:pic>
        <p:nvPicPr>
          <p:cNvPr id="419" name="Google Shape;419;p48"/>
          <p:cNvPicPr preferRelativeResize="0"/>
          <p:nvPr/>
        </p:nvPicPr>
        <p:blipFill rotWithShape="1">
          <a:blip r:embed="rId7">
            <a:alphaModFix/>
          </a:blip>
          <a:srcRect b="0" l="0" r="0" t="0"/>
          <a:stretch/>
        </p:blipFill>
        <p:spPr>
          <a:xfrm>
            <a:off x="7105651" y="1543322"/>
            <a:ext cx="457805" cy="1656818"/>
          </a:xfrm>
          <a:prstGeom prst="rect">
            <a:avLst/>
          </a:prstGeom>
          <a:noFill/>
          <a:ln>
            <a:noFill/>
          </a:ln>
        </p:spPr>
      </p:pic>
      <p:pic>
        <p:nvPicPr>
          <p:cNvPr id="420" name="Google Shape;420;p48"/>
          <p:cNvPicPr preferRelativeResize="0"/>
          <p:nvPr/>
        </p:nvPicPr>
        <p:blipFill rotWithShape="1">
          <a:blip r:embed="rId8">
            <a:alphaModFix/>
          </a:blip>
          <a:srcRect b="0" l="0" r="0" t="0"/>
          <a:stretch/>
        </p:blipFill>
        <p:spPr>
          <a:xfrm>
            <a:off x="7257954" y="1507718"/>
            <a:ext cx="1718694" cy="1653428"/>
          </a:xfrm>
          <a:prstGeom prst="rect">
            <a:avLst/>
          </a:prstGeom>
          <a:noFill/>
          <a:ln>
            <a:noFill/>
          </a:ln>
        </p:spPr>
      </p:pic>
      <p:grpSp>
        <p:nvGrpSpPr>
          <p:cNvPr id="421" name="Google Shape;421;p48"/>
          <p:cNvGrpSpPr/>
          <p:nvPr/>
        </p:nvGrpSpPr>
        <p:grpSpPr>
          <a:xfrm>
            <a:off x="744184" y="2262892"/>
            <a:ext cx="7777522" cy="1057824"/>
            <a:chOff x="744183" y="2262892"/>
            <a:chExt cx="7777522" cy="1057824"/>
          </a:xfrm>
        </p:grpSpPr>
        <p:cxnSp>
          <p:nvCxnSpPr>
            <p:cNvPr id="422" name="Google Shape;422;p48"/>
            <p:cNvCxnSpPr/>
            <p:nvPr/>
          </p:nvCxnSpPr>
          <p:spPr>
            <a:xfrm>
              <a:off x="4956437" y="2372154"/>
              <a:ext cx="105517" cy="0"/>
            </a:xfrm>
            <a:prstGeom prst="straightConnector1">
              <a:avLst/>
            </a:prstGeom>
            <a:noFill/>
            <a:ln cap="flat" cmpd="sng" w="12700">
              <a:solidFill>
                <a:schemeClr val="dk1"/>
              </a:solidFill>
              <a:prstDash val="solid"/>
              <a:miter lim="800000"/>
              <a:headEnd len="sm" w="sm" type="none"/>
              <a:tailEnd len="med" w="med" type="stealth"/>
            </a:ln>
          </p:spPr>
        </p:cxnSp>
        <p:cxnSp>
          <p:nvCxnSpPr>
            <p:cNvPr id="423" name="Google Shape;423;p48"/>
            <p:cNvCxnSpPr/>
            <p:nvPr/>
          </p:nvCxnSpPr>
          <p:spPr>
            <a:xfrm>
              <a:off x="744183" y="3320716"/>
              <a:ext cx="4389120" cy="0"/>
            </a:xfrm>
            <a:prstGeom prst="straightConnector1">
              <a:avLst/>
            </a:prstGeom>
            <a:noFill/>
            <a:ln cap="flat" cmpd="sng" w="12700">
              <a:solidFill>
                <a:schemeClr val="dk1"/>
              </a:solidFill>
              <a:prstDash val="solid"/>
              <a:miter lim="800000"/>
              <a:headEnd len="sm" w="sm" type="none"/>
              <a:tailEnd len="sm" w="sm" type="none"/>
            </a:ln>
          </p:spPr>
        </p:cxnSp>
        <p:cxnSp>
          <p:nvCxnSpPr>
            <p:cNvPr id="424" name="Google Shape;424;p48"/>
            <p:cNvCxnSpPr/>
            <p:nvPr/>
          </p:nvCxnSpPr>
          <p:spPr>
            <a:xfrm rot="10800000">
              <a:off x="748397"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425" name="Google Shape;425;p48"/>
            <p:cNvCxnSpPr/>
            <p:nvPr/>
          </p:nvCxnSpPr>
          <p:spPr>
            <a:xfrm rot="10800000">
              <a:off x="5125781" y="2429564"/>
              <a:ext cx="2892" cy="891152"/>
            </a:xfrm>
            <a:prstGeom prst="straightConnector1">
              <a:avLst/>
            </a:prstGeom>
            <a:noFill/>
            <a:ln cap="flat" cmpd="sng" w="12700">
              <a:solidFill>
                <a:schemeClr val="dk1"/>
              </a:solidFill>
              <a:prstDash val="solid"/>
              <a:miter lim="800000"/>
              <a:headEnd len="sm" w="sm" type="none"/>
              <a:tailEnd len="med" w="med" type="stealth"/>
            </a:ln>
          </p:spPr>
        </p:cxnSp>
        <p:cxnSp>
          <p:nvCxnSpPr>
            <p:cNvPr id="426" name="Google Shape;426;p48"/>
            <p:cNvCxnSpPr>
              <a:endCxn id="427" idx="4"/>
            </p:cNvCxnSpPr>
            <p:nvPr/>
          </p:nvCxnSpPr>
          <p:spPr>
            <a:xfrm rot="10800000">
              <a:off x="8459005" y="2388292"/>
              <a:ext cx="2700" cy="932400"/>
            </a:xfrm>
            <a:prstGeom prst="straightConnector1">
              <a:avLst/>
            </a:prstGeom>
            <a:noFill/>
            <a:ln cap="flat" cmpd="sng" w="12700">
              <a:solidFill>
                <a:schemeClr val="dk1"/>
              </a:solidFill>
              <a:prstDash val="solid"/>
              <a:miter lim="800000"/>
              <a:headEnd len="sm" w="sm" type="none"/>
              <a:tailEnd len="med" w="med" type="stealth"/>
            </a:ln>
          </p:spPr>
        </p:cxnSp>
        <p:sp>
          <p:nvSpPr>
            <p:cNvPr id="428" name="Google Shape;428;p48"/>
            <p:cNvSpPr/>
            <p:nvPr/>
          </p:nvSpPr>
          <p:spPr>
            <a:xfrm>
              <a:off x="5061954" y="2304115"/>
              <a:ext cx="125449" cy="125449"/>
            </a:xfrm>
            <a:prstGeom prst="ellipse">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p>
          </p:txBody>
        </p:sp>
        <p:cxnSp>
          <p:nvCxnSpPr>
            <p:cNvPr id="429" name="Google Shape;429;p48"/>
            <p:cNvCxnSpPr/>
            <p:nvPr/>
          </p:nvCxnSpPr>
          <p:spPr>
            <a:xfrm>
              <a:off x="5203954" y="3320716"/>
              <a:ext cx="3265238" cy="0"/>
            </a:xfrm>
            <a:prstGeom prst="straightConnector1">
              <a:avLst/>
            </a:prstGeom>
            <a:noFill/>
            <a:ln cap="flat" cmpd="sng" w="12700">
              <a:solidFill>
                <a:schemeClr val="dk1"/>
              </a:solidFill>
              <a:prstDash val="solid"/>
              <a:miter lim="800000"/>
              <a:headEnd len="sm" w="sm" type="none"/>
              <a:tailEnd len="sm" w="sm" type="none"/>
            </a:ln>
          </p:spPr>
        </p:cxnSp>
        <p:cxnSp>
          <p:nvCxnSpPr>
            <p:cNvPr id="430" name="Google Shape;430;p48"/>
            <p:cNvCxnSpPr/>
            <p:nvPr/>
          </p:nvCxnSpPr>
          <p:spPr>
            <a:xfrm rot="10800000">
              <a:off x="5206766" y="2374348"/>
              <a:ext cx="0" cy="946368"/>
            </a:xfrm>
            <a:prstGeom prst="straightConnector1">
              <a:avLst/>
            </a:prstGeom>
            <a:noFill/>
            <a:ln cap="flat" cmpd="sng" w="12700">
              <a:solidFill>
                <a:schemeClr val="dk1"/>
              </a:solidFill>
              <a:prstDash val="solid"/>
              <a:miter lim="800000"/>
              <a:headEnd len="sm" w="sm" type="none"/>
              <a:tailEnd len="sm" w="sm" type="none"/>
            </a:ln>
          </p:spPr>
        </p:cxnSp>
        <p:sp>
          <p:nvSpPr>
            <p:cNvPr id="427" name="Google Shape;427;p48"/>
            <p:cNvSpPr/>
            <p:nvPr/>
          </p:nvSpPr>
          <p:spPr>
            <a:xfrm>
              <a:off x="8396305" y="2262892"/>
              <a:ext cx="125400" cy="125400"/>
            </a:xfrm>
            <a:prstGeom prst="ellipse">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p>
          </p:txBody>
        </p:sp>
        <p:cxnSp>
          <p:nvCxnSpPr>
            <p:cNvPr id="431" name="Google Shape;431;p48"/>
            <p:cNvCxnSpPr/>
            <p:nvPr/>
          </p:nvCxnSpPr>
          <p:spPr>
            <a:xfrm>
              <a:off x="8299590" y="2329574"/>
              <a:ext cx="105517" cy="0"/>
            </a:xfrm>
            <a:prstGeom prst="straightConnector1">
              <a:avLst/>
            </a:prstGeom>
            <a:noFill/>
            <a:ln cap="flat" cmpd="sng" w="12700">
              <a:solidFill>
                <a:schemeClr val="dk1"/>
              </a:solidFill>
              <a:prstDash val="solid"/>
              <a:miter lim="800000"/>
              <a:headEnd len="sm" w="sm" type="none"/>
              <a:tailEnd len="med" w="med" type="stealth"/>
            </a:ln>
          </p:spPr>
        </p:cxnSp>
      </p:grpSp>
      <p:pic>
        <p:nvPicPr>
          <p:cNvPr descr="Blank Yin Yang Clip Art at Clker.com - vector clip art online, royalty free  &amp; public domain" id="432" name="Google Shape;432;p48"/>
          <p:cNvPicPr preferRelativeResize="0"/>
          <p:nvPr/>
        </p:nvPicPr>
        <p:blipFill rotWithShape="1">
          <a:blip r:embed="rId9">
            <a:alphaModFix/>
          </a:blip>
          <a:srcRect b="0" l="0" r="0" t="0"/>
          <a:stretch/>
        </p:blipFill>
        <p:spPr>
          <a:xfrm rot="5400000">
            <a:off x="2154578" y="1620407"/>
            <a:ext cx="169793" cy="169793"/>
          </a:xfrm>
          <a:prstGeom prst="rect">
            <a:avLst/>
          </a:prstGeom>
          <a:noFill/>
          <a:ln>
            <a:noFill/>
          </a:ln>
        </p:spPr>
      </p:pic>
      <p:pic>
        <p:nvPicPr>
          <p:cNvPr descr="Blank Yin Yang Clip Art at Clker.com - vector clip art online, royalty free  &amp; public domain" id="433" name="Google Shape;433;p48"/>
          <p:cNvPicPr preferRelativeResize="0"/>
          <p:nvPr/>
        </p:nvPicPr>
        <p:blipFill rotWithShape="1">
          <a:blip r:embed="rId9">
            <a:alphaModFix/>
          </a:blip>
          <a:srcRect b="0" l="0" r="0" t="0"/>
          <a:stretch/>
        </p:blipFill>
        <p:spPr>
          <a:xfrm rot="5400000">
            <a:off x="2154578" y="2144000"/>
            <a:ext cx="169793" cy="169793"/>
          </a:xfrm>
          <a:prstGeom prst="rect">
            <a:avLst/>
          </a:prstGeom>
          <a:noFill/>
          <a:ln>
            <a:noFill/>
          </a:ln>
        </p:spPr>
      </p:pic>
      <p:sp>
        <p:nvSpPr>
          <p:cNvPr id="434" name="Google Shape;434;p48"/>
          <p:cNvSpPr/>
          <p:nvPr/>
        </p:nvSpPr>
        <p:spPr>
          <a:xfrm>
            <a:off x="8623723" y="1507725"/>
            <a:ext cx="269400" cy="16533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48"/>
          <p:cNvSpPr txBox="1"/>
          <p:nvPr/>
        </p:nvSpPr>
        <p:spPr>
          <a:xfrm>
            <a:off x="4990288" y="2185413"/>
            <a:ext cx="269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rPr>
              <a:t>+</a:t>
            </a:r>
            <a:endParaRPr sz="1100">
              <a:solidFill>
                <a:schemeClr val="lt1"/>
              </a:solidFill>
            </a:endParaRPr>
          </a:p>
        </p:txBody>
      </p:sp>
      <p:sp>
        <p:nvSpPr>
          <p:cNvPr id="436" name="Google Shape;436;p48"/>
          <p:cNvSpPr txBox="1"/>
          <p:nvPr/>
        </p:nvSpPr>
        <p:spPr>
          <a:xfrm>
            <a:off x="8326313" y="2147010"/>
            <a:ext cx="269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rPr>
              <a:t>+</a:t>
            </a:r>
            <a:endParaRPr sz="1100">
              <a:solidFill>
                <a:schemeClr val="lt1"/>
              </a:solidFill>
            </a:endParaRPr>
          </a:p>
        </p:txBody>
      </p:sp>
      <p:sp>
        <p:nvSpPr>
          <p:cNvPr id="437" name="Google Shape;437;p48"/>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Key Factors For Serving Throughput – Hardware Spec</a:t>
            </a:r>
            <a:endParaRPr/>
          </a:p>
        </p:txBody>
      </p:sp>
      <p:sp>
        <p:nvSpPr>
          <p:cNvPr id="444" name="Google Shape;444;p4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0" lvl="0" marL="114300" rtl="0" algn="l">
              <a:lnSpc>
                <a:spcPct val="90000"/>
              </a:lnSpc>
              <a:spcBef>
                <a:spcPts val="0"/>
              </a:spcBef>
              <a:spcAft>
                <a:spcPts val="0"/>
              </a:spcAft>
              <a:buClr>
                <a:srgbClr val="0070C0"/>
              </a:buClr>
              <a:buSzPts val="1400"/>
              <a:buNone/>
            </a:pPr>
            <a:r>
              <a:rPr b="1" lang="en">
                <a:solidFill>
                  <a:srgbClr val="0070C0"/>
                </a:solidFill>
              </a:rPr>
              <a:t>N</a:t>
            </a:r>
            <a:r>
              <a:rPr b="1" baseline="-25000" lang="en">
                <a:solidFill>
                  <a:srgbClr val="0070C0"/>
                </a:solidFill>
              </a:rPr>
              <a:t>GPU</a:t>
            </a:r>
            <a:r>
              <a:rPr lang="en"/>
              <a:t>: number of GPUs</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MemBW</a:t>
            </a:r>
            <a:r>
              <a:rPr lang="en"/>
              <a:t> (GB/s): aggregate GPU memory bandwidth</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GPU</a:t>
            </a:r>
            <a:r>
              <a:rPr b="1" baseline="-25000" lang="en">
                <a:solidFill>
                  <a:srgbClr val="0070C0"/>
                </a:solidFill>
              </a:rPr>
              <a:t>mem</a:t>
            </a:r>
            <a:r>
              <a:rPr b="1" lang="en">
                <a:solidFill>
                  <a:srgbClr val="0070C0"/>
                </a:solidFill>
              </a:rPr>
              <a:t> </a:t>
            </a:r>
            <a:r>
              <a:rPr lang="en"/>
              <a:t>(GB): aggregate GPU memory capacity</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Compute</a:t>
            </a:r>
            <a:r>
              <a:rPr lang="en"/>
              <a:t> (GFLOPS/s): aggregate GPU compute capacity</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NetBW</a:t>
            </a:r>
            <a:r>
              <a:rPr lang="en"/>
              <a:t> (GB/s): aggregate GPU interconnect bandwidth</a:t>
            </a:r>
            <a:endParaRPr/>
          </a:p>
          <a:p>
            <a:pPr indent="-254000" lvl="0" marL="457200" rtl="0" algn="l">
              <a:lnSpc>
                <a:spcPct val="90000"/>
              </a:lnSpc>
              <a:spcBef>
                <a:spcPts val="0"/>
              </a:spcBef>
              <a:spcAft>
                <a:spcPts val="0"/>
              </a:spcAft>
              <a:buClr>
                <a:schemeClr val="dk1"/>
              </a:buClr>
              <a:buSzPts val="1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Key Factors For Serving Throughput – Model Config</a:t>
            </a:r>
            <a:endParaRPr/>
          </a:p>
        </p:txBody>
      </p:sp>
      <p:sp>
        <p:nvSpPr>
          <p:cNvPr id="451" name="Google Shape;451;p50"/>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0" lvl="0" marL="114300" rtl="0" algn="l">
              <a:lnSpc>
                <a:spcPct val="90000"/>
              </a:lnSpc>
              <a:spcBef>
                <a:spcPts val="0"/>
              </a:spcBef>
              <a:spcAft>
                <a:spcPts val="0"/>
              </a:spcAft>
              <a:buClr>
                <a:srgbClr val="0070C0"/>
              </a:buClr>
              <a:buSzPts val="1400"/>
              <a:buNone/>
            </a:pPr>
            <a:r>
              <a:rPr b="1" lang="en">
                <a:solidFill>
                  <a:srgbClr val="0070C0"/>
                </a:solidFill>
              </a:rPr>
              <a:t>D</a:t>
            </a:r>
            <a:r>
              <a:rPr b="1" baseline="-25000" lang="en">
                <a:solidFill>
                  <a:srgbClr val="0070C0"/>
                </a:solidFill>
              </a:rPr>
              <a:t>model</a:t>
            </a:r>
            <a:r>
              <a:rPr lang="en"/>
              <a:t>: hidden dimension size (hidden_dim)</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L</a:t>
            </a:r>
            <a:r>
              <a:rPr lang="en"/>
              <a:t>: number of layers</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P</a:t>
            </a:r>
            <a:r>
              <a:rPr b="1" baseline="-25000" lang="en">
                <a:solidFill>
                  <a:srgbClr val="0070C0"/>
                </a:solidFill>
              </a:rPr>
              <a:t>model</a:t>
            </a:r>
            <a:r>
              <a:rPr lang="en"/>
              <a:t>: number of parameters</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R</a:t>
            </a:r>
            <a:r>
              <a:rPr b="1" baseline="-25000" lang="en">
                <a:solidFill>
                  <a:srgbClr val="0070C0"/>
                </a:solidFill>
              </a:rPr>
              <a:t>GQA</a:t>
            </a:r>
            <a:r>
              <a:rPr lang="en"/>
              <a:t>: group size of GQA (group_size)</a:t>
            </a:r>
            <a:endParaRPr/>
          </a:p>
          <a:p>
            <a:pPr indent="-254000" lvl="0" marL="457200" rtl="0" algn="l">
              <a:lnSpc>
                <a:spcPct val="90000"/>
              </a:lnSpc>
              <a:spcBef>
                <a:spcPts val="0"/>
              </a:spcBef>
              <a:spcAft>
                <a:spcPts val="0"/>
              </a:spcAft>
              <a:buClr>
                <a:schemeClr val="dk1"/>
              </a:buClr>
              <a:buSzPts val="1400"/>
              <a:buNone/>
            </a:pPr>
            <a:r>
              <a:t/>
            </a:r>
            <a:endParaRPr/>
          </a:p>
          <a:p>
            <a:pPr indent="0" lvl="0" marL="114300" rtl="0" algn="l">
              <a:lnSpc>
                <a:spcPct val="90000"/>
              </a:lnSpc>
              <a:spcBef>
                <a:spcPts val="0"/>
              </a:spcBef>
              <a:spcAft>
                <a:spcPts val="0"/>
              </a:spcAft>
              <a:buClr>
                <a:srgbClr val="0070C0"/>
              </a:buClr>
              <a:buSzPts val="1400"/>
              <a:buNone/>
            </a:pPr>
            <a:r>
              <a:rPr b="1" lang="en">
                <a:solidFill>
                  <a:srgbClr val="0070C0"/>
                </a:solidFill>
              </a:rPr>
              <a:t>S</a:t>
            </a:r>
            <a:r>
              <a:rPr b="1" baseline="-25000" lang="en">
                <a:solidFill>
                  <a:srgbClr val="0070C0"/>
                </a:solidFill>
              </a:rPr>
              <a:t>Type</a:t>
            </a:r>
            <a:r>
              <a:rPr lang="en"/>
              <a:t>: Model parameters’ data size in bytes (e.g., 2 for FP16)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Key Factors For Serving Throughput – User Stats</a:t>
            </a:r>
            <a:endParaRPr/>
          </a:p>
        </p:txBody>
      </p:sp>
      <p:sp>
        <p:nvSpPr>
          <p:cNvPr id="458" name="Google Shape;458;p51"/>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0" lvl="0" marL="114300" rtl="0" algn="l">
              <a:lnSpc>
                <a:spcPct val="90000"/>
              </a:lnSpc>
              <a:spcBef>
                <a:spcPts val="0"/>
              </a:spcBef>
              <a:spcAft>
                <a:spcPts val="0"/>
              </a:spcAft>
              <a:buClr>
                <a:srgbClr val="0070C0"/>
              </a:buClr>
              <a:buSzPts val="1400"/>
              <a:buNone/>
            </a:pPr>
            <a:r>
              <a:rPr b="1" lang="en">
                <a:solidFill>
                  <a:srgbClr val="0070C0"/>
                </a:solidFill>
              </a:rPr>
              <a:t>p</a:t>
            </a:r>
            <a:r>
              <a:rPr lang="en"/>
              <a:t>: average number of tokens in prompts to be prefilled</a:t>
            </a:r>
            <a:endParaRPr/>
          </a:p>
          <a:p>
            <a:pPr indent="0" lvl="0" marL="114300" rtl="0" algn="l">
              <a:lnSpc>
                <a:spcPct val="90000"/>
              </a:lnSpc>
              <a:spcBef>
                <a:spcPts val="0"/>
              </a:spcBef>
              <a:spcAft>
                <a:spcPts val="0"/>
              </a:spcAft>
              <a:buClr>
                <a:schemeClr val="dk1"/>
              </a:buClr>
              <a:buSzPts val="1400"/>
              <a:buNone/>
            </a:pPr>
            <a:r>
              <a:t/>
            </a:r>
            <a:endParaRPr b="1">
              <a:solidFill>
                <a:srgbClr val="0070C0"/>
              </a:solidFill>
            </a:endParaRPr>
          </a:p>
          <a:p>
            <a:pPr indent="0" lvl="0" marL="114300" rtl="0" algn="l">
              <a:lnSpc>
                <a:spcPct val="90000"/>
              </a:lnSpc>
              <a:spcBef>
                <a:spcPts val="0"/>
              </a:spcBef>
              <a:spcAft>
                <a:spcPts val="0"/>
              </a:spcAft>
              <a:buClr>
                <a:srgbClr val="0070C0"/>
              </a:buClr>
              <a:buSzPts val="1400"/>
              <a:buNone/>
            </a:pPr>
            <a:r>
              <a:rPr b="1" lang="en">
                <a:solidFill>
                  <a:srgbClr val="0070C0"/>
                </a:solidFill>
              </a:rPr>
              <a:t>d</a:t>
            </a:r>
            <a:r>
              <a:rPr lang="en"/>
              <a:t>: average number of tokens in output to be decoded</a:t>
            </a:r>
            <a:endParaRPr/>
          </a:p>
        </p:txBody>
      </p:sp>
      <p:cxnSp>
        <p:nvCxnSpPr>
          <p:cNvPr id="459" name="Google Shape;459;p51"/>
          <p:cNvCxnSpPr/>
          <p:nvPr/>
        </p:nvCxnSpPr>
        <p:spPr>
          <a:xfrm>
            <a:off x="367307" y="2298357"/>
            <a:ext cx="7639873" cy="0"/>
          </a:xfrm>
          <a:prstGeom prst="straightConnector1">
            <a:avLst/>
          </a:prstGeom>
          <a:noFill/>
          <a:ln cap="flat" cmpd="sng" w="19050">
            <a:solidFill>
              <a:schemeClr val="accent1"/>
            </a:solidFill>
            <a:prstDash val="solid"/>
            <a:miter lim="800000"/>
            <a:headEnd len="sm" w="sm" type="none"/>
            <a:tailEnd len="sm" w="sm" type="none"/>
          </a:ln>
        </p:spPr>
      </p:cxnSp>
      <p:sp>
        <p:nvSpPr>
          <p:cNvPr id="460" name="Google Shape;460;p51"/>
          <p:cNvSpPr txBox="1"/>
          <p:nvPr/>
        </p:nvSpPr>
        <p:spPr>
          <a:xfrm>
            <a:off x="311699" y="2433251"/>
            <a:ext cx="8362744" cy="392415"/>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p + d: </a:t>
            </a:r>
            <a:r>
              <a:rPr lang="en" sz="2100">
                <a:solidFill>
                  <a:schemeClr val="dk1"/>
                </a:solidFill>
                <a:latin typeface="Arial"/>
                <a:ea typeface="Arial"/>
                <a:cs typeface="Arial"/>
                <a:sym typeface="Arial"/>
              </a:rPr>
              <a:t>average number of tokens in user request (sequence length)</a:t>
            </a:r>
            <a:endParaRPr sz="1100"/>
          </a:p>
        </p:txBody>
      </p:sp>
      <p:grpSp>
        <p:nvGrpSpPr>
          <p:cNvPr id="461" name="Google Shape;461;p51"/>
          <p:cNvGrpSpPr/>
          <p:nvPr/>
        </p:nvGrpSpPr>
        <p:grpSpPr>
          <a:xfrm>
            <a:off x="313841" y="2960558"/>
            <a:ext cx="5667196" cy="723515"/>
            <a:chOff x="418454" y="3947411"/>
            <a:chExt cx="7556261" cy="964687"/>
          </a:xfrm>
        </p:grpSpPr>
        <p:sp>
          <p:nvSpPr>
            <p:cNvPr id="462" name="Google Shape;462;p51"/>
            <p:cNvSpPr txBox="1"/>
            <p:nvPr/>
          </p:nvSpPr>
          <p:spPr>
            <a:xfrm>
              <a:off x="2891556" y="4156400"/>
              <a:ext cx="5083159"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a:t>
              </a:r>
              <a:r>
                <a:rPr lang="en" sz="2100">
                  <a:solidFill>
                    <a:schemeClr val="dk1"/>
                  </a:solidFill>
                  <a:latin typeface="Arial"/>
                  <a:ea typeface="Arial"/>
                  <a:cs typeface="Arial"/>
                  <a:sym typeface="Arial"/>
                </a:rPr>
                <a:t>  per request throughput</a:t>
              </a:r>
              <a:endParaRPr sz="1100"/>
            </a:p>
          </p:txBody>
        </p:sp>
        <p:sp>
          <p:nvSpPr>
            <p:cNvPr id="463" name="Google Shape;463;p51"/>
            <p:cNvSpPr txBox="1"/>
            <p:nvPr/>
          </p:nvSpPr>
          <p:spPr>
            <a:xfrm>
              <a:off x="1142976" y="4388878"/>
              <a:ext cx="1180688"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p + d</a:t>
              </a:r>
              <a:endParaRPr sz="2100">
                <a:solidFill>
                  <a:schemeClr val="dk1"/>
                </a:solidFill>
                <a:latin typeface="Arial"/>
                <a:ea typeface="Arial"/>
                <a:cs typeface="Arial"/>
                <a:sym typeface="Arial"/>
              </a:endParaRPr>
            </a:p>
          </p:txBody>
        </p:sp>
        <p:sp>
          <p:nvSpPr>
            <p:cNvPr id="464" name="Google Shape;464;p51"/>
            <p:cNvSpPr txBox="1"/>
            <p:nvPr/>
          </p:nvSpPr>
          <p:spPr>
            <a:xfrm>
              <a:off x="418454" y="3947411"/>
              <a:ext cx="3335295"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Throughput</a:t>
              </a:r>
              <a:r>
                <a:rPr b="1" baseline="-25000" lang="en" sz="2100">
                  <a:solidFill>
                    <a:srgbClr val="0070C0"/>
                  </a:solidFill>
                  <a:latin typeface="Arial"/>
                  <a:ea typeface="Arial"/>
                  <a:cs typeface="Arial"/>
                  <a:sym typeface="Arial"/>
                </a:rPr>
                <a:t>total</a:t>
              </a:r>
              <a:endParaRPr baseline="-25000" sz="2100">
                <a:solidFill>
                  <a:schemeClr val="dk1"/>
                </a:solidFill>
                <a:latin typeface="Arial"/>
                <a:ea typeface="Arial"/>
                <a:cs typeface="Arial"/>
                <a:sym typeface="Arial"/>
              </a:endParaRPr>
            </a:p>
          </p:txBody>
        </p:sp>
        <p:cxnSp>
          <p:nvCxnSpPr>
            <p:cNvPr id="465" name="Google Shape;465;p51"/>
            <p:cNvCxnSpPr/>
            <p:nvPr/>
          </p:nvCxnSpPr>
          <p:spPr>
            <a:xfrm>
              <a:off x="652823" y="4470631"/>
              <a:ext cx="2409977" cy="0"/>
            </a:xfrm>
            <a:prstGeom prst="straightConnector1">
              <a:avLst/>
            </a:prstGeom>
            <a:noFill/>
            <a:ln cap="flat" cmpd="sng" w="25400">
              <a:solidFill>
                <a:schemeClr val="accent1"/>
              </a:solidFill>
              <a:prstDash val="solid"/>
              <a:miter lim="800000"/>
              <a:headEnd len="sm" w="sm" type="none"/>
              <a:tailEnd len="sm" w="sm" type="none"/>
            </a:ln>
          </p:spPr>
        </p:cxnSp>
      </p:grpSp>
      <p:grpSp>
        <p:nvGrpSpPr>
          <p:cNvPr id="466" name="Google Shape;466;p51"/>
          <p:cNvGrpSpPr/>
          <p:nvPr/>
        </p:nvGrpSpPr>
        <p:grpSpPr>
          <a:xfrm>
            <a:off x="327877" y="3887315"/>
            <a:ext cx="5946097" cy="723515"/>
            <a:chOff x="437169" y="5183087"/>
            <a:chExt cx="7928130" cy="964687"/>
          </a:xfrm>
        </p:grpSpPr>
        <p:sp>
          <p:nvSpPr>
            <p:cNvPr id="467" name="Google Shape;467;p51"/>
            <p:cNvSpPr txBox="1"/>
            <p:nvPr/>
          </p:nvSpPr>
          <p:spPr>
            <a:xfrm>
              <a:off x="3282140" y="5392076"/>
              <a:ext cx="5083159"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a:t>
              </a:r>
              <a:r>
                <a:rPr lang="en" sz="2100">
                  <a:solidFill>
                    <a:schemeClr val="dk1"/>
                  </a:solidFill>
                  <a:latin typeface="Arial"/>
                  <a:ea typeface="Arial"/>
                  <a:cs typeface="Arial"/>
                  <a:sym typeface="Arial"/>
                </a:rPr>
                <a:t>  decoding throughput</a:t>
              </a:r>
              <a:endParaRPr sz="1100"/>
            </a:p>
          </p:txBody>
        </p:sp>
        <p:sp>
          <p:nvSpPr>
            <p:cNvPr id="468" name="Google Shape;468;p51"/>
            <p:cNvSpPr txBox="1"/>
            <p:nvPr/>
          </p:nvSpPr>
          <p:spPr>
            <a:xfrm>
              <a:off x="1533560" y="5624554"/>
              <a:ext cx="1180688"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p + d</a:t>
              </a:r>
              <a:endParaRPr sz="2100">
                <a:solidFill>
                  <a:schemeClr val="dk1"/>
                </a:solidFill>
                <a:latin typeface="Arial"/>
                <a:ea typeface="Arial"/>
                <a:cs typeface="Arial"/>
                <a:sym typeface="Arial"/>
              </a:endParaRPr>
            </a:p>
          </p:txBody>
        </p:sp>
        <p:sp>
          <p:nvSpPr>
            <p:cNvPr id="469" name="Google Shape;469;p51"/>
            <p:cNvSpPr txBox="1"/>
            <p:nvPr/>
          </p:nvSpPr>
          <p:spPr>
            <a:xfrm>
              <a:off x="809038" y="5183087"/>
              <a:ext cx="3335295"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Throughput</a:t>
              </a:r>
              <a:r>
                <a:rPr b="1" baseline="-25000" lang="en" sz="2100">
                  <a:solidFill>
                    <a:srgbClr val="0070C0"/>
                  </a:solidFill>
                  <a:latin typeface="Arial"/>
                  <a:ea typeface="Arial"/>
                  <a:cs typeface="Arial"/>
                  <a:sym typeface="Arial"/>
                </a:rPr>
                <a:t>total</a:t>
              </a:r>
              <a:endParaRPr baseline="-25000" sz="2100">
                <a:solidFill>
                  <a:schemeClr val="dk1"/>
                </a:solidFill>
                <a:latin typeface="Arial"/>
                <a:ea typeface="Arial"/>
                <a:cs typeface="Arial"/>
                <a:sym typeface="Arial"/>
              </a:endParaRPr>
            </a:p>
          </p:txBody>
        </p:sp>
        <p:sp>
          <p:nvSpPr>
            <p:cNvPr id="470" name="Google Shape;470;p51"/>
            <p:cNvSpPr txBox="1"/>
            <p:nvPr/>
          </p:nvSpPr>
          <p:spPr>
            <a:xfrm>
              <a:off x="437169" y="5448294"/>
              <a:ext cx="731777" cy="523220"/>
            </a:xfrm>
            <a:prstGeom prst="rect">
              <a:avLst/>
            </a:prstGeom>
            <a:noFill/>
            <a:ln>
              <a:noFill/>
            </a:ln>
          </p:spPr>
          <p:txBody>
            <a:bodyPr anchorCtr="0" anchor="t" bIns="34275" lIns="68575" spcFirstLastPara="1" rIns="68575" wrap="square" tIns="34275">
              <a:spAutoFit/>
            </a:bodyPr>
            <a:lstStyle/>
            <a:p>
              <a:pPr indent="0" lvl="0" marL="114300" marR="0" rtl="0" algn="l">
                <a:spcBef>
                  <a:spcPts val="0"/>
                </a:spcBef>
                <a:spcAft>
                  <a:spcPts val="0"/>
                </a:spcAft>
                <a:buClr>
                  <a:srgbClr val="0070C0"/>
                </a:buClr>
                <a:buSzPts val="2100"/>
                <a:buFont typeface="Arial"/>
                <a:buNone/>
              </a:pPr>
              <a:r>
                <a:rPr b="1" lang="en" sz="2100">
                  <a:solidFill>
                    <a:srgbClr val="0070C0"/>
                  </a:solidFill>
                  <a:latin typeface="Arial"/>
                  <a:ea typeface="Arial"/>
                  <a:cs typeface="Arial"/>
                  <a:sym typeface="Arial"/>
                </a:rPr>
                <a:t>d</a:t>
              </a:r>
              <a:endParaRPr sz="2100">
                <a:solidFill>
                  <a:schemeClr val="dk1"/>
                </a:solidFill>
                <a:latin typeface="Arial"/>
                <a:ea typeface="Arial"/>
                <a:cs typeface="Arial"/>
                <a:sym typeface="Arial"/>
              </a:endParaRPr>
            </a:p>
          </p:txBody>
        </p:sp>
        <p:cxnSp>
          <p:nvCxnSpPr>
            <p:cNvPr id="471" name="Google Shape;471;p51"/>
            <p:cNvCxnSpPr/>
            <p:nvPr/>
          </p:nvCxnSpPr>
          <p:spPr>
            <a:xfrm>
              <a:off x="1040281" y="5710843"/>
              <a:ext cx="2409977" cy="0"/>
            </a:xfrm>
            <a:prstGeom prst="straightConnector1">
              <a:avLst/>
            </a:prstGeom>
            <a:noFill/>
            <a:ln cap="flat" cmpd="sng" w="25400">
              <a:solidFill>
                <a:schemeClr val="accent1"/>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Assumptions	</a:t>
            </a:r>
            <a:endParaRPr/>
          </a:p>
        </p:txBody>
      </p:sp>
      <p:sp>
        <p:nvSpPr>
          <p:cNvPr id="478" name="Google Shape;478;p52"/>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a:t>We are operating at the maximum possible batch size of requests</a:t>
            </a:r>
            <a:endParaRPr/>
          </a:p>
          <a:p>
            <a:pPr indent="-323850" lvl="1" marL="914400" rtl="0" algn="l">
              <a:lnSpc>
                <a:spcPct val="90000"/>
              </a:lnSpc>
              <a:spcBef>
                <a:spcPts val="0"/>
              </a:spcBef>
              <a:spcAft>
                <a:spcPts val="0"/>
              </a:spcAft>
              <a:buClr>
                <a:schemeClr val="dk1"/>
              </a:buClr>
              <a:buSzPts val="1100"/>
              <a:buChar char="○"/>
            </a:pPr>
            <a:r>
              <a:rPr lang="en"/>
              <a:t>Necessary for high GPU utilization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69696"/>
              <a:buFont typeface="Play"/>
              <a:buNone/>
            </a:pPr>
            <a:r>
              <a:rPr lang="en"/>
              <a:t>Memory-Centric Execution Time Estimation*</a:t>
            </a:r>
            <a:endParaRPr/>
          </a:p>
        </p:txBody>
      </p:sp>
      <p:sp>
        <p:nvSpPr>
          <p:cNvPr id="484" name="Google Shape;48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485" name="Google Shape;485;p53"/>
          <p:cNvSpPr/>
          <p:nvPr/>
        </p:nvSpPr>
        <p:spPr>
          <a:xfrm>
            <a:off x="3347864" y="3641021"/>
            <a:ext cx="2436530" cy="680400"/>
          </a:xfrm>
          <a:prstGeom prst="roundRect">
            <a:avLst>
              <a:gd fmla="val 0" name="adj"/>
            </a:avLst>
          </a:prstGeom>
          <a:blipFill rotWithShape="1">
            <a:blip r:embed="rId3">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486" name="Google Shape;486;p53"/>
          <p:cNvSpPr/>
          <p:nvPr/>
        </p:nvSpPr>
        <p:spPr>
          <a:xfrm>
            <a:off x="1247890" y="1775459"/>
            <a:ext cx="6840760" cy="1152128"/>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7" name="Google Shape;487;p53"/>
          <p:cNvSpPr txBox="1"/>
          <p:nvPr/>
        </p:nvSpPr>
        <p:spPr>
          <a:xfrm>
            <a:off x="203774" y="2033603"/>
            <a:ext cx="936104" cy="561596"/>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600">
                <a:solidFill>
                  <a:schemeClr val="dk1"/>
                </a:solidFill>
                <a:latin typeface="Arial"/>
                <a:ea typeface="Arial"/>
                <a:cs typeface="Arial"/>
                <a:sym typeface="Arial"/>
              </a:rPr>
              <a:t>GPU </a:t>
            </a:r>
            <a:endParaRPr sz="1100"/>
          </a:p>
          <a:p>
            <a:pPr indent="0" lvl="0" marL="0" marR="0" rtl="0" algn="ctr">
              <a:spcBef>
                <a:spcPts val="0"/>
              </a:spcBef>
              <a:spcAft>
                <a:spcPts val="0"/>
              </a:spcAft>
              <a:buNone/>
            </a:pPr>
            <a:r>
              <a:rPr lang="en" sz="1600">
                <a:solidFill>
                  <a:schemeClr val="dk1"/>
                </a:solidFill>
                <a:latin typeface="Arial"/>
                <a:ea typeface="Arial"/>
                <a:cs typeface="Arial"/>
                <a:sym typeface="Arial"/>
              </a:rPr>
              <a:t>memory</a:t>
            </a:r>
            <a:endParaRPr sz="1600">
              <a:solidFill>
                <a:schemeClr val="dk1"/>
              </a:solidFill>
              <a:latin typeface="Arial"/>
              <a:ea typeface="Arial"/>
              <a:cs typeface="Arial"/>
              <a:sym typeface="Arial"/>
            </a:endParaRPr>
          </a:p>
        </p:txBody>
      </p:sp>
      <p:sp>
        <p:nvSpPr>
          <p:cNvPr id="488" name="Google Shape;488;p53"/>
          <p:cNvSpPr/>
          <p:nvPr/>
        </p:nvSpPr>
        <p:spPr>
          <a:xfrm>
            <a:off x="1249439" y="1775457"/>
            <a:ext cx="1656184" cy="1152128"/>
          </a:xfrm>
          <a:prstGeom prst="rect">
            <a:avLst/>
          </a:prstGeom>
          <a:solidFill>
            <a:srgbClr val="9392BE"/>
          </a:solidFill>
          <a:ln cap="flat" cmpd="sng" w="1905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Weight</a:t>
            </a:r>
            <a:endParaRPr sz="1800">
              <a:solidFill>
                <a:schemeClr val="dk1"/>
              </a:solidFill>
              <a:latin typeface="Arial"/>
              <a:ea typeface="Arial"/>
              <a:cs typeface="Arial"/>
              <a:sym typeface="Arial"/>
            </a:endParaRPr>
          </a:p>
        </p:txBody>
      </p:sp>
      <p:sp>
        <p:nvSpPr>
          <p:cNvPr id="489" name="Google Shape;489;p53"/>
          <p:cNvSpPr/>
          <p:nvPr/>
        </p:nvSpPr>
        <p:spPr>
          <a:xfrm>
            <a:off x="2905624" y="1775458"/>
            <a:ext cx="574515" cy="1152128"/>
          </a:xfrm>
          <a:prstGeom prst="rect">
            <a:avLst/>
          </a:prstGeom>
          <a:solidFill>
            <a:srgbClr val="D0E7ED"/>
          </a:solidFill>
          <a:ln cap="flat" cmpd="sng" w="1905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200">
                <a:solidFill>
                  <a:schemeClr val="dk1"/>
                </a:solidFill>
                <a:latin typeface="Arial"/>
                <a:ea typeface="Arial"/>
                <a:cs typeface="Arial"/>
                <a:sym typeface="Arial"/>
              </a:rPr>
              <a:t>Input/</a:t>
            </a:r>
            <a:endParaRPr sz="1100"/>
          </a:p>
          <a:p>
            <a:pPr indent="0" lvl="0" marL="0" marR="0" rtl="0" algn="ctr">
              <a:spcBef>
                <a:spcPts val="0"/>
              </a:spcBef>
              <a:spcAft>
                <a:spcPts val="0"/>
              </a:spcAft>
              <a:buNone/>
            </a:pPr>
            <a:r>
              <a:rPr lang="en" sz="1200">
                <a:solidFill>
                  <a:schemeClr val="dk1"/>
                </a:solidFill>
                <a:latin typeface="Arial"/>
                <a:ea typeface="Arial"/>
                <a:cs typeface="Arial"/>
                <a:sym typeface="Arial"/>
              </a:rPr>
              <a:t>Actv.</a:t>
            </a:r>
            <a:endParaRPr sz="1200">
              <a:solidFill>
                <a:schemeClr val="dk1"/>
              </a:solidFill>
              <a:latin typeface="Arial"/>
              <a:ea typeface="Arial"/>
              <a:cs typeface="Arial"/>
              <a:sym typeface="Arial"/>
            </a:endParaRPr>
          </a:p>
        </p:txBody>
      </p:sp>
      <p:sp>
        <p:nvSpPr>
          <p:cNvPr id="490" name="Google Shape;490;p53"/>
          <p:cNvSpPr/>
          <p:nvPr/>
        </p:nvSpPr>
        <p:spPr>
          <a:xfrm>
            <a:off x="3480138" y="1775459"/>
            <a:ext cx="4608512" cy="1152128"/>
          </a:xfrm>
          <a:prstGeom prst="rect">
            <a:avLst/>
          </a:prstGeom>
          <a:solidFill>
            <a:srgbClr val="D5E4A8"/>
          </a:solidFill>
          <a:ln cap="flat" cmpd="sng" w="1905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KV cache</a:t>
            </a:r>
            <a:endParaRPr sz="1800">
              <a:solidFill>
                <a:schemeClr val="dk1"/>
              </a:solidFill>
              <a:latin typeface="Arial"/>
              <a:ea typeface="Arial"/>
              <a:cs typeface="Arial"/>
              <a:sym typeface="Arial"/>
            </a:endParaRPr>
          </a:p>
        </p:txBody>
      </p:sp>
      <p:sp>
        <p:nvSpPr>
          <p:cNvPr id="491" name="Google Shape;491;p53"/>
          <p:cNvSpPr txBox="1"/>
          <p:nvPr/>
        </p:nvSpPr>
        <p:spPr>
          <a:xfrm>
            <a:off x="961638" y="3056074"/>
            <a:ext cx="7413265" cy="31542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600">
                <a:solidFill>
                  <a:schemeClr val="dk1"/>
                </a:solidFill>
                <a:latin typeface="Arial"/>
                <a:ea typeface="Arial"/>
                <a:cs typeface="Arial"/>
                <a:sym typeface="Arial"/>
              </a:rPr>
              <a:t>Entire contents of the GPU memory would be loaded once during one iteration</a:t>
            </a:r>
            <a:endParaRPr sz="1600">
              <a:solidFill>
                <a:schemeClr val="dk1"/>
              </a:solidFill>
              <a:latin typeface="Arial"/>
              <a:ea typeface="Arial"/>
              <a:cs typeface="Arial"/>
              <a:sym typeface="Arial"/>
            </a:endParaRPr>
          </a:p>
        </p:txBody>
      </p:sp>
      <p:sp>
        <p:nvSpPr>
          <p:cNvPr id="492" name="Google Shape;492;p53"/>
          <p:cNvSpPr txBox="1"/>
          <p:nvPr/>
        </p:nvSpPr>
        <p:spPr>
          <a:xfrm>
            <a:off x="122843" y="4619187"/>
            <a:ext cx="8669215" cy="31542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600">
                <a:solidFill>
                  <a:srgbClr val="A5A5A5"/>
                </a:solidFill>
                <a:latin typeface="Arial"/>
                <a:ea typeface="Arial"/>
                <a:cs typeface="Arial"/>
                <a:sym typeface="Arial"/>
              </a:rPr>
              <a:t>* We assume operation at maximum batch size, which is necessary for optimal throughput</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10" presetSubtype="0">
                                  <p:stCondLst>
                                    <p:cond delay="50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4"/>
          <p:cNvSpPr/>
          <p:nvPr/>
        </p:nvSpPr>
        <p:spPr>
          <a:xfrm>
            <a:off x="3351988" y="1514720"/>
            <a:ext cx="682616" cy="2119886"/>
          </a:xfrm>
          <a:prstGeom prst="roundRect">
            <a:avLst>
              <a:gd fmla="val 16667" name="adj"/>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54"/>
          <p:cNvSpPr txBox="1"/>
          <p:nvPr>
            <p:ph type="title"/>
          </p:nvPr>
        </p:nvSpPr>
        <p:spPr>
          <a:xfrm>
            <a:off x="311700" y="7748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Compute-Centric Execution Time Estimation</a:t>
            </a:r>
            <a:endParaRPr/>
          </a:p>
        </p:txBody>
      </p:sp>
      <p:sp>
        <p:nvSpPr>
          <p:cNvPr id="499" name="Google Shape;49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grpSp>
        <p:nvGrpSpPr>
          <p:cNvPr id="500" name="Google Shape;500;p54"/>
          <p:cNvGrpSpPr/>
          <p:nvPr/>
        </p:nvGrpSpPr>
        <p:grpSpPr>
          <a:xfrm>
            <a:off x="5313786" y="771551"/>
            <a:ext cx="3650702" cy="3105819"/>
            <a:chOff x="2768621" y="998138"/>
            <a:chExt cx="3963619" cy="3599311"/>
          </a:xfrm>
        </p:grpSpPr>
        <p:sp>
          <p:nvSpPr>
            <p:cNvPr id="501" name="Google Shape;501;p54"/>
            <p:cNvSpPr/>
            <p:nvPr/>
          </p:nvSpPr>
          <p:spPr>
            <a:xfrm>
              <a:off x="2771800" y="2725241"/>
              <a:ext cx="1440160" cy="28803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02" name="Google Shape;502;p54"/>
            <p:cNvSpPr/>
            <p:nvPr/>
          </p:nvSpPr>
          <p:spPr>
            <a:xfrm>
              <a:off x="4572000" y="998138"/>
              <a:ext cx="2160240" cy="1440160"/>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Weight</a:t>
              </a:r>
              <a:endParaRPr sz="1800">
                <a:solidFill>
                  <a:schemeClr val="dk1"/>
                </a:solidFill>
                <a:latin typeface="Arial"/>
                <a:ea typeface="Arial"/>
                <a:cs typeface="Arial"/>
                <a:sym typeface="Arial"/>
              </a:endParaRPr>
            </a:p>
          </p:txBody>
        </p:sp>
        <p:sp>
          <p:nvSpPr>
            <p:cNvPr id="503" name="Google Shape;503;p54"/>
            <p:cNvSpPr/>
            <p:nvPr/>
          </p:nvSpPr>
          <p:spPr>
            <a:xfrm>
              <a:off x="4572000" y="2725241"/>
              <a:ext cx="2160240" cy="28803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p:txBody>
        </p:sp>
        <p:sp>
          <p:nvSpPr>
            <p:cNvPr id="504" name="Google Shape;504;p54"/>
            <p:cNvSpPr/>
            <p:nvPr/>
          </p:nvSpPr>
          <p:spPr>
            <a:xfrm rot="5400000">
              <a:off x="3062762"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5" name="Google Shape;505;p54"/>
            <p:cNvSpPr/>
            <p:nvPr/>
          </p:nvSpPr>
          <p:spPr>
            <a:xfrm>
              <a:off x="4572000" y="1285081"/>
              <a:ext cx="288032" cy="286399"/>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6" name="Google Shape;506;p54"/>
            <p:cNvSpPr/>
            <p:nvPr/>
          </p:nvSpPr>
          <p:spPr>
            <a:xfrm>
              <a:off x="4572000" y="1571480"/>
              <a:ext cx="288032" cy="286399"/>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7" name="Google Shape;507;p54"/>
            <p:cNvSpPr/>
            <p:nvPr/>
          </p:nvSpPr>
          <p:spPr>
            <a:xfrm>
              <a:off x="4572000" y="1861145"/>
              <a:ext cx="288032" cy="286399"/>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8" name="Google Shape;508;p54"/>
            <p:cNvSpPr/>
            <p:nvPr/>
          </p:nvSpPr>
          <p:spPr>
            <a:xfrm>
              <a:off x="4573827" y="2148088"/>
              <a:ext cx="288032" cy="286399"/>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9" name="Google Shape;509;p54"/>
            <p:cNvSpPr/>
            <p:nvPr/>
          </p:nvSpPr>
          <p:spPr>
            <a:xfrm rot="5400000">
              <a:off x="3346534" y="2725510"/>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0" name="Google Shape;510;p54"/>
            <p:cNvSpPr/>
            <p:nvPr/>
          </p:nvSpPr>
          <p:spPr>
            <a:xfrm rot="5400000">
              <a:off x="3630306" y="2725508"/>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1" name="Google Shape;511;p54"/>
            <p:cNvSpPr/>
            <p:nvPr/>
          </p:nvSpPr>
          <p:spPr>
            <a:xfrm rot="5400000">
              <a:off x="3920998"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2" name="Google Shape;512;p54"/>
            <p:cNvSpPr/>
            <p:nvPr/>
          </p:nvSpPr>
          <p:spPr>
            <a:xfrm>
              <a:off x="4572000" y="998682"/>
              <a:ext cx="288032" cy="286399"/>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3" name="Google Shape;513;p54"/>
            <p:cNvSpPr/>
            <p:nvPr/>
          </p:nvSpPr>
          <p:spPr>
            <a:xfrm rot="5400000">
              <a:off x="2772070"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4" name="Google Shape;514;p54"/>
            <p:cNvSpPr/>
            <p:nvPr/>
          </p:nvSpPr>
          <p:spPr>
            <a:xfrm rot="5400000">
              <a:off x="3059043"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54"/>
            <p:cNvSpPr/>
            <p:nvPr/>
          </p:nvSpPr>
          <p:spPr>
            <a:xfrm rot="5400000">
              <a:off x="3342815" y="2725510"/>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54"/>
            <p:cNvSpPr/>
            <p:nvPr/>
          </p:nvSpPr>
          <p:spPr>
            <a:xfrm rot="5400000">
              <a:off x="3626587" y="2725508"/>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54"/>
            <p:cNvSpPr/>
            <p:nvPr/>
          </p:nvSpPr>
          <p:spPr>
            <a:xfrm rot="5400000">
              <a:off x="3917279"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54"/>
            <p:cNvSpPr/>
            <p:nvPr/>
          </p:nvSpPr>
          <p:spPr>
            <a:xfrm rot="5400000">
              <a:off x="2768351" y="2725511"/>
              <a:ext cx="288031" cy="287491"/>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9" name="Google Shape;519;p54"/>
            <p:cNvSpPr/>
            <p:nvPr/>
          </p:nvSpPr>
          <p:spPr>
            <a:xfrm>
              <a:off x="2771800" y="3013273"/>
              <a:ext cx="1440160" cy="28803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20" name="Google Shape;520;p54"/>
            <p:cNvSpPr/>
            <p:nvPr/>
          </p:nvSpPr>
          <p:spPr>
            <a:xfrm>
              <a:off x="2771800" y="3301305"/>
              <a:ext cx="1440160" cy="1296144"/>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21" name="Google Shape;521;p54"/>
            <p:cNvSpPr/>
            <p:nvPr/>
          </p:nvSpPr>
          <p:spPr>
            <a:xfrm>
              <a:off x="4572000" y="3012184"/>
              <a:ext cx="2160240" cy="28803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p:txBody>
        </p:sp>
        <p:sp>
          <p:nvSpPr>
            <p:cNvPr id="522" name="Google Shape;522;p54"/>
            <p:cNvSpPr/>
            <p:nvPr/>
          </p:nvSpPr>
          <p:spPr>
            <a:xfrm>
              <a:off x="4572000" y="3300216"/>
              <a:ext cx="2160240" cy="1296144"/>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p:txBody>
        </p:sp>
      </p:grpSp>
      <p:sp>
        <p:nvSpPr>
          <p:cNvPr id="523" name="Google Shape;523;p54"/>
          <p:cNvSpPr/>
          <p:nvPr/>
        </p:nvSpPr>
        <p:spPr>
          <a:xfrm>
            <a:off x="6974794" y="2262556"/>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4" name="Google Shape;524;p54"/>
          <p:cNvSpPr txBox="1"/>
          <p:nvPr/>
        </p:nvSpPr>
        <p:spPr>
          <a:xfrm>
            <a:off x="5863058" y="1924460"/>
            <a:ext cx="335041"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K</a:t>
            </a:r>
            <a:endParaRPr sz="1800">
              <a:solidFill>
                <a:schemeClr val="dk1"/>
              </a:solidFill>
              <a:latin typeface="Arial"/>
              <a:ea typeface="Arial"/>
              <a:cs typeface="Arial"/>
              <a:sym typeface="Arial"/>
            </a:endParaRPr>
          </a:p>
        </p:txBody>
      </p:sp>
      <p:sp>
        <p:nvSpPr>
          <p:cNvPr id="525" name="Google Shape;525;p54"/>
          <p:cNvSpPr txBox="1"/>
          <p:nvPr/>
        </p:nvSpPr>
        <p:spPr>
          <a:xfrm>
            <a:off x="4628980" y="2841836"/>
            <a:ext cx="767089"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26" name="Google Shape;526;p54"/>
          <p:cNvSpPr txBox="1"/>
          <p:nvPr/>
        </p:nvSpPr>
        <p:spPr>
          <a:xfrm>
            <a:off x="6633536" y="1268002"/>
            <a:ext cx="335041"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K</a:t>
            </a:r>
            <a:endParaRPr sz="1800">
              <a:solidFill>
                <a:schemeClr val="dk1"/>
              </a:solidFill>
              <a:latin typeface="Arial"/>
              <a:ea typeface="Arial"/>
              <a:cs typeface="Arial"/>
              <a:sym typeface="Arial"/>
            </a:endParaRPr>
          </a:p>
        </p:txBody>
      </p:sp>
      <p:sp>
        <p:nvSpPr>
          <p:cNvPr id="527" name="Google Shape;527;p54"/>
          <p:cNvSpPr txBox="1"/>
          <p:nvPr/>
        </p:nvSpPr>
        <p:spPr>
          <a:xfrm>
            <a:off x="7832957" y="463774"/>
            <a:ext cx="335041"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N</a:t>
            </a:r>
            <a:endParaRPr sz="1800">
              <a:solidFill>
                <a:schemeClr val="dk1"/>
              </a:solidFill>
              <a:latin typeface="Arial"/>
              <a:ea typeface="Arial"/>
              <a:cs typeface="Arial"/>
              <a:sym typeface="Arial"/>
            </a:endParaRPr>
          </a:p>
        </p:txBody>
      </p:sp>
      <p:sp>
        <p:nvSpPr>
          <p:cNvPr id="528" name="Google Shape;528;p54"/>
          <p:cNvSpPr txBox="1"/>
          <p:nvPr/>
        </p:nvSpPr>
        <p:spPr>
          <a:xfrm>
            <a:off x="3259286" y="1640367"/>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a:t>
            </a:r>
            <a:r>
              <a:rPr baseline="-25000" lang="en" sz="1800">
                <a:solidFill>
                  <a:schemeClr val="dk1"/>
                </a:solidFill>
                <a:latin typeface="Arial"/>
                <a:ea typeface="Arial"/>
                <a:cs typeface="Arial"/>
                <a:sym typeface="Arial"/>
              </a:rPr>
              <a:t>1</a:t>
            </a:r>
            <a:endParaRPr baseline="-25000" sz="1800">
              <a:solidFill>
                <a:schemeClr val="dk1"/>
              </a:solidFill>
              <a:latin typeface="Arial"/>
              <a:ea typeface="Arial"/>
              <a:cs typeface="Arial"/>
              <a:sym typeface="Arial"/>
            </a:endParaRPr>
          </a:p>
        </p:txBody>
      </p:sp>
      <p:sp>
        <p:nvSpPr>
          <p:cNvPr id="529" name="Google Shape;529;p54"/>
          <p:cNvSpPr txBox="1"/>
          <p:nvPr/>
        </p:nvSpPr>
        <p:spPr>
          <a:xfrm>
            <a:off x="2709934" y="1650427"/>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30" name="Google Shape;530;p54"/>
          <p:cNvSpPr txBox="1"/>
          <p:nvPr/>
        </p:nvSpPr>
        <p:spPr>
          <a:xfrm>
            <a:off x="3706744" y="1642490"/>
            <a:ext cx="39245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a:t>
            </a:r>
            <a:r>
              <a:rPr baseline="-25000" lang="en" sz="1800">
                <a:solidFill>
                  <a:schemeClr val="dk1"/>
                </a:solidFill>
                <a:latin typeface="Arial"/>
                <a:ea typeface="Arial"/>
                <a:cs typeface="Arial"/>
                <a:sym typeface="Arial"/>
              </a:rPr>
              <a:t>1</a:t>
            </a:r>
            <a:endParaRPr baseline="-25000" sz="1800">
              <a:solidFill>
                <a:schemeClr val="dk1"/>
              </a:solidFill>
              <a:latin typeface="Arial"/>
              <a:ea typeface="Arial"/>
              <a:cs typeface="Arial"/>
              <a:sym typeface="Arial"/>
            </a:endParaRPr>
          </a:p>
        </p:txBody>
      </p:sp>
      <p:sp>
        <p:nvSpPr>
          <p:cNvPr id="531" name="Google Shape;531;p54"/>
          <p:cNvSpPr txBox="1"/>
          <p:nvPr/>
        </p:nvSpPr>
        <p:spPr>
          <a:xfrm>
            <a:off x="274515" y="1010525"/>
            <a:ext cx="2402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chemeClr val="dk1"/>
                </a:solidFill>
                <a:latin typeface="Arial"/>
                <a:ea typeface="Arial"/>
                <a:cs typeface="Arial"/>
                <a:sym typeface="Arial"/>
              </a:rPr>
              <a:t>Every GEMM compute = </a:t>
            </a:r>
            <a:endParaRPr baseline="-25000" sz="1500">
              <a:solidFill>
                <a:schemeClr val="dk1"/>
              </a:solidFill>
              <a:latin typeface="Arial"/>
              <a:ea typeface="Arial"/>
              <a:cs typeface="Arial"/>
              <a:sym typeface="Arial"/>
            </a:endParaRPr>
          </a:p>
        </p:txBody>
      </p:sp>
      <p:sp>
        <p:nvSpPr>
          <p:cNvPr id="532" name="Google Shape;532;p54"/>
          <p:cNvSpPr txBox="1"/>
          <p:nvPr/>
        </p:nvSpPr>
        <p:spPr>
          <a:xfrm>
            <a:off x="3259286" y="2045964"/>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a:t>
            </a:r>
            <a:r>
              <a:rPr baseline="-25000"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33" name="Google Shape;533;p54"/>
          <p:cNvSpPr txBox="1"/>
          <p:nvPr/>
        </p:nvSpPr>
        <p:spPr>
          <a:xfrm>
            <a:off x="2709934" y="2056024"/>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34" name="Google Shape;534;p54"/>
          <p:cNvSpPr txBox="1"/>
          <p:nvPr/>
        </p:nvSpPr>
        <p:spPr>
          <a:xfrm>
            <a:off x="3706744" y="2048087"/>
            <a:ext cx="39245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a:t>
            </a:r>
            <a:r>
              <a:rPr baseline="-25000"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35" name="Google Shape;535;p54"/>
          <p:cNvSpPr txBox="1"/>
          <p:nvPr/>
        </p:nvSpPr>
        <p:spPr>
          <a:xfrm>
            <a:off x="3259286" y="2453684"/>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a:t>
            </a:r>
            <a:r>
              <a:rPr baseline="-25000" lang="en" sz="1800">
                <a:solidFill>
                  <a:schemeClr val="dk1"/>
                </a:solidFill>
                <a:latin typeface="Arial"/>
                <a:ea typeface="Arial"/>
                <a:cs typeface="Arial"/>
                <a:sym typeface="Arial"/>
              </a:rPr>
              <a:t>3</a:t>
            </a:r>
            <a:endParaRPr baseline="-25000" sz="1800">
              <a:solidFill>
                <a:schemeClr val="dk1"/>
              </a:solidFill>
              <a:latin typeface="Arial"/>
              <a:ea typeface="Arial"/>
              <a:cs typeface="Arial"/>
              <a:sym typeface="Arial"/>
            </a:endParaRPr>
          </a:p>
        </p:txBody>
      </p:sp>
      <p:sp>
        <p:nvSpPr>
          <p:cNvPr id="536" name="Google Shape;536;p54"/>
          <p:cNvSpPr txBox="1"/>
          <p:nvPr/>
        </p:nvSpPr>
        <p:spPr>
          <a:xfrm>
            <a:off x="2709934" y="2463744"/>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37" name="Google Shape;537;p54"/>
          <p:cNvSpPr txBox="1"/>
          <p:nvPr/>
        </p:nvSpPr>
        <p:spPr>
          <a:xfrm>
            <a:off x="3706745" y="2455807"/>
            <a:ext cx="3924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a:t>
            </a:r>
            <a:r>
              <a:rPr baseline="-25000" lang="en" sz="1800">
                <a:solidFill>
                  <a:schemeClr val="dk1"/>
                </a:solidFill>
                <a:latin typeface="Arial"/>
                <a:ea typeface="Arial"/>
                <a:cs typeface="Arial"/>
                <a:sym typeface="Arial"/>
              </a:rPr>
              <a:t>3</a:t>
            </a:r>
            <a:endParaRPr baseline="-25000" sz="1800">
              <a:solidFill>
                <a:schemeClr val="dk1"/>
              </a:solidFill>
              <a:latin typeface="Arial"/>
              <a:ea typeface="Arial"/>
              <a:cs typeface="Arial"/>
              <a:sym typeface="Arial"/>
            </a:endParaRPr>
          </a:p>
        </p:txBody>
      </p:sp>
      <p:sp>
        <p:nvSpPr>
          <p:cNvPr id="538" name="Google Shape;538;p54"/>
          <p:cNvSpPr txBox="1"/>
          <p:nvPr/>
        </p:nvSpPr>
        <p:spPr>
          <a:xfrm>
            <a:off x="2574083" y="2773033"/>
            <a:ext cx="29037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39" name="Google Shape;539;p54"/>
          <p:cNvSpPr txBox="1"/>
          <p:nvPr/>
        </p:nvSpPr>
        <p:spPr>
          <a:xfrm>
            <a:off x="3259286" y="3200506"/>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a:t>
            </a:r>
            <a:r>
              <a:rPr baseline="-25000" lang="en" sz="1800">
                <a:solidFill>
                  <a:schemeClr val="dk1"/>
                </a:solidFill>
                <a:latin typeface="Arial"/>
                <a:ea typeface="Arial"/>
                <a:cs typeface="Arial"/>
                <a:sym typeface="Arial"/>
              </a:rPr>
              <a:t>i</a:t>
            </a:r>
            <a:endParaRPr baseline="-25000" sz="1800">
              <a:solidFill>
                <a:schemeClr val="dk1"/>
              </a:solidFill>
              <a:latin typeface="Arial"/>
              <a:ea typeface="Arial"/>
              <a:cs typeface="Arial"/>
              <a:sym typeface="Arial"/>
            </a:endParaRPr>
          </a:p>
        </p:txBody>
      </p:sp>
      <p:sp>
        <p:nvSpPr>
          <p:cNvPr id="540" name="Google Shape;540;p54"/>
          <p:cNvSpPr txBox="1"/>
          <p:nvPr/>
        </p:nvSpPr>
        <p:spPr>
          <a:xfrm>
            <a:off x="2709934" y="3210565"/>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41" name="Google Shape;541;p54"/>
          <p:cNvSpPr txBox="1"/>
          <p:nvPr/>
        </p:nvSpPr>
        <p:spPr>
          <a:xfrm>
            <a:off x="3706744" y="3202628"/>
            <a:ext cx="39245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a:t>
            </a:r>
            <a:r>
              <a:rPr baseline="-25000" lang="en" sz="1800">
                <a:solidFill>
                  <a:schemeClr val="dk1"/>
                </a:solidFill>
                <a:latin typeface="Arial"/>
                <a:ea typeface="Arial"/>
                <a:cs typeface="Arial"/>
                <a:sym typeface="Arial"/>
              </a:rPr>
              <a:t>i</a:t>
            </a:r>
            <a:endParaRPr baseline="-25000" sz="1800">
              <a:solidFill>
                <a:schemeClr val="dk1"/>
              </a:solidFill>
              <a:latin typeface="Arial"/>
              <a:ea typeface="Arial"/>
              <a:cs typeface="Arial"/>
              <a:sym typeface="Arial"/>
            </a:endParaRPr>
          </a:p>
        </p:txBody>
      </p:sp>
      <p:sp>
        <p:nvSpPr>
          <p:cNvPr id="542" name="Google Shape;542;p54"/>
          <p:cNvSpPr txBox="1"/>
          <p:nvPr/>
        </p:nvSpPr>
        <p:spPr>
          <a:xfrm>
            <a:off x="2039734" y="2062952"/>
            <a:ext cx="66519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43" name="Google Shape;543;p54"/>
          <p:cNvSpPr txBox="1"/>
          <p:nvPr/>
        </p:nvSpPr>
        <p:spPr>
          <a:xfrm>
            <a:off x="2041844" y="2476527"/>
            <a:ext cx="66519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44" name="Google Shape;544;p54"/>
          <p:cNvSpPr txBox="1"/>
          <p:nvPr/>
        </p:nvSpPr>
        <p:spPr>
          <a:xfrm>
            <a:off x="2037257" y="2844400"/>
            <a:ext cx="66519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45" name="Google Shape;545;p54"/>
          <p:cNvSpPr txBox="1"/>
          <p:nvPr/>
        </p:nvSpPr>
        <p:spPr>
          <a:xfrm>
            <a:off x="2038310" y="3208225"/>
            <a:ext cx="66519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cxnSp>
        <p:nvCxnSpPr>
          <p:cNvPr id="546" name="Google Shape;546;p54"/>
          <p:cNvCxnSpPr/>
          <p:nvPr/>
        </p:nvCxnSpPr>
        <p:spPr>
          <a:xfrm>
            <a:off x="1668025" y="3721320"/>
            <a:ext cx="2664296" cy="0"/>
          </a:xfrm>
          <a:prstGeom prst="straightConnector1">
            <a:avLst/>
          </a:prstGeom>
          <a:noFill/>
          <a:ln cap="flat" cmpd="sng" w="38100">
            <a:solidFill>
              <a:schemeClr val="dk1"/>
            </a:solidFill>
            <a:prstDash val="solid"/>
            <a:miter lim="800000"/>
            <a:headEnd len="sm" w="sm" type="none"/>
            <a:tailEnd len="sm" w="sm" type="none"/>
          </a:ln>
        </p:spPr>
      </p:cxnSp>
      <p:sp>
        <p:nvSpPr>
          <p:cNvPr id="547" name="Google Shape;547;p54"/>
          <p:cNvSpPr txBox="1"/>
          <p:nvPr/>
        </p:nvSpPr>
        <p:spPr>
          <a:xfrm>
            <a:off x="2701112" y="3818612"/>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48" name="Google Shape;548;p54"/>
          <p:cNvSpPr txBox="1"/>
          <p:nvPr/>
        </p:nvSpPr>
        <p:spPr>
          <a:xfrm>
            <a:off x="3351989" y="3821591"/>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P</a:t>
            </a:r>
            <a:r>
              <a:rPr baseline="-25000" lang="en" sz="1700">
                <a:solidFill>
                  <a:schemeClr val="dk1"/>
                </a:solidFill>
                <a:latin typeface="Arial"/>
                <a:ea typeface="Arial"/>
                <a:cs typeface="Arial"/>
                <a:sym typeface="Arial"/>
              </a:rPr>
              <a:t>model</a:t>
            </a:r>
            <a:endParaRPr baseline="-25000" sz="1700">
              <a:solidFill>
                <a:schemeClr val="dk1"/>
              </a:solidFill>
              <a:latin typeface="Arial"/>
              <a:ea typeface="Arial"/>
              <a:cs typeface="Arial"/>
              <a:sym typeface="Arial"/>
            </a:endParaRPr>
          </a:p>
        </p:txBody>
      </p:sp>
      <p:sp>
        <p:nvSpPr>
          <p:cNvPr id="549" name="Google Shape;549;p54"/>
          <p:cNvSpPr txBox="1"/>
          <p:nvPr/>
        </p:nvSpPr>
        <p:spPr>
          <a:xfrm>
            <a:off x="2479060" y="1638071"/>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50" name="Google Shape;550;p54"/>
          <p:cNvSpPr txBox="1"/>
          <p:nvPr/>
        </p:nvSpPr>
        <p:spPr>
          <a:xfrm>
            <a:off x="2479060" y="2039627"/>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51" name="Google Shape;551;p54"/>
          <p:cNvSpPr txBox="1"/>
          <p:nvPr/>
        </p:nvSpPr>
        <p:spPr>
          <a:xfrm>
            <a:off x="2490002" y="2454190"/>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52" name="Google Shape;552;p54"/>
          <p:cNvSpPr txBox="1"/>
          <p:nvPr/>
        </p:nvSpPr>
        <p:spPr>
          <a:xfrm>
            <a:off x="2490875" y="3197159"/>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53" name="Google Shape;553;p54"/>
          <p:cNvSpPr txBox="1"/>
          <p:nvPr/>
        </p:nvSpPr>
        <p:spPr>
          <a:xfrm>
            <a:off x="2499032" y="3814290"/>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54" name="Google Shape;554;p54"/>
          <p:cNvSpPr txBox="1"/>
          <p:nvPr/>
        </p:nvSpPr>
        <p:spPr>
          <a:xfrm>
            <a:off x="2900420" y="2773033"/>
            <a:ext cx="29037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55" name="Google Shape;555;p54"/>
          <p:cNvSpPr txBox="1"/>
          <p:nvPr/>
        </p:nvSpPr>
        <p:spPr>
          <a:xfrm>
            <a:off x="3329101" y="2773033"/>
            <a:ext cx="29037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56" name="Google Shape;556;p54"/>
          <p:cNvSpPr txBox="1"/>
          <p:nvPr/>
        </p:nvSpPr>
        <p:spPr>
          <a:xfrm>
            <a:off x="3752201" y="2754546"/>
            <a:ext cx="29037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t>
            </a:r>
            <a:endParaRPr baseline="-25000" sz="1800">
              <a:solidFill>
                <a:schemeClr val="dk1"/>
              </a:solidFill>
              <a:latin typeface="Arial"/>
              <a:ea typeface="Arial"/>
              <a:cs typeface="Arial"/>
              <a:sym typeface="Arial"/>
            </a:endParaRPr>
          </a:p>
        </p:txBody>
      </p:sp>
      <p:sp>
        <p:nvSpPr>
          <p:cNvPr id="557" name="Google Shape;557;p54"/>
          <p:cNvSpPr txBox="1"/>
          <p:nvPr/>
        </p:nvSpPr>
        <p:spPr>
          <a:xfrm>
            <a:off x="3259286" y="1017836"/>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K</a:t>
            </a:r>
            <a:endParaRPr baseline="-25000" sz="1800">
              <a:solidFill>
                <a:schemeClr val="dk1"/>
              </a:solidFill>
              <a:latin typeface="Arial"/>
              <a:ea typeface="Arial"/>
              <a:cs typeface="Arial"/>
              <a:sym typeface="Arial"/>
            </a:endParaRPr>
          </a:p>
        </p:txBody>
      </p:sp>
      <p:sp>
        <p:nvSpPr>
          <p:cNvPr id="558" name="Google Shape;558;p54"/>
          <p:cNvSpPr txBox="1"/>
          <p:nvPr/>
        </p:nvSpPr>
        <p:spPr>
          <a:xfrm>
            <a:off x="2709934" y="1027895"/>
            <a:ext cx="665195" cy="32316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700">
                <a:solidFill>
                  <a:schemeClr val="dk1"/>
                </a:solidFill>
                <a:latin typeface="Arial"/>
                <a:ea typeface="Arial"/>
                <a:cs typeface="Arial"/>
                <a:sym typeface="Arial"/>
              </a:rPr>
              <a:t>B</a:t>
            </a:r>
            <a:r>
              <a:rPr baseline="-25000" lang="en" sz="1700">
                <a:solidFill>
                  <a:schemeClr val="dk1"/>
                </a:solidFill>
                <a:latin typeface="Arial"/>
                <a:ea typeface="Arial"/>
                <a:cs typeface="Arial"/>
                <a:sym typeface="Arial"/>
              </a:rPr>
              <a:t>dense</a:t>
            </a:r>
            <a:endParaRPr baseline="-25000" sz="1700">
              <a:solidFill>
                <a:schemeClr val="dk1"/>
              </a:solidFill>
              <a:latin typeface="Arial"/>
              <a:ea typeface="Arial"/>
              <a:cs typeface="Arial"/>
              <a:sym typeface="Arial"/>
            </a:endParaRPr>
          </a:p>
        </p:txBody>
      </p:sp>
      <p:sp>
        <p:nvSpPr>
          <p:cNvPr id="559" name="Google Shape;559;p54"/>
          <p:cNvSpPr txBox="1"/>
          <p:nvPr/>
        </p:nvSpPr>
        <p:spPr>
          <a:xfrm>
            <a:off x="3706744" y="1019959"/>
            <a:ext cx="39245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a:t>
            </a:r>
            <a:endParaRPr baseline="-25000" sz="1800">
              <a:solidFill>
                <a:schemeClr val="dk1"/>
              </a:solidFill>
              <a:latin typeface="Arial"/>
              <a:ea typeface="Arial"/>
              <a:cs typeface="Arial"/>
              <a:sym typeface="Arial"/>
            </a:endParaRPr>
          </a:p>
        </p:txBody>
      </p:sp>
      <p:sp>
        <p:nvSpPr>
          <p:cNvPr id="560" name="Google Shape;560;p54"/>
          <p:cNvSpPr txBox="1"/>
          <p:nvPr/>
        </p:nvSpPr>
        <p:spPr>
          <a:xfrm>
            <a:off x="2479060" y="1015539"/>
            <a:ext cx="44745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2</a:t>
            </a:r>
            <a:endParaRPr baseline="-25000" sz="1800">
              <a:solidFill>
                <a:schemeClr val="dk1"/>
              </a:solidFill>
              <a:latin typeface="Arial"/>
              <a:ea typeface="Arial"/>
              <a:cs typeface="Arial"/>
              <a:sym typeface="Arial"/>
            </a:endParaRPr>
          </a:p>
        </p:txBody>
      </p:sp>
      <p:sp>
        <p:nvSpPr>
          <p:cNvPr id="561" name="Google Shape;561;p54"/>
          <p:cNvSpPr txBox="1"/>
          <p:nvPr/>
        </p:nvSpPr>
        <p:spPr>
          <a:xfrm>
            <a:off x="252312" y="1647814"/>
            <a:ext cx="2402100" cy="300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chemeClr val="dk1"/>
                </a:solidFill>
                <a:latin typeface="Arial"/>
                <a:ea typeface="Arial"/>
                <a:cs typeface="Arial"/>
                <a:sym typeface="Arial"/>
              </a:rPr>
              <a:t>All Dense Operations</a:t>
            </a:r>
            <a:endParaRPr baseline="-25000" sz="1500">
              <a:solidFill>
                <a:schemeClr val="dk1"/>
              </a:solidFill>
              <a:latin typeface="Arial"/>
              <a:ea typeface="Arial"/>
              <a:cs typeface="Arial"/>
              <a:sym typeface="Arial"/>
            </a:endParaRPr>
          </a:p>
        </p:txBody>
      </p:sp>
      <p:sp>
        <p:nvSpPr>
          <p:cNvPr id="562" name="Google Shape;562;p54"/>
          <p:cNvSpPr/>
          <p:nvPr/>
        </p:nvSpPr>
        <p:spPr>
          <a:xfrm>
            <a:off x="3116709" y="4236822"/>
            <a:ext cx="2910583" cy="777998"/>
          </a:xfrm>
          <a:prstGeom prst="roundRect">
            <a:avLst>
              <a:gd fmla="val 0" name="adj"/>
            </a:avLst>
          </a:prstGeom>
          <a:blipFill rotWithShape="1">
            <a:blip r:embed="rId3">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563" name="Google Shape;563;p54"/>
          <p:cNvSpPr/>
          <p:nvPr/>
        </p:nvSpPr>
        <p:spPr>
          <a:xfrm>
            <a:off x="7240085" y="2260521"/>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4" name="Google Shape;564;p54"/>
          <p:cNvSpPr/>
          <p:nvPr/>
        </p:nvSpPr>
        <p:spPr>
          <a:xfrm>
            <a:off x="7242962" y="1022186"/>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5" name="Google Shape;565;p54"/>
          <p:cNvSpPr/>
          <p:nvPr/>
        </p:nvSpPr>
        <p:spPr>
          <a:xfrm>
            <a:off x="7242962" y="1269317"/>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6" name="Google Shape;566;p54"/>
          <p:cNvSpPr/>
          <p:nvPr/>
        </p:nvSpPr>
        <p:spPr>
          <a:xfrm>
            <a:off x="7242962" y="1519266"/>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54"/>
          <p:cNvSpPr/>
          <p:nvPr/>
        </p:nvSpPr>
        <p:spPr>
          <a:xfrm>
            <a:off x="7244645" y="1766867"/>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8" name="Google Shape;568;p54"/>
          <p:cNvSpPr/>
          <p:nvPr/>
        </p:nvSpPr>
        <p:spPr>
          <a:xfrm>
            <a:off x="7242962" y="775053"/>
            <a:ext cx="265293" cy="247132"/>
          </a:xfrm>
          <a:prstGeom prst="rect">
            <a:avLst/>
          </a:prstGeom>
          <a:solidFill>
            <a:srgbClr val="C0E4F5"/>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9" name="Google Shape;569;p54"/>
          <p:cNvSpPr txBox="1"/>
          <p:nvPr/>
        </p:nvSpPr>
        <p:spPr>
          <a:xfrm>
            <a:off x="4375026" y="3277675"/>
            <a:ext cx="906600" cy="577200"/>
          </a:xfrm>
          <a:prstGeom prst="rect">
            <a:avLst/>
          </a:prstGeom>
          <a:noFill/>
          <a:ln cap="flat" cmpd="sng" w="9525">
            <a:solidFill>
              <a:srgbClr val="082836"/>
            </a:solidFill>
            <a:prstDash val="dash"/>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100">
                <a:solidFill>
                  <a:srgbClr val="0070C0"/>
                </a:solidFill>
                <a:latin typeface="Arial"/>
                <a:ea typeface="Arial"/>
                <a:cs typeface="Arial"/>
                <a:sym typeface="Arial"/>
              </a:rPr>
              <a:t>Multiple user input</a:t>
            </a:r>
            <a:endParaRPr sz="1100"/>
          </a:p>
          <a:p>
            <a:pPr indent="0" lvl="0" marL="0" marR="0" rtl="0" algn="ctr">
              <a:spcBef>
                <a:spcPts val="0"/>
              </a:spcBef>
              <a:spcAft>
                <a:spcPts val="0"/>
              </a:spcAft>
              <a:buNone/>
            </a:pPr>
            <a:r>
              <a:rPr b="1" lang="en" sz="1100">
                <a:solidFill>
                  <a:srgbClr val="0070C0"/>
                </a:solidFill>
                <a:latin typeface="Arial"/>
                <a:ea typeface="Arial"/>
                <a:cs typeface="Arial"/>
                <a:sym typeface="Arial"/>
              </a:rPr>
              <a:t>sequences</a:t>
            </a:r>
            <a:endParaRPr sz="1100"/>
          </a:p>
        </p:txBody>
      </p:sp>
      <p:cxnSp>
        <p:nvCxnSpPr>
          <p:cNvPr id="570" name="Google Shape;570;p54"/>
          <p:cNvCxnSpPr>
            <a:stCxn id="569" idx="0"/>
            <a:endCxn id="525" idx="2"/>
          </p:cNvCxnSpPr>
          <p:nvPr/>
        </p:nvCxnSpPr>
        <p:spPr>
          <a:xfrm flipH="1" rot="10800000">
            <a:off x="4828326" y="3187975"/>
            <a:ext cx="184200" cy="89700"/>
          </a:xfrm>
          <a:prstGeom prst="straightConnector1">
            <a:avLst/>
          </a:prstGeom>
          <a:noFill/>
          <a:ln cap="flat" cmpd="sng" w="9525">
            <a:solidFill>
              <a:schemeClr val="dk1"/>
            </a:solidFill>
            <a:prstDash val="dash"/>
            <a:miter lim="800000"/>
            <a:headEnd len="sm" w="sm" type="none"/>
            <a:tailEnd len="sm" w="sm" type="none"/>
          </a:ln>
        </p:spPr>
      </p:cxnSp>
      <p:grpSp>
        <p:nvGrpSpPr>
          <p:cNvPr id="571" name="Google Shape;571;p54"/>
          <p:cNvGrpSpPr/>
          <p:nvPr/>
        </p:nvGrpSpPr>
        <p:grpSpPr>
          <a:xfrm>
            <a:off x="85207" y="1947814"/>
            <a:ext cx="1368156" cy="1275419"/>
            <a:chOff x="113609" y="2597085"/>
            <a:chExt cx="1824208" cy="1700559"/>
          </a:xfrm>
        </p:grpSpPr>
        <p:sp>
          <p:nvSpPr>
            <p:cNvPr id="572" name="Google Shape;572;p54"/>
            <p:cNvSpPr txBox="1"/>
            <p:nvPr/>
          </p:nvSpPr>
          <p:spPr>
            <a:xfrm>
              <a:off x="113609" y="3343537"/>
              <a:ext cx="1685972" cy="954107"/>
            </a:xfrm>
            <a:prstGeom prst="rect">
              <a:avLst/>
            </a:prstGeom>
            <a:noFill/>
            <a:ln cap="flat" cmpd="sng" w="9525">
              <a:solidFill>
                <a:srgbClr val="082836"/>
              </a:solidFill>
              <a:prstDash val="dash"/>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100">
                  <a:solidFill>
                    <a:srgbClr val="0070C0"/>
                  </a:solidFill>
                  <a:latin typeface="Arial"/>
                  <a:ea typeface="Arial"/>
                  <a:cs typeface="Arial"/>
                  <a:sym typeface="Arial"/>
                </a:rPr>
                <a:t>Activations</a:t>
              </a:r>
              <a:endParaRPr sz="1100"/>
            </a:p>
            <a:p>
              <a:pPr indent="0" lvl="0" marL="0" marR="0" rtl="0" algn="ctr">
                <a:spcBef>
                  <a:spcPts val="0"/>
                </a:spcBef>
                <a:spcAft>
                  <a:spcPts val="0"/>
                </a:spcAft>
                <a:buNone/>
              </a:pPr>
              <a:r>
                <a:rPr b="1" lang="en" sz="1100">
                  <a:solidFill>
                    <a:srgbClr val="0070C0"/>
                  </a:solidFill>
                  <a:latin typeface="Arial"/>
                  <a:ea typeface="Arial"/>
                  <a:cs typeface="Arial"/>
                  <a:sym typeface="Arial"/>
                </a:rPr>
                <a:t>being multiplied with weights in large batches</a:t>
              </a:r>
              <a:endParaRPr sz="1100"/>
            </a:p>
          </p:txBody>
        </p:sp>
        <p:cxnSp>
          <p:nvCxnSpPr>
            <p:cNvPr id="573" name="Google Shape;573;p54"/>
            <p:cNvCxnSpPr>
              <a:endCxn id="561" idx="2"/>
            </p:cNvCxnSpPr>
            <p:nvPr/>
          </p:nvCxnSpPr>
          <p:spPr>
            <a:xfrm flipH="1" rot="10800000">
              <a:off x="886617" y="2597085"/>
              <a:ext cx="1051200" cy="671100"/>
            </a:xfrm>
            <a:prstGeom prst="straightConnector1">
              <a:avLst/>
            </a:prstGeom>
            <a:noFill/>
            <a:ln cap="flat" cmpd="sng" w="9525">
              <a:solidFill>
                <a:schemeClr val="dk1"/>
              </a:solidFill>
              <a:prstDash val="dash"/>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5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579" name="Google Shape;579;p55"/>
          <p:cNvSpPr/>
          <p:nvPr/>
        </p:nvSpPr>
        <p:spPr>
          <a:xfrm>
            <a:off x="3625388" y="1886652"/>
            <a:ext cx="2045459" cy="307090"/>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0" name="Google Shape;580;p55"/>
          <p:cNvSpPr/>
          <p:nvPr/>
        </p:nvSpPr>
        <p:spPr>
          <a:xfrm>
            <a:off x="3625387" y="1886653"/>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A</a:t>
            </a:r>
            <a:endParaRPr sz="1800">
              <a:solidFill>
                <a:schemeClr val="lt1"/>
              </a:solidFill>
              <a:latin typeface="Arial"/>
              <a:ea typeface="Arial"/>
              <a:cs typeface="Arial"/>
              <a:sym typeface="Arial"/>
            </a:endParaRPr>
          </a:p>
        </p:txBody>
      </p:sp>
      <p:sp>
        <p:nvSpPr>
          <p:cNvPr id="581" name="Google Shape;581;p55"/>
          <p:cNvSpPr/>
          <p:nvPr/>
        </p:nvSpPr>
        <p:spPr>
          <a:xfrm>
            <a:off x="3625388" y="2401052"/>
            <a:ext cx="2045459" cy="307090"/>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2" name="Google Shape;582;p55"/>
          <p:cNvSpPr/>
          <p:nvPr/>
        </p:nvSpPr>
        <p:spPr>
          <a:xfrm>
            <a:off x="4141061" y="2401052"/>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B</a:t>
            </a:r>
            <a:endParaRPr sz="1800">
              <a:solidFill>
                <a:schemeClr val="lt1"/>
              </a:solidFill>
              <a:latin typeface="Arial"/>
              <a:ea typeface="Arial"/>
              <a:cs typeface="Arial"/>
              <a:sym typeface="Arial"/>
            </a:endParaRPr>
          </a:p>
        </p:txBody>
      </p:sp>
      <p:sp>
        <p:nvSpPr>
          <p:cNvPr id="583" name="Google Shape;583;p55"/>
          <p:cNvSpPr/>
          <p:nvPr/>
        </p:nvSpPr>
        <p:spPr>
          <a:xfrm>
            <a:off x="3625388" y="2915452"/>
            <a:ext cx="2045459" cy="307090"/>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4" name="Google Shape;584;p55"/>
          <p:cNvSpPr/>
          <p:nvPr/>
        </p:nvSpPr>
        <p:spPr>
          <a:xfrm>
            <a:off x="4657642" y="2915452"/>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C</a:t>
            </a:r>
            <a:endParaRPr sz="1800">
              <a:solidFill>
                <a:schemeClr val="lt1"/>
              </a:solidFill>
              <a:latin typeface="Arial"/>
              <a:ea typeface="Arial"/>
              <a:cs typeface="Arial"/>
              <a:sym typeface="Arial"/>
            </a:endParaRPr>
          </a:p>
        </p:txBody>
      </p:sp>
      <p:sp>
        <p:nvSpPr>
          <p:cNvPr id="585" name="Google Shape;585;p55"/>
          <p:cNvSpPr/>
          <p:nvPr/>
        </p:nvSpPr>
        <p:spPr>
          <a:xfrm>
            <a:off x="3625388" y="3429851"/>
            <a:ext cx="2045459" cy="307090"/>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6" name="Google Shape;586;p55"/>
          <p:cNvSpPr/>
          <p:nvPr/>
        </p:nvSpPr>
        <p:spPr>
          <a:xfrm>
            <a:off x="5159934" y="3429851"/>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D</a:t>
            </a:r>
            <a:endParaRPr sz="1800">
              <a:solidFill>
                <a:schemeClr val="lt1"/>
              </a:solidFill>
              <a:latin typeface="Arial"/>
              <a:ea typeface="Arial"/>
              <a:cs typeface="Arial"/>
              <a:sym typeface="Arial"/>
            </a:endParaRPr>
          </a:p>
        </p:txBody>
      </p:sp>
      <p:grpSp>
        <p:nvGrpSpPr>
          <p:cNvPr id="587" name="Google Shape;587;p55"/>
          <p:cNvGrpSpPr/>
          <p:nvPr/>
        </p:nvGrpSpPr>
        <p:grpSpPr>
          <a:xfrm>
            <a:off x="2939678" y="758348"/>
            <a:ext cx="2367633" cy="3108960"/>
            <a:chOff x="412457" y="735178"/>
            <a:chExt cx="2367633" cy="3108960"/>
          </a:xfrm>
        </p:grpSpPr>
        <p:sp>
          <p:nvSpPr>
            <p:cNvPr id="588" name="Google Shape;588;p55"/>
            <p:cNvSpPr/>
            <p:nvPr/>
          </p:nvSpPr>
          <p:spPr>
            <a:xfrm rot="-8821822">
              <a:off x="957354" y="1731736"/>
              <a:ext cx="659124" cy="897153"/>
            </a:xfrm>
            <a:prstGeom prst="arc">
              <a:avLst>
                <a:gd fmla="val 16200000" name="adj1"/>
                <a:gd fmla="val 21588802" name="adj2"/>
              </a:avLst>
            </a:prstGeom>
            <a:noFill/>
            <a:ln cap="flat" cmpd="sng" w="12700">
              <a:solidFill>
                <a:schemeClr val="accent1"/>
              </a:solidFill>
              <a:prstDash val="solid"/>
              <a:miter lim="800000"/>
              <a:headEnd len="med" w="med" type="triangl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89" name="Google Shape;589;p55"/>
            <p:cNvSpPr/>
            <p:nvPr/>
          </p:nvSpPr>
          <p:spPr>
            <a:xfrm rot="-9326191">
              <a:off x="952249" y="1337073"/>
              <a:ext cx="922408" cy="1760959"/>
            </a:xfrm>
            <a:prstGeom prst="arc">
              <a:avLst>
                <a:gd fmla="val 16200000" name="adj1"/>
                <a:gd fmla="val 21588802" name="adj2"/>
              </a:avLst>
            </a:prstGeom>
            <a:noFill/>
            <a:ln cap="flat" cmpd="sng" w="12700">
              <a:solidFill>
                <a:schemeClr val="accent1"/>
              </a:solidFill>
              <a:prstDash val="solid"/>
              <a:miter lim="800000"/>
              <a:headEnd len="med" w="med" type="triangl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90" name="Google Shape;590;p55"/>
            <p:cNvSpPr/>
            <p:nvPr/>
          </p:nvSpPr>
          <p:spPr>
            <a:xfrm rot="-9326191">
              <a:off x="938429" y="881179"/>
              <a:ext cx="1315688" cy="2816958"/>
            </a:xfrm>
            <a:prstGeom prst="arc">
              <a:avLst>
                <a:gd fmla="val 16200000" name="adj1"/>
                <a:gd fmla="val 21588802" name="adj2"/>
              </a:avLst>
            </a:prstGeom>
            <a:noFill/>
            <a:ln cap="flat" cmpd="sng" w="12700">
              <a:solidFill>
                <a:schemeClr val="accent1"/>
              </a:solidFill>
              <a:prstDash val="solid"/>
              <a:miter lim="800000"/>
              <a:headEnd len="med" w="med" type="triangl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591" name="Google Shape;591;p55"/>
          <p:cNvSpPr/>
          <p:nvPr/>
        </p:nvSpPr>
        <p:spPr>
          <a:xfrm>
            <a:off x="3624434" y="2401049"/>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A</a:t>
            </a:r>
            <a:endParaRPr sz="1800">
              <a:solidFill>
                <a:schemeClr val="lt1"/>
              </a:solidFill>
              <a:latin typeface="Arial"/>
              <a:ea typeface="Arial"/>
              <a:cs typeface="Arial"/>
              <a:sym typeface="Arial"/>
            </a:endParaRPr>
          </a:p>
        </p:txBody>
      </p:sp>
      <p:sp>
        <p:nvSpPr>
          <p:cNvPr id="592" name="Google Shape;592;p55"/>
          <p:cNvSpPr/>
          <p:nvPr/>
        </p:nvSpPr>
        <p:spPr>
          <a:xfrm>
            <a:off x="3625387" y="2915447"/>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A</a:t>
            </a:r>
            <a:endParaRPr sz="1800">
              <a:solidFill>
                <a:schemeClr val="lt1"/>
              </a:solidFill>
              <a:latin typeface="Arial"/>
              <a:ea typeface="Arial"/>
              <a:cs typeface="Arial"/>
              <a:sym typeface="Arial"/>
            </a:endParaRPr>
          </a:p>
        </p:txBody>
      </p:sp>
      <p:sp>
        <p:nvSpPr>
          <p:cNvPr id="593" name="Google Shape;593;p55"/>
          <p:cNvSpPr/>
          <p:nvPr/>
        </p:nvSpPr>
        <p:spPr>
          <a:xfrm>
            <a:off x="3624434" y="3429845"/>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A</a:t>
            </a:r>
            <a:endParaRPr sz="1800">
              <a:solidFill>
                <a:schemeClr val="lt1"/>
              </a:solidFill>
              <a:latin typeface="Arial"/>
              <a:ea typeface="Arial"/>
              <a:cs typeface="Arial"/>
              <a:sym typeface="Arial"/>
            </a:endParaRPr>
          </a:p>
        </p:txBody>
      </p:sp>
      <p:grpSp>
        <p:nvGrpSpPr>
          <p:cNvPr id="594" name="Google Shape;594;p55"/>
          <p:cNvGrpSpPr/>
          <p:nvPr/>
        </p:nvGrpSpPr>
        <p:grpSpPr>
          <a:xfrm>
            <a:off x="4143553" y="1886646"/>
            <a:ext cx="512771" cy="1850284"/>
            <a:chOff x="3930902" y="1886646"/>
            <a:chExt cx="512771" cy="1850284"/>
          </a:xfrm>
        </p:grpSpPr>
        <p:sp>
          <p:nvSpPr>
            <p:cNvPr id="595" name="Google Shape;595;p55"/>
            <p:cNvSpPr/>
            <p:nvPr/>
          </p:nvSpPr>
          <p:spPr>
            <a:xfrm>
              <a:off x="3931855" y="1886646"/>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B</a:t>
              </a:r>
              <a:endParaRPr sz="1800">
                <a:solidFill>
                  <a:schemeClr val="lt1"/>
                </a:solidFill>
                <a:latin typeface="Arial"/>
                <a:ea typeface="Arial"/>
                <a:cs typeface="Arial"/>
                <a:sym typeface="Arial"/>
              </a:endParaRPr>
            </a:p>
          </p:txBody>
        </p:sp>
        <p:sp>
          <p:nvSpPr>
            <p:cNvPr id="596" name="Google Shape;596;p55"/>
            <p:cNvSpPr/>
            <p:nvPr/>
          </p:nvSpPr>
          <p:spPr>
            <a:xfrm>
              <a:off x="3931855" y="2915440"/>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B</a:t>
              </a:r>
              <a:endParaRPr sz="1800">
                <a:solidFill>
                  <a:schemeClr val="lt1"/>
                </a:solidFill>
                <a:latin typeface="Arial"/>
                <a:ea typeface="Arial"/>
                <a:cs typeface="Arial"/>
                <a:sym typeface="Arial"/>
              </a:endParaRPr>
            </a:p>
          </p:txBody>
        </p:sp>
        <p:sp>
          <p:nvSpPr>
            <p:cNvPr id="597" name="Google Shape;597;p55"/>
            <p:cNvSpPr/>
            <p:nvPr/>
          </p:nvSpPr>
          <p:spPr>
            <a:xfrm>
              <a:off x="3930902" y="3429839"/>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B</a:t>
              </a:r>
              <a:endParaRPr sz="1800">
                <a:solidFill>
                  <a:schemeClr val="lt1"/>
                </a:solidFill>
                <a:latin typeface="Arial"/>
                <a:ea typeface="Arial"/>
                <a:cs typeface="Arial"/>
                <a:sym typeface="Arial"/>
              </a:endParaRPr>
            </a:p>
          </p:txBody>
        </p:sp>
      </p:grpSp>
      <p:grpSp>
        <p:nvGrpSpPr>
          <p:cNvPr id="598" name="Google Shape;598;p55"/>
          <p:cNvGrpSpPr/>
          <p:nvPr/>
        </p:nvGrpSpPr>
        <p:grpSpPr>
          <a:xfrm>
            <a:off x="4653149" y="1886640"/>
            <a:ext cx="512771" cy="1850284"/>
            <a:chOff x="3930902" y="1886646"/>
            <a:chExt cx="512771" cy="1850284"/>
          </a:xfrm>
        </p:grpSpPr>
        <p:sp>
          <p:nvSpPr>
            <p:cNvPr id="599" name="Google Shape;599;p55"/>
            <p:cNvSpPr/>
            <p:nvPr/>
          </p:nvSpPr>
          <p:spPr>
            <a:xfrm>
              <a:off x="3931855" y="1886646"/>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C</a:t>
              </a:r>
              <a:endParaRPr sz="1800">
                <a:solidFill>
                  <a:schemeClr val="lt1"/>
                </a:solidFill>
                <a:latin typeface="Arial"/>
                <a:ea typeface="Arial"/>
                <a:cs typeface="Arial"/>
                <a:sym typeface="Arial"/>
              </a:endParaRPr>
            </a:p>
          </p:txBody>
        </p:sp>
        <p:sp>
          <p:nvSpPr>
            <p:cNvPr id="600" name="Google Shape;600;p55"/>
            <p:cNvSpPr/>
            <p:nvPr/>
          </p:nvSpPr>
          <p:spPr>
            <a:xfrm>
              <a:off x="3931855" y="2401080"/>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C</a:t>
              </a:r>
              <a:endParaRPr sz="1800">
                <a:solidFill>
                  <a:schemeClr val="lt1"/>
                </a:solidFill>
                <a:latin typeface="Arial"/>
                <a:ea typeface="Arial"/>
                <a:cs typeface="Arial"/>
                <a:sym typeface="Arial"/>
              </a:endParaRPr>
            </a:p>
          </p:txBody>
        </p:sp>
        <p:sp>
          <p:nvSpPr>
            <p:cNvPr id="601" name="Google Shape;601;p55"/>
            <p:cNvSpPr/>
            <p:nvPr/>
          </p:nvSpPr>
          <p:spPr>
            <a:xfrm>
              <a:off x="3930902" y="3429839"/>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C</a:t>
              </a:r>
              <a:endParaRPr sz="1800">
                <a:solidFill>
                  <a:schemeClr val="lt1"/>
                </a:solidFill>
                <a:latin typeface="Arial"/>
                <a:ea typeface="Arial"/>
                <a:cs typeface="Arial"/>
                <a:sym typeface="Arial"/>
              </a:endParaRPr>
            </a:p>
          </p:txBody>
        </p:sp>
      </p:grpSp>
      <p:grpSp>
        <p:nvGrpSpPr>
          <p:cNvPr id="602" name="Google Shape;602;p55"/>
          <p:cNvGrpSpPr/>
          <p:nvPr/>
        </p:nvGrpSpPr>
        <p:grpSpPr>
          <a:xfrm>
            <a:off x="5162732" y="1886645"/>
            <a:ext cx="512771" cy="1335885"/>
            <a:chOff x="4950082" y="1886644"/>
            <a:chExt cx="512771" cy="1335885"/>
          </a:xfrm>
        </p:grpSpPr>
        <p:sp>
          <p:nvSpPr>
            <p:cNvPr id="603" name="Google Shape;603;p55"/>
            <p:cNvSpPr/>
            <p:nvPr/>
          </p:nvSpPr>
          <p:spPr>
            <a:xfrm>
              <a:off x="4951035" y="1886644"/>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D</a:t>
              </a:r>
              <a:endParaRPr sz="1800">
                <a:solidFill>
                  <a:schemeClr val="lt1"/>
                </a:solidFill>
                <a:latin typeface="Arial"/>
                <a:ea typeface="Arial"/>
                <a:cs typeface="Arial"/>
                <a:sym typeface="Arial"/>
              </a:endParaRPr>
            </a:p>
          </p:txBody>
        </p:sp>
        <p:sp>
          <p:nvSpPr>
            <p:cNvPr id="604" name="Google Shape;604;p55"/>
            <p:cNvSpPr/>
            <p:nvPr/>
          </p:nvSpPr>
          <p:spPr>
            <a:xfrm>
              <a:off x="4950082" y="2401041"/>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D</a:t>
              </a:r>
              <a:endParaRPr sz="1800">
                <a:solidFill>
                  <a:schemeClr val="lt1"/>
                </a:solidFill>
                <a:latin typeface="Arial"/>
                <a:ea typeface="Arial"/>
                <a:cs typeface="Arial"/>
                <a:sym typeface="Arial"/>
              </a:endParaRPr>
            </a:p>
          </p:txBody>
        </p:sp>
        <p:sp>
          <p:nvSpPr>
            <p:cNvPr id="605" name="Google Shape;605;p55"/>
            <p:cNvSpPr/>
            <p:nvPr/>
          </p:nvSpPr>
          <p:spPr>
            <a:xfrm>
              <a:off x="4951035" y="2915438"/>
              <a:ext cx="511818" cy="307091"/>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D</a:t>
              </a:r>
              <a:endParaRPr sz="1800">
                <a:solidFill>
                  <a:schemeClr val="lt1"/>
                </a:solidFill>
                <a:latin typeface="Arial"/>
                <a:ea typeface="Arial"/>
                <a:cs typeface="Arial"/>
                <a:sym typeface="Arial"/>
              </a:endParaRPr>
            </a:p>
          </p:txBody>
        </p:sp>
      </p:grpSp>
      <p:grpSp>
        <p:nvGrpSpPr>
          <p:cNvPr id="606" name="Google Shape;606;p55"/>
          <p:cNvGrpSpPr/>
          <p:nvPr/>
        </p:nvGrpSpPr>
        <p:grpSpPr>
          <a:xfrm>
            <a:off x="5749839" y="1886640"/>
            <a:ext cx="858008" cy="1850284"/>
            <a:chOff x="5537189" y="1886640"/>
            <a:chExt cx="858008" cy="1850284"/>
          </a:xfrm>
        </p:grpSpPr>
        <p:sp>
          <p:nvSpPr>
            <p:cNvPr id="607" name="Google Shape;607;p55"/>
            <p:cNvSpPr txBox="1"/>
            <p:nvPr/>
          </p:nvSpPr>
          <p:spPr>
            <a:xfrm>
              <a:off x="5616233" y="2627116"/>
              <a:ext cx="778964"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N</a:t>
              </a:r>
              <a:r>
                <a:rPr baseline="-25000" i="1" lang="en" sz="1800">
                  <a:solidFill>
                    <a:schemeClr val="dk1"/>
                  </a:solidFill>
                  <a:latin typeface="Arial"/>
                  <a:ea typeface="Arial"/>
                  <a:cs typeface="Arial"/>
                  <a:sym typeface="Arial"/>
                </a:rPr>
                <a:t>GPU</a:t>
              </a:r>
              <a:endParaRPr baseline="-25000" i="1" sz="1800">
                <a:solidFill>
                  <a:schemeClr val="dk1"/>
                </a:solidFill>
                <a:latin typeface="Arial"/>
                <a:ea typeface="Arial"/>
                <a:cs typeface="Arial"/>
                <a:sym typeface="Arial"/>
              </a:endParaRPr>
            </a:p>
          </p:txBody>
        </p:sp>
        <p:sp>
          <p:nvSpPr>
            <p:cNvPr id="608" name="Google Shape;608;p55"/>
            <p:cNvSpPr/>
            <p:nvPr/>
          </p:nvSpPr>
          <p:spPr>
            <a:xfrm>
              <a:off x="5537189" y="1886640"/>
              <a:ext cx="155448" cy="1850284"/>
            </a:xfrm>
            <a:prstGeom prst="rightBrace">
              <a:avLst>
                <a:gd fmla="val 8333" name="adj1"/>
                <a:gd fmla="val 50000" name="adj2"/>
              </a:avLst>
            </a:pr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609" name="Google Shape;609;p55"/>
          <p:cNvSpPr txBox="1"/>
          <p:nvPr/>
        </p:nvSpPr>
        <p:spPr>
          <a:xfrm>
            <a:off x="3685598" y="1502177"/>
            <a:ext cx="1939544"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All-Gather Recap</a:t>
            </a:r>
            <a:endParaRPr sz="1800">
              <a:solidFill>
                <a:schemeClr val="dk1"/>
              </a:solidFill>
              <a:latin typeface="Arial"/>
              <a:ea typeface="Arial"/>
              <a:cs typeface="Arial"/>
              <a:sym typeface="Arial"/>
            </a:endParaRPr>
          </a:p>
        </p:txBody>
      </p:sp>
      <p:sp>
        <p:nvSpPr>
          <p:cNvPr id="610" name="Google Shape;610;p55"/>
          <p:cNvSpPr txBox="1"/>
          <p:nvPr/>
        </p:nvSpPr>
        <p:spPr>
          <a:xfrm>
            <a:off x="2015425" y="2627117"/>
            <a:ext cx="1151673"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(N</a:t>
            </a:r>
            <a:r>
              <a:rPr baseline="-25000" i="1" lang="en" sz="1800">
                <a:solidFill>
                  <a:schemeClr val="dk1"/>
                </a:solidFill>
                <a:latin typeface="Arial"/>
                <a:ea typeface="Arial"/>
                <a:cs typeface="Arial"/>
                <a:sym typeface="Arial"/>
              </a:rPr>
              <a:t>GPU </a:t>
            </a:r>
            <a:r>
              <a:rPr i="1" lang="en" sz="1800">
                <a:solidFill>
                  <a:schemeClr val="dk1"/>
                </a:solidFill>
                <a:latin typeface="Arial"/>
                <a:ea typeface="Arial"/>
                <a:cs typeface="Arial"/>
                <a:sym typeface="Arial"/>
              </a:rPr>
              <a:t>– 1)</a:t>
            </a:r>
            <a:endParaRPr sz="1100"/>
          </a:p>
        </p:txBody>
      </p:sp>
      <p:sp>
        <p:nvSpPr>
          <p:cNvPr id="611" name="Google Shape;611;p55"/>
          <p:cNvSpPr txBox="1"/>
          <p:nvPr/>
        </p:nvSpPr>
        <p:spPr>
          <a:xfrm>
            <a:off x="1561399" y="2976307"/>
            <a:ext cx="2070846"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 of hops per AllGather</a:t>
            </a:r>
            <a:endParaRPr baseline="-25000" sz="1800">
              <a:solidFill>
                <a:schemeClr val="dk1"/>
              </a:solidFill>
              <a:latin typeface="Arial"/>
              <a:ea typeface="Arial"/>
              <a:cs typeface="Arial"/>
              <a:sym typeface="Arial"/>
            </a:endParaRPr>
          </a:p>
        </p:txBody>
      </p:sp>
      <p:sp>
        <p:nvSpPr>
          <p:cNvPr id="612" name="Google Shape;612;p55"/>
          <p:cNvSpPr/>
          <p:nvPr/>
        </p:nvSpPr>
        <p:spPr>
          <a:xfrm>
            <a:off x="6600760" y="0"/>
            <a:ext cx="2536153" cy="168684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3" name="Google Shape;613;p55"/>
          <p:cNvSpPr txBox="1"/>
          <p:nvPr/>
        </p:nvSpPr>
        <p:spPr>
          <a:xfrm>
            <a:off x="6552390" y="-7310"/>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(N</a:t>
            </a:r>
            <a:r>
              <a:rPr b="1" baseline="-25000" i="1" lang="en" sz="1800">
                <a:solidFill>
                  <a:schemeClr val="dk1"/>
                </a:solidFill>
                <a:latin typeface="Arial"/>
                <a:ea typeface="Arial"/>
                <a:cs typeface="Arial"/>
                <a:sym typeface="Arial"/>
              </a:rPr>
              <a:t>GPU </a:t>
            </a:r>
            <a:r>
              <a:rPr b="1" i="1" lang="en" sz="1800">
                <a:solidFill>
                  <a:schemeClr val="dk1"/>
                </a:solidFill>
                <a:latin typeface="Arial"/>
                <a:ea typeface="Arial"/>
                <a:cs typeface="Arial"/>
                <a:sym typeface="Arial"/>
              </a:rPr>
              <a:t>– 1)</a:t>
            </a:r>
            <a:r>
              <a:rPr i="1" lang="en" sz="1800">
                <a:solidFill>
                  <a:schemeClr val="dk1"/>
                </a:solidFill>
                <a:latin typeface="Arial"/>
                <a:ea typeface="Arial"/>
                <a:cs typeface="Arial"/>
                <a:sym typeface="Arial"/>
              </a:rPr>
              <a:t>: # of hops</a:t>
            </a:r>
            <a:endParaRPr sz="1100"/>
          </a:p>
        </p:txBody>
      </p:sp>
      <p:sp>
        <p:nvSpPr>
          <p:cNvPr id="614" name="Google Shape;614;p55"/>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
        <p:nvSpPr>
          <p:cNvPr id="615" name="Google Shape;615;p55"/>
          <p:cNvSpPr txBox="1"/>
          <p:nvPr>
            <p:ph type="title"/>
          </p:nvPr>
        </p:nvSpPr>
        <p:spPr>
          <a:xfrm>
            <a:off x="47700" y="202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100"/>
              <a:buFont typeface="Play"/>
              <a:buNone/>
            </a:pPr>
            <a:r>
              <a:rPr lang="en" sz="2600"/>
              <a:t>Network-Centric Execution Time Estimation</a:t>
            </a:r>
            <a:endParaRPr sz="2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59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500"/>
                                  </p:stCondLst>
                                  <p:childTnLst>
                                    <p:set>
                                      <p:cBhvr>
                                        <p:cTn dur="1" fill="hold">
                                          <p:stCondLst>
                                            <p:cond delay="0"/>
                                          </p:stCondLst>
                                        </p:cTn>
                                        <p:tgtEl>
                                          <p:spTgt spid="598"/>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50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grpSp>
        <p:nvGrpSpPr>
          <p:cNvPr id="621" name="Google Shape;621;p56"/>
          <p:cNvGrpSpPr/>
          <p:nvPr/>
        </p:nvGrpSpPr>
        <p:grpSpPr>
          <a:xfrm>
            <a:off x="97974" y="1790151"/>
            <a:ext cx="9046026" cy="2492604"/>
            <a:chOff x="97974" y="1790151"/>
            <a:chExt cx="9046026" cy="2492604"/>
          </a:xfrm>
        </p:grpSpPr>
        <p:pic>
          <p:nvPicPr>
            <p:cNvPr id="622" name="Google Shape;622;p56"/>
            <p:cNvPicPr preferRelativeResize="0"/>
            <p:nvPr/>
          </p:nvPicPr>
          <p:blipFill rotWithShape="1">
            <a:blip r:embed="rId3">
              <a:alphaModFix/>
            </a:blip>
            <a:srcRect b="0" l="0" r="0" t="0"/>
            <a:stretch/>
          </p:blipFill>
          <p:spPr>
            <a:xfrm>
              <a:off x="97974" y="1790151"/>
              <a:ext cx="9046026" cy="2492604"/>
            </a:xfrm>
            <a:prstGeom prst="rect">
              <a:avLst/>
            </a:prstGeom>
            <a:noFill/>
            <a:ln>
              <a:noFill/>
            </a:ln>
          </p:spPr>
        </p:pic>
        <p:pic>
          <p:nvPicPr>
            <p:cNvPr id="623" name="Google Shape;623;p56"/>
            <p:cNvPicPr preferRelativeResize="0"/>
            <p:nvPr/>
          </p:nvPicPr>
          <p:blipFill rotWithShape="1">
            <a:blip r:embed="rId4">
              <a:alphaModFix/>
            </a:blip>
            <a:srcRect b="0" l="0" r="0" t="0"/>
            <a:stretch/>
          </p:blipFill>
          <p:spPr>
            <a:xfrm>
              <a:off x="4235687" y="2202539"/>
              <a:ext cx="1423481" cy="1653428"/>
            </a:xfrm>
            <a:prstGeom prst="rect">
              <a:avLst/>
            </a:prstGeom>
            <a:noFill/>
            <a:ln>
              <a:noFill/>
            </a:ln>
          </p:spPr>
        </p:pic>
        <p:pic>
          <p:nvPicPr>
            <p:cNvPr id="624" name="Google Shape;624;p56"/>
            <p:cNvPicPr preferRelativeResize="0"/>
            <p:nvPr/>
          </p:nvPicPr>
          <p:blipFill rotWithShape="1">
            <a:blip r:embed="rId5">
              <a:alphaModFix/>
            </a:blip>
            <a:srcRect b="0" l="0" r="0" t="0"/>
            <a:stretch/>
          </p:blipFill>
          <p:spPr>
            <a:xfrm>
              <a:off x="5343703" y="2337222"/>
              <a:ext cx="2083930" cy="902665"/>
            </a:xfrm>
            <a:prstGeom prst="rect">
              <a:avLst/>
            </a:prstGeom>
            <a:noFill/>
            <a:ln>
              <a:noFill/>
            </a:ln>
          </p:spPr>
        </p:pic>
        <p:pic>
          <p:nvPicPr>
            <p:cNvPr id="625" name="Google Shape;625;p56"/>
            <p:cNvPicPr preferRelativeResize="0"/>
            <p:nvPr/>
          </p:nvPicPr>
          <p:blipFill rotWithShape="1">
            <a:blip r:embed="rId6">
              <a:alphaModFix/>
            </a:blip>
            <a:srcRect b="0" l="0" r="0" t="0"/>
            <a:stretch/>
          </p:blipFill>
          <p:spPr>
            <a:xfrm>
              <a:off x="5342359" y="2826967"/>
              <a:ext cx="2095075" cy="824657"/>
            </a:xfrm>
            <a:prstGeom prst="rect">
              <a:avLst/>
            </a:prstGeom>
            <a:noFill/>
            <a:ln>
              <a:noFill/>
            </a:ln>
          </p:spPr>
        </p:pic>
        <p:pic>
          <p:nvPicPr>
            <p:cNvPr id="626" name="Google Shape;626;p56"/>
            <p:cNvPicPr preferRelativeResize="0"/>
            <p:nvPr/>
          </p:nvPicPr>
          <p:blipFill rotWithShape="1">
            <a:blip r:embed="rId7">
              <a:alphaModFix/>
            </a:blip>
            <a:srcRect b="0" l="0" r="0" t="0"/>
            <a:stretch/>
          </p:blipFill>
          <p:spPr>
            <a:xfrm>
              <a:off x="7105650" y="2202539"/>
              <a:ext cx="457805" cy="1656818"/>
            </a:xfrm>
            <a:prstGeom prst="rect">
              <a:avLst/>
            </a:prstGeom>
            <a:noFill/>
            <a:ln>
              <a:noFill/>
            </a:ln>
          </p:spPr>
        </p:pic>
        <p:pic>
          <p:nvPicPr>
            <p:cNvPr id="627" name="Google Shape;627;p56"/>
            <p:cNvPicPr preferRelativeResize="0"/>
            <p:nvPr/>
          </p:nvPicPr>
          <p:blipFill rotWithShape="1">
            <a:blip r:embed="rId8">
              <a:alphaModFix/>
            </a:blip>
            <a:srcRect b="0" l="0" r="0" t="0"/>
            <a:stretch/>
          </p:blipFill>
          <p:spPr>
            <a:xfrm>
              <a:off x="7257954" y="2166935"/>
              <a:ext cx="1718694" cy="1653428"/>
            </a:xfrm>
            <a:prstGeom prst="rect">
              <a:avLst/>
            </a:prstGeom>
            <a:noFill/>
            <a:ln>
              <a:noFill/>
            </a:ln>
          </p:spPr>
        </p:pic>
        <p:grpSp>
          <p:nvGrpSpPr>
            <p:cNvPr id="628" name="Google Shape;628;p56"/>
            <p:cNvGrpSpPr/>
            <p:nvPr/>
          </p:nvGrpSpPr>
          <p:grpSpPr>
            <a:xfrm>
              <a:off x="721895" y="2983317"/>
              <a:ext cx="7750563" cy="996616"/>
              <a:chOff x="721895" y="2324100"/>
              <a:chExt cx="7750563" cy="996616"/>
            </a:xfrm>
          </p:grpSpPr>
          <p:cxnSp>
            <p:nvCxnSpPr>
              <p:cNvPr id="629" name="Google Shape;629;p56"/>
              <p:cNvCxnSpPr/>
              <p:nvPr/>
            </p:nvCxnSpPr>
            <p:spPr>
              <a:xfrm>
                <a:off x="721895" y="3320716"/>
                <a:ext cx="7750563" cy="0"/>
              </a:xfrm>
              <a:prstGeom prst="straightConnector1">
                <a:avLst/>
              </a:prstGeom>
              <a:noFill/>
              <a:ln cap="flat" cmpd="sng" w="12700">
                <a:solidFill>
                  <a:schemeClr val="dk1"/>
                </a:solidFill>
                <a:prstDash val="solid"/>
                <a:miter lim="800000"/>
                <a:headEnd len="sm" w="sm" type="none"/>
                <a:tailEnd len="sm" w="sm" type="none"/>
              </a:ln>
            </p:spPr>
          </p:cxnSp>
          <p:cxnSp>
            <p:nvCxnSpPr>
              <p:cNvPr id="630" name="Google Shape;630;p56"/>
              <p:cNvCxnSpPr/>
              <p:nvPr/>
            </p:nvCxnSpPr>
            <p:spPr>
              <a:xfrm rot="10800000">
                <a:off x="721895"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31" name="Google Shape;631;p56"/>
              <p:cNvCxnSpPr/>
              <p:nvPr/>
            </p:nvCxnSpPr>
            <p:spPr>
              <a:xfrm rot="10800000">
                <a:off x="5148974"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32" name="Google Shape;632;p56"/>
              <p:cNvCxnSpPr/>
              <p:nvPr/>
            </p:nvCxnSpPr>
            <p:spPr>
              <a:xfrm rot="10800000">
                <a:off x="8466848" y="2324100"/>
                <a:ext cx="0" cy="996616"/>
              </a:xfrm>
              <a:prstGeom prst="straightConnector1">
                <a:avLst/>
              </a:prstGeom>
              <a:noFill/>
              <a:ln cap="flat" cmpd="sng" w="12700">
                <a:solidFill>
                  <a:schemeClr val="dk1"/>
                </a:solidFill>
                <a:prstDash val="solid"/>
                <a:miter lim="800000"/>
                <a:headEnd len="sm" w="sm" type="none"/>
                <a:tailEnd len="sm" w="sm" type="none"/>
              </a:ln>
            </p:spPr>
          </p:cxnSp>
        </p:grpSp>
      </p:grpSp>
      <p:sp>
        <p:nvSpPr>
          <p:cNvPr id="633" name="Google Shape;633;p56"/>
          <p:cNvSpPr/>
          <p:nvPr/>
        </p:nvSpPr>
        <p:spPr>
          <a:xfrm>
            <a:off x="6600760" y="0"/>
            <a:ext cx="2536153" cy="168684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34" name="Google Shape;634;p56"/>
          <p:cNvGrpSpPr/>
          <p:nvPr/>
        </p:nvGrpSpPr>
        <p:grpSpPr>
          <a:xfrm>
            <a:off x="3995028" y="2166935"/>
            <a:ext cx="1061827" cy="1689033"/>
            <a:chOff x="3995027" y="2166935"/>
            <a:chExt cx="1061827" cy="1689033"/>
          </a:xfrm>
        </p:grpSpPr>
        <p:sp>
          <p:nvSpPr>
            <p:cNvPr id="635" name="Google Shape;635;p56"/>
            <p:cNvSpPr/>
            <p:nvPr/>
          </p:nvSpPr>
          <p:spPr>
            <a:xfrm>
              <a:off x="3995027" y="2166936"/>
              <a:ext cx="351594" cy="1689032"/>
            </a:xfrm>
            <a:prstGeom prst="ellipse">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6" name="Google Shape;636;p56"/>
            <p:cNvSpPr/>
            <p:nvPr/>
          </p:nvSpPr>
          <p:spPr>
            <a:xfrm>
              <a:off x="4705260" y="2166935"/>
              <a:ext cx="351594" cy="1689032"/>
            </a:xfrm>
            <a:prstGeom prst="ellipse">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637" name="Google Shape;637;p56"/>
          <p:cNvSpPr/>
          <p:nvPr/>
        </p:nvSpPr>
        <p:spPr>
          <a:xfrm>
            <a:off x="8053185" y="2166935"/>
            <a:ext cx="351594" cy="1689032"/>
          </a:xfrm>
          <a:prstGeom prst="ellipse">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38" name="Google Shape;638;p56"/>
          <p:cNvGrpSpPr/>
          <p:nvPr/>
        </p:nvGrpSpPr>
        <p:grpSpPr>
          <a:xfrm>
            <a:off x="5780599" y="3855967"/>
            <a:ext cx="3024897" cy="1024305"/>
            <a:chOff x="5780598" y="3855969"/>
            <a:chExt cx="3024897" cy="1024306"/>
          </a:xfrm>
        </p:grpSpPr>
        <p:cxnSp>
          <p:nvCxnSpPr>
            <p:cNvPr id="639" name="Google Shape;639;p56"/>
            <p:cNvCxnSpPr>
              <a:stCxn id="637" idx="4"/>
            </p:cNvCxnSpPr>
            <p:nvPr/>
          </p:nvCxnSpPr>
          <p:spPr>
            <a:xfrm flipH="1">
              <a:off x="7427681" y="3855969"/>
              <a:ext cx="801300" cy="703200"/>
            </a:xfrm>
            <a:prstGeom prst="straightConnector1">
              <a:avLst/>
            </a:prstGeom>
            <a:noFill/>
            <a:ln cap="flat" cmpd="sng" w="25400">
              <a:solidFill>
                <a:srgbClr val="C00000"/>
              </a:solidFill>
              <a:prstDash val="dash"/>
              <a:miter lim="800000"/>
              <a:headEnd len="sm" w="sm" type="none"/>
              <a:tailEnd len="sm" w="sm" type="none"/>
            </a:ln>
          </p:spPr>
        </p:cxnSp>
        <p:sp>
          <p:nvSpPr>
            <p:cNvPr id="640" name="Google Shape;640;p56"/>
            <p:cNvSpPr txBox="1"/>
            <p:nvPr/>
          </p:nvSpPr>
          <p:spPr>
            <a:xfrm>
              <a:off x="5780598" y="4534025"/>
              <a:ext cx="3024897"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All-Reduce ≈ 2 x All-Gather</a:t>
              </a:r>
              <a:endParaRPr sz="1100"/>
            </a:p>
          </p:txBody>
        </p:sp>
      </p:grpSp>
      <p:sp>
        <p:nvSpPr>
          <p:cNvPr id="641" name="Google Shape;641;p56"/>
          <p:cNvSpPr txBox="1"/>
          <p:nvPr/>
        </p:nvSpPr>
        <p:spPr>
          <a:xfrm>
            <a:off x="6552390" y="-7310"/>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(N</a:t>
            </a:r>
            <a:r>
              <a:rPr b="1" baseline="-25000" i="1" lang="en" sz="1800">
                <a:solidFill>
                  <a:schemeClr val="dk1"/>
                </a:solidFill>
                <a:latin typeface="Arial"/>
                <a:ea typeface="Arial"/>
                <a:cs typeface="Arial"/>
                <a:sym typeface="Arial"/>
              </a:rPr>
              <a:t>GPU </a:t>
            </a:r>
            <a:r>
              <a:rPr b="1" i="1" lang="en" sz="1800">
                <a:solidFill>
                  <a:schemeClr val="dk1"/>
                </a:solidFill>
                <a:latin typeface="Arial"/>
                <a:ea typeface="Arial"/>
                <a:cs typeface="Arial"/>
                <a:sym typeface="Arial"/>
              </a:rPr>
              <a:t>– 1)</a:t>
            </a:r>
            <a:r>
              <a:rPr i="1" lang="en" sz="1800">
                <a:solidFill>
                  <a:schemeClr val="dk1"/>
                </a:solidFill>
                <a:latin typeface="Arial"/>
                <a:ea typeface="Arial"/>
                <a:cs typeface="Arial"/>
                <a:sym typeface="Arial"/>
              </a:rPr>
              <a:t>: # of hops</a:t>
            </a:r>
            <a:endParaRPr sz="1100"/>
          </a:p>
        </p:txBody>
      </p:sp>
      <p:sp>
        <p:nvSpPr>
          <p:cNvPr id="642" name="Google Shape;642;p56"/>
          <p:cNvSpPr txBox="1"/>
          <p:nvPr/>
        </p:nvSpPr>
        <p:spPr>
          <a:xfrm>
            <a:off x="6478190" y="429182"/>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4</a:t>
            </a:r>
            <a:r>
              <a:rPr i="1" lang="en" sz="1800">
                <a:solidFill>
                  <a:schemeClr val="dk1"/>
                </a:solidFill>
                <a:latin typeface="Arial"/>
                <a:ea typeface="Arial"/>
                <a:cs typeface="Arial"/>
                <a:sym typeface="Arial"/>
              </a:rPr>
              <a:t>: All-Gathers/layer</a:t>
            </a:r>
            <a:endParaRPr sz="1100"/>
          </a:p>
        </p:txBody>
      </p:sp>
      <p:sp>
        <p:nvSpPr>
          <p:cNvPr id="643" name="Google Shape;643;p56"/>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
        <p:nvSpPr>
          <p:cNvPr id="644" name="Google Shape;644;p56"/>
          <p:cNvSpPr txBox="1"/>
          <p:nvPr>
            <p:ph type="title"/>
          </p:nvPr>
        </p:nvSpPr>
        <p:spPr>
          <a:xfrm>
            <a:off x="47700" y="202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100"/>
              <a:buFont typeface="Play"/>
              <a:buNone/>
            </a:pPr>
            <a:r>
              <a:rPr lang="en" sz="2600"/>
              <a:t>Network-Centric Execution Time Estimation</a:t>
            </a:r>
            <a:endParaRPr sz="2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grpSp>
        <p:nvGrpSpPr>
          <p:cNvPr id="649" name="Google Shape;649;p57"/>
          <p:cNvGrpSpPr/>
          <p:nvPr/>
        </p:nvGrpSpPr>
        <p:grpSpPr>
          <a:xfrm>
            <a:off x="4496302" y="1769211"/>
            <a:ext cx="9046026" cy="2492604"/>
            <a:chOff x="5061693" y="1769211"/>
            <a:chExt cx="9046026" cy="2492604"/>
          </a:xfrm>
        </p:grpSpPr>
        <p:grpSp>
          <p:nvGrpSpPr>
            <p:cNvPr id="650" name="Google Shape;650;p57"/>
            <p:cNvGrpSpPr/>
            <p:nvPr/>
          </p:nvGrpSpPr>
          <p:grpSpPr>
            <a:xfrm>
              <a:off x="5061693" y="1769211"/>
              <a:ext cx="9046026" cy="2492604"/>
              <a:chOff x="97974" y="1790151"/>
              <a:chExt cx="9046026" cy="2492604"/>
            </a:xfrm>
          </p:grpSpPr>
          <p:pic>
            <p:nvPicPr>
              <p:cNvPr id="651" name="Google Shape;651;p57"/>
              <p:cNvPicPr preferRelativeResize="0"/>
              <p:nvPr/>
            </p:nvPicPr>
            <p:blipFill rotWithShape="1">
              <a:blip r:embed="rId3">
                <a:alphaModFix/>
              </a:blip>
              <a:srcRect b="0" l="0" r="0" t="0"/>
              <a:stretch/>
            </p:blipFill>
            <p:spPr>
              <a:xfrm>
                <a:off x="97974" y="1790151"/>
                <a:ext cx="9046026" cy="2492604"/>
              </a:xfrm>
              <a:prstGeom prst="rect">
                <a:avLst/>
              </a:prstGeom>
              <a:noFill/>
              <a:ln>
                <a:noFill/>
              </a:ln>
            </p:spPr>
          </p:pic>
          <p:pic>
            <p:nvPicPr>
              <p:cNvPr id="652" name="Google Shape;652;p57"/>
              <p:cNvPicPr preferRelativeResize="0"/>
              <p:nvPr/>
            </p:nvPicPr>
            <p:blipFill rotWithShape="1">
              <a:blip r:embed="rId4">
                <a:alphaModFix/>
              </a:blip>
              <a:srcRect b="0" l="0" r="0" t="0"/>
              <a:stretch/>
            </p:blipFill>
            <p:spPr>
              <a:xfrm>
                <a:off x="4235687" y="2202539"/>
                <a:ext cx="1423481" cy="1653428"/>
              </a:xfrm>
              <a:prstGeom prst="rect">
                <a:avLst/>
              </a:prstGeom>
              <a:noFill/>
              <a:ln>
                <a:noFill/>
              </a:ln>
            </p:spPr>
          </p:pic>
          <p:pic>
            <p:nvPicPr>
              <p:cNvPr id="653" name="Google Shape;653;p57"/>
              <p:cNvPicPr preferRelativeResize="0"/>
              <p:nvPr/>
            </p:nvPicPr>
            <p:blipFill rotWithShape="1">
              <a:blip r:embed="rId5">
                <a:alphaModFix/>
              </a:blip>
              <a:srcRect b="0" l="0" r="0" t="0"/>
              <a:stretch/>
            </p:blipFill>
            <p:spPr>
              <a:xfrm>
                <a:off x="5343703" y="2337222"/>
                <a:ext cx="2083930" cy="902665"/>
              </a:xfrm>
              <a:prstGeom prst="rect">
                <a:avLst/>
              </a:prstGeom>
              <a:noFill/>
              <a:ln>
                <a:noFill/>
              </a:ln>
            </p:spPr>
          </p:pic>
          <p:pic>
            <p:nvPicPr>
              <p:cNvPr id="654" name="Google Shape;654;p57"/>
              <p:cNvPicPr preferRelativeResize="0"/>
              <p:nvPr/>
            </p:nvPicPr>
            <p:blipFill rotWithShape="1">
              <a:blip r:embed="rId6">
                <a:alphaModFix/>
              </a:blip>
              <a:srcRect b="0" l="0" r="0" t="0"/>
              <a:stretch/>
            </p:blipFill>
            <p:spPr>
              <a:xfrm>
                <a:off x="5342359" y="2826967"/>
                <a:ext cx="2095075" cy="824657"/>
              </a:xfrm>
              <a:prstGeom prst="rect">
                <a:avLst/>
              </a:prstGeom>
              <a:noFill/>
              <a:ln>
                <a:noFill/>
              </a:ln>
            </p:spPr>
          </p:pic>
          <p:pic>
            <p:nvPicPr>
              <p:cNvPr id="655" name="Google Shape;655;p57"/>
              <p:cNvPicPr preferRelativeResize="0"/>
              <p:nvPr/>
            </p:nvPicPr>
            <p:blipFill rotWithShape="1">
              <a:blip r:embed="rId7">
                <a:alphaModFix/>
              </a:blip>
              <a:srcRect b="0" l="0" r="0" t="0"/>
              <a:stretch/>
            </p:blipFill>
            <p:spPr>
              <a:xfrm>
                <a:off x="7105650" y="2202539"/>
                <a:ext cx="457805" cy="1656818"/>
              </a:xfrm>
              <a:prstGeom prst="rect">
                <a:avLst/>
              </a:prstGeom>
              <a:noFill/>
              <a:ln>
                <a:noFill/>
              </a:ln>
            </p:spPr>
          </p:pic>
          <p:pic>
            <p:nvPicPr>
              <p:cNvPr id="656" name="Google Shape;656;p57"/>
              <p:cNvPicPr preferRelativeResize="0"/>
              <p:nvPr/>
            </p:nvPicPr>
            <p:blipFill rotWithShape="1">
              <a:blip r:embed="rId8">
                <a:alphaModFix/>
              </a:blip>
              <a:srcRect b="0" l="0" r="0" t="0"/>
              <a:stretch/>
            </p:blipFill>
            <p:spPr>
              <a:xfrm>
                <a:off x="7257954" y="2166935"/>
                <a:ext cx="1718694" cy="1653428"/>
              </a:xfrm>
              <a:prstGeom prst="rect">
                <a:avLst/>
              </a:prstGeom>
              <a:noFill/>
              <a:ln>
                <a:noFill/>
              </a:ln>
            </p:spPr>
          </p:pic>
          <p:grpSp>
            <p:nvGrpSpPr>
              <p:cNvPr id="657" name="Google Shape;657;p57"/>
              <p:cNvGrpSpPr/>
              <p:nvPr/>
            </p:nvGrpSpPr>
            <p:grpSpPr>
              <a:xfrm>
                <a:off x="721895" y="2983317"/>
                <a:ext cx="7750563" cy="996616"/>
                <a:chOff x="721895" y="2324100"/>
                <a:chExt cx="7750563" cy="996616"/>
              </a:xfrm>
            </p:grpSpPr>
            <p:cxnSp>
              <p:nvCxnSpPr>
                <p:cNvPr id="658" name="Google Shape;658;p57"/>
                <p:cNvCxnSpPr/>
                <p:nvPr/>
              </p:nvCxnSpPr>
              <p:spPr>
                <a:xfrm>
                  <a:off x="721895" y="3320716"/>
                  <a:ext cx="7750563" cy="0"/>
                </a:xfrm>
                <a:prstGeom prst="straightConnector1">
                  <a:avLst/>
                </a:prstGeom>
                <a:noFill/>
                <a:ln cap="flat" cmpd="sng" w="12700">
                  <a:solidFill>
                    <a:schemeClr val="dk1"/>
                  </a:solidFill>
                  <a:prstDash val="solid"/>
                  <a:miter lim="800000"/>
                  <a:headEnd len="sm" w="sm" type="none"/>
                  <a:tailEnd len="sm" w="sm" type="none"/>
                </a:ln>
              </p:spPr>
            </p:cxnSp>
            <p:cxnSp>
              <p:nvCxnSpPr>
                <p:cNvPr id="659" name="Google Shape;659;p57"/>
                <p:cNvCxnSpPr/>
                <p:nvPr/>
              </p:nvCxnSpPr>
              <p:spPr>
                <a:xfrm rot="10800000">
                  <a:off x="721895"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60" name="Google Shape;660;p57"/>
                <p:cNvCxnSpPr/>
                <p:nvPr/>
              </p:nvCxnSpPr>
              <p:spPr>
                <a:xfrm rot="10800000">
                  <a:off x="5148974"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61" name="Google Shape;661;p57"/>
                <p:cNvCxnSpPr/>
                <p:nvPr/>
              </p:nvCxnSpPr>
              <p:spPr>
                <a:xfrm rot="10800000">
                  <a:off x="8466848" y="2324100"/>
                  <a:ext cx="0" cy="996616"/>
                </a:xfrm>
                <a:prstGeom prst="straightConnector1">
                  <a:avLst/>
                </a:prstGeom>
                <a:noFill/>
                <a:ln cap="flat" cmpd="sng" w="12700">
                  <a:solidFill>
                    <a:schemeClr val="dk1"/>
                  </a:solidFill>
                  <a:prstDash val="solid"/>
                  <a:miter lim="800000"/>
                  <a:headEnd len="sm" w="sm" type="none"/>
                  <a:tailEnd len="sm" w="sm" type="none"/>
                </a:ln>
              </p:spPr>
            </p:cxnSp>
          </p:grpSp>
        </p:grpSp>
        <p:sp>
          <p:nvSpPr>
            <p:cNvPr id="662" name="Google Shape;662;p57"/>
            <p:cNvSpPr/>
            <p:nvPr/>
          </p:nvSpPr>
          <p:spPr>
            <a:xfrm>
              <a:off x="5173533" y="1863701"/>
              <a:ext cx="989867" cy="2296469"/>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663" name="Google Shape;663;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664" name="Google Shape;664;p57"/>
          <p:cNvSpPr txBox="1"/>
          <p:nvPr/>
        </p:nvSpPr>
        <p:spPr>
          <a:xfrm>
            <a:off x="6552390" y="-7310"/>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(N</a:t>
            </a:r>
            <a:r>
              <a:rPr b="1" baseline="-25000" i="1" lang="en" sz="1800">
                <a:solidFill>
                  <a:schemeClr val="dk1"/>
                </a:solidFill>
                <a:latin typeface="Arial"/>
                <a:ea typeface="Arial"/>
                <a:cs typeface="Arial"/>
                <a:sym typeface="Arial"/>
              </a:rPr>
              <a:t>GPU </a:t>
            </a:r>
            <a:r>
              <a:rPr b="1" i="1" lang="en" sz="1800">
                <a:solidFill>
                  <a:schemeClr val="dk1"/>
                </a:solidFill>
                <a:latin typeface="Arial"/>
                <a:ea typeface="Arial"/>
                <a:cs typeface="Arial"/>
                <a:sym typeface="Arial"/>
              </a:rPr>
              <a:t>– 1)</a:t>
            </a:r>
            <a:r>
              <a:rPr i="1" lang="en" sz="1800">
                <a:solidFill>
                  <a:schemeClr val="dk1"/>
                </a:solidFill>
                <a:latin typeface="Arial"/>
                <a:ea typeface="Arial"/>
                <a:cs typeface="Arial"/>
                <a:sym typeface="Arial"/>
              </a:rPr>
              <a:t>: # of hops</a:t>
            </a:r>
            <a:endParaRPr sz="1100"/>
          </a:p>
        </p:txBody>
      </p:sp>
      <p:sp>
        <p:nvSpPr>
          <p:cNvPr id="665" name="Google Shape;665;p57"/>
          <p:cNvSpPr/>
          <p:nvPr/>
        </p:nvSpPr>
        <p:spPr>
          <a:xfrm>
            <a:off x="6600760" y="0"/>
            <a:ext cx="2536153" cy="168684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66" name="Google Shape;666;p57"/>
          <p:cNvGrpSpPr/>
          <p:nvPr/>
        </p:nvGrpSpPr>
        <p:grpSpPr>
          <a:xfrm>
            <a:off x="-3866752" y="1790151"/>
            <a:ext cx="9046026" cy="2492604"/>
            <a:chOff x="97974" y="1790151"/>
            <a:chExt cx="9046026" cy="2492604"/>
          </a:xfrm>
        </p:grpSpPr>
        <p:pic>
          <p:nvPicPr>
            <p:cNvPr id="667" name="Google Shape;667;p57"/>
            <p:cNvPicPr preferRelativeResize="0"/>
            <p:nvPr/>
          </p:nvPicPr>
          <p:blipFill rotWithShape="1">
            <a:blip r:embed="rId3">
              <a:alphaModFix/>
            </a:blip>
            <a:srcRect b="0" l="0" r="0" t="0"/>
            <a:stretch/>
          </p:blipFill>
          <p:spPr>
            <a:xfrm>
              <a:off x="97974" y="1790151"/>
              <a:ext cx="9046026" cy="2492604"/>
            </a:xfrm>
            <a:prstGeom prst="rect">
              <a:avLst/>
            </a:prstGeom>
            <a:noFill/>
            <a:ln>
              <a:noFill/>
            </a:ln>
          </p:spPr>
        </p:pic>
        <p:pic>
          <p:nvPicPr>
            <p:cNvPr id="668" name="Google Shape;668;p57"/>
            <p:cNvPicPr preferRelativeResize="0"/>
            <p:nvPr/>
          </p:nvPicPr>
          <p:blipFill rotWithShape="1">
            <a:blip r:embed="rId4">
              <a:alphaModFix/>
            </a:blip>
            <a:srcRect b="0" l="0" r="0" t="0"/>
            <a:stretch/>
          </p:blipFill>
          <p:spPr>
            <a:xfrm>
              <a:off x="4235687" y="2202539"/>
              <a:ext cx="1423481" cy="1653428"/>
            </a:xfrm>
            <a:prstGeom prst="rect">
              <a:avLst/>
            </a:prstGeom>
            <a:noFill/>
            <a:ln>
              <a:noFill/>
            </a:ln>
          </p:spPr>
        </p:pic>
        <p:pic>
          <p:nvPicPr>
            <p:cNvPr id="669" name="Google Shape;669;p57"/>
            <p:cNvPicPr preferRelativeResize="0"/>
            <p:nvPr/>
          </p:nvPicPr>
          <p:blipFill rotWithShape="1">
            <a:blip r:embed="rId5">
              <a:alphaModFix/>
            </a:blip>
            <a:srcRect b="0" l="0" r="0" t="0"/>
            <a:stretch/>
          </p:blipFill>
          <p:spPr>
            <a:xfrm>
              <a:off x="5343703" y="2337222"/>
              <a:ext cx="2083930" cy="902665"/>
            </a:xfrm>
            <a:prstGeom prst="rect">
              <a:avLst/>
            </a:prstGeom>
            <a:noFill/>
            <a:ln>
              <a:noFill/>
            </a:ln>
          </p:spPr>
        </p:pic>
        <p:pic>
          <p:nvPicPr>
            <p:cNvPr id="670" name="Google Shape;670;p57"/>
            <p:cNvPicPr preferRelativeResize="0"/>
            <p:nvPr/>
          </p:nvPicPr>
          <p:blipFill rotWithShape="1">
            <a:blip r:embed="rId6">
              <a:alphaModFix/>
            </a:blip>
            <a:srcRect b="0" l="0" r="0" t="0"/>
            <a:stretch/>
          </p:blipFill>
          <p:spPr>
            <a:xfrm>
              <a:off x="5342359" y="2826967"/>
              <a:ext cx="2095075" cy="824657"/>
            </a:xfrm>
            <a:prstGeom prst="rect">
              <a:avLst/>
            </a:prstGeom>
            <a:noFill/>
            <a:ln>
              <a:noFill/>
            </a:ln>
          </p:spPr>
        </p:pic>
        <p:pic>
          <p:nvPicPr>
            <p:cNvPr id="671" name="Google Shape;671;p57"/>
            <p:cNvPicPr preferRelativeResize="0"/>
            <p:nvPr/>
          </p:nvPicPr>
          <p:blipFill rotWithShape="1">
            <a:blip r:embed="rId7">
              <a:alphaModFix/>
            </a:blip>
            <a:srcRect b="0" l="0" r="0" t="0"/>
            <a:stretch/>
          </p:blipFill>
          <p:spPr>
            <a:xfrm>
              <a:off x="7105650" y="2202539"/>
              <a:ext cx="457805" cy="1656818"/>
            </a:xfrm>
            <a:prstGeom prst="rect">
              <a:avLst/>
            </a:prstGeom>
            <a:noFill/>
            <a:ln>
              <a:noFill/>
            </a:ln>
          </p:spPr>
        </p:pic>
        <p:pic>
          <p:nvPicPr>
            <p:cNvPr id="672" name="Google Shape;672;p57"/>
            <p:cNvPicPr preferRelativeResize="0"/>
            <p:nvPr/>
          </p:nvPicPr>
          <p:blipFill rotWithShape="1">
            <a:blip r:embed="rId8">
              <a:alphaModFix/>
            </a:blip>
            <a:srcRect b="0" l="0" r="0" t="0"/>
            <a:stretch/>
          </p:blipFill>
          <p:spPr>
            <a:xfrm>
              <a:off x="7257954" y="2166935"/>
              <a:ext cx="1718694" cy="1653428"/>
            </a:xfrm>
            <a:prstGeom prst="rect">
              <a:avLst/>
            </a:prstGeom>
            <a:noFill/>
            <a:ln>
              <a:noFill/>
            </a:ln>
          </p:spPr>
        </p:pic>
        <p:grpSp>
          <p:nvGrpSpPr>
            <p:cNvPr id="673" name="Google Shape;673;p57"/>
            <p:cNvGrpSpPr/>
            <p:nvPr/>
          </p:nvGrpSpPr>
          <p:grpSpPr>
            <a:xfrm>
              <a:off x="721895" y="2983317"/>
              <a:ext cx="7750563" cy="996616"/>
              <a:chOff x="721895" y="2324100"/>
              <a:chExt cx="7750563" cy="996616"/>
            </a:xfrm>
          </p:grpSpPr>
          <p:cxnSp>
            <p:nvCxnSpPr>
              <p:cNvPr id="674" name="Google Shape;674;p57"/>
              <p:cNvCxnSpPr/>
              <p:nvPr/>
            </p:nvCxnSpPr>
            <p:spPr>
              <a:xfrm>
                <a:off x="721895" y="3320716"/>
                <a:ext cx="7750563" cy="0"/>
              </a:xfrm>
              <a:prstGeom prst="straightConnector1">
                <a:avLst/>
              </a:prstGeom>
              <a:noFill/>
              <a:ln cap="flat" cmpd="sng" w="12700">
                <a:solidFill>
                  <a:schemeClr val="dk1"/>
                </a:solidFill>
                <a:prstDash val="solid"/>
                <a:miter lim="800000"/>
                <a:headEnd len="sm" w="sm" type="none"/>
                <a:tailEnd len="sm" w="sm" type="none"/>
              </a:ln>
            </p:spPr>
          </p:cxnSp>
          <p:cxnSp>
            <p:nvCxnSpPr>
              <p:cNvPr id="675" name="Google Shape;675;p57"/>
              <p:cNvCxnSpPr/>
              <p:nvPr/>
            </p:nvCxnSpPr>
            <p:spPr>
              <a:xfrm rot="10800000">
                <a:off x="721895"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76" name="Google Shape;676;p57"/>
              <p:cNvCxnSpPr/>
              <p:nvPr/>
            </p:nvCxnSpPr>
            <p:spPr>
              <a:xfrm rot="10800000">
                <a:off x="5148974" y="2378562"/>
                <a:ext cx="0" cy="942154"/>
              </a:xfrm>
              <a:prstGeom prst="straightConnector1">
                <a:avLst/>
              </a:prstGeom>
              <a:noFill/>
              <a:ln cap="flat" cmpd="sng" w="12700">
                <a:solidFill>
                  <a:schemeClr val="dk1"/>
                </a:solidFill>
                <a:prstDash val="solid"/>
                <a:miter lim="800000"/>
                <a:headEnd len="sm" w="sm" type="none"/>
                <a:tailEnd len="sm" w="sm" type="none"/>
              </a:ln>
            </p:spPr>
          </p:cxnSp>
          <p:cxnSp>
            <p:nvCxnSpPr>
              <p:cNvPr id="677" name="Google Shape;677;p57"/>
              <p:cNvCxnSpPr/>
              <p:nvPr/>
            </p:nvCxnSpPr>
            <p:spPr>
              <a:xfrm rot="10800000">
                <a:off x="8466848" y="2324100"/>
                <a:ext cx="0" cy="996616"/>
              </a:xfrm>
              <a:prstGeom prst="straightConnector1">
                <a:avLst/>
              </a:prstGeom>
              <a:noFill/>
              <a:ln cap="flat" cmpd="sng" w="12700">
                <a:solidFill>
                  <a:schemeClr val="dk1"/>
                </a:solidFill>
                <a:prstDash val="solid"/>
                <a:miter lim="800000"/>
                <a:headEnd len="sm" w="sm" type="none"/>
                <a:tailEnd len="sm" w="sm" type="none"/>
              </a:ln>
            </p:spPr>
          </p:cxnSp>
        </p:grpSp>
      </p:grpSp>
      <p:cxnSp>
        <p:nvCxnSpPr>
          <p:cNvPr id="678" name="Google Shape;678;p57"/>
          <p:cNvCxnSpPr/>
          <p:nvPr/>
        </p:nvCxnSpPr>
        <p:spPr>
          <a:xfrm>
            <a:off x="4879127" y="3016839"/>
            <a:ext cx="768161" cy="0"/>
          </a:xfrm>
          <a:prstGeom prst="straightConnector1">
            <a:avLst/>
          </a:prstGeom>
          <a:noFill/>
          <a:ln cap="flat" cmpd="sng" w="12700">
            <a:solidFill>
              <a:schemeClr val="dk1"/>
            </a:solidFill>
            <a:prstDash val="solid"/>
            <a:miter lim="800000"/>
            <a:headEnd len="sm" w="sm" type="none"/>
            <a:tailEnd len="sm" w="sm" type="none"/>
          </a:ln>
        </p:spPr>
      </p:cxnSp>
      <p:sp>
        <p:nvSpPr>
          <p:cNvPr id="679" name="Google Shape;679;p57"/>
          <p:cNvSpPr txBox="1"/>
          <p:nvPr/>
        </p:nvSpPr>
        <p:spPr>
          <a:xfrm>
            <a:off x="3472709" y="1500832"/>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Layer l</a:t>
            </a:r>
            <a:endParaRPr sz="1100"/>
          </a:p>
        </p:txBody>
      </p:sp>
      <p:sp>
        <p:nvSpPr>
          <p:cNvPr id="680" name="Google Shape;680;p57"/>
          <p:cNvSpPr txBox="1"/>
          <p:nvPr/>
        </p:nvSpPr>
        <p:spPr>
          <a:xfrm>
            <a:off x="4923890" y="1493965"/>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Layer l+1</a:t>
            </a:r>
            <a:endParaRPr sz="1100"/>
          </a:p>
        </p:txBody>
      </p:sp>
      <p:sp>
        <p:nvSpPr>
          <p:cNvPr id="681" name="Google Shape;681;p57"/>
          <p:cNvSpPr txBox="1"/>
          <p:nvPr/>
        </p:nvSpPr>
        <p:spPr>
          <a:xfrm>
            <a:off x="6478190" y="429182"/>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4</a:t>
            </a:r>
            <a:r>
              <a:rPr i="1" lang="en" sz="1800">
                <a:solidFill>
                  <a:schemeClr val="dk1"/>
                </a:solidFill>
                <a:latin typeface="Arial"/>
                <a:ea typeface="Arial"/>
                <a:cs typeface="Arial"/>
                <a:sym typeface="Arial"/>
              </a:rPr>
              <a:t>: All-Gathers/layer</a:t>
            </a:r>
            <a:endParaRPr sz="1100"/>
          </a:p>
        </p:txBody>
      </p:sp>
      <p:sp>
        <p:nvSpPr>
          <p:cNvPr id="682" name="Google Shape;682;p57"/>
          <p:cNvSpPr/>
          <p:nvPr/>
        </p:nvSpPr>
        <p:spPr>
          <a:xfrm>
            <a:off x="2665" y="2166935"/>
            <a:ext cx="791695" cy="1653427"/>
          </a:xfrm>
          <a:prstGeom prst="rect">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3" name="Google Shape;683;p57"/>
          <p:cNvSpPr/>
          <p:nvPr/>
        </p:nvSpPr>
        <p:spPr>
          <a:xfrm>
            <a:off x="846176" y="2164686"/>
            <a:ext cx="1617597" cy="1653427"/>
          </a:xfrm>
          <a:prstGeom prst="rect">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4" name="Google Shape;684;p57"/>
          <p:cNvSpPr/>
          <p:nvPr/>
        </p:nvSpPr>
        <p:spPr>
          <a:xfrm>
            <a:off x="4173863" y="2160069"/>
            <a:ext cx="2460871" cy="1653427"/>
          </a:xfrm>
          <a:prstGeom prst="rect">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85" name="Google Shape;685;p57"/>
          <p:cNvGrpSpPr/>
          <p:nvPr/>
        </p:nvGrpSpPr>
        <p:grpSpPr>
          <a:xfrm>
            <a:off x="688560" y="3813496"/>
            <a:ext cx="3668118" cy="641796"/>
            <a:chOff x="688560" y="3813495"/>
            <a:chExt cx="3668118" cy="860117"/>
          </a:xfrm>
        </p:grpSpPr>
        <p:cxnSp>
          <p:nvCxnSpPr>
            <p:cNvPr id="686" name="Google Shape;686;p57"/>
            <p:cNvCxnSpPr/>
            <p:nvPr/>
          </p:nvCxnSpPr>
          <p:spPr>
            <a:xfrm flipH="1">
              <a:off x="1572136" y="3813495"/>
              <a:ext cx="2784542" cy="860117"/>
            </a:xfrm>
            <a:prstGeom prst="straightConnector1">
              <a:avLst/>
            </a:prstGeom>
            <a:noFill/>
            <a:ln cap="flat" cmpd="sng" w="25400">
              <a:solidFill>
                <a:srgbClr val="C00000"/>
              </a:solidFill>
              <a:prstDash val="dash"/>
              <a:miter lim="800000"/>
              <a:headEnd len="sm" w="sm" type="none"/>
              <a:tailEnd len="sm" w="sm" type="none"/>
            </a:ln>
          </p:spPr>
        </p:cxnSp>
        <p:cxnSp>
          <p:nvCxnSpPr>
            <p:cNvPr id="687" name="Google Shape;687;p57"/>
            <p:cNvCxnSpPr/>
            <p:nvPr/>
          </p:nvCxnSpPr>
          <p:spPr>
            <a:xfrm>
              <a:off x="688560" y="3831756"/>
              <a:ext cx="877967" cy="841856"/>
            </a:xfrm>
            <a:prstGeom prst="straightConnector1">
              <a:avLst/>
            </a:prstGeom>
            <a:noFill/>
            <a:ln cap="flat" cmpd="sng" w="25400">
              <a:solidFill>
                <a:srgbClr val="C00000"/>
              </a:solidFill>
              <a:prstDash val="dash"/>
              <a:miter lim="800000"/>
              <a:headEnd len="sm" w="sm" type="none"/>
              <a:tailEnd len="sm" w="sm" type="none"/>
            </a:ln>
          </p:spPr>
        </p:cxnSp>
        <p:cxnSp>
          <p:nvCxnSpPr>
            <p:cNvPr id="688" name="Google Shape;688;p57"/>
            <p:cNvCxnSpPr/>
            <p:nvPr/>
          </p:nvCxnSpPr>
          <p:spPr>
            <a:xfrm flipH="1">
              <a:off x="1566527" y="3831756"/>
              <a:ext cx="5608" cy="841856"/>
            </a:xfrm>
            <a:prstGeom prst="straightConnector1">
              <a:avLst/>
            </a:prstGeom>
            <a:noFill/>
            <a:ln cap="flat" cmpd="sng" w="25400">
              <a:solidFill>
                <a:srgbClr val="C00000"/>
              </a:solidFill>
              <a:prstDash val="dash"/>
              <a:miter lim="800000"/>
              <a:headEnd len="sm" w="sm" type="none"/>
              <a:tailEnd len="sm" w="sm" type="none"/>
            </a:ln>
          </p:spPr>
        </p:cxnSp>
      </p:grpSp>
      <p:sp>
        <p:nvSpPr>
          <p:cNvPr id="689" name="Google Shape;689;p57"/>
          <p:cNvSpPr txBox="1"/>
          <p:nvPr/>
        </p:nvSpPr>
        <p:spPr>
          <a:xfrm>
            <a:off x="507400" y="4481513"/>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[B</a:t>
            </a:r>
            <a:r>
              <a:rPr baseline="-25000" i="1" lang="en" sz="1800">
                <a:solidFill>
                  <a:schemeClr val="dk1"/>
                </a:solidFill>
                <a:latin typeface="Arial"/>
                <a:ea typeface="Arial"/>
                <a:cs typeface="Arial"/>
                <a:sym typeface="Arial"/>
              </a:rPr>
              <a:t>dense</a:t>
            </a:r>
            <a:r>
              <a:rPr i="1" lang="en" sz="1800">
                <a:solidFill>
                  <a:schemeClr val="dk1"/>
                </a:solidFill>
                <a:latin typeface="Arial"/>
                <a:ea typeface="Arial"/>
                <a:cs typeface="Arial"/>
                <a:sym typeface="Arial"/>
              </a:rPr>
              <a:t>, D</a:t>
            </a:r>
            <a:r>
              <a:rPr baseline="-25000" i="1" lang="en" sz="1800">
                <a:solidFill>
                  <a:schemeClr val="dk1"/>
                </a:solidFill>
                <a:latin typeface="Arial"/>
                <a:ea typeface="Arial"/>
                <a:cs typeface="Arial"/>
                <a:sym typeface="Arial"/>
              </a:rPr>
              <a:t>model</a:t>
            </a:r>
            <a:r>
              <a:rPr i="1" lang="en" sz="1800">
                <a:solidFill>
                  <a:schemeClr val="dk1"/>
                </a:solidFill>
                <a:latin typeface="Arial"/>
                <a:ea typeface="Arial"/>
                <a:cs typeface="Arial"/>
                <a:sym typeface="Arial"/>
              </a:rPr>
              <a:t>]</a:t>
            </a:r>
            <a:endParaRPr sz="1100"/>
          </a:p>
        </p:txBody>
      </p:sp>
      <p:sp>
        <p:nvSpPr>
          <p:cNvPr id="690" name="Google Shape;690;p57"/>
          <p:cNvSpPr txBox="1"/>
          <p:nvPr/>
        </p:nvSpPr>
        <p:spPr>
          <a:xfrm>
            <a:off x="6545270" y="857732"/>
            <a:ext cx="240044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B</a:t>
            </a:r>
            <a:r>
              <a:rPr b="1" baseline="-25000" i="1" lang="en" sz="1800">
                <a:solidFill>
                  <a:schemeClr val="dk1"/>
                </a:solidFill>
                <a:latin typeface="Arial"/>
                <a:ea typeface="Arial"/>
                <a:cs typeface="Arial"/>
                <a:sym typeface="Arial"/>
              </a:rPr>
              <a:t>dense </a:t>
            </a:r>
            <a:r>
              <a:rPr b="1" i="1" lang="en" sz="1800">
                <a:solidFill>
                  <a:schemeClr val="dk1"/>
                </a:solidFill>
                <a:latin typeface="Arial"/>
                <a:ea typeface="Arial"/>
                <a:cs typeface="Arial"/>
                <a:sym typeface="Arial"/>
              </a:rPr>
              <a:t>x</a:t>
            </a:r>
            <a:r>
              <a:rPr b="1" i="1" lang="en" sz="1100">
                <a:solidFill>
                  <a:schemeClr val="dk1"/>
                </a:solidFill>
                <a:latin typeface="Arial"/>
                <a:ea typeface="Arial"/>
                <a:cs typeface="Arial"/>
                <a:sym typeface="Arial"/>
              </a:rPr>
              <a:t> </a:t>
            </a:r>
            <a:r>
              <a:rPr b="1" i="1" lang="en" sz="1800">
                <a:solidFill>
                  <a:schemeClr val="dk1"/>
                </a:solidFill>
                <a:latin typeface="Arial"/>
                <a:ea typeface="Arial"/>
                <a:cs typeface="Arial"/>
                <a:sym typeface="Arial"/>
              </a:rPr>
              <a:t>D</a:t>
            </a:r>
            <a:r>
              <a:rPr b="1" baseline="-25000" i="1" lang="en" sz="1800">
                <a:solidFill>
                  <a:schemeClr val="dk1"/>
                </a:solidFill>
                <a:latin typeface="Arial"/>
                <a:ea typeface="Arial"/>
                <a:cs typeface="Arial"/>
                <a:sym typeface="Arial"/>
              </a:rPr>
              <a:t>model</a:t>
            </a:r>
            <a:r>
              <a:rPr i="1" lang="en" sz="1800">
                <a:solidFill>
                  <a:schemeClr val="dk1"/>
                </a:solidFill>
                <a:latin typeface="Arial"/>
                <a:ea typeface="Arial"/>
                <a:cs typeface="Arial"/>
                <a:sym typeface="Arial"/>
              </a:rPr>
              <a:t>: shape</a:t>
            </a:r>
            <a:endParaRPr i="1" sz="2400">
              <a:solidFill>
                <a:schemeClr val="dk1"/>
              </a:solidFill>
              <a:latin typeface="Arial"/>
              <a:ea typeface="Arial"/>
              <a:cs typeface="Arial"/>
              <a:sym typeface="Arial"/>
            </a:endParaRPr>
          </a:p>
        </p:txBody>
      </p:sp>
      <p:sp>
        <p:nvSpPr>
          <p:cNvPr id="691" name="Google Shape;691;p57"/>
          <p:cNvSpPr txBox="1"/>
          <p:nvPr/>
        </p:nvSpPr>
        <p:spPr>
          <a:xfrm>
            <a:off x="6258271" y="1270120"/>
            <a:ext cx="2771547"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S</a:t>
            </a:r>
            <a:r>
              <a:rPr b="1" baseline="-25000" i="1" lang="en" sz="1800">
                <a:solidFill>
                  <a:schemeClr val="dk1"/>
                </a:solidFill>
                <a:latin typeface="Arial"/>
                <a:ea typeface="Arial"/>
                <a:cs typeface="Arial"/>
                <a:sym typeface="Arial"/>
              </a:rPr>
              <a:t>type</a:t>
            </a:r>
            <a:r>
              <a:rPr i="1" lang="en" sz="1800">
                <a:solidFill>
                  <a:schemeClr val="dk1"/>
                </a:solidFill>
                <a:latin typeface="Arial"/>
                <a:ea typeface="Arial"/>
                <a:cs typeface="Arial"/>
                <a:sym typeface="Arial"/>
              </a:rPr>
              <a:t>: data type size</a:t>
            </a:r>
            <a:endParaRPr i="1" sz="2400">
              <a:solidFill>
                <a:schemeClr val="dk1"/>
              </a:solidFill>
              <a:latin typeface="Arial"/>
              <a:ea typeface="Arial"/>
              <a:cs typeface="Arial"/>
              <a:sym typeface="Arial"/>
            </a:endParaRPr>
          </a:p>
        </p:txBody>
      </p:sp>
      <p:grpSp>
        <p:nvGrpSpPr>
          <p:cNvPr id="692" name="Google Shape;692;p57"/>
          <p:cNvGrpSpPr/>
          <p:nvPr/>
        </p:nvGrpSpPr>
        <p:grpSpPr>
          <a:xfrm>
            <a:off x="2448128" y="4367437"/>
            <a:ext cx="1970267" cy="623248"/>
            <a:chOff x="2448128" y="4367434"/>
            <a:chExt cx="1970267" cy="623248"/>
          </a:xfrm>
        </p:grpSpPr>
        <p:sp>
          <p:nvSpPr>
            <p:cNvPr id="693" name="Google Shape;693;p57"/>
            <p:cNvSpPr txBox="1"/>
            <p:nvPr/>
          </p:nvSpPr>
          <p:spPr>
            <a:xfrm>
              <a:off x="2814219" y="4367434"/>
              <a:ext cx="1604176"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en" sz="1800">
                  <a:solidFill>
                    <a:schemeClr val="dk1"/>
                  </a:solidFill>
                  <a:latin typeface="Arial"/>
                  <a:ea typeface="Arial"/>
                  <a:cs typeface="Arial"/>
                  <a:sym typeface="Arial"/>
                </a:rPr>
                <a:t>Each element </a:t>
              </a:r>
              <a:endParaRPr sz="1100"/>
            </a:p>
            <a:p>
              <a:pPr indent="0" lvl="0" marL="0" marR="0" rtl="0" algn="ctr">
                <a:spcBef>
                  <a:spcPts val="0"/>
                </a:spcBef>
                <a:spcAft>
                  <a:spcPts val="0"/>
                </a:spcAft>
                <a:buNone/>
              </a:pPr>
              <a:r>
                <a:rPr i="1" lang="en" sz="1800">
                  <a:solidFill>
                    <a:schemeClr val="dk1"/>
                  </a:solidFill>
                  <a:latin typeface="Arial"/>
                  <a:ea typeface="Arial"/>
                  <a:cs typeface="Arial"/>
                  <a:sym typeface="Arial"/>
                </a:rPr>
                <a:t>of size S</a:t>
              </a:r>
              <a:r>
                <a:rPr baseline="-25000" i="1" lang="en" sz="1800">
                  <a:solidFill>
                    <a:schemeClr val="dk1"/>
                  </a:solidFill>
                  <a:latin typeface="Arial"/>
                  <a:ea typeface="Arial"/>
                  <a:cs typeface="Arial"/>
                  <a:sym typeface="Arial"/>
                </a:rPr>
                <a:t>type</a:t>
              </a:r>
              <a:endParaRPr sz="1800">
                <a:solidFill>
                  <a:schemeClr val="dk1"/>
                </a:solidFill>
                <a:latin typeface="Arial"/>
                <a:ea typeface="Arial"/>
                <a:cs typeface="Arial"/>
                <a:sym typeface="Arial"/>
              </a:endParaRPr>
            </a:p>
          </p:txBody>
        </p:sp>
        <p:cxnSp>
          <p:nvCxnSpPr>
            <p:cNvPr id="694" name="Google Shape;694;p57"/>
            <p:cNvCxnSpPr/>
            <p:nvPr/>
          </p:nvCxnSpPr>
          <p:spPr>
            <a:xfrm rot="10800000">
              <a:off x="2448128" y="4690599"/>
              <a:ext cx="558811" cy="0"/>
            </a:xfrm>
            <a:prstGeom prst="straightConnector1">
              <a:avLst/>
            </a:prstGeom>
            <a:noFill/>
            <a:ln cap="flat" cmpd="sng" w="25400">
              <a:solidFill>
                <a:srgbClr val="C00000"/>
              </a:solidFill>
              <a:prstDash val="dash"/>
              <a:miter lim="800000"/>
              <a:headEnd len="sm" w="sm" type="none"/>
              <a:tailEnd len="sm" w="sm" type="none"/>
            </a:ln>
          </p:spPr>
        </p:cxnSp>
      </p:grpSp>
      <p:sp>
        <p:nvSpPr>
          <p:cNvPr id="695" name="Google Shape;695;p57"/>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
        <p:nvSpPr>
          <p:cNvPr id="696" name="Google Shape;696;p57"/>
          <p:cNvSpPr txBox="1"/>
          <p:nvPr>
            <p:ph type="title"/>
          </p:nvPr>
        </p:nvSpPr>
        <p:spPr>
          <a:xfrm>
            <a:off x="47700" y="202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100"/>
              <a:buFont typeface="Play"/>
              <a:buNone/>
            </a:pPr>
            <a:r>
              <a:rPr lang="en" sz="2600"/>
              <a:t>Network-Centric Execution Time Estimation</a:t>
            </a:r>
            <a:endParaRPr sz="2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02" name="Google Shape;702;p58"/>
          <p:cNvSpPr txBox="1"/>
          <p:nvPr/>
        </p:nvSpPr>
        <p:spPr>
          <a:xfrm>
            <a:off x="6552390" y="-7310"/>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(N</a:t>
            </a:r>
            <a:r>
              <a:rPr b="1" baseline="-25000" i="1" lang="en" sz="1800">
                <a:solidFill>
                  <a:schemeClr val="dk1"/>
                </a:solidFill>
                <a:latin typeface="Arial"/>
                <a:ea typeface="Arial"/>
                <a:cs typeface="Arial"/>
                <a:sym typeface="Arial"/>
              </a:rPr>
              <a:t>GPU </a:t>
            </a:r>
            <a:r>
              <a:rPr b="1" i="1" lang="en" sz="1800">
                <a:solidFill>
                  <a:schemeClr val="dk1"/>
                </a:solidFill>
                <a:latin typeface="Arial"/>
                <a:ea typeface="Arial"/>
                <a:cs typeface="Arial"/>
                <a:sym typeface="Arial"/>
              </a:rPr>
              <a:t>– 1)</a:t>
            </a:r>
            <a:r>
              <a:rPr i="1" lang="en" sz="1800">
                <a:solidFill>
                  <a:schemeClr val="dk1"/>
                </a:solidFill>
                <a:latin typeface="Arial"/>
                <a:ea typeface="Arial"/>
                <a:cs typeface="Arial"/>
                <a:sym typeface="Arial"/>
              </a:rPr>
              <a:t>: # of hops</a:t>
            </a:r>
            <a:endParaRPr sz="1100"/>
          </a:p>
        </p:txBody>
      </p:sp>
      <p:sp>
        <p:nvSpPr>
          <p:cNvPr id="703" name="Google Shape;703;p58"/>
          <p:cNvSpPr/>
          <p:nvPr/>
        </p:nvSpPr>
        <p:spPr>
          <a:xfrm>
            <a:off x="6600760" y="0"/>
            <a:ext cx="2536153" cy="1686842"/>
          </a:xfrm>
          <a:prstGeom prst="rect">
            <a:avLst/>
          </a:prstGeom>
          <a:no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4" name="Google Shape;704;p58"/>
          <p:cNvSpPr txBox="1"/>
          <p:nvPr/>
        </p:nvSpPr>
        <p:spPr>
          <a:xfrm>
            <a:off x="6478190" y="429182"/>
            <a:ext cx="2295148"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4</a:t>
            </a:r>
            <a:r>
              <a:rPr i="1" lang="en" sz="1800">
                <a:solidFill>
                  <a:schemeClr val="dk1"/>
                </a:solidFill>
                <a:latin typeface="Arial"/>
                <a:ea typeface="Arial"/>
                <a:cs typeface="Arial"/>
                <a:sym typeface="Arial"/>
              </a:rPr>
              <a:t>: All-Gathers/layer</a:t>
            </a:r>
            <a:endParaRPr sz="1100"/>
          </a:p>
        </p:txBody>
      </p:sp>
      <p:sp>
        <p:nvSpPr>
          <p:cNvPr id="705" name="Google Shape;705;p58"/>
          <p:cNvSpPr txBox="1"/>
          <p:nvPr/>
        </p:nvSpPr>
        <p:spPr>
          <a:xfrm>
            <a:off x="6545270" y="857732"/>
            <a:ext cx="2400445"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B</a:t>
            </a:r>
            <a:r>
              <a:rPr b="1" baseline="-25000" i="1" lang="en" sz="1800">
                <a:solidFill>
                  <a:schemeClr val="dk1"/>
                </a:solidFill>
                <a:latin typeface="Arial"/>
                <a:ea typeface="Arial"/>
                <a:cs typeface="Arial"/>
                <a:sym typeface="Arial"/>
              </a:rPr>
              <a:t>dense </a:t>
            </a:r>
            <a:r>
              <a:rPr b="1" i="1" lang="en" sz="1800">
                <a:solidFill>
                  <a:schemeClr val="dk1"/>
                </a:solidFill>
                <a:latin typeface="Arial"/>
                <a:ea typeface="Arial"/>
                <a:cs typeface="Arial"/>
                <a:sym typeface="Arial"/>
              </a:rPr>
              <a:t>x</a:t>
            </a:r>
            <a:r>
              <a:rPr b="1" i="1" lang="en" sz="1100">
                <a:solidFill>
                  <a:schemeClr val="dk1"/>
                </a:solidFill>
                <a:latin typeface="Arial"/>
                <a:ea typeface="Arial"/>
                <a:cs typeface="Arial"/>
                <a:sym typeface="Arial"/>
              </a:rPr>
              <a:t> </a:t>
            </a:r>
            <a:r>
              <a:rPr b="1" i="1" lang="en" sz="1800">
                <a:solidFill>
                  <a:schemeClr val="dk1"/>
                </a:solidFill>
                <a:latin typeface="Arial"/>
                <a:ea typeface="Arial"/>
                <a:cs typeface="Arial"/>
                <a:sym typeface="Arial"/>
              </a:rPr>
              <a:t>D</a:t>
            </a:r>
            <a:r>
              <a:rPr b="1" baseline="-25000" i="1" lang="en" sz="1800">
                <a:solidFill>
                  <a:schemeClr val="dk1"/>
                </a:solidFill>
                <a:latin typeface="Arial"/>
                <a:ea typeface="Arial"/>
                <a:cs typeface="Arial"/>
                <a:sym typeface="Arial"/>
              </a:rPr>
              <a:t>model</a:t>
            </a:r>
            <a:r>
              <a:rPr i="1" lang="en" sz="1800">
                <a:solidFill>
                  <a:schemeClr val="dk1"/>
                </a:solidFill>
                <a:latin typeface="Arial"/>
                <a:ea typeface="Arial"/>
                <a:cs typeface="Arial"/>
                <a:sym typeface="Arial"/>
              </a:rPr>
              <a:t>: shape</a:t>
            </a:r>
            <a:endParaRPr i="1" sz="2400">
              <a:solidFill>
                <a:schemeClr val="dk1"/>
              </a:solidFill>
              <a:latin typeface="Arial"/>
              <a:ea typeface="Arial"/>
              <a:cs typeface="Arial"/>
              <a:sym typeface="Arial"/>
            </a:endParaRPr>
          </a:p>
        </p:txBody>
      </p:sp>
      <p:sp>
        <p:nvSpPr>
          <p:cNvPr id="706" name="Google Shape;706;p58"/>
          <p:cNvSpPr txBox="1"/>
          <p:nvPr/>
        </p:nvSpPr>
        <p:spPr>
          <a:xfrm>
            <a:off x="6258271" y="1270120"/>
            <a:ext cx="2771547"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1" lang="en" sz="1800">
                <a:solidFill>
                  <a:schemeClr val="dk1"/>
                </a:solidFill>
                <a:latin typeface="Arial"/>
                <a:ea typeface="Arial"/>
                <a:cs typeface="Arial"/>
                <a:sym typeface="Arial"/>
              </a:rPr>
              <a:t>S</a:t>
            </a:r>
            <a:r>
              <a:rPr b="1" baseline="-25000" i="1" lang="en" sz="1800">
                <a:solidFill>
                  <a:schemeClr val="dk1"/>
                </a:solidFill>
                <a:latin typeface="Arial"/>
                <a:ea typeface="Arial"/>
                <a:cs typeface="Arial"/>
                <a:sym typeface="Arial"/>
              </a:rPr>
              <a:t>type</a:t>
            </a:r>
            <a:r>
              <a:rPr i="1" lang="en" sz="1800">
                <a:solidFill>
                  <a:schemeClr val="dk1"/>
                </a:solidFill>
                <a:latin typeface="Arial"/>
                <a:ea typeface="Arial"/>
                <a:cs typeface="Arial"/>
                <a:sym typeface="Arial"/>
              </a:rPr>
              <a:t>: data type size</a:t>
            </a:r>
            <a:endParaRPr i="1" sz="2400">
              <a:solidFill>
                <a:schemeClr val="dk1"/>
              </a:solidFill>
              <a:latin typeface="Arial"/>
              <a:ea typeface="Arial"/>
              <a:cs typeface="Arial"/>
              <a:sym typeface="Arial"/>
            </a:endParaRPr>
          </a:p>
        </p:txBody>
      </p:sp>
      <p:sp>
        <p:nvSpPr>
          <p:cNvPr id="707" name="Google Shape;707;p58"/>
          <p:cNvSpPr/>
          <p:nvPr/>
        </p:nvSpPr>
        <p:spPr>
          <a:xfrm>
            <a:off x="2462858" y="2287846"/>
            <a:ext cx="4218284" cy="1069593"/>
          </a:xfrm>
          <a:prstGeom prst="roundRect">
            <a:avLst>
              <a:gd fmla="val 0" name="adj"/>
            </a:avLst>
          </a:prstGeom>
          <a:blipFill rotWithShape="1">
            <a:blip r:embed="rId3">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08" name="Google Shape;708;p58"/>
          <p:cNvSpPr txBox="1"/>
          <p:nvPr/>
        </p:nvSpPr>
        <p:spPr>
          <a:xfrm>
            <a:off x="4140456" y="2482467"/>
            <a:ext cx="4577936" cy="346249"/>
          </a:xfrm>
          <a:prstGeom prst="rect">
            <a:avLst/>
          </a:pr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09" name="Google Shape;709;p58"/>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
        <p:nvSpPr>
          <p:cNvPr id="710" name="Google Shape;710;p58"/>
          <p:cNvSpPr txBox="1"/>
          <p:nvPr>
            <p:ph type="title"/>
          </p:nvPr>
        </p:nvSpPr>
        <p:spPr>
          <a:xfrm>
            <a:off x="47700" y="202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100"/>
              <a:buFont typeface="Play"/>
              <a:buNone/>
            </a:pPr>
            <a:r>
              <a:rPr lang="en" sz="2600"/>
              <a:t>Network-Centric Execution Time Estimation</a:t>
            </a:r>
            <a:endParaRPr sz="2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Execution Times wrt Different Resources</a:t>
            </a:r>
            <a:endParaRPr/>
          </a:p>
        </p:txBody>
      </p:sp>
      <p:sp>
        <p:nvSpPr>
          <p:cNvPr id="716" name="Google Shape;716;p59"/>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17" name="Google Shape;717;p59"/>
          <p:cNvSpPr/>
          <p:nvPr/>
        </p:nvSpPr>
        <p:spPr>
          <a:xfrm>
            <a:off x="3347863" y="2242541"/>
            <a:ext cx="2436530" cy="680400"/>
          </a:xfrm>
          <a:prstGeom prst="roundRect">
            <a:avLst>
              <a:gd fmla="val 0" name="adj"/>
            </a:avLst>
          </a:prstGeom>
          <a:blipFill rotWithShape="1">
            <a:blip r:embed="rId3">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18" name="Google Shape;718;p59"/>
          <p:cNvSpPr/>
          <p:nvPr/>
        </p:nvSpPr>
        <p:spPr>
          <a:xfrm>
            <a:off x="2456986" y="3139240"/>
            <a:ext cx="4218284" cy="1069593"/>
          </a:xfrm>
          <a:prstGeom prst="roundRect">
            <a:avLst>
              <a:gd fmla="val 0" name="adj"/>
            </a:avLst>
          </a:prstGeom>
          <a:blipFill rotWithShape="1">
            <a:blip r:embed="rId4">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19" name="Google Shape;719;p59"/>
          <p:cNvSpPr/>
          <p:nvPr/>
        </p:nvSpPr>
        <p:spPr>
          <a:xfrm>
            <a:off x="3110838" y="1226264"/>
            <a:ext cx="2910583" cy="777998"/>
          </a:xfrm>
          <a:prstGeom prst="roundRect">
            <a:avLst>
              <a:gd fmla="val 0" name="adj"/>
            </a:avLst>
          </a:prstGeom>
          <a:blipFill rotWithShape="1">
            <a:blip r:embed="rId5">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20" name="Google Shape;720;p59"/>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Execution Times wrt Different Resources</a:t>
            </a:r>
            <a:endParaRPr/>
          </a:p>
        </p:txBody>
      </p:sp>
      <p:sp>
        <p:nvSpPr>
          <p:cNvPr id="726" name="Google Shape;726;p6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27" name="Google Shape;727;p60"/>
          <p:cNvSpPr/>
          <p:nvPr/>
        </p:nvSpPr>
        <p:spPr>
          <a:xfrm>
            <a:off x="3347863" y="2242541"/>
            <a:ext cx="2436530" cy="680400"/>
          </a:xfrm>
          <a:prstGeom prst="roundRect">
            <a:avLst>
              <a:gd fmla="val 0" name="adj"/>
            </a:avLst>
          </a:prstGeom>
          <a:blipFill rotWithShape="1">
            <a:blip r:embed="rId3">
              <a:alphaModFix/>
            </a:blip>
            <a:stretch>
              <a:fillRect b="0" l="0" r="0" t="0"/>
            </a:stretch>
          </a:blipFill>
          <a:ln cap="flat" cmpd="sng" w="9525">
            <a:solidFill>
              <a:srgbClr val="BFBFB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28" name="Google Shape;728;p60"/>
          <p:cNvSpPr/>
          <p:nvPr/>
        </p:nvSpPr>
        <p:spPr>
          <a:xfrm>
            <a:off x="2456986" y="3139240"/>
            <a:ext cx="4218284" cy="1069593"/>
          </a:xfrm>
          <a:prstGeom prst="roundRect">
            <a:avLst>
              <a:gd fmla="val 0" name="adj"/>
            </a:avLst>
          </a:prstGeom>
          <a:blipFill rotWithShape="1">
            <a:blip r:embed="rId4">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29" name="Google Shape;729;p60"/>
          <p:cNvSpPr/>
          <p:nvPr/>
        </p:nvSpPr>
        <p:spPr>
          <a:xfrm>
            <a:off x="3110838" y="1226264"/>
            <a:ext cx="2910583" cy="777998"/>
          </a:xfrm>
          <a:prstGeom prst="roundRect">
            <a:avLst>
              <a:gd fmla="val 0" name="adj"/>
            </a:avLst>
          </a:prstGeom>
          <a:blipFill rotWithShape="1">
            <a:blip r:embed="rId5">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30" name="Google Shape;730;p60"/>
          <p:cNvSpPr/>
          <p:nvPr/>
        </p:nvSpPr>
        <p:spPr>
          <a:xfrm rot="-7403575">
            <a:off x="2486866" y="223442"/>
            <a:ext cx="1524963" cy="4089650"/>
          </a:xfrm>
          <a:prstGeom prst="arc">
            <a:avLst>
              <a:gd fmla="val 15039093" name="adj1"/>
              <a:gd fmla="val 537643" name="adj2"/>
            </a:avLst>
          </a:prstGeom>
          <a:noFill/>
          <a:ln cap="flat" cmpd="sng" w="19050">
            <a:solidFill>
              <a:schemeClr val="accent1"/>
            </a:solidFill>
            <a:prstDash val="solid"/>
            <a:miter lim="800000"/>
            <a:headEnd len="med" w="med" type="triangle"/>
            <a:tailEnd len="med" w="med" type="triangl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31" name="Google Shape;731;p60"/>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61"/>
          <p:cNvSpPr/>
          <p:nvPr/>
        </p:nvSpPr>
        <p:spPr>
          <a:xfrm>
            <a:off x="-67415" y="4614122"/>
            <a:ext cx="9284302" cy="548640"/>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LLM Serving is more compute-bound than network-bound</a:t>
            </a:r>
            <a:endParaRPr sz="1800">
              <a:solidFill>
                <a:schemeClr val="lt1"/>
              </a:solidFill>
              <a:latin typeface="Arial"/>
              <a:ea typeface="Arial"/>
              <a:cs typeface="Arial"/>
              <a:sym typeface="Arial"/>
            </a:endParaRPr>
          </a:p>
        </p:txBody>
      </p:sp>
      <p:sp>
        <p:nvSpPr>
          <p:cNvPr id="737" name="Google Shape;737;p61"/>
          <p:cNvSpPr/>
          <p:nvPr/>
        </p:nvSpPr>
        <p:spPr>
          <a:xfrm>
            <a:off x="1952089" y="534847"/>
            <a:ext cx="3468944" cy="1686998"/>
          </a:xfrm>
          <a:prstGeom prst="roundRect">
            <a:avLst>
              <a:gd fmla="val 0" name="adj"/>
            </a:avLst>
          </a:prstGeom>
          <a:blipFill rotWithShape="1">
            <a:blip r:embed="rId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38" name="Google Shape;738;p61"/>
          <p:cNvSpPr txBox="1"/>
          <p:nvPr/>
        </p:nvSpPr>
        <p:spPr>
          <a:xfrm>
            <a:off x="5224409" y="1033752"/>
            <a:ext cx="1936680" cy="597231"/>
          </a:xfrm>
          <a:prstGeom prst="rect">
            <a:avLst/>
          </a:prstGeom>
          <a:blipFill rotWithShape="1">
            <a:blip r:embed="rId4">
              <a:alphaModFix/>
            </a:blip>
            <a:stretch>
              <a:fillRect b="-6250" l="0" r="0" t="-1562"/>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grpSp>
        <p:nvGrpSpPr>
          <p:cNvPr id="739" name="Google Shape;739;p61"/>
          <p:cNvGrpSpPr/>
          <p:nvPr/>
        </p:nvGrpSpPr>
        <p:grpSpPr>
          <a:xfrm>
            <a:off x="2053125" y="1997176"/>
            <a:ext cx="1426675" cy="2529221"/>
            <a:chOff x="2053124" y="2305395"/>
            <a:chExt cx="1426675" cy="2529221"/>
          </a:xfrm>
        </p:grpSpPr>
        <p:sp>
          <p:nvSpPr>
            <p:cNvPr id="740" name="Google Shape;740;p61"/>
            <p:cNvSpPr/>
            <p:nvPr/>
          </p:nvSpPr>
          <p:spPr>
            <a:xfrm>
              <a:off x="2053124" y="2305395"/>
              <a:ext cx="1426675" cy="2529221"/>
            </a:xfrm>
            <a:prstGeom prst="roundRect">
              <a:avLst>
                <a:gd fmla="val 6585" name="adj"/>
              </a:avLst>
            </a:prstGeom>
            <a:solidFill>
              <a:srgbClr val="FFF3CD"/>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Shift to</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Compute</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Bound</a:t>
              </a:r>
              <a:endParaRPr sz="1800">
                <a:solidFill>
                  <a:schemeClr val="dk1"/>
                </a:solidFill>
                <a:latin typeface="Arial"/>
                <a:ea typeface="Arial"/>
                <a:cs typeface="Arial"/>
                <a:sym typeface="Arial"/>
              </a:endParaRPr>
            </a:p>
          </p:txBody>
        </p:sp>
        <p:sp>
          <p:nvSpPr>
            <p:cNvPr id="741" name="Google Shape;741;p61"/>
            <p:cNvSpPr/>
            <p:nvPr/>
          </p:nvSpPr>
          <p:spPr>
            <a:xfrm>
              <a:off x="2298412" y="3394684"/>
              <a:ext cx="923400" cy="399300"/>
            </a:xfrm>
            <a:prstGeom prst="rect">
              <a:avLst/>
            </a:prstGeom>
            <a:blipFill rotWithShape="1">
              <a:blip r:embed="rId5">
                <a:alphaModFix/>
              </a:blip>
              <a:stretch>
                <a:fillRect b="0" l="0" r="0" t="0"/>
              </a:stretch>
            </a:blipFill>
            <a:ln cap="flat" cmpd="sng" w="19050">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42" name="Google Shape;742;p61"/>
            <p:cNvSpPr/>
            <p:nvPr/>
          </p:nvSpPr>
          <p:spPr>
            <a:xfrm>
              <a:off x="2298412" y="3904767"/>
              <a:ext cx="923400" cy="399300"/>
            </a:xfrm>
            <a:prstGeom prst="rect">
              <a:avLst/>
            </a:prstGeom>
            <a:blipFill rotWithShape="1">
              <a:blip r:embed="rId6">
                <a:alphaModFix/>
              </a:blip>
              <a:stretch>
                <a:fillRect b="-13635" l="-7999" r="-9999" t="-2273"/>
              </a:stretch>
            </a:blipFill>
            <a:ln cap="flat" cmpd="sng" w="19050">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grpSp>
      <p:grpSp>
        <p:nvGrpSpPr>
          <p:cNvPr id="743" name="Google Shape;743;p61"/>
          <p:cNvGrpSpPr/>
          <p:nvPr/>
        </p:nvGrpSpPr>
        <p:grpSpPr>
          <a:xfrm>
            <a:off x="3748875" y="1997176"/>
            <a:ext cx="1454950" cy="2529221"/>
            <a:chOff x="3748875" y="2305395"/>
            <a:chExt cx="1454950" cy="2529221"/>
          </a:xfrm>
        </p:grpSpPr>
        <p:sp>
          <p:nvSpPr>
            <p:cNvPr id="744" name="Google Shape;744;p61"/>
            <p:cNvSpPr/>
            <p:nvPr/>
          </p:nvSpPr>
          <p:spPr>
            <a:xfrm>
              <a:off x="3748875" y="2305395"/>
              <a:ext cx="1454950" cy="2529221"/>
            </a:xfrm>
            <a:prstGeom prst="roundRect">
              <a:avLst>
                <a:gd fmla="val 6781" name="adj"/>
              </a:avLst>
            </a:prstGeom>
            <a:solidFill>
              <a:srgbClr val="CBE5FF"/>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Shift to</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Network</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Bound</a:t>
              </a:r>
              <a:endParaRPr sz="1100"/>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45" name="Google Shape;745;p61"/>
            <p:cNvSpPr/>
            <p:nvPr/>
          </p:nvSpPr>
          <p:spPr>
            <a:xfrm>
              <a:off x="4005063" y="3371367"/>
              <a:ext cx="1008725" cy="399300"/>
            </a:xfrm>
            <a:prstGeom prst="rect">
              <a:avLst/>
            </a:prstGeom>
            <a:blipFill rotWithShape="1">
              <a:blip r:embed="rId7">
                <a:alphaModFix/>
              </a:blip>
              <a:stretch>
                <a:fillRect b="-15908" l="-12036" r="-13888" t="-2273"/>
              </a:stretch>
            </a:blipFill>
            <a:ln cap="flat" cmpd="sng" w="19050">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46" name="Google Shape;746;p61"/>
            <p:cNvSpPr/>
            <p:nvPr/>
          </p:nvSpPr>
          <p:spPr>
            <a:xfrm>
              <a:off x="4005064" y="3904767"/>
              <a:ext cx="1008724" cy="399300"/>
            </a:xfrm>
            <a:prstGeom prst="rect">
              <a:avLst/>
            </a:prstGeom>
            <a:blipFill rotWithShape="1">
              <a:blip r:embed="rId8">
                <a:alphaModFix/>
              </a:blip>
              <a:stretch>
                <a:fillRect b="-11364" l="0" r="0" t="-4545"/>
              </a:stretch>
            </a:blipFill>
            <a:ln cap="flat" cmpd="sng" w="19050">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grpSp>
      <p:grpSp>
        <p:nvGrpSpPr>
          <p:cNvPr id="747" name="Google Shape;747;p61"/>
          <p:cNvGrpSpPr/>
          <p:nvPr/>
        </p:nvGrpSpPr>
        <p:grpSpPr>
          <a:xfrm>
            <a:off x="5480562" y="1997174"/>
            <a:ext cx="1454950" cy="2529221"/>
            <a:chOff x="5480562" y="2305394"/>
            <a:chExt cx="1454950" cy="2529221"/>
          </a:xfrm>
        </p:grpSpPr>
        <p:sp>
          <p:nvSpPr>
            <p:cNvPr id="748" name="Google Shape;748;p61"/>
            <p:cNvSpPr/>
            <p:nvPr/>
          </p:nvSpPr>
          <p:spPr>
            <a:xfrm>
              <a:off x="5480562" y="2305394"/>
              <a:ext cx="1454950" cy="2529221"/>
            </a:xfrm>
            <a:prstGeom prst="roundRect">
              <a:avLst>
                <a:gd fmla="val 7487" name="adj"/>
              </a:avLst>
            </a:prstGeom>
            <a:solidFill>
              <a:srgbClr val="D8D8D8"/>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Not</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Relevant</a:t>
              </a:r>
              <a:endParaRPr sz="1800">
                <a:solidFill>
                  <a:schemeClr val="dk1"/>
                </a:solidFill>
                <a:latin typeface="Arial"/>
                <a:ea typeface="Arial"/>
                <a:cs typeface="Arial"/>
                <a:sym typeface="Arial"/>
              </a:endParaRPr>
            </a:p>
          </p:txBody>
        </p:sp>
        <p:sp>
          <p:nvSpPr>
            <p:cNvPr id="749" name="Google Shape;749;p61"/>
            <p:cNvSpPr/>
            <p:nvPr/>
          </p:nvSpPr>
          <p:spPr>
            <a:xfrm>
              <a:off x="5793962" y="3368660"/>
              <a:ext cx="923400" cy="399300"/>
            </a:xfrm>
            <a:prstGeom prst="rect">
              <a:avLst/>
            </a:prstGeom>
            <a:blipFill rotWithShape="1">
              <a:blip r:embed="rId9">
                <a:alphaModFix/>
              </a:blip>
              <a:stretch>
                <a:fillRect b="-13332" l="0" r="-1000" t="0"/>
              </a:stretch>
            </a:blipFill>
            <a:ln cap="flat" cmpd="sng" w="19050">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grpSp>
      <p:sp>
        <p:nvSpPr>
          <p:cNvPr id="750" name="Google Shape;750;p61"/>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 vs Network</a:t>
            </a:r>
            <a:endParaRPr/>
          </a:p>
        </p:txBody>
      </p:sp>
      <p:sp>
        <p:nvSpPr>
          <p:cNvPr id="751" name="Google Shape;751;p61"/>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52" name="Google Shape;752;p61"/>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 vs Network - Validation</a:t>
            </a:r>
            <a:endParaRPr/>
          </a:p>
        </p:txBody>
      </p:sp>
      <p:sp>
        <p:nvSpPr>
          <p:cNvPr id="758" name="Google Shape;758;p62"/>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254000" lvl="0" marL="457200" rtl="0" algn="l">
              <a:lnSpc>
                <a:spcPct val="90000"/>
              </a:lnSpc>
              <a:spcBef>
                <a:spcPts val="0"/>
              </a:spcBef>
              <a:spcAft>
                <a:spcPts val="0"/>
              </a:spcAft>
              <a:buClr>
                <a:schemeClr val="dk1"/>
              </a:buClr>
              <a:buSzPts val="1400"/>
              <a:buNone/>
            </a:pPr>
            <a:r>
              <a:t/>
            </a:r>
            <a:endParaRPr/>
          </a:p>
        </p:txBody>
      </p:sp>
      <p:sp>
        <p:nvSpPr>
          <p:cNvPr id="759" name="Google Shape;759;p6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pic>
        <p:nvPicPr>
          <p:cNvPr id="760" name="Google Shape;760;p62"/>
          <p:cNvPicPr preferRelativeResize="0"/>
          <p:nvPr/>
        </p:nvPicPr>
        <p:blipFill rotWithShape="1">
          <a:blip r:embed="rId3">
            <a:alphaModFix/>
          </a:blip>
          <a:srcRect b="0" l="0" r="0" t="1534"/>
          <a:stretch/>
        </p:blipFill>
        <p:spPr>
          <a:xfrm>
            <a:off x="0" y="1112068"/>
            <a:ext cx="9144000" cy="387428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Execution Times wrt Different Resources</a:t>
            </a:r>
            <a:endParaRPr/>
          </a:p>
        </p:txBody>
      </p:sp>
      <p:sp>
        <p:nvSpPr>
          <p:cNvPr id="766" name="Google Shape;766;p63"/>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67" name="Google Shape;767;p63"/>
          <p:cNvSpPr/>
          <p:nvPr/>
        </p:nvSpPr>
        <p:spPr>
          <a:xfrm>
            <a:off x="3347863" y="2242541"/>
            <a:ext cx="2436530" cy="680400"/>
          </a:xfrm>
          <a:prstGeom prst="roundRect">
            <a:avLst>
              <a:gd fmla="val 0" name="adj"/>
            </a:avLst>
          </a:prstGeom>
          <a:blipFill rotWithShape="1">
            <a:blip r:embed="rId3">
              <a:alphaModFix/>
            </a:blip>
            <a:stretch>
              <a:fillRect b="0" l="0" r="0" t="0"/>
            </a:stretch>
          </a:blipFill>
          <a:ln cap="flat" cmpd="sng" w="9525">
            <a:solidFill>
              <a:srgbClr val="BFBFB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68" name="Google Shape;768;p63"/>
          <p:cNvSpPr/>
          <p:nvPr/>
        </p:nvSpPr>
        <p:spPr>
          <a:xfrm>
            <a:off x="2456986" y="3139240"/>
            <a:ext cx="4218284" cy="1069593"/>
          </a:xfrm>
          <a:prstGeom prst="roundRect">
            <a:avLst>
              <a:gd fmla="val 0" name="adj"/>
            </a:avLst>
          </a:prstGeom>
          <a:blipFill rotWithShape="1">
            <a:blip r:embed="rId4">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69" name="Google Shape;769;p63"/>
          <p:cNvSpPr/>
          <p:nvPr/>
        </p:nvSpPr>
        <p:spPr>
          <a:xfrm>
            <a:off x="3110838" y="1226264"/>
            <a:ext cx="2910583" cy="777998"/>
          </a:xfrm>
          <a:prstGeom prst="roundRect">
            <a:avLst>
              <a:gd fmla="val 0" name="adj"/>
            </a:avLst>
          </a:prstGeom>
          <a:blipFill rotWithShape="1">
            <a:blip r:embed="rId5">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70" name="Google Shape;770;p63"/>
          <p:cNvSpPr/>
          <p:nvPr/>
        </p:nvSpPr>
        <p:spPr>
          <a:xfrm rot="-7403575">
            <a:off x="2486866" y="223442"/>
            <a:ext cx="1524963" cy="4089650"/>
          </a:xfrm>
          <a:prstGeom prst="arc">
            <a:avLst>
              <a:gd fmla="val 15039093" name="adj1"/>
              <a:gd fmla="val 537643" name="adj2"/>
            </a:avLst>
          </a:prstGeom>
          <a:noFill/>
          <a:ln cap="flat" cmpd="sng" w="19050">
            <a:solidFill>
              <a:schemeClr val="accent1"/>
            </a:solidFill>
            <a:prstDash val="solid"/>
            <a:miter lim="800000"/>
            <a:headEnd len="med" w="med" type="triangle"/>
            <a:tailEnd len="med" w="med" type="triangl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71" name="Google Shape;771;p63"/>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Execution Times wrt Different Resources</a:t>
            </a:r>
            <a:endParaRPr/>
          </a:p>
        </p:txBody>
      </p:sp>
      <p:sp>
        <p:nvSpPr>
          <p:cNvPr id="777" name="Google Shape;777;p64"/>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78" name="Google Shape;778;p64"/>
          <p:cNvSpPr/>
          <p:nvPr/>
        </p:nvSpPr>
        <p:spPr>
          <a:xfrm>
            <a:off x="3347863" y="2242541"/>
            <a:ext cx="2436530" cy="680400"/>
          </a:xfrm>
          <a:prstGeom prst="roundRect">
            <a:avLst>
              <a:gd fmla="val 0" name="adj"/>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79" name="Google Shape;779;p64"/>
          <p:cNvSpPr/>
          <p:nvPr/>
        </p:nvSpPr>
        <p:spPr>
          <a:xfrm>
            <a:off x="3110838" y="1226264"/>
            <a:ext cx="2910583" cy="777998"/>
          </a:xfrm>
          <a:prstGeom prst="roundRect">
            <a:avLst>
              <a:gd fmla="val 0" name="adj"/>
            </a:avLst>
          </a:prstGeom>
          <a:blipFill rotWithShape="1">
            <a:blip r:embed="rId4">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80" name="Google Shape;780;p64"/>
          <p:cNvSpPr/>
          <p:nvPr/>
        </p:nvSpPr>
        <p:spPr>
          <a:xfrm rot="-7544439">
            <a:off x="2956997" y="542064"/>
            <a:ext cx="1414221" cy="2553826"/>
          </a:xfrm>
          <a:prstGeom prst="arc">
            <a:avLst>
              <a:gd fmla="val 14363426" name="adj1"/>
              <a:gd fmla="val 19699509" name="adj2"/>
            </a:avLst>
          </a:prstGeom>
          <a:noFill/>
          <a:ln cap="flat" cmpd="sng" w="19050">
            <a:solidFill>
              <a:schemeClr val="accent1"/>
            </a:solidFill>
            <a:prstDash val="solid"/>
            <a:miter lim="800000"/>
            <a:headEnd len="med" w="med" type="triangle"/>
            <a:tailEnd len="med" w="med" type="triangl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81" name="Google Shape;781;p64"/>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65"/>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 vs Memory</a:t>
            </a:r>
            <a:endParaRPr/>
          </a:p>
        </p:txBody>
      </p:sp>
      <p:sp>
        <p:nvSpPr>
          <p:cNvPr id="787" name="Google Shape;787;p6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88" name="Google Shape;788;p65"/>
          <p:cNvSpPr/>
          <p:nvPr/>
        </p:nvSpPr>
        <p:spPr>
          <a:xfrm>
            <a:off x="2578814" y="1588111"/>
            <a:ext cx="3986373" cy="983639"/>
          </a:xfrm>
          <a:prstGeom prst="roundRect">
            <a:avLst>
              <a:gd fmla="val 0" name="adj"/>
            </a:avLst>
          </a:prstGeom>
          <a:blipFill rotWithShape="1">
            <a:blip r:embed="rId3">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89" name="Google Shape;789;p65"/>
          <p:cNvSpPr/>
          <p:nvPr/>
        </p:nvSpPr>
        <p:spPr>
          <a:xfrm>
            <a:off x="2736400" y="1618934"/>
            <a:ext cx="996595" cy="899302"/>
          </a:xfrm>
          <a:prstGeom prst="roundRect">
            <a:avLst>
              <a:gd fmla="val 0" name="adj"/>
            </a:avLst>
          </a:pr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790" name="Google Shape;790;p65"/>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4276"/>
              <a:buNone/>
            </a:pPr>
            <a:r>
              <a:rPr lang="en"/>
              <a:t>Grouped Query Attention</a:t>
            </a:r>
            <a:r>
              <a:rPr baseline="30000" lang="en"/>
              <a:t>1</a:t>
            </a:r>
            <a:endParaRPr baseline="30000"/>
          </a:p>
        </p:txBody>
      </p:sp>
      <p:sp>
        <p:nvSpPr>
          <p:cNvPr id="796" name="Google Shape;796;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797" name="Google Shape;797;p66"/>
          <p:cNvSpPr/>
          <p:nvPr/>
        </p:nvSpPr>
        <p:spPr>
          <a:xfrm>
            <a:off x="1247890" y="1775459"/>
            <a:ext cx="6772500" cy="1152000"/>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8" name="Google Shape;798;p66"/>
          <p:cNvSpPr txBox="1"/>
          <p:nvPr/>
        </p:nvSpPr>
        <p:spPr>
          <a:xfrm>
            <a:off x="203774" y="2033603"/>
            <a:ext cx="936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799" name="Google Shape;799;p66"/>
          <p:cNvSpPr/>
          <p:nvPr/>
        </p:nvSpPr>
        <p:spPr>
          <a:xfrm>
            <a:off x="1249439" y="1775457"/>
            <a:ext cx="1656300" cy="1152000"/>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800" name="Google Shape;800;p66"/>
          <p:cNvSpPr/>
          <p:nvPr/>
        </p:nvSpPr>
        <p:spPr>
          <a:xfrm>
            <a:off x="2905623" y="1775458"/>
            <a:ext cx="574500" cy="1152000"/>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801" name="Google Shape;801;p66"/>
          <p:cNvSpPr/>
          <p:nvPr/>
        </p:nvSpPr>
        <p:spPr>
          <a:xfrm>
            <a:off x="3480138" y="1775459"/>
            <a:ext cx="4540200" cy="1152000"/>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802" name="Google Shape;802;p66"/>
          <p:cNvSpPr txBox="1"/>
          <p:nvPr/>
        </p:nvSpPr>
        <p:spPr>
          <a:xfrm>
            <a:off x="171482" y="4565968"/>
            <a:ext cx="85206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grpSp>
        <p:nvGrpSpPr>
          <p:cNvPr id="803" name="Google Shape;803;p66"/>
          <p:cNvGrpSpPr/>
          <p:nvPr/>
        </p:nvGrpSpPr>
        <p:grpSpPr>
          <a:xfrm>
            <a:off x="3397912" y="976896"/>
            <a:ext cx="1743872" cy="1901523"/>
            <a:chOff x="3397912" y="976896"/>
            <a:chExt cx="1743872" cy="1901523"/>
          </a:xfrm>
        </p:grpSpPr>
        <p:sp>
          <p:nvSpPr>
            <p:cNvPr id="804" name="Google Shape;804;p66"/>
            <p:cNvSpPr/>
            <p:nvPr/>
          </p:nvSpPr>
          <p:spPr>
            <a:xfrm>
              <a:off x="3517550"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5" name="Google Shape;805;p66"/>
            <p:cNvSpPr txBox="1"/>
            <p:nvPr/>
          </p:nvSpPr>
          <p:spPr>
            <a:xfrm>
              <a:off x="3397912" y="1408360"/>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cxnSp>
          <p:nvCxnSpPr>
            <p:cNvPr id="806" name="Google Shape;806;p66"/>
            <p:cNvCxnSpPr>
              <a:stCxn id="805" idx="0"/>
            </p:cNvCxnSpPr>
            <p:nvPr/>
          </p:nvCxnSpPr>
          <p:spPr>
            <a:xfrm flipH="1" rot="10800000">
              <a:off x="3588862" y="1144660"/>
              <a:ext cx="236400" cy="263700"/>
            </a:xfrm>
            <a:prstGeom prst="straightConnector1">
              <a:avLst/>
            </a:prstGeom>
            <a:noFill/>
            <a:ln cap="flat" cmpd="sng" w="9525">
              <a:solidFill>
                <a:srgbClr val="3B7FF2"/>
              </a:solidFill>
              <a:prstDash val="solid"/>
              <a:round/>
              <a:headEnd len="sm" w="sm" type="none"/>
              <a:tailEnd len="sm" w="sm" type="none"/>
            </a:ln>
          </p:spPr>
        </p:cxnSp>
        <p:sp>
          <p:nvSpPr>
            <p:cNvPr id="807" name="Google Shape;807;p66"/>
            <p:cNvSpPr txBox="1"/>
            <p:nvPr/>
          </p:nvSpPr>
          <p:spPr>
            <a:xfrm>
              <a:off x="3772584" y="976896"/>
              <a:ext cx="1369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Attention Head</a:t>
              </a:r>
              <a:endParaRPr b="0" baseline="-25000" i="0" sz="1400" u="none" cap="none" strike="noStrike">
                <a:solidFill>
                  <a:srgbClr val="C00000"/>
                </a:solidFill>
                <a:latin typeface="Arial"/>
                <a:ea typeface="Arial"/>
                <a:cs typeface="Arial"/>
                <a:sym typeface="Arial"/>
              </a:endParaRPr>
            </a:p>
          </p:txBody>
        </p:sp>
      </p:grpSp>
      <p:grpSp>
        <p:nvGrpSpPr>
          <p:cNvPr id="808" name="Google Shape;808;p66"/>
          <p:cNvGrpSpPr/>
          <p:nvPr/>
        </p:nvGrpSpPr>
        <p:grpSpPr>
          <a:xfrm>
            <a:off x="3584362" y="1407054"/>
            <a:ext cx="381900" cy="1470059"/>
            <a:chOff x="3584362" y="1407054"/>
            <a:chExt cx="381900" cy="1470059"/>
          </a:xfrm>
        </p:grpSpPr>
        <p:sp>
          <p:nvSpPr>
            <p:cNvPr id="809" name="Google Shape;809;p66"/>
            <p:cNvSpPr/>
            <p:nvPr/>
          </p:nvSpPr>
          <p:spPr>
            <a:xfrm>
              <a:off x="3704000"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0" name="Google Shape;810;p66"/>
            <p:cNvSpPr txBox="1"/>
            <p:nvPr/>
          </p:nvSpPr>
          <p:spPr>
            <a:xfrm>
              <a:off x="3584362" y="1407054"/>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grpSp>
      <p:grpSp>
        <p:nvGrpSpPr>
          <p:cNvPr id="811" name="Google Shape;811;p66"/>
          <p:cNvGrpSpPr/>
          <p:nvPr/>
        </p:nvGrpSpPr>
        <p:grpSpPr>
          <a:xfrm>
            <a:off x="3771315" y="1407848"/>
            <a:ext cx="381900" cy="1470059"/>
            <a:chOff x="3771315" y="1407848"/>
            <a:chExt cx="381900" cy="1470059"/>
          </a:xfrm>
        </p:grpSpPr>
        <p:sp>
          <p:nvSpPr>
            <p:cNvPr id="812" name="Google Shape;812;p66"/>
            <p:cNvSpPr/>
            <p:nvPr/>
          </p:nvSpPr>
          <p:spPr>
            <a:xfrm>
              <a:off x="3890953"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3" name="Google Shape;813;p66"/>
            <p:cNvSpPr txBox="1"/>
            <p:nvPr/>
          </p:nvSpPr>
          <p:spPr>
            <a:xfrm>
              <a:off x="3771315" y="1407848"/>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grpSp>
      <p:grpSp>
        <p:nvGrpSpPr>
          <p:cNvPr id="814" name="Google Shape;814;p66"/>
          <p:cNvGrpSpPr/>
          <p:nvPr/>
        </p:nvGrpSpPr>
        <p:grpSpPr>
          <a:xfrm>
            <a:off x="3957765" y="1406542"/>
            <a:ext cx="381900" cy="1470059"/>
            <a:chOff x="3957765" y="1406542"/>
            <a:chExt cx="381900" cy="1470059"/>
          </a:xfrm>
        </p:grpSpPr>
        <p:sp>
          <p:nvSpPr>
            <p:cNvPr id="815" name="Google Shape;815;p66"/>
            <p:cNvSpPr/>
            <p:nvPr/>
          </p:nvSpPr>
          <p:spPr>
            <a:xfrm>
              <a:off x="4077403"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6" name="Google Shape;816;p66"/>
            <p:cNvSpPr txBox="1"/>
            <p:nvPr/>
          </p:nvSpPr>
          <p:spPr>
            <a:xfrm>
              <a:off x="3957765" y="1406542"/>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grpSp>
      <p:sp>
        <p:nvSpPr>
          <p:cNvPr id="817" name="Google Shape;817;p66"/>
          <p:cNvSpPr/>
          <p:nvPr/>
        </p:nvSpPr>
        <p:spPr>
          <a:xfrm>
            <a:off x="4265698"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8" name="Google Shape;818;p66"/>
          <p:cNvSpPr/>
          <p:nvPr/>
        </p:nvSpPr>
        <p:spPr>
          <a:xfrm>
            <a:off x="4452148"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9" name="Google Shape;819;p66"/>
          <p:cNvSpPr/>
          <p:nvPr/>
        </p:nvSpPr>
        <p:spPr>
          <a:xfrm>
            <a:off x="4639101"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0" name="Google Shape;820;p66"/>
          <p:cNvSpPr/>
          <p:nvPr/>
        </p:nvSpPr>
        <p:spPr>
          <a:xfrm>
            <a:off x="4825551"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1" name="Google Shape;821;p66"/>
          <p:cNvSpPr/>
          <p:nvPr/>
        </p:nvSpPr>
        <p:spPr>
          <a:xfrm>
            <a:off x="501268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2" name="Google Shape;822;p66"/>
          <p:cNvSpPr/>
          <p:nvPr/>
        </p:nvSpPr>
        <p:spPr>
          <a:xfrm>
            <a:off x="519913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3" name="Google Shape;823;p66"/>
          <p:cNvSpPr/>
          <p:nvPr/>
        </p:nvSpPr>
        <p:spPr>
          <a:xfrm>
            <a:off x="538609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4" name="Google Shape;824;p66"/>
          <p:cNvSpPr/>
          <p:nvPr/>
        </p:nvSpPr>
        <p:spPr>
          <a:xfrm>
            <a:off x="557254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5" name="Google Shape;825;p66"/>
          <p:cNvSpPr/>
          <p:nvPr/>
        </p:nvSpPr>
        <p:spPr>
          <a:xfrm>
            <a:off x="5760835"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6" name="Google Shape;826;p66"/>
          <p:cNvSpPr/>
          <p:nvPr/>
        </p:nvSpPr>
        <p:spPr>
          <a:xfrm>
            <a:off x="5947285"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7" name="Google Shape;827;p66"/>
          <p:cNvSpPr/>
          <p:nvPr/>
        </p:nvSpPr>
        <p:spPr>
          <a:xfrm>
            <a:off x="6134238"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8" name="Google Shape;828;p66"/>
          <p:cNvSpPr/>
          <p:nvPr/>
        </p:nvSpPr>
        <p:spPr>
          <a:xfrm>
            <a:off x="6320688"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29" name="Google Shape;829;p66"/>
          <p:cNvSpPr/>
          <p:nvPr/>
        </p:nvSpPr>
        <p:spPr>
          <a:xfrm>
            <a:off x="6505979"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0" name="Google Shape;830;p66"/>
          <p:cNvSpPr/>
          <p:nvPr/>
        </p:nvSpPr>
        <p:spPr>
          <a:xfrm>
            <a:off x="6692429"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1" name="Google Shape;831;p66"/>
          <p:cNvSpPr/>
          <p:nvPr/>
        </p:nvSpPr>
        <p:spPr>
          <a:xfrm>
            <a:off x="6879382" y="182349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2" name="Google Shape;832;p66"/>
          <p:cNvSpPr/>
          <p:nvPr/>
        </p:nvSpPr>
        <p:spPr>
          <a:xfrm>
            <a:off x="7065832" y="182218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3" name="Google Shape;833;p66"/>
          <p:cNvSpPr/>
          <p:nvPr/>
        </p:nvSpPr>
        <p:spPr>
          <a:xfrm>
            <a:off x="725412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4" name="Google Shape;834;p66"/>
          <p:cNvSpPr/>
          <p:nvPr/>
        </p:nvSpPr>
        <p:spPr>
          <a:xfrm>
            <a:off x="744057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5" name="Google Shape;835;p66"/>
          <p:cNvSpPr/>
          <p:nvPr/>
        </p:nvSpPr>
        <p:spPr>
          <a:xfrm>
            <a:off x="762753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6" name="Google Shape;836;p66"/>
          <p:cNvSpPr/>
          <p:nvPr/>
        </p:nvSpPr>
        <p:spPr>
          <a:xfrm>
            <a:off x="781398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7" name="Google Shape;837;p66"/>
          <p:cNvSpPr txBox="1"/>
          <p:nvPr/>
        </p:nvSpPr>
        <p:spPr>
          <a:xfrm>
            <a:off x="7694342" y="1437112"/>
            <a:ext cx="40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08"/>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500"/>
                                  </p:stCondLst>
                                  <p:childTnLst>
                                    <p:set>
                                      <p:cBhvr>
                                        <p:cTn dur="1" fill="hold">
                                          <p:stCondLst>
                                            <p:cond delay="0"/>
                                          </p:stCondLst>
                                        </p:cTn>
                                        <p:tgtEl>
                                          <p:spTgt spid="811"/>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500"/>
                                  </p:stCondLst>
                                  <p:childTnLst>
                                    <p:set>
                                      <p:cBhvr>
                                        <p:cTn dur="1" fill="hold">
                                          <p:stCondLst>
                                            <p:cond delay="0"/>
                                          </p:stCondLst>
                                        </p:cTn>
                                        <p:tgtEl>
                                          <p:spTgt spid="814"/>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50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5"/>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835"/>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4276"/>
              <a:buNone/>
            </a:pPr>
            <a:r>
              <a:rPr lang="en"/>
              <a:t>Grouped Query Attention</a:t>
            </a:r>
            <a:r>
              <a:rPr baseline="30000" lang="en"/>
              <a:t>1</a:t>
            </a:r>
            <a:endParaRPr baseline="30000"/>
          </a:p>
        </p:txBody>
      </p:sp>
      <p:sp>
        <p:nvSpPr>
          <p:cNvPr id="843" name="Google Shape;84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844" name="Google Shape;844;p67"/>
          <p:cNvSpPr/>
          <p:nvPr/>
        </p:nvSpPr>
        <p:spPr>
          <a:xfrm>
            <a:off x="1247890" y="1775459"/>
            <a:ext cx="6772500" cy="1152000"/>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5" name="Google Shape;845;p67"/>
          <p:cNvSpPr txBox="1"/>
          <p:nvPr/>
        </p:nvSpPr>
        <p:spPr>
          <a:xfrm>
            <a:off x="203774" y="2033603"/>
            <a:ext cx="936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846" name="Google Shape;846;p67"/>
          <p:cNvSpPr/>
          <p:nvPr/>
        </p:nvSpPr>
        <p:spPr>
          <a:xfrm>
            <a:off x="1249439" y="1775457"/>
            <a:ext cx="1656300" cy="1152000"/>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847" name="Google Shape;847;p67"/>
          <p:cNvSpPr/>
          <p:nvPr/>
        </p:nvSpPr>
        <p:spPr>
          <a:xfrm>
            <a:off x="2905623" y="1775458"/>
            <a:ext cx="574500" cy="1152000"/>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848" name="Google Shape;848;p67"/>
          <p:cNvSpPr/>
          <p:nvPr/>
        </p:nvSpPr>
        <p:spPr>
          <a:xfrm>
            <a:off x="3480138" y="1775459"/>
            <a:ext cx="4540200" cy="1152000"/>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849" name="Google Shape;849;p67"/>
          <p:cNvSpPr/>
          <p:nvPr/>
        </p:nvSpPr>
        <p:spPr>
          <a:xfrm>
            <a:off x="3517550"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0" name="Google Shape;850;p67"/>
          <p:cNvSpPr txBox="1"/>
          <p:nvPr/>
        </p:nvSpPr>
        <p:spPr>
          <a:xfrm>
            <a:off x="3397912" y="1408360"/>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sp>
        <p:nvSpPr>
          <p:cNvPr id="851" name="Google Shape;851;p67"/>
          <p:cNvSpPr/>
          <p:nvPr/>
        </p:nvSpPr>
        <p:spPr>
          <a:xfrm>
            <a:off x="3704000"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2" name="Google Shape;852;p67"/>
          <p:cNvSpPr txBox="1"/>
          <p:nvPr/>
        </p:nvSpPr>
        <p:spPr>
          <a:xfrm>
            <a:off x="3584362" y="1407054"/>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sp>
        <p:nvSpPr>
          <p:cNvPr id="853" name="Google Shape;853;p67"/>
          <p:cNvSpPr/>
          <p:nvPr/>
        </p:nvSpPr>
        <p:spPr>
          <a:xfrm>
            <a:off x="3890953"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4" name="Google Shape;854;p67"/>
          <p:cNvSpPr txBox="1"/>
          <p:nvPr/>
        </p:nvSpPr>
        <p:spPr>
          <a:xfrm>
            <a:off x="3771315" y="1407848"/>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sp>
        <p:nvSpPr>
          <p:cNvPr id="855" name="Google Shape;855;p67"/>
          <p:cNvSpPr/>
          <p:nvPr/>
        </p:nvSpPr>
        <p:spPr>
          <a:xfrm>
            <a:off x="4077403"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6" name="Google Shape;856;p67"/>
          <p:cNvSpPr txBox="1"/>
          <p:nvPr/>
        </p:nvSpPr>
        <p:spPr>
          <a:xfrm>
            <a:off x="3957765" y="1406542"/>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sp>
        <p:nvSpPr>
          <p:cNvPr id="857" name="Google Shape;857;p67"/>
          <p:cNvSpPr/>
          <p:nvPr/>
        </p:nvSpPr>
        <p:spPr>
          <a:xfrm>
            <a:off x="4265698"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8" name="Google Shape;858;p67"/>
          <p:cNvSpPr/>
          <p:nvPr/>
        </p:nvSpPr>
        <p:spPr>
          <a:xfrm>
            <a:off x="4452148"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9" name="Google Shape;859;p67"/>
          <p:cNvSpPr/>
          <p:nvPr/>
        </p:nvSpPr>
        <p:spPr>
          <a:xfrm>
            <a:off x="4639101"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0" name="Google Shape;860;p67"/>
          <p:cNvSpPr/>
          <p:nvPr/>
        </p:nvSpPr>
        <p:spPr>
          <a:xfrm>
            <a:off x="4825551"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1" name="Google Shape;861;p67"/>
          <p:cNvSpPr/>
          <p:nvPr/>
        </p:nvSpPr>
        <p:spPr>
          <a:xfrm>
            <a:off x="501268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2" name="Google Shape;862;p67"/>
          <p:cNvSpPr/>
          <p:nvPr/>
        </p:nvSpPr>
        <p:spPr>
          <a:xfrm>
            <a:off x="519913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3" name="Google Shape;863;p67"/>
          <p:cNvSpPr/>
          <p:nvPr/>
        </p:nvSpPr>
        <p:spPr>
          <a:xfrm>
            <a:off x="538609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4" name="Google Shape;864;p67"/>
          <p:cNvSpPr/>
          <p:nvPr/>
        </p:nvSpPr>
        <p:spPr>
          <a:xfrm>
            <a:off x="557254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5" name="Google Shape;865;p67"/>
          <p:cNvSpPr/>
          <p:nvPr/>
        </p:nvSpPr>
        <p:spPr>
          <a:xfrm>
            <a:off x="5760835"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6" name="Google Shape;866;p67"/>
          <p:cNvSpPr/>
          <p:nvPr/>
        </p:nvSpPr>
        <p:spPr>
          <a:xfrm>
            <a:off x="5947285"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7" name="Google Shape;867;p67"/>
          <p:cNvSpPr/>
          <p:nvPr/>
        </p:nvSpPr>
        <p:spPr>
          <a:xfrm>
            <a:off x="6134238"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8" name="Google Shape;868;p67"/>
          <p:cNvSpPr/>
          <p:nvPr/>
        </p:nvSpPr>
        <p:spPr>
          <a:xfrm>
            <a:off x="6320688"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9" name="Google Shape;869;p67"/>
          <p:cNvSpPr/>
          <p:nvPr/>
        </p:nvSpPr>
        <p:spPr>
          <a:xfrm>
            <a:off x="6505979"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0" name="Google Shape;870;p67"/>
          <p:cNvSpPr/>
          <p:nvPr/>
        </p:nvSpPr>
        <p:spPr>
          <a:xfrm>
            <a:off x="6692429"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1" name="Google Shape;871;p67"/>
          <p:cNvSpPr/>
          <p:nvPr/>
        </p:nvSpPr>
        <p:spPr>
          <a:xfrm>
            <a:off x="6879382" y="182349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2" name="Google Shape;872;p67"/>
          <p:cNvSpPr/>
          <p:nvPr/>
        </p:nvSpPr>
        <p:spPr>
          <a:xfrm>
            <a:off x="7065832" y="182218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3" name="Google Shape;873;p67"/>
          <p:cNvSpPr/>
          <p:nvPr/>
        </p:nvSpPr>
        <p:spPr>
          <a:xfrm>
            <a:off x="725412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4" name="Google Shape;874;p67"/>
          <p:cNvSpPr/>
          <p:nvPr/>
        </p:nvSpPr>
        <p:spPr>
          <a:xfrm>
            <a:off x="744057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5" name="Google Shape;875;p67"/>
          <p:cNvSpPr/>
          <p:nvPr/>
        </p:nvSpPr>
        <p:spPr>
          <a:xfrm>
            <a:off x="762753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6" name="Google Shape;876;p67"/>
          <p:cNvSpPr/>
          <p:nvPr/>
        </p:nvSpPr>
        <p:spPr>
          <a:xfrm>
            <a:off x="781398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7" name="Google Shape;877;p67"/>
          <p:cNvSpPr txBox="1"/>
          <p:nvPr/>
        </p:nvSpPr>
        <p:spPr>
          <a:xfrm>
            <a:off x="7694342" y="1437112"/>
            <a:ext cx="40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cxnSp>
        <p:nvCxnSpPr>
          <p:cNvPr id="878" name="Google Shape;878;p67"/>
          <p:cNvCxnSpPr/>
          <p:nvPr/>
        </p:nvCxnSpPr>
        <p:spPr>
          <a:xfrm flipH="1" rot="10800000">
            <a:off x="3588830" y="1144660"/>
            <a:ext cx="236400" cy="263700"/>
          </a:xfrm>
          <a:prstGeom prst="straightConnector1">
            <a:avLst/>
          </a:prstGeom>
          <a:noFill/>
          <a:ln cap="flat" cmpd="sng" w="9525">
            <a:solidFill>
              <a:srgbClr val="3B7FF2"/>
            </a:solidFill>
            <a:prstDash val="solid"/>
            <a:round/>
            <a:headEnd len="sm" w="sm" type="none"/>
            <a:tailEnd len="sm" w="sm" type="none"/>
          </a:ln>
        </p:spPr>
      </p:cxnSp>
      <p:sp>
        <p:nvSpPr>
          <p:cNvPr id="879" name="Google Shape;879;p67"/>
          <p:cNvSpPr txBox="1"/>
          <p:nvPr/>
        </p:nvSpPr>
        <p:spPr>
          <a:xfrm>
            <a:off x="3772584" y="976896"/>
            <a:ext cx="1369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Attention Head</a:t>
            </a:r>
            <a:endParaRPr b="0" baseline="-25000" i="0" sz="1400" u="none" cap="none" strike="noStrike">
              <a:solidFill>
                <a:srgbClr val="C00000"/>
              </a:solidFill>
              <a:latin typeface="Arial"/>
              <a:ea typeface="Arial"/>
              <a:cs typeface="Arial"/>
              <a:sym typeface="Arial"/>
            </a:endParaRPr>
          </a:p>
        </p:txBody>
      </p:sp>
      <p:sp>
        <p:nvSpPr>
          <p:cNvPr id="880" name="Google Shape;880;p67"/>
          <p:cNvSpPr txBox="1"/>
          <p:nvPr/>
        </p:nvSpPr>
        <p:spPr>
          <a:xfrm>
            <a:off x="171482" y="4565968"/>
            <a:ext cx="85206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4276"/>
              <a:buNone/>
            </a:pPr>
            <a:r>
              <a:rPr lang="en"/>
              <a:t>Grouped Query Attention</a:t>
            </a:r>
            <a:r>
              <a:rPr baseline="30000" lang="en"/>
              <a:t>1</a:t>
            </a:r>
            <a:endParaRPr baseline="30000"/>
          </a:p>
        </p:txBody>
      </p:sp>
      <p:sp>
        <p:nvSpPr>
          <p:cNvPr id="886" name="Google Shape;886;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887" name="Google Shape;887;p68"/>
          <p:cNvSpPr/>
          <p:nvPr/>
        </p:nvSpPr>
        <p:spPr>
          <a:xfrm>
            <a:off x="1247890" y="1775459"/>
            <a:ext cx="6772500" cy="1152000"/>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8" name="Google Shape;888;p68"/>
          <p:cNvSpPr txBox="1"/>
          <p:nvPr/>
        </p:nvSpPr>
        <p:spPr>
          <a:xfrm>
            <a:off x="203774" y="2033603"/>
            <a:ext cx="936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889" name="Google Shape;889;p68"/>
          <p:cNvSpPr/>
          <p:nvPr/>
        </p:nvSpPr>
        <p:spPr>
          <a:xfrm>
            <a:off x="1249439" y="1775457"/>
            <a:ext cx="1656300" cy="1152000"/>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890" name="Google Shape;890;p68"/>
          <p:cNvSpPr/>
          <p:nvPr/>
        </p:nvSpPr>
        <p:spPr>
          <a:xfrm>
            <a:off x="2905623" y="1775458"/>
            <a:ext cx="574500" cy="1152000"/>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891" name="Google Shape;891;p68"/>
          <p:cNvSpPr/>
          <p:nvPr/>
        </p:nvSpPr>
        <p:spPr>
          <a:xfrm>
            <a:off x="3480138" y="1775459"/>
            <a:ext cx="4540200" cy="1152000"/>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892" name="Google Shape;892;p68"/>
          <p:cNvSpPr/>
          <p:nvPr/>
        </p:nvSpPr>
        <p:spPr>
          <a:xfrm>
            <a:off x="3517550"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3" name="Google Shape;893;p68"/>
          <p:cNvSpPr txBox="1"/>
          <p:nvPr/>
        </p:nvSpPr>
        <p:spPr>
          <a:xfrm>
            <a:off x="3096250" y="1218795"/>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sp>
        <p:nvSpPr>
          <p:cNvPr id="894" name="Google Shape;894;p68"/>
          <p:cNvSpPr/>
          <p:nvPr/>
        </p:nvSpPr>
        <p:spPr>
          <a:xfrm>
            <a:off x="3704000"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5" name="Google Shape;895;p68"/>
          <p:cNvSpPr txBox="1"/>
          <p:nvPr/>
        </p:nvSpPr>
        <p:spPr>
          <a:xfrm>
            <a:off x="3298198" y="1217489"/>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sp>
        <p:nvSpPr>
          <p:cNvPr id="896" name="Google Shape;896;p68"/>
          <p:cNvSpPr/>
          <p:nvPr/>
        </p:nvSpPr>
        <p:spPr>
          <a:xfrm>
            <a:off x="3890953"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7" name="Google Shape;897;p68"/>
          <p:cNvSpPr txBox="1"/>
          <p:nvPr/>
        </p:nvSpPr>
        <p:spPr>
          <a:xfrm>
            <a:off x="3485151" y="1218283"/>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sp>
        <p:nvSpPr>
          <p:cNvPr id="898" name="Google Shape;898;p68"/>
          <p:cNvSpPr/>
          <p:nvPr/>
        </p:nvSpPr>
        <p:spPr>
          <a:xfrm>
            <a:off x="4077403"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9" name="Google Shape;899;p68"/>
          <p:cNvSpPr txBox="1"/>
          <p:nvPr/>
        </p:nvSpPr>
        <p:spPr>
          <a:xfrm>
            <a:off x="3671601" y="1216977"/>
            <a:ext cx="38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sp>
        <p:nvSpPr>
          <p:cNvPr id="900" name="Google Shape;900;p68"/>
          <p:cNvSpPr/>
          <p:nvPr/>
        </p:nvSpPr>
        <p:spPr>
          <a:xfrm>
            <a:off x="4265698"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1" name="Google Shape;901;p68"/>
          <p:cNvSpPr/>
          <p:nvPr/>
        </p:nvSpPr>
        <p:spPr>
          <a:xfrm>
            <a:off x="4452148"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2" name="Google Shape;902;p68"/>
          <p:cNvSpPr/>
          <p:nvPr/>
        </p:nvSpPr>
        <p:spPr>
          <a:xfrm>
            <a:off x="4639101"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3" name="Google Shape;903;p68"/>
          <p:cNvSpPr/>
          <p:nvPr/>
        </p:nvSpPr>
        <p:spPr>
          <a:xfrm>
            <a:off x="4825551"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4" name="Google Shape;904;p68"/>
          <p:cNvSpPr/>
          <p:nvPr/>
        </p:nvSpPr>
        <p:spPr>
          <a:xfrm>
            <a:off x="501268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5" name="Google Shape;905;p68"/>
          <p:cNvSpPr/>
          <p:nvPr/>
        </p:nvSpPr>
        <p:spPr>
          <a:xfrm>
            <a:off x="519913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6" name="Google Shape;906;p68"/>
          <p:cNvSpPr/>
          <p:nvPr/>
        </p:nvSpPr>
        <p:spPr>
          <a:xfrm>
            <a:off x="538609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7" name="Google Shape;907;p68"/>
          <p:cNvSpPr/>
          <p:nvPr/>
        </p:nvSpPr>
        <p:spPr>
          <a:xfrm>
            <a:off x="557254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8" name="Google Shape;908;p68"/>
          <p:cNvSpPr/>
          <p:nvPr/>
        </p:nvSpPr>
        <p:spPr>
          <a:xfrm>
            <a:off x="5760835" y="182503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9" name="Google Shape;909;p68"/>
          <p:cNvSpPr/>
          <p:nvPr/>
        </p:nvSpPr>
        <p:spPr>
          <a:xfrm>
            <a:off x="5947285" y="182372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0" name="Google Shape;910;p68"/>
          <p:cNvSpPr/>
          <p:nvPr/>
        </p:nvSpPr>
        <p:spPr>
          <a:xfrm>
            <a:off x="6134238"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1" name="Google Shape;911;p68"/>
          <p:cNvSpPr/>
          <p:nvPr/>
        </p:nvSpPr>
        <p:spPr>
          <a:xfrm>
            <a:off x="6320688"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2" name="Google Shape;912;p68"/>
          <p:cNvSpPr/>
          <p:nvPr/>
        </p:nvSpPr>
        <p:spPr>
          <a:xfrm>
            <a:off x="6505979"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3" name="Google Shape;913;p68"/>
          <p:cNvSpPr/>
          <p:nvPr/>
        </p:nvSpPr>
        <p:spPr>
          <a:xfrm>
            <a:off x="6692429"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4" name="Google Shape;914;p68"/>
          <p:cNvSpPr/>
          <p:nvPr/>
        </p:nvSpPr>
        <p:spPr>
          <a:xfrm>
            <a:off x="6879382" y="1823495"/>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5" name="Google Shape;915;p68"/>
          <p:cNvSpPr/>
          <p:nvPr/>
        </p:nvSpPr>
        <p:spPr>
          <a:xfrm>
            <a:off x="7065832" y="182218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6" name="Google Shape;916;p68"/>
          <p:cNvSpPr/>
          <p:nvPr/>
        </p:nvSpPr>
        <p:spPr>
          <a:xfrm>
            <a:off x="7254127" y="1824519"/>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7" name="Google Shape;917;p68"/>
          <p:cNvSpPr/>
          <p:nvPr/>
        </p:nvSpPr>
        <p:spPr>
          <a:xfrm>
            <a:off x="7440577" y="1823213"/>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8" name="Google Shape;918;p68"/>
          <p:cNvSpPr/>
          <p:nvPr/>
        </p:nvSpPr>
        <p:spPr>
          <a:xfrm>
            <a:off x="7627530" y="1824007"/>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9" name="Google Shape;919;p68"/>
          <p:cNvSpPr/>
          <p:nvPr/>
        </p:nvSpPr>
        <p:spPr>
          <a:xfrm>
            <a:off x="7813980" y="1822701"/>
            <a:ext cx="142500" cy="1053900"/>
          </a:xfrm>
          <a:prstGeom prst="rect">
            <a:avLst/>
          </a:prstGeom>
          <a:solidFill>
            <a:schemeClr val="accent1">
              <a:alpha val="298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20" name="Google Shape;920;p68"/>
          <p:cNvSpPr txBox="1"/>
          <p:nvPr/>
        </p:nvSpPr>
        <p:spPr>
          <a:xfrm>
            <a:off x="7694342" y="1437112"/>
            <a:ext cx="40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sp>
        <p:nvSpPr>
          <p:cNvPr id="921" name="Google Shape;921;p68"/>
          <p:cNvSpPr/>
          <p:nvPr/>
        </p:nvSpPr>
        <p:spPr>
          <a:xfrm>
            <a:off x="3119496" y="1223932"/>
            <a:ext cx="941700" cy="30870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922" name="Google Shape;922;p68"/>
          <p:cNvCxnSpPr>
            <a:stCxn id="921" idx="2"/>
            <a:endCxn id="892" idx="0"/>
          </p:cNvCxnSpPr>
          <p:nvPr/>
        </p:nvCxnSpPr>
        <p:spPr>
          <a:xfrm flipH="1">
            <a:off x="3588846" y="1532632"/>
            <a:ext cx="1500" cy="291900"/>
          </a:xfrm>
          <a:prstGeom prst="straightConnector1">
            <a:avLst/>
          </a:prstGeom>
          <a:noFill/>
          <a:ln cap="flat" cmpd="sng" w="25400">
            <a:solidFill>
              <a:schemeClr val="dk1"/>
            </a:solidFill>
            <a:prstDash val="solid"/>
            <a:round/>
            <a:headEnd len="sm" w="sm" type="none"/>
            <a:tailEnd len="sm" w="sm" type="none"/>
          </a:ln>
        </p:spPr>
      </p:cxnSp>
      <p:grpSp>
        <p:nvGrpSpPr>
          <p:cNvPr id="923" name="Google Shape;923;p68"/>
          <p:cNvGrpSpPr/>
          <p:nvPr/>
        </p:nvGrpSpPr>
        <p:grpSpPr>
          <a:xfrm>
            <a:off x="4099715" y="916155"/>
            <a:ext cx="1432954" cy="431464"/>
            <a:chOff x="4099715" y="916155"/>
            <a:chExt cx="1432954" cy="431464"/>
          </a:xfrm>
        </p:grpSpPr>
        <p:cxnSp>
          <p:nvCxnSpPr>
            <p:cNvPr id="924" name="Google Shape;924;p68"/>
            <p:cNvCxnSpPr/>
            <p:nvPr/>
          </p:nvCxnSpPr>
          <p:spPr>
            <a:xfrm flipH="1" rot="10800000">
              <a:off x="4099715" y="1083919"/>
              <a:ext cx="236400" cy="263700"/>
            </a:xfrm>
            <a:prstGeom prst="straightConnector1">
              <a:avLst/>
            </a:prstGeom>
            <a:noFill/>
            <a:ln cap="flat" cmpd="sng" w="9525">
              <a:solidFill>
                <a:srgbClr val="3B7FF2"/>
              </a:solidFill>
              <a:prstDash val="solid"/>
              <a:round/>
              <a:headEnd len="sm" w="sm" type="none"/>
              <a:tailEnd len="sm" w="sm" type="none"/>
            </a:ln>
          </p:spPr>
        </p:cxnSp>
        <p:sp>
          <p:nvSpPr>
            <p:cNvPr id="925" name="Google Shape;925;p68"/>
            <p:cNvSpPr txBox="1"/>
            <p:nvPr/>
          </p:nvSpPr>
          <p:spPr>
            <a:xfrm>
              <a:off x="4283469" y="916155"/>
              <a:ext cx="1249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Group size: </a:t>
              </a:r>
              <a:r>
                <a:rPr b="0" i="0" lang="en" sz="1400" u="none" cap="none" strike="noStrike">
                  <a:solidFill>
                    <a:schemeClr val="dk1"/>
                  </a:solidFill>
                  <a:latin typeface="Arial"/>
                  <a:ea typeface="Arial"/>
                  <a:cs typeface="Arial"/>
                  <a:sym typeface="Arial"/>
                </a:rPr>
                <a:t>4</a:t>
              </a:r>
              <a:endParaRPr b="0" baseline="-25000" i="0" sz="1400" u="none" cap="none" strike="noStrike">
                <a:solidFill>
                  <a:schemeClr val="dk1"/>
                </a:solidFill>
                <a:latin typeface="Arial"/>
                <a:ea typeface="Arial"/>
                <a:cs typeface="Arial"/>
                <a:sym typeface="Arial"/>
              </a:endParaRPr>
            </a:p>
          </p:txBody>
        </p:sp>
      </p:grpSp>
      <p:sp>
        <p:nvSpPr>
          <p:cNvPr id="926" name="Google Shape;926;p68"/>
          <p:cNvSpPr/>
          <p:nvPr/>
        </p:nvSpPr>
        <p:spPr>
          <a:xfrm>
            <a:off x="-87682" y="3887145"/>
            <a:ext cx="9319200" cy="680400"/>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 sz="1800" u="none" cap="none" strike="noStrike">
                <a:solidFill>
                  <a:schemeClr val="lt1"/>
                </a:solidFill>
                <a:latin typeface="Arial"/>
                <a:ea typeface="Arial"/>
                <a:cs typeface="Arial"/>
                <a:sym typeface="Arial"/>
              </a:rPr>
              <a:t>GQA allows increasing the batch size by a factor of the group size</a:t>
            </a:r>
            <a:endParaRPr b="0" i="0" sz="1800" u="none" cap="none" strike="noStrike">
              <a:solidFill>
                <a:schemeClr val="lt1"/>
              </a:solidFill>
              <a:latin typeface="Arial"/>
              <a:ea typeface="Arial"/>
              <a:cs typeface="Arial"/>
              <a:sym typeface="Arial"/>
            </a:endParaRPr>
          </a:p>
        </p:txBody>
      </p:sp>
      <p:grpSp>
        <p:nvGrpSpPr>
          <p:cNvPr id="927" name="Google Shape;927;p68"/>
          <p:cNvGrpSpPr/>
          <p:nvPr/>
        </p:nvGrpSpPr>
        <p:grpSpPr>
          <a:xfrm>
            <a:off x="7636397" y="881256"/>
            <a:ext cx="788444" cy="882440"/>
            <a:chOff x="7636397" y="881256"/>
            <a:chExt cx="788444" cy="882440"/>
          </a:xfrm>
        </p:grpSpPr>
        <p:sp>
          <p:nvSpPr>
            <p:cNvPr id="928" name="Google Shape;928;p68"/>
            <p:cNvSpPr txBox="1"/>
            <p:nvPr/>
          </p:nvSpPr>
          <p:spPr>
            <a:xfrm>
              <a:off x="7636397" y="1301996"/>
              <a:ext cx="390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400" u="none" cap="none" strike="noStrike">
                  <a:solidFill>
                    <a:srgbClr val="C00000"/>
                  </a:solidFill>
                  <a:latin typeface="Arial"/>
                  <a:ea typeface="Arial"/>
                  <a:cs typeface="Arial"/>
                  <a:sym typeface="Arial"/>
                </a:rPr>
                <a:t>X</a:t>
              </a:r>
              <a:endParaRPr/>
            </a:p>
          </p:txBody>
        </p:sp>
        <p:cxnSp>
          <p:nvCxnSpPr>
            <p:cNvPr id="929" name="Google Shape;929;p68"/>
            <p:cNvCxnSpPr/>
            <p:nvPr/>
          </p:nvCxnSpPr>
          <p:spPr>
            <a:xfrm flipH="1" rot="10800000">
              <a:off x="7853717" y="1152413"/>
              <a:ext cx="236400" cy="263700"/>
            </a:xfrm>
            <a:prstGeom prst="straightConnector1">
              <a:avLst/>
            </a:prstGeom>
            <a:noFill/>
            <a:ln cap="flat" cmpd="sng" w="9525">
              <a:solidFill>
                <a:srgbClr val="3B7FF2"/>
              </a:solidFill>
              <a:prstDash val="solid"/>
              <a:round/>
              <a:headEnd len="sm" w="sm" type="none"/>
              <a:tailEnd len="sm" w="sm" type="none"/>
            </a:ln>
          </p:spPr>
        </p:cxnSp>
        <p:sp>
          <p:nvSpPr>
            <p:cNvPr id="930" name="Google Shape;930;p68"/>
            <p:cNvSpPr txBox="1"/>
            <p:nvPr/>
          </p:nvSpPr>
          <p:spPr>
            <a:xfrm>
              <a:off x="7956541" y="881256"/>
              <a:ext cx="46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4N</a:t>
              </a:r>
              <a:endParaRPr/>
            </a:p>
          </p:txBody>
        </p:sp>
      </p:grpSp>
      <p:sp>
        <p:nvSpPr>
          <p:cNvPr id="931" name="Google Shape;931;p68"/>
          <p:cNvSpPr txBox="1"/>
          <p:nvPr/>
        </p:nvSpPr>
        <p:spPr>
          <a:xfrm>
            <a:off x="171482" y="4565968"/>
            <a:ext cx="85206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6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 vs Memory</a:t>
            </a:r>
            <a:endParaRPr/>
          </a:p>
        </p:txBody>
      </p:sp>
      <p:sp>
        <p:nvSpPr>
          <p:cNvPr id="937" name="Google Shape;937;p69"/>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938" name="Google Shape;938;p69"/>
          <p:cNvSpPr/>
          <p:nvPr/>
        </p:nvSpPr>
        <p:spPr>
          <a:xfrm>
            <a:off x="2578814" y="1588111"/>
            <a:ext cx="3986373" cy="983639"/>
          </a:xfrm>
          <a:prstGeom prst="roundRect">
            <a:avLst>
              <a:gd fmla="val 0" name="adj"/>
            </a:avLst>
          </a:prstGeom>
          <a:blipFill rotWithShape="1">
            <a:blip r:embed="rId3">
              <a:alphaModFix/>
            </a:blip>
            <a:stretch>
              <a:fillRect b="0" l="-476" r="-1189"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39" name="Google Shape;939;p69"/>
          <p:cNvSpPr/>
          <p:nvPr/>
        </p:nvSpPr>
        <p:spPr>
          <a:xfrm>
            <a:off x="2736400" y="1618934"/>
            <a:ext cx="996595" cy="899302"/>
          </a:xfrm>
          <a:prstGeom prst="roundRect">
            <a:avLst>
              <a:gd fmla="val 0" name="adj"/>
            </a:avLst>
          </a:pr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grpSp>
        <p:nvGrpSpPr>
          <p:cNvPr id="940" name="Google Shape;940;p69"/>
          <p:cNvGrpSpPr/>
          <p:nvPr/>
        </p:nvGrpSpPr>
        <p:grpSpPr>
          <a:xfrm>
            <a:off x="707810" y="2439421"/>
            <a:ext cx="4587935" cy="995031"/>
            <a:chOff x="-1145847" y="2177601"/>
            <a:chExt cx="4587935" cy="995031"/>
          </a:xfrm>
        </p:grpSpPr>
        <p:cxnSp>
          <p:nvCxnSpPr>
            <p:cNvPr id="941" name="Google Shape;941;p69"/>
            <p:cNvCxnSpPr/>
            <p:nvPr/>
          </p:nvCxnSpPr>
          <p:spPr>
            <a:xfrm flipH="1">
              <a:off x="725155" y="2177601"/>
              <a:ext cx="2716933" cy="604404"/>
            </a:xfrm>
            <a:prstGeom prst="straightConnector1">
              <a:avLst/>
            </a:prstGeom>
            <a:noFill/>
            <a:ln cap="flat" cmpd="sng" w="25400">
              <a:solidFill>
                <a:srgbClr val="C00000"/>
              </a:solidFill>
              <a:prstDash val="dash"/>
              <a:miter lim="800000"/>
              <a:headEnd len="sm" w="sm" type="none"/>
              <a:tailEnd len="sm" w="sm" type="none"/>
            </a:ln>
          </p:spPr>
        </p:cxnSp>
        <p:sp>
          <p:nvSpPr>
            <p:cNvPr id="942" name="Google Shape;942;p69"/>
            <p:cNvSpPr txBox="1"/>
            <p:nvPr/>
          </p:nvSpPr>
          <p:spPr>
            <a:xfrm>
              <a:off x="-1145847" y="2826383"/>
              <a:ext cx="3801559" cy="346249"/>
            </a:xfrm>
            <a:prstGeom prst="rect">
              <a:avLst/>
            </a:prstGeom>
            <a:solidFill>
              <a:srgbClr val="FCCA74"/>
            </a:solid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GQA allows for a large batch size</a:t>
              </a:r>
              <a:endParaRPr sz="1800">
                <a:solidFill>
                  <a:schemeClr val="lt1"/>
                </a:solidFill>
                <a:latin typeface="Arial"/>
                <a:ea typeface="Arial"/>
                <a:cs typeface="Arial"/>
                <a:sym typeface="Arial"/>
              </a:endParaRPr>
            </a:p>
          </p:txBody>
        </p:sp>
      </p:grpSp>
      <p:sp>
        <p:nvSpPr>
          <p:cNvPr id="943" name="Google Shape;943;p69"/>
          <p:cNvSpPr/>
          <p:nvPr/>
        </p:nvSpPr>
        <p:spPr>
          <a:xfrm>
            <a:off x="7368398" y="939042"/>
            <a:ext cx="1236983" cy="365760"/>
          </a:xfrm>
          <a:prstGeom prst="rect">
            <a:avLst/>
          </a:prstGeom>
          <a:solidFill>
            <a:srgbClr val="FCCA7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800">
                <a:solidFill>
                  <a:schemeClr val="lt1"/>
                </a:solidFill>
                <a:latin typeface="Arial"/>
                <a:ea typeface="Arial"/>
                <a:cs typeface="Arial"/>
                <a:sym typeface="Arial"/>
              </a:rPr>
              <a:t>Compute</a:t>
            </a:r>
            <a:endParaRPr sz="1100"/>
          </a:p>
        </p:txBody>
      </p:sp>
      <p:sp>
        <p:nvSpPr>
          <p:cNvPr id="944" name="Google Shape;944;p69"/>
          <p:cNvSpPr/>
          <p:nvPr/>
        </p:nvSpPr>
        <p:spPr>
          <a:xfrm>
            <a:off x="7368398" y="1405231"/>
            <a:ext cx="1236983" cy="365760"/>
          </a:xfrm>
          <a:prstGeom prst="rect">
            <a:avLst/>
          </a:prstGeom>
          <a:solidFill>
            <a:srgbClr val="B1DCAD"/>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800">
                <a:solidFill>
                  <a:schemeClr val="lt1"/>
                </a:solidFill>
                <a:latin typeface="Arial"/>
                <a:ea typeface="Arial"/>
                <a:cs typeface="Arial"/>
                <a:sym typeface="Arial"/>
              </a:rPr>
              <a:t>Memory</a:t>
            </a:r>
            <a:endParaRPr sz="1100"/>
          </a:p>
        </p:txBody>
      </p:sp>
      <p:grpSp>
        <p:nvGrpSpPr>
          <p:cNvPr id="945" name="Google Shape;945;p69"/>
          <p:cNvGrpSpPr/>
          <p:nvPr/>
        </p:nvGrpSpPr>
        <p:grpSpPr>
          <a:xfrm>
            <a:off x="5169163" y="2439421"/>
            <a:ext cx="3303295" cy="995031"/>
            <a:chOff x="-1145847" y="2177601"/>
            <a:chExt cx="3303295" cy="995031"/>
          </a:xfrm>
        </p:grpSpPr>
        <p:cxnSp>
          <p:nvCxnSpPr>
            <p:cNvPr id="946" name="Google Shape;946;p69"/>
            <p:cNvCxnSpPr/>
            <p:nvPr/>
          </p:nvCxnSpPr>
          <p:spPr>
            <a:xfrm>
              <a:off x="-202309" y="2177601"/>
              <a:ext cx="927464" cy="604404"/>
            </a:xfrm>
            <a:prstGeom prst="straightConnector1">
              <a:avLst/>
            </a:prstGeom>
            <a:noFill/>
            <a:ln cap="flat" cmpd="sng" w="25400">
              <a:solidFill>
                <a:srgbClr val="C00000"/>
              </a:solidFill>
              <a:prstDash val="dash"/>
              <a:miter lim="800000"/>
              <a:headEnd len="sm" w="sm" type="none"/>
              <a:tailEnd len="sm" w="sm" type="none"/>
            </a:ln>
          </p:spPr>
        </p:cxnSp>
        <p:sp>
          <p:nvSpPr>
            <p:cNvPr id="947" name="Google Shape;947;p69"/>
            <p:cNvSpPr txBox="1"/>
            <p:nvPr/>
          </p:nvSpPr>
          <p:spPr>
            <a:xfrm>
              <a:off x="-1145847" y="2826383"/>
              <a:ext cx="3303295" cy="346249"/>
            </a:xfrm>
            <a:prstGeom prst="rect">
              <a:avLst/>
            </a:prstGeom>
            <a:solidFill>
              <a:srgbClr val="FCCA74"/>
            </a:solid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Model sizes tend to increase</a:t>
              </a:r>
              <a:endParaRPr sz="1800">
                <a:solidFill>
                  <a:schemeClr val="lt1"/>
                </a:solidFill>
                <a:latin typeface="Arial"/>
                <a:ea typeface="Arial"/>
                <a:cs typeface="Arial"/>
                <a:sym typeface="Arial"/>
              </a:endParaRPr>
            </a:p>
          </p:txBody>
        </p:sp>
      </p:grpSp>
      <p:sp>
        <p:nvSpPr>
          <p:cNvPr id="948" name="Google Shape;948;p69"/>
          <p:cNvSpPr/>
          <p:nvPr/>
        </p:nvSpPr>
        <p:spPr>
          <a:xfrm>
            <a:off x="707810" y="3791108"/>
            <a:ext cx="6660587" cy="369332"/>
          </a:xfrm>
          <a:prstGeom prst="rect">
            <a:avLst/>
          </a:prstGeom>
          <a:solidFill>
            <a:srgbClr val="B1DCAD"/>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800">
                <a:solidFill>
                  <a:schemeClr val="lt1"/>
                </a:solidFill>
                <a:latin typeface="Arial"/>
                <a:ea typeface="Arial"/>
                <a:cs typeface="Arial"/>
                <a:sym typeface="Arial"/>
              </a:rPr>
              <a:t>Batches with large decode requests increase memory accesses</a:t>
            </a:r>
            <a:endParaRPr sz="1100"/>
          </a:p>
        </p:txBody>
      </p:sp>
      <p:sp>
        <p:nvSpPr>
          <p:cNvPr id="949" name="Google Shape;949;p69"/>
          <p:cNvSpPr/>
          <p:nvPr/>
        </p:nvSpPr>
        <p:spPr>
          <a:xfrm>
            <a:off x="-114151" y="4487026"/>
            <a:ext cx="9319231" cy="680400"/>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100">
                <a:solidFill>
                  <a:schemeClr val="lt1"/>
                </a:solidFill>
                <a:latin typeface="Arial"/>
                <a:ea typeface="Arial"/>
                <a:cs typeface="Arial"/>
                <a:sym typeface="Arial"/>
              </a:rPr>
              <a:t>LLM serving is more compute-bound than memory-bound</a:t>
            </a:r>
            <a:endParaRPr sz="1100"/>
          </a:p>
        </p:txBody>
      </p:sp>
      <p:sp>
        <p:nvSpPr>
          <p:cNvPr id="950" name="Google Shape;950;p69"/>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gtEl>
                                        <p:attrNameLst>
                                          <p:attrName>style.visibility</p:attrName>
                                        </p:attrNameLst>
                                      </p:cBhvr>
                                      <p:to>
                                        <p:strVal val="visible"/>
                                      </p:to>
                                    </p:set>
                                    <p:animEffect filter="fade" transition="in">
                                      <p:cBhvr>
                                        <p:cTn dur="500"/>
                                        <p:tgtEl>
                                          <p:spTgt spid="9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0"/>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Compute vs Memory - Validation</a:t>
            </a:r>
            <a:endParaRPr/>
          </a:p>
        </p:txBody>
      </p:sp>
      <p:sp>
        <p:nvSpPr>
          <p:cNvPr id="956" name="Google Shape;956;p7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pic>
        <p:nvPicPr>
          <p:cNvPr id="957" name="Google Shape;957;p70"/>
          <p:cNvPicPr preferRelativeResize="0"/>
          <p:nvPr/>
        </p:nvPicPr>
        <p:blipFill rotWithShape="1">
          <a:blip r:embed="rId3">
            <a:alphaModFix/>
          </a:blip>
          <a:srcRect b="0" l="0" r="0" t="0"/>
          <a:stretch/>
        </p:blipFill>
        <p:spPr>
          <a:xfrm>
            <a:off x="1438275" y="1080014"/>
            <a:ext cx="6140450" cy="3314182"/>
          </a:xfrm>
          <a:prstGeom prst="rect">
            <a:avLst/>
          </a:prstGeom>
          <a:noFill/>
          <a:ln>
            <a:noFill/>
          </a:ln>
        </p:spPr>
      </p:pic>
      <p:sp>
        <p:nvSpPr>
          <p:cNvPr id="958" name="Google Shape;958;p70"/>
          <p:cNvSpPr/>
          <p:nvPr/>
        </p:nvSpPr>
        <p:spPr>
          <a:xfrm>
            <a:off x="-35170" y="4639114"/>
            <a:ext cx="9261231" cy="519816"/>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2100">
                <a:solidFill>
                  <a:schemeClr val="lt1"/>
                </a:solidFill>
                <a:latin typeface="Arial"/>
                <a:ea typeface="Arial"/>
                <a:cs typeface="Arial"/>
                <a:sym typeface="Arial"/>
              </a:rPr>
              <a:t>High Utilization of GPU compute is the key for LLM serving</a:t>
            </a:r>
            <a:endParaRPr sz="1100"/>
          </a:p>
        </p:txBody>
      </p:sp>
      <p:sp>
        <p:nvSpPr>
          <p:cNvPr id="959" name="Google Shape;959;p70"/>
          <p:cNvSpPr txBox="1"/>
          <p:nvPr/>
        </p:nvSpPr>
        <p:spPr>
          <a:xfrm>
            <a:off x="7210168" y="4380082"/>
            <a:ext cx="1983260"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rgbClr val="BFBFBF"/>
                </a:solidFill>
                <a:latin typeface="Arial"/>
                <a:ea typeface="Arial"/>
                <a:cs typeface="Arial"/>
                <a:sym typeface="Arial"/>
              </a:rPr>
              <a:t>*The GPU here is A100</a:t>
            </a:r>
            <a:endParaRPr sz="1100"/>
          </a:p>
        </p:txBody>
      </p:sp>
      <p:sp>
        <p:nvSpPr>
          <p:cNvPr id="960" name="Google Shape;960;p70"/>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500"/>
                                        <p:tgtEl>
                                          <p:spTgt spid="9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69696"/>
              <a:buFont typeface="Play"/>
              <a:buNone/>
            </a:pPr>
            <a:r>
              <a:rPr lang="en"/>
              <a:t>Optimal Throughput</a:t>
            </a:r>
            <a:endParaRPr/>
          </a:p>
        </p:txBody>
      </p:sp>
      <p:sp>
        <p:nvSpPr>
          <p:cNvPr id="966" name="Google Shape;966;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sp>
        <p:nvSpPr>
          <p:cNvPr id="967" name="Google Shape;967;p71"/>
          <p:cNvSpPr/>
          <p:nvPr/>
        </p:nvSpPr>
        <p:spPr>
          <a:xfrm>
            <a:off x="550190" y="1814824"/>
            <a:ext cx="1431400" cy="6804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i="1" lang="en" sz="1800">
                <a:solidFill>
                  <a:schemeClr val="dk1"/>
                </a:solidFill>
                <a:latin typeface="Cambria Math"/>
                <a:ea typeface="Cambria Math"/>
                <a:cs typeface="Cambria Math"/>
                <a:sym typeface="Cambria Math"/>
              </a:rPr>
              <a:t>Throughput</a:t>
            </a:r>
            <a:endParaRPr i="1" sz="1800">
              <a:solidFill>
                <a:schemeClr val="dk1"/>
              </a:solidFill>
              <a:latin typeface="Cambria Math"/>
              <a:ea typeface="Cambria Math"/>
              <a:cs typeface="Cambria Math"/>
              <a:sym typeface="Cambria Math"/>
            </a:endParaRPr>
          </a:p>
        </p:txBody>
      </p:sp>
      <p:sp>
        <p:nvSpPr>
          <p:cNvPr id="968" name="Google Shape;968;p71"/>
          <p:cNvSpPr/>
          <p:nvPr/>
        </p:nvSpPr>
        <p:spPr>
          <a:xfrm>
            <a:off x="2194434" y="1426618"/>
            <a:ext cx="1396836" cy="550568"/>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i="1" lang="en" sz="1800">
                <a:solidFill>
                  <a:schemeClr val="dk1"/>
                </a:solidFill>
                <a:latin typeface="Cambria Math"/>
                <a:ea typeface="Cambria Math"/>
                <a:cs typeface="Cambria Math"/>
                <a:sym typeface="Cambria Math"/>
              </a:rPr>
              <a:t>Decode</a:t>
            </a:r>
            <a:endParaRPr sz="1100"/>
          </a:p>
          <a:p>
            <a:pPr indent="0" lvl="0" marL="0" marR="0" rtl="0" algn="ctr">
              <a:spcBef>
                <a:spcPts val="0"/>
              </a:spcBef>
              <a:spcAft>
                <a:spcPts val="0"/>
              </a:spcAft>
              <a:buNone/>
            </a:pPr>
            <a:r>
              <a:rPr i="1" lang="en" sz="1800">
                <a:solidFill>
                  <a:schemeClr val="dk1"/>
                </a:solidFill>
                <a:latin typeface="Cambria Math"/>
                <a:ea typeface="Cambria Math"/>
                <a:cs typeface="Cambria Math"/>
                <a:sym typeface="Cambria Math"/>
              </a:rPr>
              <a:t>Throughput</a:t>
            </a:r>
            <a:endParaRPr i="1" sz="1800">
              <a:solidFill>
                <a:schemeClr val="dk1"/>
              </a:solidFill>
              <a:latin typeface="Cambria Math"/>
              <a:ea typeface="Cambria Math"/>
              <a:cs typeface="Cambria Math"/>
              <a:sym typeface="Cambria Math"/>
            </a:endParaRPr>
          </a:p>
        </p:txBody>
      </p:sp>
      <p:sp>
        <p:nvSpPr>
          <p:cNvPr id="969" name="Google Shape;969;p71"/>
          <p:cNvSpPr/>
          <p:nvPr/>
        </p:nvSpPr>
        <p:spPr>
          <a:xfrm>
            <a:off x="2224394" y="2332862"/>
            <a:ext cx="1358090" cy="550569"/>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i="1" lang="en" sz="1800">
                <a:solidFill>
                  <a:schemeClr val="dk1"/>
                </a:solidFill>
                <a:latin typeface="Cambria Math"/>
                <a:ea typeface="Cambria Math"/>
                <a:cs typeface="Cambria Math"/>
                <a:sym typeface="Cambria Math"/>
              </a:rPr>
              <a:t>Prefill</a:t>
            </a:r>
            <a:endParaRPr sz="1100"/>
          </a:p>
          <a:p>
            <a:pPr indent="0" lvl="0" marL="0" marR="0" rtl="0" algn="ctr">
              <a:spcBef>
                <a:spcPts val="0"/>
              </a:spcBef>
              <a:spcAft>
                <a:spcPts val="0"/>
              </a:spcAft>
              <a:buNone/>
            </a:pPr>
            <a:r>
              <a:rPr i="1" lang="en" sz="1800">
                <a:solidFill>
                  <a:schemeClr val="dk1"/>
                </a:solidFill>
                <a:latin typeface="Cambria Math"/>
                <a:ea typeface="Cambria Math"/>
                <a:cs typeface="Cambria Math"/>
                <a:sym typeface="Cambria Math"/>
              </a:rPr>
              <a:t>Throughput</a:t>
            </a:r>
            <a:endParaRPr i="1" sz="1800">
              <a:solidFill>
                <a:schemeClr val="dk1"/>
              </a:solidFill>
              <a:latin typeface="Cambria Math"/>
              <a:ea typeface="Cambria Math"/>
              <a:cs typeface="Cambria Math"/>
              <a:sym typeface="Cambria Math"/>
            </a:endParaRPr>
          </a:p>
        </p:txBody>
      </p:sp>
      <p:sp>
        <p:nvSpPr>
          <p:cNvPr id="970" name="Google Shape;970;p71"/>
          <p:cNvSpPr txBox="1"/>
          <p:nvPr/>
        </p:nvSpPr>
        <p:spPr>
          <a:xfrm>
            <a:off x="2068305" y="1924193"/>
            <a:ext cx="360040"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971" name="Google Shape;971;p71"/>
          <p:cNvSpPr txBox="1"/>
          <p:nvPr/>
        </p:nvSpPr>
        <p:spPr>
          <a:xfrm>
            <a:off x="2722879" y="1924193"/>
            <a:ext cx="354435"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972" name="Google Shape;972;p71"/>
          <p:cNvSpPr txBox="1"/>
          <p:nvPr/>
        </p:nvSpPr>
        <p:spPr>
          <a:xfrm>
            <a:off x="3363680" y="1924193"/>
            <a:ext cx="360040"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973" name="Google Shape;973;p71"/>
          <p:cNvSpPr/>
          <p:nvPr/>
        </p:nvSpPr>
        <p:spPr>
          <a:xfrm>
            <a:off x="3686247" y="1681387"/>
            <a:ext cx="939828" cy="438260"/>
          </a:xfrm>
          <a:prstGeom prst="roundRect">
            <a:avLst>
              <a:gd fmla="val 16667" name="adj"/>
            </a:avLst>
          </a:prstGeom>
          <a:blipFill rotWithShape="1">
            <a:blip r:embed="rId3">
              <a:alphaModFix/>
            </a:blip>
            <a:stretch>
              <a:fillRect b="0" l="-97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74" name="Google Shape;974;p71"/>
          <p:cNvSpPr/>
          <p:nvPr/>
        </p:nvSpPr>
        <p:spPr>
          <a:xfrm>
            <a:off x="3865560" y="2117049"/>
            <a:ext cx="1515892" cy="438260"/>
          </a:xfrm>
          <a:prstGeom prst="roundRect">
            <a:avLst>
              <a:gd fmla="val 16667" name="adj"/>
            </a:avLst>
          </a:prstGeom>
          <a:blipFill rotWithShape="1">
            <a:blip r:embed="rId4">
              <a:alphaModFix/>
            </a:blip>
            <a:stretch>
              <a:fillRect b="0" l="-20482" r="-16565"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75" name="Google Shape;975;p71"/>
          <p:cNvSpPr/>
          <p:nvPr/>
        </p:nvSpPr>
        <p:spPr>
          <a:xfrm>
            <a:off x="4683812" y="1701902"/>
            <a:ext cx="939828" cy="438260"/>
          </a:xfrm>
          <a:prstGeom prst="roundRect">
            <a:avLst>
              <a:gd fmla="val 16667" name="adj"/>
            </a:avLst>
          </a:prstGeom>
          <a:blipFill rotWithShape="1">
            <a:blip r:embed="rId5">
              <a:alphaModFix/>
            </a:blip>
            <a:stretch>
              <a:fillRect b="-3125"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76" name="Google Shape;976;p71"/>
          <p:cNvSpPr txBox="1"/>
          <p:nvPr/>
        </p:nvSpPr>
        <p:spPr>
          <a:xfrm>
            <a:off x="4459100" y="1751057"/>
            <a:ext cx="360040"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cxnSp>
        <p:nvCxnSpPr>
          <p:cNvPr id="977" name="Google Shape;977;p71"/>
          <p:cNvCxnSpPr>
            <a:stCxn id="972" idx="3"/>
            <a:endCxn id="978" idx="1"/>
          </p:cNvCxnSpPr>
          <p:nvPr/>
        </p:nvCxnSpPr>
        <p:spPr>
          <a:xfrm flipH="1" rot="10800000">
            <a:off x="3723719" y="2140183"/>
            <a:ext cx="1762200" cy="3300"/>
          </a:xfrm>
          <a:prstGeom prst="straightConnector1">
            <a:avLst/>
          </a:prstGeom>
          <a:noFill/>
          <a:ln cap="flat" cmpd="sng" w="28575">
            <a:solidFill>
              <a:schemeClr val="dk1"/>
            </a:solidFill>
            <a:prstDash val="solid"/>
            <a:miter lim="800000"/>
            <a:headEnd len="sm" w="sm" type="none"/>
            <a:tailEnd len="sm" w="sm" type="none"/>
          </a:ln>
        </p:spPr>
      </p:cxnSp>
      <p:sp>
        <p:nvSpPr>
          <p:cNvPr id="978" name="Google Shape;978;p71"/>
          <p:cNvSpPr txBox="1"/>
          <p:nvPr/>
        </p:nvSpPr>
        <p:spPr>
          <a:xfrm>
            <a:off x="5485856" y="1982335"/>
            <a:ext cx="360040" cy="31542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979" name="Google Shape;979;p71"/>
          <p:cNvSpPr/>
          <p:nvPr/>
        </p:nvSpPr>
        <p:spPr>
          <a:xfrm>
            <a:off x="5780677" y="1699192"/>
            <a:ext cx="939828" cy="438260"/>
          </a:xfrm>
          <a:prstGeom prst="roundRect">
            <a:avLst>
              <a:gd fmla="val 16667" name="adj"/>
            </a:avLst>
          </a:prstGeom>
          <a:blipFill rotWithShape="1">
            <a:blip r:embed="rId6">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80" name="Google Shape;980;p71"/>
          <p:cNvSpPr/>
          <p:nvPr/>
        </p:nvSpPr>
        <p:spPr>
          <a:xfrm>
            <a:off x="5828601" y="2115210"/>
            <a:ext cx="936103" cy="441698"/>
          </a:xfrm>
          <a:prstGeom prst="roundRect">
            <a:avLst>
              <a:gd fmla="val 16667" name="adj"/>
            </a:avLst>
          </a:prstGeom>
          <a:blipFill rotWithShape="1">
            <a:blip r:embed="rId7">
              <a:alphaModFix/>
            </a:blip>
            <a:stretch>
              <a:fillRect b="0" l="-6828"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cxnSp>
        <p:nvCxnSpPr>
          <p:cNvPr id="981" name="Google Shape;981;p71"/>
          <p:cNvCxnSpPr/>
          <p:nvPr/>
        </p:nvCxnSpPr>
        <p:spPr>
          <a:xfrm>
            <a:off x="5822343" y="2147816"/>
            <a:ext cx="862105" cy="0"/>
          </a:xfrm>
          <a:prstGeom prst="straightConnector1">
            <a:avLst/>
          </a:prstGeom>
          <a:noFill/>
          <a:ln cap="flat" cmpd="sng" w="28575">
            <a:solidFill>
              <a:schemeClr val="dk1"/>
            </a:solidFill>
            <a:prstDash val="solid"/>
            <a:miter lim="800000"/>
            <a:headEnd len="sm" w="sm" type="none"/>
            <a:tailEnd len="sm" w="sm" type="none"/>
          </a:ln>
        </p:spPr>
      </p:cxnSp>
      <p:sp>
        <p:nvSpPr>
          <p:cNvPr id="982" name="Google Shape;982;p71"/>
          <p:cNvSpPr/>
          <p:nvPr/>
        </p:nvSpPr>
        <p:spPr>
          <a:xfrm>
            <a:off x="2792319" y="3196069"/>
            <a:ext cx="3528392" cy="680400"/>
          </a:xfrm>
          <a:prstGeom prst="roundRect">
            <a:avLst>
              <a:gd fmla="val 16667" name="adj"/>
            </a:avLst>
          </a:prstGeom>
          <a:blipFill rotWithShape="1">
            <a:blip r:embed="rId8">
              <a:alphaModFix/>
            </a:blip>
            <a:stretch>
              <a:fillRect b="0" l="0" r="0" t="0"/>
            </a:stretch>
          </a:blipFill>
          <a:ln cap="flat" cmpd="sng" w="9525">
            <a:solidFill>
              <a:srgbClr val="33333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83" name="Google Shape;983;p71"/>
          <p:cNvSpPr/>
          <p:nvPr/>
        </p:nvSpPr>
        <p:spPr>
          <a:xfrm>
            <a:off x="6334088" y="3195739"/>
            <a:ext cx="2327548" cy="6804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 e.g., LLaMa 70B, A100 </a:t>
            </a:r>
            <a:endParaRPr sz="1100"/>
          </a:p>
          <a:p>
            <a:pPr indent="0" lvl="0" marL="0" marR="0" rtl="0" algn="ctr">
              <a:spcBef>
                <a:spcPts val="0"/>
              </a:spcBef>
              <a:spcAft>
                <a:spcPts val="0"/>
              </a:spcAft>
              <a:buNone/>
            </a:pPr>
            <a:r>
              <a:rPr lang="en" sz="1800">
                <a:solidFill>
                  <a:schemeClr val="dk1"/>
                </a:solidFill>
                <a:latin typeface="Arial"/>
                <a:ea typeface="Arial"/>
                <a:cs typeface="Arial"/>
                <a:sym typeface="Arial"/>
              </a:rPr>
              <a:t>1857 token/s/GPU</a:t>
            </a:r>
            <a:endParaRPr sz="1800">
              <a:solidFill>
                <a:schemeClr val="dk1"/>
              </a:solidFill>
              <a:latin typeface="Arial"/>
              <a:ea typeface="Arial"/>
              <a:cs typeface="Arial"/>
              <a:sym typeface="Arial"/>
            </a:endParaRPr>
          </a:p>
        </p:txBody>
      </p:sp>
      <p:sp>
        <p:nvSpPr>
          <p:cNvPr id="984" name="Google Shape;984;p71"/>
          <p:cNvSpPr txBox="1"/>
          <p:nvPr/>
        </p:nvSpPr>
        <p:spPr>
          <a:xfrm>
            <a:off x="6671087" y="1973127"/>
            <a:ext cx="360040"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985" name="Google Shape;985;p71"/>
          <p:cNvSpPr/>
          <p:nvPr/>
        </p:nvSpPr>
        <p:spPr>
          <a:xfrm>
            <a:off x="7306681" y="1704680"/>
            <a:ext cx="939828" cy="438260"/>
          </a:xfrm>
          <a:prstGeom prst="roundRect">
            <a:avLst>
              <a:gd fmla="val 16667" name="adj"/>
            </a:avLst>
          </a:prstGeom>
          <a:blipFill rotWithShape="1">
            <a:blip r:embed="rId6">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986" name="Google Shape;986;p71"/>
          <p:cNvSpPr/>
          <p:nvPr/>
        </p:nvSpPr>
        <p:spPr>
          <a:xfrm>
            <a:off x="7002881" y="1941302"/>
            <a:ext cx="1547429" cy="1024001"/>
          </a:xfrm>
          <a:prstGeom prst="roundRect">
            <a:avLst>
              <a:gd fmla="val 16667" name="adj"/>
            </a:avLst>
          </a:prstGeom>
          <a:blipFill rotWithShape="1">
            <a:blip r:embed="rId9">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cxnSp>
        <p:nvCxnSpPr>
          <p:cNvPr id="987" name="Google Shape;987;p71"/>
          <p:cNvCxnSpPr/>
          <p:nvPr/>
        </p:nvCxnSpPr>
        <p:spPr>
          <a:xfrm>
            <a:off x="7031354" y="2149362"/>
            <a:ext cx="1482795" cy="0"/>
          </a:xfrm>
          <a:prstGeom prst="straightConnector1">
            <a:avLst/>
          </a:prstGeom>
          <a:noFill/>
          <a:ln cap="flat" cmpd="sng" w="28575">
            <a:solidFill>
              <a:schemeClr val="dk1"/>
            </a:solidFill>
            <a:prstDash val="solid"/>
            <a:miter lim="800000"/>
            <a:headEnd len="sm" w="sm" type="none"/>
            <a:tailEnd len="sm" w="sm" type="none"/>
          </a:ln>
        </p:spPr>
      </p:cxnSp>
      <p:sp>
        <p:nvSpPr>
          <p:cNvPr id="988" name="Google Shape;988;p71"/>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500"/>
                                        <p:tgtEl>
                                          <p:spTgt spid="970"/>
                                        </p:tgtEl>
                                      </p:cBhvr>
                                    </p:animEffect>
                                  </p:childTnLst>
                                </p:cTn>
                              </p:par>
                              <p:par>
                                <p:cTn fill="hold" nodeType="with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500"/>
                                        <p:tgtEl>
                                          <p:spTgt spid="968"/>
                                        </p:tgtEl>
                                      </p:cBhvr>
                                    </p:animEffect>
                                  </p:childTnLst>
                                </p:cTn>
                              </p:par>
                              <p:par>
                                <p:cTn fill="hold" nodeType="with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500"/>
                                        <p:tgtEl>
                                          <p:spTgt spid="971"/>
                                        </p:tgtEl>
                                      </p:cBhvr>
                                    </p:animEffect>
                                  </p:childTnLst>
                                </p:cTn>
                              </p:par>
                              <p:par>
                                <p:cTn fill="hold" nodeType="with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500"/>
                                        <p:tgtEl>
                                          <p:spTgt spid="9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500"/>
                                        <p:tgtEl>
                                          <p:spTgt spid="972"/>
                                        </p:tgtEl>
                                      </p:cBhvr>
                                    </p:animEffect>
                                  </p:childTnLst>
                                </p:cTn>
                              </p:par>
                              <p:par>
                                <p:cTn fill="hold" nodeType="with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500"/>
                                        <p:tgtEl>
                                          <p:spTgt spid="977"/>
                                        </p:tgtEl>
                                      </p:cBhvr>
                                    </p:animEffect>
                                  </p:childTnLst>
                                </p:cTn>
                              </p:par>
                              <p:par>
                                <p:cTn fill="hold" nodeType="with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500"/>
                                        <p:tgtEl>
                                          <p:spTgt spid="973"/>
                                        </p:tgtEl>
                                      </p:cBhvr>
                                    </p:animEffect>
                                  </p:childTnLst>
                                </p:cTn>
                              </p:par>
                              <p:par>
                                <p:cTn fill="hold" nodeType="with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500"/>
                                        <p:tgtEl>
                                          <p:spTgt spid="975"/>
                                        </p:tgtEl>
                                      </p:cBhvr>
                                    </p:animEffect>
                                  </p:childTnLst>
                                </p:cTn>
                              </p:par>
                              <p:par>
                                <p:cTn fill="hold" nodeType="with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500"/>
                                        <p:tgtEl>
                                          <p:spTgt spid="974"/>
                                        </p:tgtEl>
                                      </p:cBhvr>
                                    </p:animEffect>
                                  </p:childTnLst>
                                </p:cTn>
                              </p:par>
                              <p:par>
                                <p:cTn fill="hold" nodeType="with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gtEl>
                                        <p:attrNameLst>
                                          <p:attrName>style.visibility</p:attrName>
                                        </p:attrNameLst>
                                      </p:cBhvr>
                                      <p:to>
                                        <p:strVal val="visible"/>
                                      </p:to>
                                    </p:set>
                                    <p:animEffect filter="fade" transition="in">
                                      <p:cBhvr>
                                        <p:cTn dur="500"/>
                                        <p:tgtEl>
                                          <p:spTgt spid="978"/>
                                        </p:tgtEl>
                                      </p:cBhvr>
                                    </p:animEffect>
                                  </p:childTnLst>
                                </p:cTn>
                              </p:par>
                              <p:par>
                                <p:cTn fill="hold" nodeType="with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500"/>
                                        <p:tgtEl>
                                          <p:spTgt spid="981"/>
                                        </p:tgtEl>
                                      </p:cBhvr>
                                    </p:animEffect>
                                  </p:childTnLst>
                                </p:cTn>
                              </p:par>
                              <p:par>
                                <p:cTn fill="hold" nodeType="withEffect" presetClass="entr" presetID="10" presetSubtype="0">
                                  <p:stCondLst>
                                    <p:cond delay="0"/>
                                  </p:stCondLst>
                                  <p:childTnLst>
                                    <p:set>
                                      <p:cBhvr>
                                        <p:cTn dur="1" fill="hold">
                                          <p:stCondLst>
                                            <p:cond delay="0"/>
                                          </p:stCondLst>
                                        </p:cTn>
                                        <p:tgtEl>
                                          <p:spTgt spid="979"/>
                                        </p:tgtEl>
                                        <p:attrNameLst>
                                          <p:attrName>style.visibility</p:attrName>
                                        </p:attrNameLst>
                                      </p:cBhvr>
                                      <p:to>
                                        <p:strVal val="visible"/>
                                      </p:to>
                                    </p:set>
                                    <p:animEffect filter="fade" transition="in">
                                      <p:cBhvr>
                                        <p:cTn dur="500"/>
                                        <p:tgtEl>
                                          <p:spTgt spid="979"/>
                                        </p:tgtEl>
                                      </p:cBhvr>
                                    </p:animEffect>
                                  </p:childTnLst>
                                </p:cTn>
                              </p:par>
                              <p:par>
                                <p:cTn fill="hold" nodeType="with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5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500"/>
                                        <p:tgtEl>
                                          <p:spTgt spid="984"/>
                                        </p:tgtEl>
                                      </p:cBhvr>
                                    </p:animEffect>
                                  </p:childTnLst>
                                </p:cTn>
                              </p:par>
                              <p:par>
                                <p:cTn fill="hold" nodeType="with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par>
                                <p:cTn fill="hold" nodeType="with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500"/>
                                        <p:tgtEl>
                                          <p:spTgt spid="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500"/>
                                        <p:tgtEl>
                                          <p:spTgt spid="9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72"/>
          <p:cNvSpPr/>
          <p:nvPr/>
        </p:nvSpPr>
        <p:spPr>
          <a:xfrm>
            <a:off x="-35170" y="4639114"/>
            <a:ext cx="9261231" cy="519816"/>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There is a large gap to optimal throughput</a:t>
            </a:r>
            <a:endParaRPr sz="1800">
              <a:solidFill>
                <a:schemeClr val="lt1"/>
              </a:solidFill>
              <a:latin typeface="Arial"/>
              <a:ea typeface="Arial"/>
              <a:cs typeface="Arial"/>
              <a:sym typeface="Arial"/>
            </a:endParaRPr>
          </a:p>
        </p:txBody>
      </p:sp>
      <p:sp>
        <p:nvSpPr>
          <p:cNvPr id="994" name="Google Shape;994;p72"/>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Revisit the performance of existing frameworks</a:t>
            </a:r>
            <a:endParaRPr/>
          </a:p>
        </p:txBody>
      </p:sp>
      <p:sp>
        <p:nvSpPr>
          <p:cNvPr id="995" name="Google Shape;995;p7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p>
            <a:pPr indent="0" lvl="0" marL="0" rtl="0" algn="r">
              <a:spcBef>
                <a:spcPts val="0"/>
              </a:spcBef>
              <a:spcAft>
                <a:spcPts val="0"/>
              </a:spcAft>
              <a:buClr>
                <a:srgbClr val="757575"/>
              </a:buClr>
              <a:buSzPts val="900"/>
              <a:buFont typeface="Arial"/>
              <a:buNone/>
            </a:pPr>
            <a:fld id="{00000000-1234-1234-1234-123412341234}" type="slidenum">
              <a:rPr lang="en"/>
              <a:t>‹#›</a:t>
            </a:fld>
            <a:endParaRPr/>
          </a:p>
        </p:txBody>
      </p:sp>
      <p:pic>
        <p:nvPicPr>
          <p:cNvPr id="996" name="Google Shape;996;p72"/>
          <p:cNvPicPr preferRelativeResize="0"/>
          <p:nvPr/>
        </p:nvPicPr>
        <p:blipFill rotWithShape="1">
          <a:blip r:embed="rId3">
            <a:alphaModFix/>
          </a:blip>
          <a:srcRect b="0" l="0" r="0" t="0"/>
          <a:stretch/>
        </p:blipFill>
        <p:spPr>
          <a:xfrm>
            <a:off x="589206" y="1001680"/>
            <a:ext cx="7200000" cy="3019743"/>
          </a:xfrm>
          <a:prstGeom prst="rect">
            <a:avLst/>
          </a:prstGeom>
          <a:noFill/>
          <a:ln>
            <a:noFill/>
          </a:ln>
        </p:spPr>
      </p:pic>
      <p:pic>
        <p:nvPicPr>
          <p:cNvPr id="997" name="Google Shape;997;p72"/>
          <p:cNvPicPr preferRelativeResize="0"/>
          <p:nvPr/>
        </p:nvPicPr>
        <p:blipFill rotWithShape="1">
          <a:blip r:embed="rId4">
            <a:alphaModFix/>
          </a:blip>
          <a:srcRect b="0" l="0" r="0" t="0"/>
          <a:stretch/>
        </p:blipFill>
        <p:spPr>
          <a:xfrm>
            <a:off x="589206" y="1017726"/>
            <a:ext cx="7200000" cy="3003697"/>
          </a:xfrm>
          <a:prstGeom prst="rect">
            <a:avLst/>
          </a:prstGeom>
          <a:noFill/>
          <a:ln>
            <a:noFill/>
          </a:ln>
        </p:spPr>
      </p:pic>
      <p:sp>
        <p:nvSpPr>
          <p:cNvPr id="998" name="Google Shape;998;p72"/>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97"/>
                                        </p:tgtEl>
                                      </p:cBhvr>
                                    </p:animEffect>
                                    <p:set>
                                      <p:cBhvr>
                                        <p:cTn dur="1" fill="hold">
                                          <p:stCondLst>
                                            <p:cond delay="500"/>
                                          </p:stCondLst>
                                        </p:cTn>
                                        <p:tgtEl>
                                          <p:spTgt spid="99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73"/>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9696"/>
              <a:buFont typeface="Play"/>
              <a:buNone/>
            </a:pPr>
            <a:r>
              <a:rPr lang="en"/>
              <a:t>Memory Optimizations</a:t>
            </a:r>
            <a:endParaRPr/>
          </a:p>
        </p:txBody>
      </p:sp>
      <p:sp>
        <p:nvSpPr>
          <p:cNvPr id="1005" name="Google Shape;1005;p73"/>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p>
            <a:pPr indent="-342900" lvl="0" marL="457200" rtl="0" algn="l">
              <a:lnSpc>
                <a:spcPct val="90000"/>
              </a:lnSpc>
              <a:spcBef>
                <a:spcPts val="0"/>
              </a:spcBef>
              <a:spcAft>
                <a:spcPts val="0"/>
              </a:spcAft>
              <a:buClr>
                <a:schemeClr val="dk1"/>
              </a:buClr>
              <a:buSzPts val="1400"/>
              <a:buChar char="●"/>
            </a:pPr>
            <a:r>
              <a:rPr lang="en" sz="2400" u="sng">
                <a:solidFill>
                  <a:schemeClr val="hlink"/>
                </a:solidFill>
                <a:hlinkClick r:id="rId3"/>
              </a:rPr>
              <a:t>KV Cache</a:t>
            </a:r>
            <a:endParaRPr sz="2400"/>
          </a:p>
          <a:p>
            <a:pPr indent="-323850" lvl="1" marL="914400" rtl="0" algn="l">
              <a:lnSpc>
                <a:spcPct val="90000"/>
              </a:lnSpc>
              <a:spcBef>
                <a:spcPts val="0"/>
              </a:spcBef>
              <a:spcAft>
                <a:spcPts val="0"/>
              </a:spcAft>
              <a:buClr>
                <a:schemeClr val="dk1"/>
              </a:buClr>
              <a:buSzPts val="1100"/>
              <a:buChar char="○"/>
            </a:pPr>
            <a:r>
              <a:rPr lang="en" sz="2100"/>
              <a:t>Recall in the transformer implementation how we recompute keys and values at every iteration for each request</a:t>
            </a:r>
            <a:endParaRPr/>
          </a:p>
          <a:p>
            <a:pPr indent="-323850" lvl="2" marL="1371600" rtl="0" algn="l">
              <a:lnSpc>
                <a:spcPct val="90000"/>
              </a:lnSpc>
              <a:spcBef>
                <a:spcPts val="0"/>
              </a:spcBef>
              <a:spcAft>
                <a:spcPts val="0"/>
              </a:spcAft>
              <a:buClr>
                <a:schemeClr val="dk1"/>
              </a:buClr>
              <a:buSzPts val="1100"/>
              <a:buChar char="■"/>
            </a:pPr>
            <a:r>
              <a:rPr lang="en" sz="1800"/>
              <a:t>We can instead cache them!</a:t>
            </a:r>
            <a:endParaRPr/>
          </a:p>
          <a:p>
            <a:pPr indent="-323850" lvl="1" marL="914400" rtl="0" algn="l">
              <a:lnSpc>
                <a:spcPct val="90000"/>
              </a:lnSpc>
              <a:spcBef>
                <a:spcPts val="0"/>
              </a:spcBef>
              <a:spcAft>
                <a:spcPts val="0"/>
              </a:spcAft>
              <a:buClr>
                <a:schemeClr val="dk1"/>
              </a:buClr>
              <a:buSzPts val="1100"/>
              <a:buChar char="○"/>
            </a:pPr>
            <a:r>
              <a:rPr lang="en" sz="2100"/>
              <a:t>Assignment 2</a:t>
            </a:r>
            <a:endParaRPr/>
          </a:p>
          <a:p>
            <a:pPr indent="-342900" lvl="0" marL="457200" rtl="0" algn="l">
              <a:lnSpc>
                <a:spcPct val="90000"/>
              </a:lnSpc>
              <a:spcBef>
                <a:spcPts val="0"/>
              </a:spcBef>
              <a:spcAft>
                <a:spcPts val="0"/>
              </a:spcAft>
              <a:buClr>
                <a:schemeClr val="dk1"/>
              </a:buClr>
              <a:buSzPts val="1400"/>
              <a:buChar char="●"/>
            </a:pPr>
            <a:r>
              <a:rPr lang="en" sz="2400" u="sng">
                <a:solidFill>
                  <a:schemeClr val="hlink"/>
                </a:solidFill>
                <a:hlinkClick r:id="rId4"/>
              </a:rPr>
              <a:t>PagedAttention</a:t>
            </a:r>
            <a:endParaRPr sz="2400"/>
          </a:p>
          <a:p>
            <a:pPr indent="-342900" lvl="0" marL="457200" rtl="0" algn="l">
              <a:lnSpc>
                <a:spcPct val="90000"/>
              </a:lnSpc>
              <a:spcBef>
                <a:spcPts val="0"/>
              </a:spcBef>
              <a:spcAft>
                <a:spcPts val="0"/>
              </a:spcAft>
              <a:buClr>
                <a:schemeClr val="dk1"/>
              </a:buClr>
              <a:buSzPts val="1400"/>
              <a:buChar char="●"/>
            </a:pPr>
            <a:r>
              <a:rPr lang="en" sz="2400" u="sng">
                <a:solidFill>
                  <a:schemeClr val="hlink"/>
                </a:solidFill>
                <a:hlinkClick r:id="rId5"/>
              </a:rPr>
              <a:t>FlashAttention</a:t>
            </a:r>
            <a:endParaRPr sz="2400"/>
          </a:p>
          <a:p>
            <a:pPr indent="-254000" lvl="0" marL="457200" rtl="0" algn="l">
              <a:lnSpc>
                <a:spcPct val="90000"/>
              </a:lnSpc>
              <a:spcBef>
                <a:spcPts val="0"/>
              </a:spcBef>
              <a:spcAft>
                <a:spcPts val="0"/>
              </a:spcAft>
              <a:buClr>
                <a:schemeClr val="dk1"/>
              </a:buClr>
              <a:buSzPts val="1400"/>
              <a:buNone/>
            </a:pPr>
            <a:r>
              <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4"/>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fontScale="90000"/>
          </a:bodyPr>
          <a:lstStyle/>
          <a:p>
            <a:pPr indent="0" lvl="0" marL="0" rtl="0" algn="l">
              <a:lnSpc>
                <a:spcPct val="90000"/>
              </a:lnSpc>
              <a:spcBef>
                <a:spcPts val="0"/>
              </a:spcBef>
              <a:spcAft>
                <a:spcPts val="0"/>
              </a:spcAft>
              <a:buClr>
                <a:schemeClr val="dk1"/>
              </a:buClr>
              <a:buSzPct val="63636"/>
              <a:buFont typeface="Play"/>
              <a:buNone/>
            </a:pPr>
            <a:r>
              <a:rPr lang="en"/>
              <a:t>Compute Optimizations for GEMM</a:t>
            </a:r>
            <a:endParaRPr/>
          </a:p>
        </p:txBody>
      </p:sp>
      <p:grpSp>
        <p:nvGrpSpPr>
          <p:cNvPr id="1012" name="Google Shape;1012;p74"/>
          <p:cNvGrpSpPr/>
          <p:nvPr/>
        </p:nvGrpSpPr>
        <p:grpSpPr>
          <a:xfrm>
            <a:off x="2125990" y="1127183"/>
            <a:ext cx="4189027" cy="3857408"/>
            <a:chOff x="6520070" y="1027906"/>
            <a:chExt cx="4770014" cy="4392402"/>
          </a:xfrm>
        </p:grpSpPr>
        <p:grpSp>
          <p:nvGrpSpPr>
            <p:cNvPr id="1013" name="Google Shape;1013;p74"/>
            <p:cNvGrpSpPr/>
            <p:nvPr/>
          </p:nvGrpSpPr>
          <p:grpSpPr>
            <a:xfrm>
              <a:off x="6988332" y="1364975"/>
              <a:ext cx="4301752" cy="4055334"/>
              <a:chOff x="1859721" y="64051"/>
              <a:chExt cx="6698462" cy="6314752"/>
            </a:xfrm>
          </p:grpSpPr>
          <p:grpSp>
            <p:nvGrpSpPr>
              <p:cNvPr id="1014" name="Google Shape;1014;p74"/>
              <p:cNvGrpSpPr/>
              <p:nvPr/>
            </p:nvGrpSpPr>
            <p:grpSpPr>
              <a:xfrm>
                <a:off x="1942263" y="3429117"/>
                <a:ext cx="2949906" cy="2942013"/>
                <a:chOff x="1325943" y="3095303"/>
                <a:chExt cx="3559679" cy="3550155"/>
              </a:xfrm>
            </p:grpSpPr>
            <p:sp>
              <p:nvSpPr>
                <p:cNvPr id="1015" name="Google Shape;1015;p74"/>
                <p:cNvSpPr/>
                <p:nvPr/>
              </p:nvSpPr>
              <p:spPr>
                <a:xfrm>
                  <a:off x="1325943"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0</a:t>
                  </a:r>
                  <a:endParaRPr b="1" sz="936">
                    <a:solidFill>
                      <a:schemeClr val="dk1"/>
                    </a:solidFill>
                    <a:latin typeface="Arial"/>
                    <a:ea typeface="Arial"/>
                    <a:cs typeface="Arial"/>
                    <a:sym typeface="Arial"/>
                  </a:endParaRPr>
                </a:p>
              </p:txBody>
            </p:sp>
            <p:sp>
              <p:nvSpPr>
                <p:cNvPr id="1016" name="Google Shape;1016;p74"/>
                <p:cNvSpPr/>
                <p:nvPr/>
              </p:nvSpPr>
              <p:spPr>
                <a:xfrm>
                  <a:off x="1770911"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a:t>
                  </a:r>
                  <a:endParaRPr b="1" sz="936">
                    <a:solidFill>
                      <a:schemeClr val="dk1"/>
                    </a:solidFill>
                    <a:latin typeface="Arial"/>
                    <a:ea typeface="Arial"/>
                    <a:cs typeface="Arial"/>
                    <a:sym typeface="Arial"/>
                  </a:endParaRPr>
                </a:p>
              </p:txBody>
            </p:sp>
            <p:sp>
              <p:nvSpPr>
                <p:cNvPr id="1017" name="Google Shape;1017;p74"/>
                <p:cNvSpPr/>
                <p:nvPr/>
              </p:nvSpPr>
              <p:spPr>
                <a:xfrm>
                  <a:off x="2215880"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a:t>
                  </a:r>
                  <a:endParaRPr b="1" sz="936">
                    <a:solidFill>
                      <a:schemeClr val="dk1"/>
                    </a:solidFill>
                    <a:latin typeface="Arial"/>
                    <a:ea typeface="Arial"/>
                    <a:cs typeface="Arial"/>
                    <a:sym typeface="Arial"/>
                  </a:endParaRPr>
                </a:p>
              </p:txBody>
            </p:sp>
            <p:sp>
              <p:nvSpPr>
                <p:cNvPr id="1018" name="Google Shape;1018;p74"/>
                <p:cNvSpPr/>
                <p:nvPr/>
              </p:nvSpPr>
              <p:spPr>
                <a:xfrm>
                  <a:off x="2660848"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a:t>
                  </a:r>
                  <a:endParaRPr b="1" sz="936">
                    <a:solidFill>
                      <a:schemeClr val="dk1"/>
                    </a:solidFill>
                    <a:latin typeface="Arial"/>
                    <a:ea typeface="Arial"/>
                    <a:cs typeface="Arial"/>
                    <a:sym typeface="Arial"/>
                  </a:endParaRPr>
                </a:p>
              </p:txBody>
            </p:sp>
            <p:sp>
              <p:nvSpPr>
                <p:cNvPr id="1019" name="Google Shape;1019;p74"/>
                <p:cNvSpPr/>
                <p:nvPr/>
              </p:nvSpPr>
              <p:spPr>
                <a:xfrm>
                  <a:off x="3105817"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12</a:t>
                  </a:r>
                  <a:endParaRPr b="1" sz="936">
                    <a:solidFill>
                      <a:schemeClr val="dk1"/>
                    </a:solidFill>
                    <a:latin typeface="Arial"/>
                    <a:ea typeface="Arial"/>
                    <a:cs typeface="Arial"/>
                    <a:sym typeface="Arial"/>
                  </a:endParaRPr>
                </a:p>
              </p:txBody>
            </p:sp>
            <p:sp>
              <p:nvSpPr>
                <p:cNvPr id="1020" name="Google Shape;1020;p74"/>
                <p:cNvSpPr/>
                <p:nvPr/>
              </p:nvSpPr>
              <p:spPr>
                <a:xfrm>
                  <a:off x="3550785"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13</a:t>
                  </a:r>
                  <a:endParaRPr b="1" sz="936">
                    <a:solidFill>
                      <a:schemeClr val="dk1"/>
                    </a:solidFill>
                    <a:latin typeface="Arial"/>
                    <a:ea typeface="Arial"/>
                    <a:cs typeface="Arial"/>
                    <a:sym typeface="Arial"/>
                  </a:endParaRPr>
                </a:p>
              </p:txBody>
            </p:sp>
            <p:sp>
              <p:nvSpPr>
                <p:cNvPr id="1021" name="Google Shape;1021;p74"/>
                <p:cNvSpPr/>
                <p:nvPr/>
              </p:nvSpPr>
              <p:spPr>
                <a:xfrm>
                  <a:off x="3995753"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14</a:t>
                  </a:r>
                  <a:endParaRPr b="1" sz="936">
                    <a:solidFill>
                      <a:schemeClr val="dk1"/>
                    </a:solidFill>
                    <a:latin typeface="Arial"/>
                    <a:ea typeface="Arial"/>
                    <a:cs typeface="Arial"/>
                    <a:sym typeface="Arial"/>
                  </a:endParaRPr>
                </a:p>
              </p:txBody>
            </p:sp>
            <p:sp>
              <p:nvSpPr>
                <p:cNvPr id="1022" name="Google Shape;1022;p74"/>
                <p:cNvSpPr/>
                <p:nvPr/>
              </p:nvSpPr>
              <p:spPr>
                <a:xfrm>
                  <a:off x="4440722"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15</a:t>
                  </a:r>
                  <a:endParaRPr b="1" sz="936">
                    <a:solidFill>
                      <a:schemeClr val="dk1"/>
                    </a:solidFill>
                    <a:latin typeface="Arial"/>
                    <a:ea typeface="Arial"/>
                    <a:cs typeface="Arial"/>
                    <a:sym typeface="Arial"/>
                  </a:endParaRPr>
                </a:p>
              </p:txBody>
            </p:sp>
            <p:sp>
              <p:nvSpPr>
                <p:cNvPr id="1023" name="Google Shape;1023;p74"/>
                <p:cNvSpPr/>
                <p:nvPr/>
              </p:nvSpPr>
              <p:spPr>
                <a:xfrm>
                  <a:off x="1325943"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16</a:t>
                  </a:r>
                  <a:endParaRPr b="1" sz="936">
                    <a:solidFill>
                      <a:schemeClr val="dk1"/>
                    </a:solidFill>
                    <a:latin typeface="Arial"/>
                    <a:ea typeface="Arial"/>
                    <a:cs typeface="Arial"/>
                    <a:sym typeface="Arial"/>
                  </a:endParaRPr>
                </a:p>
              </p:txBody>
            </p:sp>
            <p:sp>
              <p:nvSpPr>
                <p:cNvPr id="1024" name="Google Shape;1024;p74"/>
                <p:cNvSpPr/>
                <p:nvPr/>
              </p:nvSpPr>
              <p:spPr>
                <a:xfrm>
                  <a:off x="1770911"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17</a:t>
                  </a:r>
                  <a:endParaRPr b="1" sz="936">
                    <a:solidFill>
                      <a:schemeClr val="dk1"/>
                    </a:solidFill>
                    <a:latin typeface="Arial"/>
                    <a:ea typeface="Arial"/>
                    <a:cs typeface="Arial"/>
                    <a:sym typeface="Arial"/>
                  </a:endParaRPr>
                </a:p>
              </p:txBody>
            </p:sp>
            <p:sp>
              <p:nvSpPr>
                <p:cNvPr id="1025" name="Google Shape;1025;p74"/>
                <p:cNvSpPr/>
                <p:nvPr/>
              </p:nvSpPr>
              <p:spPr>
                <a:xfrm>
                  <a:off x="2215880"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18</a:t>
                  </a:r>
                  <a:endParaRPr b="1" sz="936">
                    <a:solidFill>
                      <a:schemeClr val="dk1"/>
                    </a:solidFill>
                    <a:latin typeface="Arial"/>
                    <a:ea typeface="Arial"/>
                    <a:cs typeface="Arial"/>
                    <a:sym typeface="Arial"/>
                  </a:endParaRPr>
                </a:p>
              </p:txBody>
            </p:sp>
            <p:sp>
              <p:nvSpPr>
                <p:cNvPr id="1026" name="Google Shape;1026;p74"/>
                <p:cNvSpPr/>
                <p:nvPr/>
              </p:nvSpPr>
              <p:spPr>
                <a:xfrm>
                  <a:off x="2660848"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19</a:t>
                  </a:r>
                  <a:endParaRPr b="1" sz="936">
                    <a:solidFill>
                      <a:schemeClr val="dk1"/>
                    </a:solidFill>
                    <a:latin typeface="Arial"/>
                    <a:ea typeface="Arial"/>
                    <a:cs typeface="Arial"/>
                    <a:sym typeface="Arial"/>
                  </a:endParaRPr>
                </a:p>
              </p:txBody>
            </p:sp>
            <p:sp>
              <p:nvSpPr>
                <p:cNvPr id="1027" name="Google Shape;1027;p74"/>
                <p:cNvSpPr/>
                <p:nvPr/>
              </p:nvSpPr>
              <p:spPr>
                <a:xfrm>
                  <a:off x="1325943"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24</a:t>
                  </a:r>
                  <a:endParaRPr b="1" sz="936">
                    <a:solidFill>
                      <a:schemeClr val="dk1"/>
                    </a:solidFill>
                    <a:latin typeface="Arial"/>
                    <a:ea typeface="Arial"/>
                    <a:cs typeface="Arial"/>
                    <a:sym typeface="Arial"/>
                  </a:endParaRPr>
                </a:p>
              </p:txBody>
            </p:sp>
            <p:sp>
              <p:nvSpPr>
                <p:cNvPr id="1028" name="Google Shape;1028;p74"/>
                <p:cNvSpPr/>
                <p:nvPr/>
              </p:nvSpPr>
              <p:spPr>
                <a:xfrm>
                  <a:off x="1770911"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25</a:t>
                  </a:r>
                  <a:endParaRPr b="1" sz="936">
                    <a:solidFill>
                      <a:schemeClr val="dk1"/>
                    </a:solidFill>
                    <a:latin typeface="Arial"/>
                    <a:ea typeface="Arial"/>
                    <a:cs typeface="Arial"/>
                    <a:sym typeface="Arial"/>
                  </a:endParaRPr>
                </a:p>
              </p:txBody>
            </p:sp>
            <p:sp>
              <p:nvSpPr>
                <p:cNvPr id="1029" name="Google Shape;1029;p74"/>
                <p:cNvSpPr/>
                <p:nvPr/>
              </p:nvSpPr>
              <p:spPr>
                <a:xfrm>
                  <a:off x="2215880"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26</a:t>
                  </a:r>
                  <a:endParaRPr b="1" sz="936">
                    <a:solidFill>
                      <a:schemeClr val="dk1"/>
                    </a:solidFill>
                    <a:latin typeface="Arial"/>
                    <a:ea typeface="Arial"/>
                    <a:cs typeface="Arial"/>
                    <a:sym typeface="Arial"/>
                  </a:endParaRPr>
                </a:p>
              </p:txBody>
            </p:sp>
            <p:sp>
              <p:nvSpPr>
                <p:cNvPr id="1030" name="Google Shape;1030;p74"/>
                <p:cNvSpPr/>
                <p:nvPr/>
              </p:nvSpPr>
              <p:spPr>
                <a:xfrm>
                  <a:off x="2660848"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27</a:t>
                  </a:r>
                  <a:endParaRPr b="1" sz="936">
                    <a:solidFill>
                      <a:schemeClr val="dk1"/>
                    </a:solidFill>
                    <a:latin typeface="Arial"/>
                    <a:ea typeface="Arial"/>
                    <a:cs typeface="Arial"/>
                    <a:sym typeface="Arial"/>
                  </a:endParaRPr>
                </a:p>
              </p:txBody>
            </p:sp>
            <p:sp>
              <p:nvSpPr>
                <p:cNvPr id="1031" name="Google Shape;1031;p74"/>
                <p:cNvSpPr/>
                <p:nvPr/>
              </p:nvSpPr>
              <p:spPr>
                <a:xfrm>
                  <a:off x="3105817"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a:t>
                  </a:r>
                  <a:endParaRPr b="1" sz="936">
                    <a:solidFill>
                      <a:schemeClr val="dk1"/>
                    </a:solidFill>
                    <a:latin typeface="Arial"/>
                    <a:ea typeface="Arial"/>
                    <a:cs typeface="Arial"/>
                    <a:sym typeface="Arial"/>
                  </a:endParaRPr>
                </a:p>
              </p:txBody>
            </p:sp>
            <p:sp>
              <p:nvSpPr>
                <p:cNvPr id="1032" name="Google Shape;1032;p74"/>
                <p:cNvSpPr/>
                <p:nvPr/>
              </p:nvSpPr>
              <p:spPr>
                <a:xfrm>
                  <a:off x="3550785"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a:t>
                  </a:r>
                  <a:endParaRPr b="1" sz="936">
                    <a:solidFill>
                      <a:schemeClr val="dk1"/>
                    </a:solidFill>
                    <a:latin typeface="Arial"/>
                    <a:ea typeface="Arial"/>
                    <a:cs typeface="Arial"/>
                    <a:sym typeface="Arial"/>
                  </a:endParaRPr>
                </a:p>
              </p:txBody>
            </p:sp>
            <p:sp>
              <p:nvSpPr>
                <p:cNvPr id="1033" name="Google Shape;1033;p74"/>
                <p:cNvSpPr/>
                <p:nvPr/>
              </p:nvSpPr>
              <p:spPr>
                <a:xfrm>
                  <a:off x="3995753"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a:t>
                  </a:r>
                  <a:endParaRPr b="1" sz="936">
                    <a:solidFill>
                      <a:schemeClr val="dk1"/>
                    </a:solidFill>
                    <a:latin typeface="Arial"/>
                    <a:ea typeface="Arial"/>
                    <a:cs typeface="Arial"/>
                    <a:sym typeface="Arial"/>
                  </a:endParaRPr>
                </a:p>
              </p:txBody>
            </p:sp>
            <p:sp>
              <p:nvSpPr>
                <p:cNvPr id="1034" name="Google Shape;1034;p74"/>
                <p:cNvSpPr/>
                <p:nvPr/>
              </p:nvSpPr>
              <p:spPr>
                <a:xfrm>
                  <a:off x="4440722" y="3095303"/>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7</a:t>
                  </a:r>
                  <a:endParaRPr b="1" sz="936">
                    <a:solidFill>
                      <a:schemeClr val="dk1"/>
                    </a:solidFill>
                    <a:latin typeface="Arial"/>
                    <a:ea typeface="Arial"/>
                    <a:cs typeface="Arial"/>
                    <a:sym typeface="Arial"/>
                  </a:endParaRPr>
                </a:p>
              </p:txBody>
            </p:sp>
            <p:sp>
              <p:nvSpPr>
                <p:cNvPr id="1035" name="Google Shape;1035;p74"/>
                <p:cNvSpPr/>
                <p:nvPr/>
              </p:nvSpPr>
              <p:spPr>
                <a:xfrm>
                  <a:off x="1325943"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8</a:t>
                  </a:r>
                  <a:endParaRPr b="1" sz="936">
                    <a:solidFill>
                      <a:schemeClr val="dk1"/>
                    </a:solidFill>
                    <a:latin typeface="Arial"/>
                    <a:ea typeface="Arial"/>
                    <a:cs typeface="Arial"/>
                    <a:sym typeface="Arial"/>
                  </a:endParaRPr>
                </a:p>
              </p:txBody>
            </p:sp>
            <p:sp>
              <p:nvSpPr>
                <p:cNvPr id="1036" name="Google Shape;1036;p74"/>
                <p:cNvSpPr/>
                <p:nvPr/>
              </p:nvSpPr>
              <p:spPr>
                <a:xfrm>
                  <a:off x="1770911"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9</a:t>
                  </a:r>
                  <a:endParaRPr b="1" sz="936">
                    <a:solidFill>
                      <a:schemeClr val="dk1"/>
                    </a:solidFill>
                    <a:latin typeface="Arial"/>
                    <a:ea typeface="Arial"/>
                    <a:cs typeface="Arial"/>
                    <a:sym typeface="Arial"/>
                  </a:endParaRPr>
                </a:p>
              </p:txBody>
            </p:sp>
            <p:sp>
              <p:nvSpPr>
                <p:cNvPr id="1037" name="Google Shape;1037;p74"/>
                <p:cNvSpPr/>
                <p:nvPr/>
              </p:nvSpPr>
              <p:spPr>
                <a:xfrm>
                  <a:off x="2215880"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10</a:t>
                  </a:r>
                  <a:endParaRPr b="1" sz="936">
                    <a:solidFill>
                      <a:schemeClr val="dk1"/>
                    </a:solidFill>
                    <a:latin typeface="Arial"/>
                    <a:ea typeface="Arial"/>
                    <a:cs typeface="Arial"/>
                    <a:sym typeface="Arial"/>
                  </a:endParaRPr>
                </a:p>
              </p:txBody>
            </p:sp>
            <p:sp>
              <p:nvSpPr>
                <p:cNvPr id="1038" name="Google Shape;1038;p74"/>
                <p:cNvSpPr/>
                <p:nvPr/>
              </p:nvSpPr>
              <p:spPr>
                <a:xfrm>
                  <a:off x="2660848" y="3540272"/>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11</a:t>
                  </a:r>
                  <a:endParaRPr b="1" sz="936">
                    <a:solidFill>
                      <a:schemeClr val="dk1"/>
                    </a:solidFill>
                    <a:latin typeface="Arial"/>
                    <a:ea typeface="Arial"/>
                    <a:cs typeface="Arial"/>
                    <a:sym typeface="Arial"/>
                  </a:endParaRPr>
                </a:p>
              </p:txBody>
            </p:sp>
            <p:sp>
              <p:nvSpPr>
                <p:cNvPr id="1039" name="Google Shape;1039;p74"/>
                <p:cNvSpPr/>
                <p:nvPr/>
              </p:nvSpPr>
              <p:spPr>
                <a:xfrm>
                  <a:off x="3105817"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20</a:t>
                  </a:r>
                  <a:endParaRPr b="1" sz="936">
                    <a:solidFill>
                      <a:schemeClr val="dk1"/>
                    </a:solidFill>
                    <a:latin typeface="Arial"/>
                    <a:ea typeface="Arial"/>
                    <a:cs typeface="Arial"/>
                    <a:sym typeface="Arial"/>
                  </a:endParaRPr>
                </a:p>
              </p:txBody>
            </p:sp>
            <p:sp>
              <p:nvSpPr>
                <p:cNvPr id="1040" name="Google Shape;1040;p74"/>
                <p:cNvSpPr/>
                <p:nvPr/>
              </p:nvSpPr>
              <p:spPr>
                <a:xfrm>
                  <a:off x="3550785"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21</a:t>
                  </a:r>
                  <a:endParaRPr b="1" sz="936">
                    <a:solidFill>
                      <a:schemeClr val="dk1"/>
                    </a:solidFill>
                    <a:latin typeface="Arial"/>
                    <a:ea typeface="Arial"/>
                    <a:cs typeface="Arial"/>
                    <a:sym typeface="Arial"/>
                  </a:endParaRPr>
                </a:p>
              </p:txBody>
            </p:sp>
            <p:sp>
              <p:nvSpPr>
                <p:cNvPr id="1041" name="Google Shape;1041;p74"/>
                <p:cNvSpPr/>
                <p:nvPr/>
              </p:nvSpPr>
              <p:spPr>
                <a:xfrm>
                  <a:off x="3995753"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22</a:t>
                  </a:r>
                  <a:endParaRPr b="1" sz="936">
                    <a:solidFill>
                      <a:schemeClr val="dk1"/>
                    </a:solidFill>
                    <a:latin typeface="Arial"/>
                    <a:ea typeface="Arial"/>
                    <a:cs typeface="Arial"/>
                    <a:sym typeface="Arial"/>
                  </a:endParaRPr>
                </a:p>
              </p:txBody>
            </p:sp>
            <p:sp>
              <p:nvSpPr>
                <p:cNvPr id="1042" name="Google Shape;1042;p74"/>
                <p:cNvSpPr/>
                <p:nvPr/>
              </p:nvSpPr>
              <p:spPr>
                <a:xfrm>
                  <a:off x="4440722" y="3985240"/>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23</a:t>
                  </a:r>
                  <a:endParaRPr b="1" sz="936">
                    <a:solidFill>
                      <a:schemeClr val="dk1"/>
                    </a:solidFill>
                    <a:latin typeface="Arial"/>
                    <a:ea typeface="Arial"/>
                    <a:cs typeface="Arial"/>
                    <a:sym typeface="Arial"/>
                  </a:endParaRPr>
                </a:p>
              </p:txBody>
            </p:sp>
            <p:sp>
              <p:nvSpPr>
                <p:cNvPr id="1043" name="Google Shape;1043;p74"/>
                <p:cNvSpPr/>
                <p:nvPr/>
              </p:nvSpPr>
              <p:spPr>
                <a:xfrm>
                  <a:off x="3105817"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28</a:t>
                  </a:r>
                  <a:endParaRPr b="1" sz="936">
                    <a:solidFill>
                      <a:schemeClr val="dk1"/>
                    </a:solidFill>
                    <a:latin typeface="Arial"/>
                    <a:ea typeface="Arial"/>
                    <a:cs typeface="Arial"/>
                    <a:sym typeface="Arial"/>
                  </a:endParaRPr>
                </a:p>
              </p:txBody>
            </p:sp>
            <p:sp>
              <p:nvSpPr>
                <p:cNvPr id="1044" name="Google Shape;1044;p74"/>
                <p:cNvSpPr/>
                <p:nvPr/>
              </p:nvSpPr>
              <p:spPr>
                <a:xfrm>
                  <a:off x="3550785"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29</a:t>
                  </a:r>
                  <a:endParaRPr b="1" sz="936">
                    <a:solidFill>
                      <a:schemeClr val="dk1"/>
                    </a:solidFill>
                    <a:latin typeface="Arial"/>
                    <a:ea typeface="Arial"/>
                    <a:cs typeface="Arial"/>
                    <a:sym typeface="Arial"/>
                  </a:endParaRPr>
                </a:p>
              </p:txBody>
            </p:sp>
            <p:sp>
              <p:nvSpPr>
                <p:cNvPr id="1045" name="Google Shape;1045;p74"/>
                <p:cNvSpPr/>
                <p:nvPr/>
              </p:nvSpPr>
              <p:spPr>
                <a:xfrm>
                  <a:off x="3995753"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30</a:t>
                  </a:r>
                  <a:endParaRPr b="1" sz="936">
                    <a:solidFill>
                      <a:schemeClr val="dk1"/>
                    </a:solidFill>
                    <a:latin typeface="Arial"/>
                    <a:ea typeface="Arial"/>
                    <a:cs typeface="Arial"/>
                    <a:sym typeface="Arial"/>
                  </a:endParaRPr>
                </a:p>
              </p:txBody>
            </p:sp>
            <p:sp>
              <p:nvSpPr>
                <p:cNvPr id="1046" name="Google Shape;1046;p74"/>
                <p:cNvSpPr/>
                <p:nvPr/>
              </p:nvSpPr>
              <p:spPr>
                <a:xfrm>
                  <a:off x="4440722" y="4430209"/>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31</a:t>
                  </a:r>
                  <a:endParaRPr b="1" sz="936">
                    <a:solidFill>
                      <a:schemeClr val="dk1"/>
                    </a:solidFill>
                    <a:latin typeface="Arial"/>
                    <a:ea typeface="Arial"/>
                    <a:cs typeface="Arial"/>
                    <a:sym typeface="Arial"/>
                  </a:endParaRPr>
                </a:p>
              </p:txBody>
            </p:sp>
            <p:sp>
              <p:nvSpPr>
                <p:cNvPr id="1047" name="Google Shape;1047;p74"/>
                <p:cNvSpPr/>
                <p:nvPr/>
              </p:nvSpPr>
              <p:spPr>
                <a:xfrm>
                  <a:off x="1325943"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32</a:t>
                  </a:r>
                  <a:endParaRPr b="1" sz="936">
                    <a:solidFill>
                      <a:schemeClr val="dk1"/>
                    </a:solidFill>
                    <a:latin typeface="Arial"/>
                    <a:ea typeface="Arial"/>
                    <a:cs typeface="Arial"/>
                    <a:sym typeface="Arial"/>
                  </a:endParaRPr>
                </a:p>
              </p:txBody>
            </p:sp>
            <p:sp>
              <p:nvSpPr>
                <p:cNvPr id="1048" name="Google Shape;1048;p74"/>
                <p:cNvSpPr/>
                <p:nvPr/>
              </p:nvSpPr>
              <p:spPr>
                <a:xfrm>
                  <a:off x="1770911"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33</a:t>
                  </a:r>
                  <a:endParaRPr b="1" sz="936">
                    <a:solidFill>
                      <a:schemeClr val="dk1"/>
                    </a:solidFill>
                    <a:latin typeface="Arial"/>
                    <a:ea typeface="Arial"/>
                    <a:cs typeface="Arial"/>
                    <a:sym typeface="Arial"/>
                  </a:endParaRPr>
                </a:p>
              </p:txBody>
            </p:sp>
            <p:sp>
              <p:nvSpPr>
                <p:cNvPr id="1049" name="Google Shape;1049;p74"/>
                <p:cNvSpPr/>
                <p:nvPr/>
              </p:nvSpPr>
              <p:spPr>
                <a:xfrm>
                  <a:off x="2215880"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34</a:t>
                  </a:r>
                  <a:endParaRPr b="1" sz="936">
                    <a:solidFill>
                      <a:schemeClr val="dk1"/>
                    </a:solidFill>
                    <a:latin typeface="Arial"/>
                    <a:ea typeface="Arial"/>
                    <a:cs typeface="Arial"/>
                    <a:sym typeface="Arial"/>
                  </a:endParaRPr>
                </a:p>
              </p:txBody>
            </p:sp>
            <p:sp>
              <p:nvSpPr>
                <p:cNvPr id="1050" name="Google Shape;1050;p74"/>
                <p:cNvSpPr/>
                <p:nvPr/>
              </p:nvSpPr>
              <p:spPr>
                <a:xfrm>
                  <a:off x="2660848"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35</a:t>
                  </a:r>
                  <a:endParaRPr b="1" sz="936">
                    <a:solidFill>
                      <a:schemeClr val="dk1"/>
                    </a:solidFill>
                    <a:latin typeface="Arial"/>
                    <a:ea typeface="Arial"/>
                    <a:cs typeface="Arial"/>
                    <a:sym typeface="Arial"/>
                  </a:endParaRPr>
                </a:p>
              </p:txBody>
            </p:sp>
            <p:sp>
              <p:nvSpPr>
                <p:cNvPr id="1051" name="Google Shape;1051;p74"/>
                <p:cNvSpPr/>
                <p:nvPr/>
              </p:nvSpPr>
              <p:spPr>
                <a:xfrm>
                  <a:off x="3105817"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44</a:t>
                  </a:r>
                  <a:endParaRPr b="1" sz="936">
                    <a:solidFill>
                      <a:schemeClr val="dk1"/>
                    </a:solidFill>
                    <a:latin typeface="Arial"/>
                    <a:ea typeface="Arial"/>
                    <a:cs typeface="Arial"/>
                    <a:sym typeface="Arial"/>
                  </a:endParaRPr>
                </a:p>
              </p:txBody>
            </p:sp>
            <p:sp>
              <p:nvSpPr>
                <p:cNvPr id="1052" name="Google Shape;1052;p74"/>
                <p:cNvSpPr/>
                <p:nvPr/>
              </p:nvSpPr>
              <p:spPr>
                <a:xfrm>
                  <a:off x="3550785"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45</a:t>
                  </a:r>
                  <a:endParaRPr b="1" sz="936">
                    <a:solidFill>
                      <a:schemeClr val="dk1"/>
                    </a:solidFill>
                    <a:latin typeface="Arial"/>
                    <a:ea typeface="Arial"/>
                    <a:cs typeface="Arial"/>
                    <a:sym typeface="Arial"/>
                  </a:endParaRPr>
                </a:p>
              </p:txBody>
            </p:sp>
            <p:sp>
              <p:nvSpPr>
                <p:cNvPr id="1053" name="Google Shape;1053;p74"/>
                <p:cNvSpPr/>
                <p:nvPr/>
              </p:nvSpPr>
              <p:spPr>
                <a:xfrm>
                  <a:off x="3995753"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46</a:t>
                  </a:r>
                  <a:endParaRPr b="1" sz="936">
                    <a:solidFill>
                      <a:schemeClr val="dk1"/>
                    </a:solidFill>
                    <a:latin typeface="Arial"/>
                    <a:ea typeface="Arial"/>
                    <a:cs typeface="Arial"/>
                    <a:sym typeface="Arial"/>
                  </a:endParaRPr>
                </a:p>
              </p:txBody>
            </p:sp>
            <p:sp>
              <p:nvSpPr>
                <p:cNvPr id="1054" name="Google Shape;1054;p74"/>
                <p:cNvSpPr/>
                <p:nvPr/>
              </p:nvSpPr>
              <p:spPr>
                <a:xfrm>
                  <a:off x="4440722"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47</a:t>
                  </a:r>
                  <a:endParaRPr b="1" sz="936">
                    <a:solidFill>
                      <a:schemeClr val="dk1"/>
                    </a:solidFill>
                    <a:latin typeface="Arial"/>
                    <a:ea typeface="Arial"/>
                    <a:cs typeface="Arial"/>
                    <a:sym typeface="Arial"/>
                  </a:endParaRPr>
                </a:p>
              </p:txBody>
            </p:sp>
            <p:sp>
              <p:nvSpPr>
                <p:cNvPr id="1055" name="Google Shape;1055;p74"/>
                <p:cNvSpPr/>
                <p:nvPr/>
              </p:nvSpPr>
              <p:spPr>
                <a:xfrm>
                  <a:off x="1325943"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48</a:t>
                  </a:r>
                  <a:endParaRPr b="1" sz="936">
                    <a:solidFill>
                      <a:schemeClr val="dk1"/>
                    </a:solidFill>
                    <a:latin typeface="Arial"/>
                    <a:ea typeface="Arial"/>
                    <a:cs typeface="Arial"/>
                    <a:sym typeface="Arial"/>
                  </a:endParaRPr>
                </a:p>
              </p:txBody>
            </p:sp>
            <p:sp>
              <p:nvSpPr>
                <p:cNvPr id="1056" name="Google Shape;1056;p74"/>
                <p:cNvSpPr/>
                <p:nvPr/>
              </p:nvSpPr>
              <p:spPr>
                <a:xfrm>
                  <a:off x="1770911"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49</a:t>
                  </a:r>
                  <a:endParaRPr b="1" sz="936">
                    <a:solidFill>
                      <a:schemeClr val="dk1"/>
                    </a:solidFill>
                    <a:latin typeface="Arial"/>
                    <a:ea typeface="Arial"/>
                    <a:cs typeface="Arial"/>
                    <a:sym typeface="Arial"/>
                  </a:endParaRPr>
                </a:p>
              </p:txBody>
            </p:sp>
            <p:sp>
              <p:nvSpPr>
                <p:cNvPr id="1057" name="Google Shape;1057;p74"/>
                <p:cNvSpPr/>
                <p:nvPr/>
              </p:nvSpPr>
              <p:spPr>
                <a:xfrm>
                  <a:off x="2215880"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50</a:t>
                  </a:r>
                  <a:endParaRPr b="1" sz="936">
                    <a:solidFill>
                      <a:schemeClr val="dk1"/>
                    </a:solidFill>
                    <a:latin typeface="Arial"/>
                    <a:ea typeface="Arial"/>
                    <a:cs typeface="Arial"/>
                    <a:sym typeface="Arial"/>
                  </a:endParaRPr>
                </a:p>
              </p:txBody>
            </p:sp>
            <p:sp>
              <p:nvSpPr>
                <p:cNvPr id="1058" name="Google Shape;1058;p74"/>
                <p:cNvSpPr/>
                <p:nvPr/>
              </p:nvSpPr>
              <p:spPr>
                <a:xfrm>
                  <a:off x="2660848"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51</a:t>
                  </a:r>
                  <a:endParaRPr b="1" sz="936">
                    <a:solidFill>
                      <a:schemeClr val="dk1"/>
                    </a:solidFill>
                    <a:latin typeface="Arial"/>
                    <a:ea typeface="Arial"/>
                    <a:cs typeface="Arial"/>
                    <a:sym typeface="Arial"/>
                  </a:endParaRPr>
                </a:p>
              </p:txBody>
            </p:sp>
            <p:sp>
              <p:nvSpPr>
                <p:cNvPr id="1059" name="Google Shape;1059;p74"/>
                <p:cNvSpPr/>
                <p:nvPr/>
              </p:nvSpPr>
              <p:spPr>
                <a:xfrm>
                  <a:off x="1325943"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56</a:t>
                  </a:r>
                  <a:endParaRPr b="1" sz="936">
                    <a:solidFill>
                      <a:schemeClr val="dk1"/>
                    </a:solidFill>
                    <a:latin typeface="Arial"/>
                    <a:ea typeface="Arial"/>
                    <a:cs typeface="Arial"/>
                    <a:sym typeface="Arial"/>
                  </a:endParaRPr>
                </a:p>
              </p:txBody>
            </p:sp>
            <p:sp>
              <p:nvSpPr>
                <p:cNvPr id="1060" name="Google Shape;1060;p74"/>
                <p:cNvSpPr/>
                <p:nvPr/>
              </p:nvSpPr>
              <p:spPr>
                <a:xfrm>
                  <a:off x="1770911"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57</a:t>
                  </a:r>
                  <a:endParaRPr b="1" sz="936">
                    <a:solidFill>
                      <a:schemeClr val="dk1"/>
                    </a:solidFill>
                    <a:latin typeface="Arial"/>
                    <a:ea typeface="Arial"/>
                    <a:cs typeface="Arial"/>
                    <a:sym typeface="Arial"/>
                  </a:endParaRPr>
                </a:p>
              </p:txBody>
            </p:sp>
            <p:sp>
              <p:nvSpPr>
                <p:cNvPr id="1061" name="Google Shape;1061;p74"/>
                <p:cNvSpPr/>
                <p:nvPr/>
              </p:nvSpPr>
              <p:spPr>
                <a:xfrm>
                  <a:off x="2215880"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58</a:t>
                  </a:r>
                  <a:endParaRPr b="1" sz="936">
                    <a:solidFill>
                      <a:schemeClr val="dk1"/>
                    </a:solidFill>
                    <a:latin typeface="Arial"/>
                    <a:ea typeface="Arial"/>
                    <a:cs typeface="Arial"/>
                    <a:sym typeface="Arial"/>
                  </a:endParaRPr>
                </a:p>
              </p:txBody>
            </p:sp>
            <p:sp>
              <p:nvSpPr>
                <p:cNvPr id="1062" name="Google Shape;1062;p74"/>
                <p:cNvSpPr/>
                <p:nvPr/>
              </p:nvSpPr>
              <p:spPr>
                <a:xfrm>
                  <a:off x="2660848"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50</a:t>
                  </a:r>
                  <a:endParaRPr b="1" sz="936">
                    <a:solidFill>
                      <a:schemeClr val="dk1"/>
                    </a:solidFill>
                    <a:latin typeface="Arial"/>
                    <a:ea typeface="Arial"/>
                    <a:cs typeface="Arial"/>
                    <a:sym typeface="Arial"/>
                  </a:endParaRPr>
                </a:p>
              </p:txBody>
            </p:sp>
            <p:sp>
              <p:nvSpPr>
                <p:cNvPr id="1063" name="Google Shape;1063;p74"/>
                <p:cNvSpPr/>
                <p:nvPr/>
              </p:nvSpPr>
              <p:spPr>
                <a:xfrm>
                  <a:off x="3105817"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36</a:t>
                  </a:r>
                  <a:endParaRPr b="1" sz="936">
                    <a:solidFill>
                      <a:schemeClr val="dk1"/>
                    </a:solidFill>
                    <a:latin typeface="Arial"/>
                    <a:ea typeface="Arial"/>
                    <a:cs typeface="Arial"/>
                    <a:sym typeface="Arial"/>
                  </a:endParaRPr>
                </a:p>
              </p:txBody>
            </p:sp>
            <p:sp>
              <p:nvSpPr>
                <p:cNvPr id="1064" name="Google Shape;1064;p74"/>
                <p:cNvSpPr/>
                <p:nvPr/>
              </p:nvSpPr>
              <p:spPr>
                <a:xfrm>
                  <a:off x="3550785"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37</a:t>
                  </a:r>
                  <a:endParaRPr b="1" sz="936">
                    <a:solidFill>
                      <a:schemeClr val="dk1"/>
                    </a:solidFill>
                    <a:latin typeface="Arial"/>
                    <a:ea typeface="Arial"/>
                    <a:cs typeface="Arial"/>
                    <a:sym typeface="Arial"/>
                  </a:endParaRPr>
                </a:p>
              </p:txBody>
            </p:sp>
            <p:sp>
              <p:nvSpPr>
                <p:cNvPr id="1065" name="Google Shape;1065;p74"/>
                <p:cNvSpPr/>
                <p:nvPr/>
              </p:nvSpPr>
              <p:spPr>
                <a:xfrm>
                  <a:off x="3995753"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38</a:t>
                  </a:r>
                  <a:endParaRPr b="1" sz="936">
                    <a:solidFill>
                      <a:schemeClr val="dk1"/>
                    </a:solidFill>
                    <a:latin typeface="Arial"/>
                    <a:ea typeface="Arial"/>
                    <a:cs typeface="Arial"/>
                    <a:sym typeface="Arial"/>
                  </a:endParaRPr>
                </a:p>
              </p:txBody>
            </p:sp>
            <p:sp>
              <p:nvSpPr>
                <p:cNvPr id="1066" name="Google Shape;1066;p74"/>
                <p:cNvSpPr/>
                <p:nvPr/>
              </p:nvSpPr>
              <p:spPr>
                <a:xfrm>
                  <a:off x="4440722" y="4865652"/>
                  <a:ext cx="444900" cy="4449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39</a:t>
                  </a:r>
                  <a:endParaRPr b="1" sz="936">
                    <a:solidFill>
                      <a:schemeClr val="dk1"/>
                    </a:solidFill>
                    <a:latin typeface="Arial"/>
                    <a:ea typeface="Arial"/>
                    <a:cs typeface="Arial"/>
                    <a:sym typeface="Arial"/>
                  </a:endParaRPr>
                </a:p>
              </p:txBody>
            </p:sp>
            <p:sp>
              <p:nvSpPr>
                <p:cNvPr id="1067" name="Google Shape;1067;p74"/>
                <p:cNvSpPr/>
                <p:nvPr/>
              </p:nvSpPr>
              <p:spPr>
                <a:xfrm>
                  <a:off x="1325943"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40</a:t>
                  </a:r>
                  <a:endParaRPr b="1" sz="936">
                    <a:solidFill>
                      <a:schemeClr val="dk1"/>
                    </a:solidFill>
                    <a:latin typeface="Arial"/>
                    <a:ea typeface="Arial"/>
                    <a:cs typeface="Arial"/>
                    <a:sym typeface="Arial"/>
                  </a:endParaRPr>
                </a:p>
              </p:txBody>
            </p:sp>
            <p:sp>
              <p:nvSpPr>
                <p:cNvPr id="1068" name="Google Shape;1068;p74"/>
                <p:cNvSpPr/>
                <p:nvPr/>
              </p:nvSpPr>
              <p:spPr>
                <a:xfrm>
                  <a:off x="1770911"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41</a:t>
                  </a:r>
                  <a:endParaRPr b="1" sz="936">
                    <a:solidFill>
                      <a:schemeClr val="dk1"/>
                    </a:solidFill>
                    <a:latin typeface="Arial"/>
                    <a:ea typeface="Arial"/>
                    <a:cs typeface="Arial"/>
                    <a:sym typeface="Arial"/>
                  </a:endParaRPr>
                </a:p>
              </p:txBody>
            </p:sp>
            <p:sp>
              <p:nvSpPr>
                <p:cNvPr id="1069" name="Google Shape;1069;p74"/>
                <p:cNvSpPr/>
                <p:nvPr/>
              </p:nvSpPr>
              <p:spPr>
                <a:xfrm>
                  <a:off x="2215880"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42</a:t>
                  </a:r>
                  <a:endParaRPr b="1" sz="936">
                    <a:solidFill>
                      <a:schemeClr val="dk1"/>
                    </a:solidFill>
                    <a:latin typeface="Arial"/>
                    <a:ea typeface="Arial"/>
                    <a:cs typeface="Arial"/>
                    <a:sym typeface="Arial"/>
                  </a:endParaRPr>
                </a:p>
              </p:txBody>
            </p:sp>
            <p:sp>
              <p:nvSpPr>
                <p:cNvPr id="1070" name="Google Shape;1070;p74"/>
                <p:cNvSpPr/>
                <p:nvPr/>
              </p:nvSpPr>
              <p:spPr>
                <a:xfrm>
                  <a:off x="2660848" y="5310621"/>
                  <a:ext cx="444900" cy="4449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43</a:t>
                  </a:r>
                  <a:endParaRPr b="1" sz="936">
                    <a:solidFill>
                      <a:schemeClr val="dk1"/>
                    </a:solidFill>
                    <a:latin typeface="Arial"/>
                    <a:ea typeface="Arial"/>
                    <a:cs typeface="Arial"/>
                    <a:sym typeface="Arial"/>
                  </a:endParaRPr>
                </a:p>
              </p:txBody>
            </p:sp>
            <p:sp>
              <p:nvSpPr>
                <p:cNvPr id="1071" name="Google Shape;1071;p74"/>
                <p:cNvSpPr/>
                <p:nvPr/>
              </p:nvSpPr>
              <p:spPr>
                <a:xfrm>
                  <a:off x="3105817"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52</a:t>
                  </a:r>
                  <a:endParaRPr b="1" sz="936">
                    <a:solidFill>
                      <a:schemeClr val="dk1"/>
                    </a:solidFill>
                    <a:latin typeface="Arial"/>
                    <a:ea typeface="Arial"/>
                    <a:cs typeface="Arial"/>
                    <a:sym typeface="Arial"/>
                  </a:endParaRPr>
                </a:p>
              </p:txBody>
            </p:sp>
            <p:sp>
              <p:nvSpPr>
                <p:cNvPr id="1072" name="Google Shape;1072;p74"/>
                <p:cNvSpPr/>
                <p:nvPr/>
              </p:nvSpPr>
              <p:spPr>
                <a:xfrm>
                  <a:off x="3550785"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53</a:t>
                  </a:r>
                  <a:endParaRPr b="1" sz="936">
                    <a:solidFill>
                      <a:schemeClr val="dk1"/>
                    </a:solidFill>
                    <a:latin typeface="Arial"/>
                    <a:ea typeface="Arial"/>
                    <a:cs typeface="Arial"/>
                    <a:sym typeface="Arial"/>
                  </a:endParaRPr>
                </a:p>
              </p:txBody>
            </p:sp>
            <p:sp>
              <p:nvSpPr>
                <p:cNvPr id="1073" name="Google Shape;1073;p74"/>
                <p:cNvSpPr/>
                <p:nvPr/>
              </p:nvSpPr>
              <p:spPr>
                <a:xfrm>
                  <a:off x="3995753"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54</a:t>
                  </a:r>
                  <a:endParaRPr b="1" sz="936">
                    <a:solidFill>
                      <a:schemeClr val="dk1"/>
                    </a:solidFill>
                    <a:latin typeface="Arial"/>
                    <a:ea typeface="Arial"/>
                    <a:cs typeface="Arial"/>
                    <a:sym typeface="Arial"/>
                  </a:endParaRPr>
                </a:p>
              </p:txBody>
            </p:sp>
            <p:sp>
              <p:nvSpPr>
                <p:cNvPr id="1074" name="Google Shape;1074;p74"/>
                <p:cNvSpPr/>
                <p:nvPr/>
              </p:nvSpPr>
              <p:spPr>
                <a:xfrm>
                  <a:off x="4440722" y="5755589"/>
                  <a:ext cx="444900" cy="4449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55</a:t>
                  </a:r>
                  <a:endParaRPr b="1" sz="936">
                    <a:solidFill>
                      <a:schemeClr val="dk1"/>
                    </a:solidFill>
                    <a:latin typeface="Arial"/>
                    <a:ea typeface="Arial"/>
                    <a:cs typeface="Arial"/>
                    <a:sym typeface="Arial"/>
                  </a:endParaRPr>
                </a:p>
              </p:txBody>
            </p:sp>
            <p:sp>
              <p:nvSpPr>
                <p:cNvPr id="1075" name="Google Shape;1075;p74"/>
                <p:cNvSpPr/>
                <p:nvPr/>
              </p:nvSpPr>
              <p:spPr>
                <a:xfrm>
                  <a:off x="3105817"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60</a:t>
                  </a:r>
                  <a:endParaRPr b="1" sz="936">
                    <a:solidFill>
                      <a:schemeClr val="dk1"/>
                    </a:solidFill>
                    <a:latin typeface="Arial"/>
                    <a:ea typeface="Arial"/>
                    <a:cs typeface="Arial"/>
                    <a:sym typeface="Arial"/>
                  </a:endParaRPr>
                </a:p>
              </p:txBody>
            </p:sp>
            <p:sp>
              <p:nvSpPr>
                <p:cNvPr id="1076" name="Google Shape;1076;p74"/>
                <p:cNvSpPr/>
                <p:nvPr/>
              </p:nvSpPr>
              <p:spPr>
                <a:xfrm>
                  <a:off x="3550785"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61</a:t>
                  </a:r>
                  <a:endParaRPr b="1" sz="936">
                    <a:solidFill>
                      <a:schemeClr val="dk1"/>
                    </a:solidFill>
                    <a:latin typeface="Arial"/>
                    <a:ea typeface="Arial"/>
                    <a:cs typeface="Arial"/>
                    <a:sym typeface="Arial"/>
                  </a:endParaRPr>
                </a:p>
              </p:txBody>
            </p:sp>
            <p:sp>
              <p:nvSpPr>
                <p:cNvPr id="1077" name="Google Shape;1077;p74"/>
                <p:cNvSpPr/>
                <p:nvPr/>
              </p:nvSpPr>
              <p:spPr>
                <a:xfrm>
                  <a:off x="3995753"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62</a:t>
                  </a:r>
                  <a:endParaRPr b="1" sz="936">
                    <a:solidFill>
                      <a:schemeClr val="dk1"/>
                    </a:solidFill>
                    <a:latin typeface="Arial"/>
                    <a:ea typeface="Arial"/>
                    <a:cs typeface="Arial"/>
                    <a:sym typeface="Arial"/>
                  </a:endParaRPr>
                </a:p>
              </p:txBody>
            </p:sp>
            <p:sp>
              <p:nvSpPr>
                <p:cNvPr id="1078" name="Google Shape;1078;p74"/>
                <p:cNvSpPr/>
                <p:nvPr/>
              </p:nvSpPr>
              <p:spPr>
                <a:xfrm>
                  <a:off x="4440722" y="6200558"/>
                  <a:ext cx="444900" cy="444900"/>
                </a:xfrm>
                <a:prstGeom prst="rect">
                  <a:avLst/>
                </a:prstGeom>
                <a:solidFill>
                  <a:srgbClr val="81E490"/>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63</a:t>
                  </a:r>
                  <a:endParaRPr b="1" sz="936">
                    <a:solidFill>
                      <a:schemeClr val="dk1"/>
                    </a:solidFill>
                    <a:latin typeface="Arial"/>
                    <a:ea typeface="Arial"/>
                    <a:cs typeface="Arial"/>
                    <a:sym typeface="Arial"/>
                  </a:endParaRPr>
                </a:p>
              </p:txBody>
            </p:sp>
          </p:grpSp>
          <p:grpSp>
            <p:nvGrpSpPr>
              <p:cNvPr id="1079" name="Google Shape;1079;p74"/>
              <p:cNvGrpSpPr/>
              <p:nvPr/>
            </p:nvGrpSpPr>
            <p:grpSpPr>
              <a:xfrm>
                <a:off x="5608384" y="114140"/>
                <a:ext cx="2949799" cy="2941907"/>
                <a:chOff x="5608384" y="114140"/>
                <a:chExt cx="2949799" cy="2941907"/>
              </a:xfrm>
            </p:grpSpPr>
            <p:sp>
              <p:nvSpPr>
                <p:cNvPr id="1080" name="Google Shape;1080;p74"/>
                <p:cNvSpPr/>
                <p:nvPr/>
              </p:nvSpPr>
              <p:spPr>
                <a:xfrm>
                  <a:off x="5608384" y="114140"/>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0</a:t>
                  </a:r>
                  <a:endParaRPr b="1" sz="936">
                    <a:solidFill>
                      <a:schemeClr val="dk1"/>
                    </a:solidFill>
                    <a:latin typeface="Arial"/>
                    <a:ea typeface="Arial"/>
                    <a:cs typeface="Arial"/>
                    <a:sym typeface="Arial"/>
                  </a:endParaRPr>
                </a:p>
              </p:txBody>
            </p:sp>
            <p:sp>
              <p:nvSpPr>
                <p:cNvPr id="1081" name="Google Shape;1081;p74"/>
                <p:cNvSpPr/>
                <p:nvPr/>
              </p:nvSpPr>
              <p:spPr>
                <a:xfrm>
                  <a:off x="5977112" y="114140"/>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a:t>
                  </a:r>
                  <a:endParaRPr b="1" sz="936">
                    <a:solidFill>
                      <a:schemeClr val="dk1"/>
                    </a:solidFill>
                    <a:latin typeface="Arial"/>
                    <a:ea typeface="Arial"/>
                    <a:cs typeface="Arial"/>
                    <a:sym typeface="Arial"/>
                  </a:endParaRPr>
                </a:p>
              </p:txBody>
            </p:sp>
            <p:sp>
              <p:nvSpPr>
                <p:cNvPr id="1082" name="Google Shape;1082;p74"/>
                <p:cNvSpPr/>
                <p:nvPr/>
              </p:nvSpPr>
              <p:spPr>
                <a:xfrm>
                  <a:off x="6345841" y="114140"/>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a:t>
                  </a:r>
                  <a:endParaRPr b="1" sz="936">
                    <a:solidFill>
                      <a:schemeClr val="dk1"/>
                    </a:solidFill>
                    <a:latin typeface="Arial"/>
                    <a:ea typeface="Arial"/>
                    <a:cs typeface="Arial"/>
                    <a:sym typeface="Arial"/>
                  </a:endParaRPr>
                </a:p>
              </p:txBody>
            </p:sp>
            <p:sp>
              <p:nvSpPr>
                <p:cNvPr id="1083" name="Google Shape;1083;p74"/>
                <p:cNvSpPr/>
                <p:nvPr/>
              </p:nvSpPr>
              <p:spPr>
                <a:xfrm>
                  <a:off x="6714569" y="114140"/>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a:t>
                  </a:r>
                  <a:endParaRPr b="1" sz="936">
                    <a:solidFill>
                      <a:schemeClr val="dk1"/>
                    </a:solidFill>
                    <a:latin typeface="Arial"/>
                    <a:ea typeface="Arial"/>
                    <a:cs typeface="Arial"/>
                    <a:sym typeface="Arial"/>
                  </a:endParaRPr>
                </a:p>
              </p:txBody>
            </p:sp>
            <p:sp>
              <p:nvSpPr>
                <p:cNvPr id="1084" name="Google Shape;1084;p74"/>
                <p:cNvSpPr/>
                <p:nvPr/>
              </p:nvSpPr>
              <p:spPr>
                <a:xfrm>
                  <a:off x="7083298" y="482869"/>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12</a:t>
                  </a:r>
                  <a:endParaRPr b="1" sz="936">
                    <a:solidFill>
                      <a:schemeClr val="dk1"/>
                    </a:solidFill>
                    <a:latin typeface="Arial"/>
                    <a:ea typeface="Arial"/>
                    <a:cs typeface="Arial"/>
                    <a:sym typeface="Arial"/>
                  </a:endParaRPr>
                </a:p>
              </p:txBody>
            </p:sp>
            <p:sp>
              <p:nvSpPr>
                <p:cNvPr id="1085" name="Google Shape;1085;p74"/>
                <p:cNvSpPr/>
                <p:nvPr/>
              </p:nvSpPr>
              <p:spPr>
                <a:xfrm>
                  <a:off x="7452026" y="482869"/>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13</a:t>
                  </a:r>
                  <a:endParaRPr b="1" sz="936">
                    <a:solidFill>
                      <a:schemeClr val="dk1"/>
                    </a:solidFill>
                    <a:latin typeface="Arial"/>
                    <a:ea typeface="Arial"/>
                    <a:cs typeface="Arial"/>
                    <a:sym typeface="Arial"/>
                  </a:endParaRPr>
                </a:p>
              </p:txBody>
            </p:sp>
            <p:sp>
              <p:nvSpPr>
                <p:cNvPr id="1086" name="Google Shape;1086;p74"/>
                <p:cNvSpPr/>
                <p:nvPr/>
              </p:nvSpPr>
              <p:spPr>
                <a:xfrm>
                  <a:off x="7820754" y="482869"/>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14</a:t>
                  </a:r>
                  <a:endParaRPr b="1" sz="936">
                    <a:solidFill>
                      <a:schemeClr val="dk1"/>
                    </a:solidFill>
                    <a:latin typeface="Arial"/>
                    <a:ea typeface="Arial"/>
                    <a:cs typeface="Arial"/>
                    <a:sym typeface="Arial"/>
                  </a:endParaRPr>
                </a:p>
              </p:txBody>
            </p:sp>
            <p:sp>
              <p:nvSpPr>
                <p:cNvPr id="1087" name="Google Shape;1087;p74"/>
                <p:cNvSpPr/>
                <p:nvPr/>
              </p:nvSpPr>
              <p:spPr>
                <a:xfrm>
                  <a:off x="8189483" y="482869"/>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15</a:t>
                  </a:r>
                  <a:endParaRPr b="1" sz="936">
                    <a:solidFill>
                      <a:schemeClr val="dk1"/>
                    </a:solidFill>
                    <a:latin typeface="Arial"/>
                    <a:ea typeface="Arial"/>
                    <a:cs typeface="Arial"/>
                    <a:sym typeface="Arial"/>
                  </a:endParaRPr>
                </a:p>
              </p:txBody>
            </p:sp>
            <p:sp>
              <p:nvSpPr>
                <p:cNvPr id="1088" name="Google Shape;1088;p74"/>
                <p:cNvSpPr/>
                <p:nvPr/>
              </p:nvSpPr>
              <p:spPr>
                <a:xfrm>
                  <a:off x="5608384" y="851597"/>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16</a:t>
                  </a:r>
                  <a:endParaRPr b="1" sz="936">
                    <a:solidFill>
                      <a:schemeClr val="dk1"/>
                    </a:solidFill>
                    <a:latin typeface="Arial"/>
                    <a:ea typeface="Arial"/>
                    <a:cs typeface="Arial"/>
                    <a:sym typeface="Arial"/>
                  </a:endParaRPr>
                </a:p>
              </p:txBody>
            </p:sp>
            <p:sp>
              <p:nvSpPr>
                <p:cNvPr id="1089" name="Google Shape;1089;p74"/>
                <p:cNvSpPr/>
                <p:nvPr/>
              </p:nvSpPr>
              <p:spPr>
                <a:xfrm>
                  <a:off x="5977112" y="851597"/>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17</a:t>
                  </a:r>
                  <a:endParaRPr b="1" sz="936">
                    <a:solidFill>
                      <a:schemeClr val="dk1"/>
                    </a:solidFill>
                    <a:latin typeface="Arial"/>
                    <a:ea typeface="Arial"/>
                    <a:cs typeface="Arial"/>
                    <a:sym typeface="Arial"/>
                  </a:endParaRPr>
                </a:p>
              </p:txBody>
            </p:sp>
            <p:sp>
              <p:nvSpPr>
                <p:cNvPr id="1090" name="Google Shape;1090;p74"/>
                <p:cNvSpPr/>
                <p:nvPr/>
              </p:nvSpPr>
              <p:spPr>
                <a:xfrm>
                  <a:off x="6345841" y="851597"/>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18</a:t>
                  </a:r>
                  <a:endParaRPr b="1" sz="936">
                    <a:solidFill>
                      <a:schemeClr val="dk1"/>
                    </a:solidFill>
                    <a:latin typeface="Arial"/>
                    <a:ea typeface="Arial"/>
                    <a:cs typeface="Arial"/>
                    <a:sym typeface="Arial"/>
                  </a:endParaRPr>
                </a:p>
              </p:txBody>
            </p:sp>
            <p:sp>
              <p:nvSpPr>
                <p:cNvPr id="1091" name="Google Shape;1091;p74"/>
                <p:cNvSpPr/>
                <p:nvPr/>
              </p:nvSpPr>
              <p:spPr>
                <a:xfrm>
                  <a:off x="6714569" y="851597"/>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19</a:t>
                  </a:r>
                  <a:endParaRPr b="1" sz="936">
                    <a:solidFill>
                      <a:schemeClr val="dk1"/>
                    </a:solidFill>
                    <a:latin typeface="Arial"/>
                    <a:ea typeface="Arial"/>
                    <a:cs typeface="Arial"/>
                    <a:sym typeface="Arial"/>
                  </a:endParaRPr>
                </a:p>
              </p:txBody>
            </p:sp>
            <p:sp>
              <p:nvSpPr>
                <p:cNvPr id="1092" name="Google Shape;1092;p74"/>
                <p:cNvSpPr/>
                <p:nvPr/>
              </p:nvSpPr>
              <p:spPr>
                <a:xfrm>
                  <a:off x="5608384" y="1220326"/>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24</a:t>
                  </a:r>
                  <a:endParaRPr b="1" sz="936">
                    <a:solidFill>
                      <a:schemeClr val="dk1"/>
                    </a:solidFill>
                    <a:latin typeface="Arial"/>
                    <a:ea typeface="Arial"/>
                    <a:cs typeface="Arial"/>
                    <a:sym typeface="Arial"/>
                  </a:endParaRPr>
                </a:p>
              </p:txBody>
            </p:sp>
            <p:sp>
              <p:nvSpPr>
                <p:cNvPr id="1093" name="Google Shape;1093;p74"/>
                <p:cNvSpPr/>
                <p:nvPr/>
              </p:nvSpPr>
              <p:spPr>
                <a:xfrm>
                  <a:off x="5977112" y="1220326"/>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25</a:t>
                  </a:r>
                  <a:endParaRPr b="1" sz="936">
                    <a:solidFill>
                      <a:schemeClr val="dk1"/>
                    </a:solidFill>
                    <a:latin typeface="Arial"/>
                    <a:ea typeface="Arial"/>
                    <a:cs typeface="Arial"/>
                    <a:sym typeface="Arial"/>
                  </a:endParaRPr>
                </a:p>
              </p:txBody>
            </p:sp>
            <p:sp>
              <p:nvSpPr>
                <p:cNvPr id="1094" name="Google Shape;1094;p74"/>
                <p:cNvSpPr/>
                <p:nvPr/>
              </p:nvSpPr>
              <p:spPr>
                <a:xfrm>
                  <a:off x="6345841" y="1220326"/>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26</a:t>
                  </a:r>
                  <a:endParaRPr b="1" sz="936">
                    <a:solidFill>
                      <a:schemeClr val="dk1"/>
                    </a:solidFill>
                    <a:latin typeface="Arial"/>
                    <a:ea typeface="Arial"/>
                    <a:cs typeface="Arial"/>
                    <a:sym typeface="Arial"/>
                  </a:endParaRPr>
                </a:p>
              </p:txBody>
            </p:sp>
            <p:sp>
              <p:nvSpPr>
                <p:cNvPr id="1095" name="Google Shape;1095;p74"/>
                <p:cNvSpPr/>
                <p:nvPr/>
              </p:nvSpPr>
              <p:spPr>
                <a:xfrm>
                  <a:off x="6714569" y="1220326"/>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27</a:t>
                  </a:r>
                  <a:endParaRPr b="1" sz="936">
                    <a:solidFill>
                      <a:schemeClr val="dk1"/>
                    </a:solidFill>
                    <a:latin typeface="Arial"/>
                    <a:ea typeface="Arial"/>
                    <a:cs typeface="Arial"/>
                    <a:sym typeface="Arial"/>
                  </a:endParaRPr>
                </a:p>
              </p:txBody>
            </p:sp>
            <p:sp>
              <p:nvSpPr>
                <p:cNvPr id="1096" name="Google Shape;1096;p74"/>
                <p:cNvSpPr/>
                <p:nvPr/>
              </p:nvSpPr>
              <p:spPr>
                <a:xfrm>
                  <a:off x="7083298" y="114140"/>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a:t>
                  </a:r>
                  <a:endParaRPr b="1" sz="936">
                    <a:solidFill>
                      <a:schemeClr val="dk1"/>
                    </a:solidFill>
                    <a:latin typeface="Arial"/>
                    <a:ea typeface="Arial"/>
                    <a:cs typeface="Arial"/>
                    <a:sym typeface="Arial"/>
                  </a:endParaRPr>
                </a:p>
              </p:txBody>
            </p:sp>
            <p:sp>
              <p:nvSpPr>
                <p:cNvPr id="1097" name="Google Shape;1097;p74"/>
                <p:cNvSpPr/>
                <p:nvPr/>
              </p:nvSpPr>
              <p:spPr>
                <a:xfrm>
                  <a:off x="7452026" y="114140"/>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a:t>
                  </a:r>
                  <a:endParaRPr b="1" sz="936">
                    <a:solidFill>
                      <a:schemeClr val="dk1"/>
                    </a:solidFill>
                    <a:latin typeface="Arial"/>
                    <a:ea typeface="Arial"/>
                    <a:cs typeface="Arial"/>
                    <a:sym typeface="Arial"/>
                  </a:endParaRPr>
                </a:p>
              </p:txBody>
            </p:sp>
            <p:sp>
              <p:nvSpPr>
                <p:cNvPr id="1098" name="Google Shape;1098;p74"/>
                <p:cNvSpPr/>
                <p:nvPr/>
              </p:nvSpPr>
              <p:spPr>
                <a:xfrm>
                  <a:off x="7820754" y="114140"/>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a:t>
                  </a:r>
                  <a:endParaRPr b="1" sz="936">
                    <a:solidFill>
                      <a:schemeClr val="dk1"/>
                    </a:solidFill>
                    <a:latin typeface="Arial"/>
                    <a:ea typeface="Arial"/>
                    <a:cs typeface="Arial"/>
                    <a:sym typeface="Arial"/>
                  </a:endParaRPr>
                </a:p>
              </p:txBody>
            </p:sp>
            <p:sp>
              <p:nvSpPr>
                <p:cNvPr id="1099" name="Google Shape;1099;p74"/>
                <p:cNvSpPr/>
                <p:nvPr/>
              </p:nvSpPr>
              <p:spPr>
                <a:xfrm>
                  <a:off x="8189483" y="114140"/>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7</a:t>
                  </a:r>
                  <a:endParaRPr b="1" sz="936">
                    <a:solidFill>
                      <a:schemeClr val="dk1"/>
                    </a:solidFill>
                    <a:latin typeface="Arial"/>
                    <a:ea typeface="Arial"/>
                    <a:cs typeface="Arial"/>
                    <a:sym typeface="Arial"/>
                  </a:endParaRPr>
                </a:p>
              </p:txBody>
            </p:sp>
            <p:sp>
              <p:nvSpPr>
                <p:cNvPr id="1100" name="Google Shape;1100;p74"/>
                <p:cNvSpPr/>
                <p:nvPr/>
              </p:nvSpPr>
              <p:spPr>
                <a:xfrm>
                  <a:off x="5608384" y="482869"/>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8</a:t>
                  </a:r>
                  <a:endParaRPr b="1" sz="936">
                    <a:solidFill>
                      <a:schemeClr val="dk1"/>
                    </a:solidFill>
                    <a:latin typeface="Arial"/>
                    <a:ea typeface="Arial"/>
                    <a:cs typeface="Arial"/>
                    <a:sym typeface="Arial"/>
                  </a:endParaRPr>
                </a:p>
              </p:txBody>
            </p:sp>
            <p:sp>
              <p:nvSpPr>
                <p:cNvPr id="1101" name="Google Shape;1101;p74"/>
                <p:cNvSpPr/>
                <p:nvPr/>
              </p:nvSpPr>
              <p:spPr>
                <a:xfrm>
                  <a:off x="5977112" y="482869"/>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9</a:t>
                  </a:r>
                  <a:endParaRPr b="1" sz="936">
                    <a:solidFill>
                      <a:schemeClr val="dk1"/>
                    </a:solidFill>
                    <a:latin typeface="Arial"/>
                    <a:ea typeface="Arial"/>
                    <a:cs typeface="Arial"/>
                    <a:sym typeface="Arial"/>
                  </a:endParaRPr>
                </a:p>
              </p:txBody>
            </p:sp>
            <p:sp>
              <p:nvSpPr>
                <p:cNvPr id="1102" name="Google Shape;1102;p74"/>
                <p:cNvSpPr/>
                <p:nvPr/>
              </p:nvSpPr>
              <p:spPr>
                <a:xfrm>
                  <a:off x="6345841" y="482869"/>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10</a:t>
                  </a:r>
                  <a:endParaRPr b="1" sz="936">
                    <a:solidFill>
                      <a:schemeClr val="dk1"/>
                    </a:solidFill>
                    <a:latin typeface="Arial"/>
                    <a:ea typeface="Arial"/>
                    <a:cs typeface="Arial"/>
                    <a:sym typeface="Arial"/>
                  </a:endParaRPr>
                </a:p>
              </p:txBody>
            </p:sp>
            <p:sp>
              <p:nvSpPr>
                <p:cNvPr id="1103" name="Google Shape;1103;p74"/>
                <p:cNvSpPr/>
                <p:nvPr/>
              </p:nvSpPr>
              <p:spPr>
                <a:xfrm>
                  <a:off x="6714569" y="482869"/>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11</a:t>
                  </a:r>
                  <a:endParaRPr b="1" sz="936">
                    <a:solidFill>
                      <a:schemeClr val="dk1"/>
                    </a:solidFill>
                    <a:latin typeface="Arial"/>
                    <a:ea typeface="Arial"/>
                    <a:cs typeface="Arial"/>
                    <a:sym typeface="Arial"/>
                  </a:endParaRPr>
                </a:p>
              </p:txBody>
            </p:sp>
            <p:sp>
              <p:nvSpPr>
                <p:cNvPr id="1104" name="Google Shape;1104;p74"/>
                <p:cNvSpPr/>
                <p:nvPr/>
              </p:nvSpPr>
              <p:spPr>
                <a:xfrm>
                  <a:off x="7083298" y="851597"/>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20</a:t>
                  </a:r>
                  <a:endParaRPr b="1" sz="936">
                    <a:solidFill>
                      <a:schemeClr val="dk1"/>
                    </a:solidFill>
                    <a:latin typeface="Arial"/>
                    <a:ea typeface="Arial"/>
                    <a:cs typeface="Arial"/>
                    <a:sym typeface="Arial"/>
                  </a:endParaRPr>
                </a:p>
              </p:txBody>
            </p:sp>
            <p:sp>
              <p:nvSpPr>
                <p:cNvPr id="1105" name="Google Shape;1105;p74"/>
                <p:cNvSpPr/>
                <p:nvPr/>
              </p:nvSpPr>
              <p:spPr>
                <a:xfrm>
                  <a:off x="7452026" y="851597"/>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21</a:t>
                  </a:r>
                  <a:endParaRPr b="1" sz="936">
                    <a:solidFill>
                      <a:schemeClr val="dk1"/>
                    </a:solidFill>
                    <a:latin typeface="Arial"/>
                    <a:ea typeface="Arial"/>
                    <a:cs typeface="Arial"/>
                    <a:sym typeface="Arial"/>
                  </a:endParaRPr>
                </a:p>
              </p:txBody>
            </p:sp>
            <p:sp>
              <p:nvSpPr>
                <p:cNvPr id="1106" name="Google Shape;1106;p74"/>
                <p:cNvSpPr/>
                <p:nvPr/>
              </p:nvSpPr>
              <p:spPr>
                <a:xfrm>
                  <a:off x="7820754" y="851597"/>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22</a:t>
                  </a:r>
                  <a:endParaRPr b="1" sz="936">
                    <a:solidFill>
                      <a:schemeClr val="dk1"/>
                    </a:solidFill>
                    <a:latin typeface="Arial"/>
                    <a:ea typeface="Arial"/>
                    <a:cs typeface="Arial"/>
                    <a:sym typeface="Arial"/>
                  </a:endParaRPr>
                </a:p>
              </p:txBody>
            </p:sp>
            <p:sp>
              <p:nvSpPr>
                <p:cNvPr id="1107" name="Google Shape;1107;p74"/>
                <p:cNvSpPr/>
                <p:nvPr/>
              </p:nvSpPr>
              <p:spPr>
                <a:xfrm>
                  <a:off x="8189483" y="851597"/>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23</a:t>
                  </a:r>
                  <a:endParaRPr b="1" sz="936">
                    <a:solidFill>
                      <a:schemeClr val="dk1"/>
                    </a:solidFill>
                    <a:latin typeface="Arial"/>
                    <a:ea typeface="Arial"/>
                    <a:cs typeface="Arial"/>
                    <a:sym typeface="Arial"/>
                  </a:endParaRPr>
                </a:p>
              </p:txBody>
            </p:sp>
            <p:sp>
              <p:nvSpPr>
                <p:cNvPr id="1108" name="Google Shape;1108;p74"/>
                <p:cNvSpPr/>
                <p:nvPr/>
              </p:nvSpPr>
              <p:spPr>
                <a:xfrm>
                  <a:off x="7083298" y="1220326"/>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28</a:t>
                  </a:r>
                  <a:endParaRPr b="1" sz="936">
                    <a:solidFill>
                      <a:schemeClr val="dk1"/>
                    </a:solidFill>
                    <a:latin typeface="Arial"/>
                    <a:ea typeface="Arial"/>
                    <a:cs typeface="Arial"/>
                    <a:sym typeface="Arial"/>
                  </a:endParaRPr>
                </a:p>
              </p:txBody>
            </p:sp>
            <p:sp>
              <p:nvSpPr>
                <p:cNvPr id="1109" name="Google Shape;1109;p74"/>
                <p:cNvSpPr/>
                <p:nvPr/>
              </p:nvSpPr>
              <p:spPr>
                <a:xfrm>
                  <a:off x="7452026" y="1220326"/>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29</a:t>
                  </a:r>
                  <a:endParaRPr b="1" sz="936">
                    <a:solidFill>
                      <a:schemeClr val="dk1"/>
                    </a:solidFill>
                    <a:latin typeface="Arial"/>
                    <a:ea typeface="Arial"/>
                    <a:cs typeface="Arial"/>
                    <a:sym typeface="Arial"/>
                  </a:endParaRPr>
                </a:p>
              </p:txBody>
            </p:sp>
            <p:sp>
              <p:nvSpPr>
                <p:cNvPr id="1110" name="Google Shape;1110;p74"/>
                <p:cNvSpPr/>
                <p:nvPr/>
              </p:nvSpPr>
              <p:spPr>
                <a:xfrm>
                  <a:off x="7820754" y="1220326"/>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30</a:t>
                  </a:r>
                  <a:endParaRPr b="1" sz="936">
                    <a:solidFill>
                      <a:schemeClr val="dk1"/>
                    </a:solidFill>
                    <a:latin typeface="Arial"/>
                    <a:ea typeface="Arial"/>
                    <a:cs typeface="Arial"/>
                    <a:sym typeface="Arial"/>
                  </a:endParaRPr>
                </a:p>
              </p:txBody>
            </p:sp>
            <p:sp>
              <p:nvSpPr>
                <p:cNvPr id="1111" name="Google Shape;1111;p74"/>
                <p:cNvSpPr/>
                <p:nvPr/>
              </p:nvSpPr>
              <p:spPr>
                <a:xfrm>
                  <a:off x="8189483" y="1220326"/>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31</a:t>
                  </a:r>
                  <a:endParaRPr b="1" sz="936">
                    <a:solidFill>
                      <a:schemeClr val="dk1"/>
                    </a:solidFill>
                    <a:latin typeface="Arial"/>
                    <a:ea typeface="Arial"/>
                    <a:cs typeface="Arial"/>
                    <a:sym typeface="Arial"/>
                  </a:endParaRPr>
                </a:p>
              </p:txBody>
            </p:sp>
            <p:sp>
              <p:nvSpPr>
                <p:cNvPr id="1112" name="Google Shape;1112;p74"/>
                <p:cNvSpPr/>
                <p:nvPr/>
              </p:nvSpPr>
              <p:spPr>
                <a:xfrm>
                  <a:off x="5608384" y="1581161"/>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32</a:t>
                  </a:r>
                  <a:endParaRPr b="1" sz="936">
                    <a:solidFill>
                      <a:schemeClr val="dk1"/>
                    </a:solidFill>
                    <a:latin typeface="Arial"/>
                    <a:ea typeface="Arial"/>
                    <a:cs typeface="Arial"/>
                    <a:sym typeface="Arial"/>
                  </a:endParaRPr>
                </a:p>
              </p:txBody>
            </p:sp>
            <p:sp>
              <p:nvSpPr>
                <p:cNvPr id="1113" name="Google Shape;1113;p74"/>
                <p:cNvSpPr/>
                <p:nvPr/>
              </p:nvSpPr>
              <p:spPr>
                <a:xfrm>
                  <a:off x="5977112" y="1581161"/>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33</a:t>
                  </a:r>
                  <a:endParaRPr b="1" sz="936">
                    <a:solidFill>
                      <a:schemeClr val="dk1"/>
                    </a:solidFill>
                    <a:latin typeface="Arial"/>
                    <a:ea typeface="Arial"/>
                    <a:cs typeface="Arial"/>
                    <a:sym typeface="Arial"/>
                  </a:endParaRPr>
                </a:p>
              </p:txBody>
            </p:sp>
            <p:sp>
              <p:nvSpPr>
                <p:cNvPr id="1114" name="Google Shape;1114;p74"/>
                <p:cNvSpPr/>
                <p:nvPr/>
              </p:nvSpPr>
              <p:spPr>
                <a:xfrm>
                  <a:off x="6345841" y="1581161"/>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34</a:t>
                  </a:r>
                  <a:endParaRPr b="1" sz="936">
                    <a:solidFill>
                      <a:schemeClr val="dk1"/>
                    </a:solidFill>
                    <a:latin typeface="Arial"/>
                    <a:ea typeface="Arial"/>
                    <a:cs typeface="Arial"/>
                    <a:sym typeface="Arial"/>
                  </a:endParaRPr>
                </a:p>
              </p:txBody>
            </p:sp>
            <p:sp>
              <p:nvSpPr>
                <p:cNvPr id="1115" name="Google Shape;1115;p74"/>
                <p:cNvSpPr/>
                <p:nvPr/>
              </p:nvSpPr>
              <p:spPr>
                <a:xfrm>
                  <a:off x="6714569" y="1581161"/>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35</a:t>
                  </a:r>
                  <a:endParaRPr b="1" sz="936">
                    <a:solidFill>
                      <a:schemeClr val="dk1"/>
                    </a:solidFill>
                    <a:latin typeface="Arial"/>
                    <a:ea typeface="Arial"/>
                    <a:cs typeface="Arial"/>
                    <a:sym typeface="Arial"/>
                  </a:endParaRPr>
                </a:p>
              </p:txBody>
            </p:sp>
            <p:sp>
              <p:nvSpPr>
                <p:cNvPr id="1116" name="Google Shape;1116;p74"/>
                <p:cNvSpPr/>
                <p:nvPr/>
              </p:nvSpPr>
              <p:spPr>
                <a:xfrm>
                  <a:off x="7083298" y="1949890"/>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44</a:t>
                  </a:r>
                  <a:endParaRPr b="1" sz="936">
                    <a:solidFill>
                      <a:schemeClr val="dk1"/>
                    </a:solidFill>
                    <a:latin typeface="Arial"/>
                    <a:ea typeface="Arial"/>
                    <a:cs typeface="Arial"/>
                    <a:sym typeface="Arial"/>
                  </a:endParaRPr>
                </a:p>
              </p:txBody>
            </p:sp>
            <p:sp>
              <p:nvSpPr>
                <p:cNvPr id="1117" name="Google Shape;1117;p74"/>
                <p:cNvSpPr/>
                <p:nvPr/>
              </p:nvSpPr>
              <p:spPr>
                <a:xfrm>
                  <a:off x="7452026" y="1949890"/>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45</a:t>
                  </a:r>
                  <a:endParaRPr b="1" sz="936">
                    <a:solidFill>
                      <a:schemeClr val="dk1"/>
                    </a:solidFill>
                    <a:latin typeface="Arial"/>
                    <a:ea typeface="Arial"/>
                    <a:cs typeface="Arial"/>
                    <a:sym typeface="Arial"/>
                  </a:endParaRPr>
                </a:p>
              </p:txBody>
            </p:sp>
            <p:sp>
              <p:nvSpPr>
                <p:cNvPr id="1118" name="Google Shape;1118;p74"/>
                <p:cNvSpPr/>
                <p:nvPr/>
              </p:nvSpPr>
              <p:spPr>
                <a:xfrm>
                  <a:off x="7820754" y="1949890"/>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46</a:t>
                  </a:r>
                  <a:endParaRPr b="1" sz="936">
                    <a:solidFill>
                      <a:schemeClr val="dk1"/>
                    </a:solidFill>
                    <a:latin typeface="Arial"/>
                    <a:ea typeface="Arial"/>
                    <a:cs typeface="Arial"/>
                    <a:sym typeface="Arial"/>
                  </a:endParaRPr>
                </a:p>
              </p:txBody>
            </p:sp>
            <p:sp>
              <p:nvSpPr>
                <p:cNvPr id="1119" name="Google Shape;1119;p74"/>
                <p:cNvSpPr/>
                <p:nvPr/>
              </p:nvSpPr>
              <p:spPr>
                <a:xfrm>
                  <a:off x="8189483" y="1949890"/>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47</a:t>
                  </a:r>
                  <a:endParaRPr b="1" sz="936">
                    <a:solidFill>
                      <a:schemeClr val="dk1"/>
                    </a:solidFill>
                    <a:latin typeface="Arial"/>
                    <a:ea typeface="Arial"/>
                    <a:cs typeface="Arial"/>
                    <a:sym typeface="Arial"/>
                  </a:endParaRPr>
                </a:p>
              </p:txBody>
            </p:sp>
            <p:sp>
              <p:nvSpPr>
                <p:cNvPr id="1120" name="Google Shape;1120;p74"/>
                <p:cNvSpPr/>
                <p:nvPr/>
              </p:nvSpPr>
              <p:spPr>
                <a:xfrm>
                  <a:off x="5608384" y="2318618"/>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48</a:t>
                  </a:r>
                  <a:endParaRPr b="1" sz="936">
                    <a:solidFill>
                      <a:schemeClr val="dk1"/>
                    </a:solidFill>
                    <a:latin typeface="Arial"/>
                    <a:ea typeface="Arial"/>
                    <a:cs typeface="Arial"/>
                    <a:sym typeface="Arial"/>
                  </a:endParaRPr>
                </a:p>
              </p:txBody>
            </p:sp>
            <p:sp>
              <p:nvSpPr>
                <p:cNvPr id="1121" name="Google Shape;1121;p74"/>
                <p:cNvSpPr/>
                <p:nvPr/>
              </p:nvSpPr>
              <p:spPr>
                <a:xfrm>
                  <a:off x="5977112" y="2318618"/>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49</a:t>
                  </a:r>
                  <a:endParaRPr b="1" sz="936">
                    <a:solidFill>
                      <a:schemeClr val="dk1"/>
                    </a:solidFill>
                    <a:latin typeface="Arial"/>
                    <a:ea typeface="Arial"/>
                    <a:cs typeface="Arial"/>
                    <a:sym typeface="Arial"/>
                  </a:endParaRPr>
                </a:p>
              </p:txBody>
            </p:sp>
            <p:sp>
              <p:nvSpPr>
                <p:cNvPr id="1122" name="Google Shape;1122;p74"/>
                <p:cNvSpPr/>
                <p:nvPr/>
              </p:nvSpPr>
              <p:spPr>
                <a:xfrm>
                  <a:off x="6345841" y="2318618"/>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50</a:t>
                  </a:r>
                  <a:endParaRPr b="1" sz="936">
                    <a:solidFill>
                      <a:schemeClr val="dk1"/>
                    </a:solidFill>
                    <a:latin typeface="Arial"/>
                    <a:ea typeface="Arial"/>
                    <a:cs typeface="Arial"/>
                    <a:sym typeface="Arial"/>
                  </a:endParaRPr>
                </a:p>
              </p:txBody>
            </p:sp>
            <p:sp>
              <p:nvSpPr>
                <p:cNvPr id="1123" name="Google Shape;1123;p74"/>
                <p:cNvSpPr/>
                <p:nvPr/>
              </p:nvSpPr>
              <p:spPr>
                <a:xfrm>
                  <a:off x="6714569" y="2318618"/>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51</a:t>
                  </a:r>
                  <a:endParaRPr b="1" sz="936">
                    <a:solidFill>
                      <a:schemeClr val="dk1"/>
                    </a:solidFill>
                    <a:latin typeface="Arial"/>
                    <a:ea typeface="Arial"/>
                    <a:cs typeface="Arial"/>
                    <a:sym typeface="Arial"/>
                  </a:endParaRPr>
                </a:p>
              </p:txBody>
            </p:sp>
            <p:sp>
              <p:nvSpPr>
                <p:cNvPr id="1124" name="Google Shape;1124;p74"/>
                <p:cNvSpPr/>
                <p:nvPr/>
              </p:nvSpPr>
              <p:spPr>
                <a:xfrm>
                  <a:off x="5608384" y="2687347"/>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56</a:t>
                  </a:r>
                  <a:endParaRPr b="1" sz="936">
                    <a:solidFill>
                      <a:schemeClr val="dk1"/>
                    </a:solidFill>
                    <a:latin typeface="Arial"/>
                    <a:ea typeface="Arial"/>
                    <a:cs typeface="Arial"/>
                    <a:sym typeface="Arial"/>
                  </a:endParaRPr>
                </a:p>
              </p:txBody>
            </p:sp>
            <p:sp>
              <p:nvSpPr>
                <p:cNvPr id="1125" name="Google Shape;1125;p74"/>
                <p:cNvSpPr/>
                <p:nvPr/>
              </p:nvSpPr>
              <p:spPr>
                <a:xfrm>
                  <a:off x="5977112" y="2687347"/>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57</a:t>
                  </a:r>
                  <a:endParaRPr b="1" sz="936">
                    <a:solidFill>
                      <a:schemeClr val="dk1"/>
                    </a:solidFill>
                    <a:latin typeface="Arial"/>
                    <a:ea typeface="Arial"/>
                    <a:cs typeface="Arial"/>
                    <a:sym typeface="Arial"/>
                  </a:endParaRPr>
                </a:p>
              </p:txBody>
            </p:sp>
            <p:sp>
              <p:nvSpPr>
                <p:cNvPr id="1126" name="Google Shape;1126;p74"/>
                <p:cNvSpPr/>
                <p:nvPr/>
              </p:nvSpPr>
              <p:spPr>
                <a:xfrm>
                  <a:off x="6345841" y="2687347"/>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58</a:t>
                  </a:r>
                  <a:endParaRPr b="1" sz="936">
                    <a:solidFill>
                      <a:schemeClr val="dk1"/>
                    </a:solidFill>
                    <a:latin typeface="Arial"/>
                    <a:ea typeface="Arial"/>
                    <a:cs typeface="Arial"/>
                    <a:sym typeface="Arial"/>
                  </a:endParaRPr>
                </a:p>
              </p:txBody>
            </p:sp>
            <p:sp>
              <p:nvSpPr>
                <p:cNvPr id="1127" name="Google Shape;1127;p74"/>
                <p:cNvSpPr/>
                <p:nvPr/>
              </p:nvSpPr>
              <p:spPr>
                <a:xfrm>
                  <a:off x="6714569" y="2687347"/>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50</a:t>
                  </a:r>
                  <a:endParaRPr b="1" sz="936">
                    <a:solidFill>
                      <a:schemeClr val="dk1"/>
                    </a:solidFill>
                    <a:latin typeface="Arial"/>
                    <a:ea typeface="Arial"/>
                    <a:cs typeface="Arial"/>
                    <a:sym typeface="Arial"/>
                  </a:endParaRPr>
                </a:p>
              </p:txBody>
            </p:sp>
            <p:sp>
              <p:nvSpPr>
                <p:cNvPr id="1128" name="Google Shape;1128;p74"/>
                <p:cNvSpPr/>
                <p:nvPr/>
              </p:nvSpPr>
              <p:spPr>
                <a:xfrm>
                  <a:off x="7083298" y="1581161"/>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36</a:t>
                  </a:r>
                  <a:endParaRPr b="1" sz="936">
                    <a:solidFill>
                      <a:schemeClr val="dk1"/>
                    </a:solidFill>
                    <a:latin typeface="Arial"/>
                    <a:ea typeface="Arial"/>
                    <a:cs typeface="Arial"/>
                    <a:sym typeface="Arial"/>
                  </a:endParaRPr>
                </a:p>
              </p:txBody>
            </p:sp>
            <p:sp>
              <p:nvSpPr>
                <p:cNvPr id="1129" name="Google Shape;1129;p74"/>
                <p:cNvSpPr/>
                <p:nvPr/>
              </p:nvSpPr>
              <p:spPr>
                <a:xfrm>
                  <a:off x="7452026" y="1581161"/>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37</a:t>
                  </a:r>
                  <a:endParaRPr b="1" sz="936">
                    <a:solidFill>
                      <a:schemeClr val="dk1"/>
                    </a:solidFill>
                    <a:latin typeface="Arial"/>
                    <a:ea typeface="Arial"/>
                    <a:cs typeface="Arial"/>
                    <a:sym typeface="Arial"/>
                  </a:endParaRPr>
                </a:p>
              </p:txBody>
            </p:sp>
            <p:sp>
              <p:nvSpPr>
                <p:cNvPr id="1130" name="Google Shape;1130;p74"/>
                <p:cNvSpPr/>
                <p:nvPr/>
              </p:nvSpPr>
              <p:spPr>
                <a:xfrm>
                  <a:off x="7820754" y="1581161"/>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38</a:t>
                  </a:r>
                  <a:endParaRPr b="1" sz="936">
                    <a:solidFill>
                      <a:schemeClr val="dk1"/>
                    </a:solidFill>
                    <a:latin typeface="Arial"/>
                    <a:ea typeface="Arial"/>
                    <a:cs typeface="Arial"/>
                    <a:sym typeface="Arial"/>
                  </a:endParaRPr>
                </a:p>
              </p:txBody>
            </p:sp>
            <p:sp>
              <p:nvSpPr>
                <p:cNvPr id="1131" name="Google Shape;1131;p74"/>
                <p:cNvSpPr/>
                <p:nvPr/>
              </p:nvSpPr>
              <p:spPr>
                <a:xfrm>
                  <a:off x="8189483" y="1581161"/>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39</a:t>
                  </a:r>
                  <a:endParaRPr b="1" sz="936">
                    <a:solidFill>
                      <a:schemeClr val="dk1"/>
                    </a:solidFill>
                    <a:latin typeface="Arial"/>
                    <a:ea typeface="Arial"/>
                    <a:cs typeface="Arial"/>
                    <a:sym typeface="Arial"/>
                  </a:endParaRPr>
                </a:p>
              </p:txBody>
            </p:sp>
            <p:sp>
              <p:nvSpPr>
                <p:cNvPr id="1132" name="Google Shape;1132;p74"/>
                <p:cNvSpPr/>
                <p:nvPr/>
              </p:nvSpPr>
              <p:spPr>
                <a:xfrm>
                  <a:off x="5608384" y="1949890"/>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40</a:t>
                  </a:r>
                  <a:endParaRPr b="1" sz="936">
                    <a:solidFill>
                      <a:schemeClr val="dk1"/>
                    </a:solidFill>
                    <a:latin typeface="Arial"/>
                    <a:ea typeface="Arial"/>
                    <a:cs typeface="Arial"/>
                    <a:sym typeface="Arial"/>
                  </a:endParaRPr>
                </a:p>
              </p:txBody>
            </p:sp>
            <p:sp>
              <p:nvSpPr>
                <p:cNvPr id="1133" name="Google Shape;1133;p74"/>
                <p:cNvSpPr/>
                <p:nvPr/>
              </p:nvSpPr>
              <p:spPr>
                <a:xfrm>
                  <a:off x="5977112" y="1949890"/>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41</a:t>
                  </a:r>
                  <a:endParaRPr b="1" sz="936">
                    <a:solidFill>
                      <a:schemeClr val="dk1"/>
                    </a:solidFill>
                    <a:latin typeface="Arial"/>
                    <a:ea typeface="Arial"/>
                    <a:cs typeface="Arial"/>
                    <a:sym typeface="Arial"/>
                  </a:endParaRPr>
                </a:p>
              </p:txBody>
            </p:sp>
            <p:sp>
              <p:nvSpPr>
                <p:cNvPr id="1134" name="Google Shape;1134;p74"/>
                <p:cNvSpPr/>
                <p:nvPr/>
              </p:nvSpPr>
              <p:spPr>
                <a:xfrm>
                  <a:off x="6345841" y="1949890"/>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42</a:t>
                  </a:r>
                  <a:endParaRPr b="1" sz="936">
                    <a:solidFill>
                      <a:schemeClr val="dk1"/>
                    </a:solidFill>
                    <a:latin typeface="Arial"/>
                    <a:ea typeface="Arial"/>
                    <a:cs typeface="Arial"/>
                    <a:sym typeface="Arial"/>
                  </a:endParaRPr>
                </a:p>
              </p:txBody>
            </p:sp>
            <p:sp>
              <p:nvSpPr>
                <p:cNvPr id="1135" name="Google Shape;1135;p74"/>
                <p:cNvSpPr/>
                <p:nvPr/>
              </p:nvSpPr>
              <p:spPr>
                <a:xfrm>
                  <a:off x="6714569" y="1949890"/>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43</a:t>
                  </a:r>
                  <a:endParaRPr b="1" sz="936">
                    <a:solidFill>
                      <a:schemeClr val="dk1"/>
                    </a:solidFill>
                    <a:latin typeface="Arial"/>
                    <a:ea typeface="Arial"/>
                    <a:cs typeface="Arial"/>
                    <a:sym typeface="Arial"/>
                  </a:endParaRPr>
                </a:p>
              </p:txBody>
            </p:sp>
            <p:sp>
              <p:nvSpPr>
                <p:cNvPr id="1136" name="Google Shape;1136;p74"/>
                <p:cNvSpPr/>
                <p:nvPr/>
              </p:nvSpPr>
              <p:spPr>
                <a:xfrm>
                  <a:off x="7083298" y="2318618"/>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52</a:t>
                  </a:r>
                  <a:endParaRPr b="1" sz="936">
                    <a:solidFill>
                      <a:schemeClr val="dk1"/>
                    </a:solidFill>
                    <a:latin typeface="Arial"/>
                    <a:ea typeface="Arial"/>
                    <a:cs typeface="Arial"/>
                    <a:sym typeface="Arial"/>
                  </a:endParaRPr>
                </a:p>
              </p:txBody>
            </p:sp>
            <p:sp>
              <p:nvSpPr>
                <p:cNvPr id="1137" name="Google Shape;1137;p74"/>
                <p:cNvSpPr/>
                <p:nvPr/>
              </p:nvSpPr>
              <p:spPr>
                <a:xfrm>
                  <a:off x="7452026" y="2318618"/>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53</a:t>
                  </a:r>
                  <a:endParaRPr b="1" sz="936">
                    <a:solidFill>
                      <a:schemeClr val="dk1"/>
                    </a:solidFill>
                    <a:latin typeface="Arial"/>
                    <a:ea typeface="Arial"/>
                    <a:cs typeface="Arial"/>
                    <a:sym typeface="Arial"/>
                  </a:endParaRPr>
                </a:p>
              </p:txBody>
            </p:sp>
            <p:sp>
              <p:nvSpPr>
                <p:cNvPr id="1138" name="Google Shape;1138;p74"/>
                <p:cNvSpPr/>
                <p:nvPr/>
              </p:nvSpPr>
              <p:spPr>
                <a:xfrm>
                  <a:off x="7820754" y="2318618"/>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54</a:t>
                  </a:r>
                  <a:endParaRPr b="1" sz="936">
                    <a:solidFill>
                      <a:schemeClr val="dk1"/>
                    </a:solidFill>
                    <a:latin typeface="Arial"/>
                    <a:ea typeface="Arial"/>
                    <a:cs typeface="Arial"/>
                    <a:sym typeface="Arial"/>
                  </a:endParaRPr>
                </a:p>
              </p:txBody>
            </p:sp>
            <p:sp>
              <p:nvSpPr>
                <p:cNvPr id="1139" name="Google Shape;1139;p74"/>
                <p:cNvSpPr/>
                <p:nvPr/>
              </p:nvSpPr>
              <p:spPr>
                <a:xfrm>
                  <a:off x="8189483" y="2318618"/>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55</a:t>
                  </a:r>
                  <a:endParaRPr b="1" sz="936">
                    <a:solidFill>
                      <a:schemeClr val="dk1"/>
                    </a:solidFill>
                    <a:latin typeface="Arial"/>
                    <a:ea typeface="Arial"/>
                    <a:cs typeface="Arial"/>
                    <a:sym typeface="Arial"/>
                  </a:endParaRPr>
                </a:p>
              </p:txBody>
            </p:sp>
            <p:sp>
              <p:nvSpPr>
                <p:cNvPr id="1140" name="Google Shape;1140;p74"/>
                <p:cNvSpPr/>
                <p:nvPr/>
              </p:nvSpPr>
              <p:spPr>
                <a:xfrm>
                  <a:off x="7083298" y="2687347"/>
                  <a:ext cx="368700" cy="368700"/>
                </a:xfrm>
                <a:prstGeom prst="rect">
                  <a:avLst/>
                </a:prstGeom>
                <a:solidFill>
                  <a:srgbClr val="FF9999"/>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60</a:t>
                  </a:r>
                  <a:endParaRPr b="1" sz="936">
                    <a:solidFill>
                      <a:schemeClr val="dk1"/>
                    </a:solidFill>
                    <a:latin typeface="Arial"/>
                    <a:ea typeface="Arial"/>
                    <a:cs typeface="Arial"/>
                    <a:sym typeface="Arial"/>
                  </a:endParaRPr>
                </a:p>
              </p:txBody>
            </p:sp>
            <p:sp>
              <p:nvSpPr>
                <p:cNvPr id="1141" name="Google Shape;1141;p74"/>
                <p:cNvSpPr/>
                <p:nvPr/>
              </p:nvSpPr>
              <p:spPr>
                <a:xfrm>
                  <a:off x="7452026" y="2687347"/>
                  <a:ext cx="368700" cy="368700"/>
                </a:xfrm>
                <a:prstGeom prst="rect">
                  <a:avLst/>
                </a:prstGeom>
                <a:solidFill>
                  <a:srgbClr val="FFFFCC"/>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61</a:t>
                  </a:r>
                  <a:endParaRPr b="1" sz="936">
                    <a:solidFill>
                      <a:schemeClr val="dk1"/>
                    </a:solidFill>
                    <a:latin typeface="Arial"/>
                    <a:ea typeface="Arial"/>
                    <a:cs typeface="Arial"/>
                    <a:sym typeface="Arial"/>
                  </a:endParaRPr>
                </a:p>
              </p:txBody>
            </p:sp>
            <p:sp>
              <p:nvSpPr>
                <p:cNvPr id="1142" name="Google Shape;1142;p74"/>
                <p:cNvSpPr/>
                <p:nvPr/>
              </p:nvSpPr>
              <p:spPr>
                <a:xfrm>
                  <a:off x="7820754" y="2687347"/>
                  <a:ext cx="368700" cy="368700"/>
                </a:xfrm>
                <a:prstGeom prst="rect">
                  <a:avLst/>
                </a:prstGeom>
                <a:solidFill>
                  <a:srgbClr val="93DCF8"/>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62</a:t>
                  </a:r>
                  <a:endParaRPr b="1" sz="936">
                    <a:solidFill>
                      <a:schemeClr val="dk1"/>
                    </a:solidFill>
                    <a:latin typeface="Arial"/>
                    <a:ea typeface="Arial"/>
                    <a:cs typeface="Arial"/>
                    <a:sym typeface="Arial"/>
                  </a:endParaRPr>
                </a:p>
              </p:txBody>
            </p:sp>
            <p:sp>
              <p:nvSpPr>
                <p:cNvPr id="1143" name="Google Shape;1143;p74"/>
                <p:cNvSpPr/>
                <p:nvPr/>
              </p:nvSpPr>
              <p:spPr>
                <a:xfrm>
                  <a:off x="8189483" y="2687347"/>
                  <a:ext cx="368700" cy="368700"/>
                </a:xfrm>
                <a:prstGeom prst="rect">
                  <a:avLst/>
                </a:prstGeom>
                <a:solidFill>
                  <a:srgbClr val="84E291"/>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rPr b="1" lang="en" sz="936">
                      <a:solidFill>
                        <a:schemeClr val="dk1"/>
                      </a:solidFill>
                      <a:latin typeface="Arial"/>
                      <a:ea typeface="Arial"/>
                      <a:cs typeface="Arial"/>
                      <a:sym typeface="Arial"/>
                    </a:rPr>
                    <a:t>63</a:t>
                  </a:r>
                  <a:endParaRPr b="1" sz="936">
                    <a:solidFill>
                      <a:schemeClr val="dk1"/>
                    </a:solidFill>
                    <a:latin typeface="Arial"/>
                    <a:ea typeface="Arial"/>
                    <a:cs typeface="Arial"/>
                    <a:sym typeface="Arial"/>
                  </a:endParaRPr>
                </a:p>
              </p:txBody>
            </p:sp>
          </p:grpSp>
          <p:grpSp>
            <p:nvGrpSpPr>
              <p:cNvPr id="1144" name="Google Shape;1144;p74"/>
              <p:cNvGrpSpPr/>
              <p:nvPr/>
            </p:nvGrpSpPr>
            <p:grpSpPr>
              <a:xfrm>
                <a:off x="5605352" y="3429000"/>
                <a:ext cx="2948540" cy="2949803"/>
                <a:chOff x="5605352" y="3429000"/>
                <a:chExt cx="2948540" cy="2949803"/>
              </a:xfrm>
            </p:grpSpPr>
            <p:sp>
              <p:nvSpPr>
                <p:cNvPr id="1145" name="Google Shape;1145;p74"/>
                <p:cNvSpPr/>
                <p:nvPr/>
              </p:nvSpPr>
              <p:spPr>
                <a:xfrm>
                  <a:off x="5605352" y="3429000"/>
                  <a:ext cx="368700" cy="368700"/>
                </a:xfrm>
                <a:prstGeom prst="rect">
                  <a:avLst/>
                </a:prstGeom>
                <a:solidFill>
                  <a:schemeClr val="accent5"/>
                </a:solidFill>
                <a:ln cap="flat" cmpd="sng" w="22300">
                  <a:solidFill>
                    <a:srgbClr val="43123E"/>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46" name="Google Shape;1146;p74"/>
                <p:cNvSpPr/>
                <p:nvPr/>
              </p:nvSpPr>
              <p:spPr>
                <a:xfrm>
                  <a:off x="5974080"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47" name="Google Shape;1147;p74"/>
                <p:cNvSpPr/>
                <p:nvPr/>
              </p:nvSpPr>
              <p:spPr>
                <a:xfrm>
                  <a:off x="6342808"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48" name="Google Shape;1148;p74"/>
                <p:cNvSpPr/>
                <p:nvPr/>
              </p:nvSpPr>
              <p:spPr>
                <a:xfrm>
                  <a:off x="6711536"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49" name="Google Shape;1149;p74"/>
                <p:cNvSpPr/>
                <p:nvPr/>
              </p:nvSpPr>
              <p:spPr>
                <a:xfrm>
                  <a:off x="7079008"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0" name="Google Shape;1150;p74"/>
                <p:cNvSpPr/>
                <p:nvPr/>
              </p:nvSpPr>
              <p:spPr>
                <a:xfrm>
                  <a:off x="7447736"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1" name="Google Shape;1151;p74"/>
                <p:cNvSpPr/>
                <p:nvPr/>
              </p:nvSpPr>
              <p:spPr>
                <a:xfrm>
                  <a:off x="7816464"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2" name="Google Shape;1152;p74"/>
                <p:cNvSpPr/>
                <p:nvPr/>
              </p:nvSpPr>
              <p:spPr>
                <a:xfrm>
                  <a:off x="8185192" y="3429000"/>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3" name="Google Shape;1153;p74"/>
                <p:cNvSpPr/>
                <p:nvPr/>
              </p:nvSpPr>
              <p:spPr>
                <a:xfrm>
                  <a:off x="5605352"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4" name="Google Shape;1154;p74"/>
                <p:cNvSpPr/>
                <p:nvPr/>
              </p:nvSpPr>
              <p:spPr>
                <a:xfrm>
                  <a:off x="5974080"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5" name="Google Shape;1155;p74"/>
                <p:cNvSpPr/>
                <p:nvPr/>
              </p:nvSpPr>
              <p:spPr>
                <a:xfrm>
                  <a:off x="6342808"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6" name="Google Shape;1156;p74"/>
                <p:cNvSpPr/>
                <p:nvPr/>
              </p:nvSpPr>
              <p:spPr>
                <a:xfrm>
                  <a:off x="6711536"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7" name="Google Shape;1157;p74"/>
                <p:cNvSpPr/>
                <p:nvPr/>
              </p:nvSpPr>
              <p:spPr>
                <a:xfrm>
                  <a:off x="7079008"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8" name="Google Shape;1158;p74"/>
                <p:cNvSpPr/>
                <p:nvPr/>
              </p:nvSpPr>
              <p:spPr>
                <a:xfrm>
                  <a:off x="7447736"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59" name="Google Shape;1159;p74"/>
                <p:cNvSpPr/>
                <p:nvPr/>
              </p:nvSpPr>
              <p:spPr>
                <a:xfrm>
                  <a:off x="7816464"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0" name="Google Shape;1160;p74"/>
                <p:cNvSpPr/>
                <p:nvPr/>
              </p:nvSpPr>
              <p:spPr>
                <a:xfrm>
                  <a:off x="8185192" y="3797729"/>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1" name="Google Shape;1161;p74"/>
                <p:cNvSpPr/>
                <p:nvPr/>
              </p:nvSpPr>
              <p:spPr>
                <a:xfrm>
                  <a:off x="5605352"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2" name="Google Shape;1162;p74"/>
                <p:cNvSpPr/>
                <p:nvPr/>
              </p:nvSpPr>
              <p:spPr>
                <a:xfrm>
                  <a:off x="5974080"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3" name="Google Shape;1163;p74"/>
                <p:cNvSpPr/>
                <p:nvPr/>
              </p:nvSpPr>
              <p:spPr>
                <a:xfrm>
                  <a:off x="6342808"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4" name="Google Shape;1164;p74"/>
                <p:cNvSpPr/>
                <p:nvPr/>
              </p:nvSpPr>
              <p:spPr>
                <a:xfrm>
                  <a:off x="6711536"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5" name="Google Shape;1165;p74"/>
                <p:cNvSpPr/>
                <p:nvPr/>
              </p:nvSpPr>
              <p:spPr>
                <a:xfrm>
                  <a:off x="7079008"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6" name="Google Shape;1166;p74"/>
                <p:cNvSpPr/>
                <p:nvPr/>
              </p:nvSpPr>
              <p:spPr>
                <a:xfrm>
                  <a:off x="7447736"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7" name="Google Shape;1167;p74"/>
                <p:cNvSpPr/>
                <p:nvPr/>
              </p:nvSpPr>
              <p:spPr>
                <a:xfrm>
                  <a:off x="7816464"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8" name="Google Shape;1168;p74"/>
                <p:cNvSpPr/>
                <p:nvPr/>
              </p:nvSpPr>
              <p:spPr>
                <a:xfrm>
                  <a:off x="8185192" y="4166458"/>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69" name="Google Shape;1169;p74"/>
                <p:cNvSpPr/>
                <p:nvPr/>
              </p:nvSpPr>
              <p:spPr>
                <a:xfrm>
                  <a:off x="5605352"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0" name="Google Shape;1170;p74"/>
                <p:cNvSpPr/>
                <p:nvPr/>
              </p:nvSpPr>
              <p:spPr>
                <a:xfrm>
                  <a:off x="5974080"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1" name="Google Shape;1171;p74"/>
                <p:cNvSpPr/>
                <p:nvPr/>
              </p:nvSpPr>
              <p:spPr>
                <a:xfrm>
                  <a:off x="6342808"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2" name="Google Shape;1172;p74"/>
                <p:cNvSpPr/>
                <p:nvPr/>
              </p:nvSpPr>
              <p:spPr>
                <a:xfrm>
                  <a:off x="6711536"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3" name="Google Shape;1173;p74"/>
                <p:cNvSpPr/>
                <p:nvPr/>
              </p:nvSpPr>
              <p:spPr>
                <a:xfrm>
                  <a:off x="7079008"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4" name="Google Shape;1174;p74"/>
                <p:cNvSpPr/>
                <p:nvPr/>
              </p:nvSpPr>
              <p:spPr>
                <a:xfrm>
                  <a:off x="7447736"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5" name="Google Shape;1175;p74"/>
                <p:cNvSpPr/>
                <p:nvPr/>
              </p:nvSpPr>
              <p:spPr>
                <a:xfrm>
                  <a:off x="7816464"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6" name="Google Shape;1176;p74"/>
                <p:cNvSpPr/>
                <p:nvPr/>
              </p:nvSpPr>
              <p:spPr>
                <a:xfrm>
                  <a:off x="8185192" y="4535187"/>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7" name="Google Shape;1177;p74"/>
                <p:cNvSpPr/>
                <p:nvPr/>
              </p:nvSpPr>
              <p:spPr>
                <a:xfrm>
                  <a:off x="5605352"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8" name="Google Shape;1178;p74"/>
                <p:cNvSpPr/>
                <p:nvPr/>
              </p:nvSpPr>
              <p:spPr>
                <a:xfrm>
                  <a:off x="5974080"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79" name="Google Shape;1179;p74"/>
                <p:cNvSpPr/>
                <p:nvPr/>
              </p:nvSpPr>
              <p:spPr>
                <a:xfrm>
                  <a:off x="6342808"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0" name="Google Shape;1180;p74"/>
                <p:cNvSpPr/>
                <p:nvPr/>
              </p:nvSpPr>
              <p:spPr>
                <a:xfrm>
                  <a:off x="6711536"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1" name="Google Shape;1181;p74"/>
                <p:cNvSpPr/>
                <p:nvPr/>
              </p:nvSpPr>
              <p:spPr>
                <a:xfrm>
                  <a:off x="7079008"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2" name="Google Shape;1182;p74"/>
                <p:cNvSpPr/>
                <p:nvPr/>
              </p:nvSpPr>
              <p:spPr>
                <a:xfrm>
                  <a:off x="7447736"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3" name="Google Shape;1183;p74"/>
                <p:cNvSpPr/>
                <p:nvPr/>
              </p:nvSpPr>
              <p:spPr>
                <a:xfrm>
                  <a:off x="7816464"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4" name="Google Shape;1184;p74"/>
                <p:cNvSpPr/>
                <p:nvPr/>
              </p:nvSpPr>
              <p:spPr>
                <a:xfrm>
                  <a:off x="8185192" y="4903916"/>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5" name="Google Shape;1185;p74"/>
                <p:cNvSpPr/>
                <p:nvPr/>
              </p:nvSpPr>
              <p:spPr>
                <a:xfrm>
                  <a:off x="5605352"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6" name="Google Shape;1186;p74"/>
                <p:cNvSpPr/>
                <p:nvPr/>
              </p:nvSpPr>
              <p:spPr>
                <a:xfrm>
                  <a:off x="5974080"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7" name="Google Shape;1187;p74"/>
                <p:cNvSpPr/>
                <p:nvPr/>
              </p:nvSpPr>
              <p:spPr>
                <a:xfrm>
                  <a:off x="6342808"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8" name="Google Shape;1188;p74"/>
                <p:cNvSpPr/>
                <p:nvPr/>
              </p:nvSpPr>
              <p:spPr>
                <a:xfrm>
                  <a:off x="6711536"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89" name="Google Shape;1189;p74"/>
                <p:cNvSpPr/>
                <p:nvPr/>
              </p:nvSpPr>
              <p:spPr>
                <a:xfrm>
                  <a:off x="7079008"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0" name="Google Shape;1190;p74"/>
                <p:cNvSpPr/>
                <p:nvPr/>
              </p:nvSpPr>
              <p:spPr>
                <a:xfrm>
                  <a:off x="7447736"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1" name="Google Shape;1191;p74"/>
                <p:cNvSpPr/>
                <p:nvPr/>
              </p:nvSpPr>
              <p:spPr>
                <a:xfrm>
                  <a:off x="7816464"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2" name="Google Shape;1192;p74"/>
                <p:cNvSpPr/>
                <p:nvPr/>
              </p:nvSpPr>
              <p:spPr>
                <a:xfrm>
                  <a:off x="8185192" y="5272645"/>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3" name="Google Shape;1193;p74"/>
                <p:cNvSpPr/>
                <p:nvPr/>
              </p:nvSpPr>
              <p:spPr>
                <a:xfrm>
                  <a:off x="5605352"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4" name="Google Shape;1194;p74"/>
                <p:cNvSpPr/>
                <p:nvPr/>
              </p:nvSpPr>
              <p:spPr>
                <a:xfrm>
                  <a:off x="5974080"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5" name="Google Shape;1195;p74"/>
                <p:cNvSpPr/>
                <p:nvPr/>
              </p:nvSpPr>
              <p:spPr>
                <a:xfrm>
                  <a:off x="6342808"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6" name="Google Shape;1196;p74"/>
                <p:cNvSpPr/>
                <p:nvPr/>
              </p:nvSpPr>
              <p:spPr>
                <a:xfrm>
                  <a:off x="6711536"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7" name="Google Shape;1197;p74"/>
                <p:cNvSpPr/>
                <p:nvPr/>
              </p:nvSpPr>
              <p:spPr>
                <a:xfrm>
                  <a:off x="7079008"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8" name="Google Shape;1198;p74"/>
                <p:cNvSpPr/>
                <p:nvPr/>
              </p:nvSpPr>
              <p:spPr>
                <a:xfrm>
                  <a:off x="7447736"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199" name="Google Shape;1199;p74"/>
                <p:cNvSpPr/>
                <p:nvPr/>
              </p:nvSpPr>
              <p:spPr>
                <a:xfrm>
                  <a:off x="7816464"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0" name="Google Shape;1200;p74"/>
                <p:cNvSpPr/>
                <p:nvPr/>
              </p:nvSpPr>
              <p:spPr>
                <a:xfrm>
                  <a:off x="8185192" y="5641374"/>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1" name="Google Shape;1201;p74"/>
                <p:cNvSpPr/>
                <p:nvPr/>
              </p:nvSpPr>
              <p:spPr>
                <a:xfrm>
                  <a:off x="5605352"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2" name="Google Shape;1202;p74"/>
                <p:cNvSpPr/>
                <p:nvPr/>
              </p:nvSpPr>
              <p:spPr>
                <a:xfrm>
                  <a:off x="5974080"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3" name="Google Shape;1203;p74"/>
                <p:cNvSpPr/>
                <p:nvPr/>
              </p:nvSpPr>
              <p:spPr>
                <a:xfrm>
                  <a:off x="6342808"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4" name="Google Shape;1204;p74"/>
                <p:cNvSpPr/>
                <p:nvPr/>
              </p:nvSpPr>
              <p:spPr>
                <a:xfrm>
                  <a:off x="6711536"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5" name="Google Shape;1205;p74"/>
                <p:cNvSpPr/>
                <p:nvPr/>
              </p:nvSpPr>
              <p:spPr>
                <a:xfrm>
                  <a:off x="7079008"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6" name="Google Shape;1206;p74"/>
                <p:cNvSpPr/>
                <p:nvPr/>
              </p:nvSpPr>
              <p:spPr>
                <a:xfrm>
                  <a:off x="7447736"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7" name="Google Shape;1207;p74"/>
                <p:cNvSpPr/>
                <p:nvPr/>
              </p:nvSpPr>
              <p:spPr>
                <a:xfrm>
                  <a:off x="7816464"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sp>
              <p:nvSpPr>
                <p:cNvPr id="1208" name="Google Shape;1208;p74"/>
                <p:cNvSpPr/>
                <p:nvPr/>
              </p:nvSpPr>
              <p:spPr>
                <a:xfrm>
                  <a:off x="8185192" y="6010103"/>
                  <a:ext cx="368700" cy="368700"/>
                </a:xfrm>
                <a:prstGeom prst="rect">
                  <a:avLst/>
                </a:prstGeom>
                <a:solidFill>
                  <a:srgbClr val="F2CDED"/>
                </a:solidFill>
                <a:ln cap="flat" cmpd="sng" w="22300">
                  <a:solidFill>
                    <a:srgbClr val="082836"/>
                  </a:solidFill>
                  <a:prstDash val="solid"/>
                  <a:miter lim="800000"/>
                  <a:headEnd len="sm" w="sm" type="none"/>
                  <a:tailEnd len="sm" w="sm" type="none"/>
                </a:ln>
              </p:spPr>
              <p:txBody>
                <a:bodyPr anchorCtr="0" anchor="ctr" bIns="40125" lIns="31625" spcFirstLastPara="1" rIns="31625" wrap="square" tIns="40125">
                  <a:noAutofit/>
                </a:bodyPr>
                <a:lstStyle/>
                <a:p>
                  <a:pPr indent="0" lvl="0" marL="0" marR="0" rtl="0" algn="ctr">
                    <a:spcBef>
                      <a:spcPts val="0"/>
                    </a:spcBef>
                    <a:spcAft>
                      <a:spcPts val="0"/>
                    </a:spcAft>
                    <a:buNone/>
                  </a:pPr>
                  <a:r>
                    <a:t/>
                  </a:r>
                  <a:endParaRPr b="1" sz="936">
                    <a:solidFill>
                      <a:schemeClr val="dk1"/>
                    </a:solidFill>
                    <a:latin typeface="Arial"/>
                    <a:ea typeface="Arial"/>
                    <a:cs typeface="Arial"/>
                    <a:sym typeface="Arial"/>
                  </a:endParaRPr>
                </a:p>
              </p:txBody>
            </p:sp>
          </p:grpSp>
          <p:sp>
            <p:nvSpPr>
              <p:cNvPr id="1209" name="Google Shape;1209;p74"/>
              <p:cNvSpPr/>
              <p:nvPr/>
            </p:nvSpPr>
            <p:spPr>
              <a:xfrm>
                <a:off x="1859721" y="3352800"/>
                <a:ext cx="3127500" cy="507900"/>
              </a:xfrm>
              <a:prstGeom prst="rect">
                <a:avLst/>
              </a:prstGeom>
              <a:noFill/>
              <a:ln cap="flat" cmpd="sng" w="44625">
                <a:solidFill>
                  <a:schemeClr val="dk1"/>
                </a:solidFill>
                <a:prstDash val="solid"/>
                <a:miter lim="800000"/>
                <a:headEnd len="sm" w="sm" type="none"/>
                <a:tailEnd len="sm" w="sm" type="none"/>
              </a:ln>
            </p:spPr>
            <p:txBody>
              <a:bodyPr anchorCtr="0" anchor="ctr" bIns="40125" lIns="80300" spcFirstLastPara="1" rIns="80300" wrap="square" tIns="40125">
                <a:noAutofit/>
              </a:bodyPr>
              <a:lstStyle/>
              <a:p>
                <a:pPr indent="0" lvl="0" marL="0" marR="0" rtl="0" algn="ctr">
                  <a:spcBef>
                    <a:spcPts val="0"/>
                  </a:spcBef>
                  <a:spcAft>
                    <a:spcPts val="0"/>
                  </a:spcAft>
                  <a:buNone/>
                </a:pPr>
                <a:r>
                  <a:t/>
                </a:r>
                <a:endParaRPr sz="1053">
                  <a:solidFill>
                    <a:schemeClr val="lt1"/>
                  </a:solidFill>
                  <a:latin typeface="Arial"/>
                  <a:ea typeface="Arial"/>
                  <a:cs typeface="Arial"/>
                  <a:sym typeface="Arial"/>
                </a:endParaRPr>
              </a:p>
            </p:txBody>
          </p:sp>
          <p:sp>
            <p:nvSpPr>
              <p:cNvPr id="1210" name="Google Shape;1210;p74"/>
              <p:cNvSpPr/>
              <p:nvPr/>
            </p:nvSpPr>
            <p:spPr>
              <a:xfrm>
                <a:off x="5550452" y="64051"/>
                <a:ext cx="492600" cy="3063600"/>
              </a:xfrm>
              <a:prstGeom prst="rect">
                <a:avLst/>
              </a:prstGeom>
              <a:noFill/>
              <a:ln cap="flat" cmpd="sng" w="44625">
                <a:solidFill>
                  <a:schemeClr val="dk1"/>
                </a:solidFill>
                <a:prstDash val="solid"/>
                <a:miter lim="800000"/>
                <a:headEnd len="sm" w="sm" type="none"/>
                <a:tailEnd len="sm" w="sm" type="none"/>
              </a:ln>
            </p:spPr>
            <p:txBody>
              <a:bodyPr anchorCtr="0" anchor="ctr" bIns="40125" lIns="80300" spcFirstLastPara="1" rIns="80300" wrap="square" tIns="40125">
                <a:noAutofit/>
              </a:bodyPr>
              <a:lstStyle/>
              <a:p>
                <a:pPr indent="0" lvl="0" marL="0" marR="0" rtl="0" algn="ctr">
                  <a:spcBef>
                    <a:spcPts val="0"/>
                  </a:spcBef>
                  <a:spcAft>
                    <a:spcPts val="0"/>
                  </a:spcAft>
                  <a:buNone/>
                </a:pPr>
                <a:r>
                  <a:t/>
                </a:r>
                <a:endParaRPr sz="1053">
                  <a:solidFill>
                    <a:schemeClr val="lt1"/>
                  </a:solidFill>
                  <a:latin typeface="Arial"/>
                  <a:ea typeface="Arial"/>
                  <a:cs typeface="Arial"/>
                  <a:sym typeface="Arial"/>
                </a:endParaRPr>
              </a:p>
            </p:txBody>
          </p:sp>
        </p:grpSp>
        <p:sp>
          <p:nvSpPr>
            <p:cNvPr id="1211" name="Google Shape;1211;p74"/>
            <p:cNvSpPr txBox="1"/>
            <p:nvPr/>
          </p:nvSpPr>
          <p:spPr>
            <a:xfrm>
              <a:off x="6520070" y="4377546"/>
              <a:ext cx="503700" cy="379500"/>
            </a:xfrm>
            <a:prstGeom prst="rect">
              <a:avLst/>
            </a:prstGeom>
            <a:noFill/>
            <a:ln>
              <a:noFill/>
            </a:ln>
          </p:spPr>
          <p:txBody>
            <a:bodyPr anchorCtr="0" anchor="t" bIns="40125" lIns="80300" spcFirstLastPara="1" rIns="80300" wrap="square" tIns="40125">
              <a:spAutoFit/>
            </a:bodyPr>
            <a:lstStyle/>
            <a:p>
              <a:pPr indent="0" lvl="0" marL="0" marR="0" rtl="0" algn="ctr">
                <a:spcBef>
                  <a:spcPts val="0"/>
                </a:spcBef>
                <a:spcAft>
                  <a:spcPts val="0"/>
                </a:spcAft>
                <a:buNone/>
              </a:pPr>
              <a:r>
                <a:rPr b="1" lang="en" sz="1639">
                  <a:solidFill>
                    <a:schemeClr val="dk1"/>
                  </a:solidFill>
                  <a:latin typeface="Arial"/>
                  <a:ea typeface="Arial"/>
                  <a:cs typeface="Arial"/>
                  <a:sym typeface="Arial"/>
                </a:rPr>
                <a:t>M</a:t>
              </a:r>
              <a:endParaRPr b="1" sz="1639">
                <a:solidFill>
                  <a:schemeClr val="dk1"/>
                </a:solidFill>
                <a:latin typeface="Arial"/>
                <a:ea typeface="Arial"/>
                <a:cs typeface="Arial"/>
                <a:sym typeface="Arial"/>
              </a:endParaRPr>
            </a:p>
          </p:txBody>
        </p:sp>
        <p:sp>
          <p:nvSpPr>
            <p:cNvPr id="1212" name="Google Shape;1212;p74"/>
            <p:cNvSpPr txBox="1"/>
            <p:nvPr/>
          </p:nvSpPr>
          <p:spPr>
            <a:xfrm>
              <a:off x="7809946" y="3107641"/>
              <a:ext cx="503700" cy="379500"/>
            </a:xfrm>
            <a:prstGeom prst="rect">
              <a:avLst/>
            </a:prstGeom>
            <a:noFill/>
            <a:ln>
              <a:noFill/>
            </a:ln>
          </p:spPr>
          <p:txBody>
            <a:bodyPr anchorCtr="0" anchor="t" bIns="40125" lIns="80300" spcFirstLastPara="1" rIns="80300" wrap="square" tIns="40125">
              <a:spAutoFit/>
            </a:bodyPr>
            <a:lstStyle/>
            <a:p>
              <a:pPr indent="0" lvl="0" marL="0" marR="0" rtl="0" algn="ctr">
                <a:spcBef>
                  <a:spcPts val="0"/>
                </a:spcBef>
                <a:spcAft>
                  <a:spcPts val="0"/>
                </a:spcAft>
                <a:buNone/>
              </a:pPr>
              <a:r>
                <a:rPr b="1" lang="en" sz="1639">
                  <a:solidFill>
                    <a:schemeClr val="dk1"/>
                  </a:solidFill>
                  <a:latin typeface="Arial"/>
                  <a:ea typeface="Arial"/>
                  <a:cs typeface="Arial"/>
                  <a:sym typeface="Arial"/>
                </a:rPr>
                <a:t>K</a:t>
              </a:r>
              <a:endParaRPr b="1" sz="1639">
                <a:solidFill>
                  <a:schemeClr val="dk1"/>
                </a:solidFill>
                <a:latin typeface="Arial"/>
                <a:ea typeface="Arial"/>
                <a:cs typeface="Arial"/>
                <a:sym typeface="Arial"/>
              </a:endParaRPr>
            </a:p>
          </p:txBody>
        </p:sp>
        <p:sp>
          <p:nvSpPr>
            <p:cNvPr id="1213" name="Google Shape;1213;p74"/>
            <p:cNvSpPr txBox="1"/>
            <p:nvPr/>
          </p:nvSpPr>
          <p:spPr>
            <a:xfrm>
              <a:off x="10168283" y="1027906"/>
              <a:ext cx="503700" cy="379500"/>
            </a:xfrm>
            <a:prstGeom prst="rect">
              <a:avLst/>
            </a:prstGeom>
            <a:noFill/>
            <a:ln>
              <a:noFill/>
            </a:ln>
          </p:spPr>
          <p:txBody>
            <a:bodyPr anchorCtr="0" anchor="t" bIns="40125" lIns="80300" spcFirstLastPara="1" rIns="80300" wrap="square" tIns="40125">
              <a:spAutoFit/>
            </a:bodyPr>
            <a:lstStyle/>
            <a:p>
              <a:pPr indent="0" lvl="0" marL="0" marR="0" rtl="0" algn="ctr">
                <a:spcBef>
                  <a:spcPts val="0"/>
                </a:spcBef>
                <a:spcAft>
                  <a:spcPts val="0"/>
                </a:spcAft>
                <a:buNone/>
              </a:pPr>
              <a:r>
                <a:rPr b="1" lang="en" sz="1639">
                  <a:solidFill>
                    <a:schemeClr val="dk1"/>
                  </a:solidFill>
                  <a:latin typeface="Arial"/>
                  <a:ea typeface="Arial"/>
                  <a:cs typeface="Arial"/>
                  <a:sym typeface="Arial"/>
                </a:rPr>
                <a:t>N</a:t>
              </a:r>
              <a:endParaRPr b="1" sz="1639">
                <a:solidFill>
                  <a:schemeClr val="dk1"/>
                </a:solidFill>
                <a:latin typeface="Arial"/>
                <a:ea typeface="Arial"/>
                <a:cs typeface="Arial"/>
                <a:sym typeface="Arial"/>
              </a:endParaRPr>
            </a:p>
          </p:txBody>
        </p:sp>
        <p:sp>
          <p:nvSpPr>
            <p:cNvPr id="1214" name="Google Shape;1214;p74"/>
            <p:cNvSpPr txBox="1"/>
            <p:nvPr/>
          </p:nvSpPr>
          <p:spPr>
            <a:xfrm>
              <a:off x="8854878" y="2163968"/>
              <a:ext cx="503700" cy="379500"/>
            </a:xfrm>
            <a:prstGeom prst="rect">
              <a:avLst/>
            </a:prstGeom>
            <a:noFill/>
            <a:ln>
              <a:noFill/>
            </a:ln>
          </p:spPr>
          <p:txBody>
            <a:bodyPr anchorCtr="0" anchor="t" bIns="40125" lIns="80300" spcFirstLastPara="1" rIns="80300" wrap="square" tIns="40125">
              <a:spAutoFit/>
            </a:bodyPr>
            <a:lstStyle/>
            <a:p>
              <a:pPr indent="0" lvl="0" marL="0" marR="0" rtl="0" algn="ctr">
                <a:spcBef>
                  <a:spcPts val="0"/>
                </a:spcBef>
                <a:spcAft>
                  <a:spcPts val="0"/>
                </a:spcAft>
                <a:buNone/>
              </a:pPr>
              <a:r>
                <a:rPr b="1" lang="en" sz="1639">
                  <a:solidFill>
                    <a:schemeClr val="dk1"/>
                  </a:solidFill>
                  <a:latin typeface="Arial"/>
                  <a:ea typeface="Arial"/>
                  <a:cs typeface="Arial"/>
                  <a:sym typeface="Arial"/>
                </a:rPr>
                <a:t>K</a:t>
              </a:r>
              <a:endParaRPr b="1" sz="1639">
                <a:solidFill>
                  <a:schemeClr val="dk1"/>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7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GEMM memory load pattern</a:t>
            </a:r>
            <a:endParaRPr/>
          </a:p>
        </p:txBody>
      </p:sp>
      <p:grpSp>
        <p:nvGrpSpPr>
          <p:cNvPr id="1220" name="Google Shape;1220;p75"/>
          <p:cNvGrpSpPr/>
          <p:nvPr/>
        </p:nvGrpSpPr>
        <p:grpSpPr>
          <a:xfrm>
            <a:off x="5436152" y="996355"/>
            <a:ext cx="3577455" cy="3294264"/>
            <a:chOff x="6520070" y="1027906"/>
            <a:chExt cx="4769940" cy="4392352"/>
          </a:xfrm>
        </p:grpSpPr>
        <p:grpSp>
          <p:nvGrpSpPr>
            <p:cNvPr id="1221" name="Google Shape;1221;p75"/>
            <p:cNvGrpSpPr/>
            <p:nvPr/>
          </p:nvGrpSpPr>
          <p:grpSpPr>
            <a:xfrm>
              <a:off x="6988312" y="1364974"/>
              <a:ext cx="4301698" cy="4055284"/>
              <a:chOff x="1859721" y="64051"/>
              <a:chExt cx="6698490" cy="6314781"/>
            </a:xfrm>
          </p:grpSpPr>
          <p:grpSp>
            <p:nvGrpSpPr>
              <p:cNvPr id="1222" name="Google Shape;1222;p75"/>
              <p:cNvGrpSpPr/>
              <p:nvPr/>
            </p:nvGrpSpPr>
            <p:grpSpPr>
              <a:xfrm>
                <a:off x="1942213" y="3429000"/>
                <a:ext cx="2949827" cy="2941936"/>
                <a:chOff x="1325943" y="3095303"/>
                <a:chExt cx="3559747" cy="3550224"/>
              </a:xfrm>
            </p:grpSpPr>
            <p:sp>
              <p:nvSpPr>
                <p:cNvPr id="1223" name="Google Shape;1223;p75"/>
                <p:cNvSpPr/>
                <p:nvPr/>
              </p:nvSpPr>
              <p:spPr>
                <a:xfrm>
                  <a:off x="132594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224" name="Google Shape;1224;p75"/>
                <p:cNvSpPr/>
                <p:nvPr/>
              </p:nvSpPr>
              <p:spPr>
                <a:xfrm>
                  <a:off x="1770911"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225" name="Google Shape;1225;p75"/>
                <p:cNvSpPr/>
                <p:nvPr/>
              </p:nvSpPr>
              <p:spPr>
                <a:xfrm>
                  <a:off x="2215880"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226" name="Google Shape;1226;p75"/>
                <p:cNvSpPr/>
                <p:nvPr/>
              </p:nvSpPr>
              <p:spPr>
                <a:xfrm>
                  <a:off x="2660848"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227" name="Google Shape;1227;p75"/>
                <p:cNvSpPr/>
                <p:nvPr/>
              </p:nvSpPr>
              <p:spPr>
                <a:xfrm>
                  <a:off x="3105817"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228" name="Google Shape;1228;p75"/>
                <p:cNvSpPr/>
                <p:nvPr/>
              </p:nvSpPr>
              <p:spPr>
                <a:xfrm>
                  <a:off x="3550785"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229" name="Google Shape;1229;p75"/>
                <p:cNvSpPr/>
                <p:nvPr/>
              </p:nvSpPr>
              <p:spPr>
                <a:xfrm>
                  <a:off x="399575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230" name="Google Shape;1230;p75"/>
                <p:cNvSpPr/>
                <p:nvPr/>
              </p:nvSpPr>
              <p:spPr>
                <a:xfrm>
                  <a:off x="4440722"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231" name="Google Shape;1231;p75"/>
                <p:cNvSpPr/>
                <p:nvPr/>
              </p:nvSpPr>
              <p:spPr>
                <a:xfrm>
                  <a:off x="132594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232" name="Google Shape;1232;p75"/>
                <p:cNvSpPr/>
                <p:nvPr/>
              </p:nvSpPr>
              <p:spPr>
                <a:xfrm>
                  <a:off x="1770911"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233" name="Google Shape;1233;p75"/>
                <p:cNvSpPr/>
                <p:nvPr/>
              </p:nvSpPr>
              <p:spPr>
                <a:xfrm>
                  <a:off x="2215880"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234" name="Google Shape;1234;p75"/>
                <p:cNvSpPr/>
                <p:nvPr/>
              </p:nvSpPr>
              <p:spPr>
                <a:xfrm>
                  <a:off x="2660848"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235" name="Google Shape;1235;p75"/>
                <p:cNvSpPr/>
                <p:nvPr/>
              </p:nvSpPr>
              <p:spPr>
                <a:xfrm>
                  <a:off x="132594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236" name="Google Shape;1236;p75"/>
                <p:cNvSpPr/>
                <p:nvPr/>
              </p:nvSpPr>
              <p:spPr>
                <a:xfrm>
                  <a:off x="1770911"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237" name="Google Shape;1237;p75"/>
                <p:cNvSpPr/>
                <p:nvPr/>
              </p:nvSpPr>
              <p:spPr>
                <a:xfrm>
                  <a:off x="2215880"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238" name="Google Shape;1238;p75"/>
                <p:cNvSpPr/>
                <p:nvPr/>
              </p:nvSpPr>
              <p:spPr>
                <a:xfrm>
                  <a:off x="2660848"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239" name="Google Shape;1239;p75"/>
                <p:cNvSpPr/>
                <p:nvPr/>
              </p:nvSpPr>
              <p:spPr>
                <a:xfrm>
                  <a:off x="3105817"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240" name="Google Shape;1240;p75"/>
                <p:cNvSpPr/>
                <p:nvPr/>
              </p:nvSpPr>
              <p:spPr>
                <a:xfrm>
                  <a:off x="3550785"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241" name="Google Shape;1241;p75"/>
                <p:cNvSpPr/>
                <p:nvPr/>
              </p:nvSpPr>
              <p:spPr>
                <a:xfrm>
                  <a:off x="399575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242" name="Google Shape;1242;p75"/>
                <p:cNvSpPr/>
                <p:nvPr/>
              </p:nvSpPr>
              <p:spPr>
                <a:xfrm>
                  <a:off x="4440722"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243" name="Google Shape;1243;p75"/>
                <p:cNvSpPr/>
                <p:nvPr/>
              </p:nvSpPr>
              <p:spPr>
                <a:xfrm>
                  <a:off x="132594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244" name="Google Shape;1244;p75"/>
                <p:cNvSpPr/>
                <p:nvPr/>
              </p:nvSpPr>
              <p:spPr>
                <a:xfrm>
                  <a:off x="1770911"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245" name="Google Shape;1245;p75"/>
                <p:cNvSpPr/>
                <p:nvPr/>
              </p:nvSpPr>
              <p:spPr>
                <a:xfrm>
                  <a:off x="2215880"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246" name="Google Shape;1246;p75"/>
                <p:cNvSpPr/>
                <p:nvPr/>
              </p:nvSpPr>
              <p:spPr>
                <a:xfrm>
                  <a:off x="2660848"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247" name="Google Shape;1247;p75"/>
                <p:cNvSpPr/>
                <p:nvPr/>
              </p:nvSpPr>
              <p:spPr>
                <a:xfrm>
                  <a:off x="3105817"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248" name="Google Shape;1248;p75"/>
                <p:cNvSpPr/>
                <p:nvPr/>
              </p:nvSpPr>
              <p:spPr>
                <a:xfrm>
                  <a:off x="3550785"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249" name="Google Shape;1249;p75"/>
                <p:cNvSpPr/>
                <p:nvPr/>
              </p:nvSpPr>
              <p:spPr>
                <a:xfrm>
                  <a:off x="399575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250" name="Google Shape;1250;p75"/>
                <p:cNvSpPr/>
                <p:nvPr/>
              </p:nvSpPr>
              <p:spPr>
                <a:xfrm>
                  <a:off x="4440722"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251" name="Google Shape;1251;p75"/>
                <p:cNvSpPr/>
                <p:nvPr/>
              </p:nvSpPr>
              <p:spPr>
                <a:xfrm>
                  <a:off x="3105817"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252" name="Google Shape;1252;p75"/>
                <p:cNvSpPr/>
                <p:nvPr/>
              </p:nvSpPr>
              <p:spPr>
                <a:xfrm>
                  <a:off x="3550785"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253" name="Google Shape;1253;p75"/>
                <p:cNvSpPr/>
                <p:nvPr/>
              </p:nvSpPr>
              <p:spPr>
                <a:xfrm>
                  <a:off x="399575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254" name="Google Shape;1254;p75"/>
                <p:cNvSpPr/>
                <p:nvPr/>
              </p:nvSpPr>
              <p:spPr>
                <a:xfrm>
                  <a:off x="4440722"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255" name="Google Shape;1255;p75"/>
                <p:cNvSpPr/>
                <p:nvPr/>
              </p:nvSpPr>
              <p:spPr>
                <a:xfrm>
                  <a:off x="132594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256" name="Google Shape;1256;p75"/>
                <p:cNvSpPr/>
                <p:nvPr/>
              </p:nvSpPr>
              <p:spPr>
                <a:xfrm>
                  <a:off x="1770911"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257" name="Google Shape;1257;p75"/>
                <p:cNvSpPr/>
                <p:nvPr/>
              </p:nvSpPr>
              <p:spPr>
                <a:xfrm>
                  <a:off x="2215880"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258" name="Google Shape;1258;p75"/>
                <p:cNvSpPr/>
                <p:nvPr/>
              </p:nvSpPr>
              <p:spPr>
                <a:xfrm>
                  <a:off x="2660848"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259" name="Google Shape;1259;p75"/>
                <p:cNvSpPr/>
                <p:nvPr/>
              </p:nvSpPr>
              <p:spPr>
                <a:xfrm>
                  <a:off x="3105817"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260" name="Google Shape;1260;p75"/>
                <p:cNvSpPr/>
                <p:nvPr/>
              </p:nvSpPr>
              <p:spPr>
                <a:xfrm>
                  <a:off x="3550785"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261" name="Google Shape;1261;p75"/>
                <p:cNvSpPr/>
                <p:nvPr/>
              </p:nvSpPr>
              <p:spPr>
                <a:xfrm>
                  <a:off x="399575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262" name="Google Shape;1262;p75"/>
                <p:cNvSpPr/>
                <p:nvPr/>
              </p:nvSpPr>
              <p:spPr>
                <a:xfrm>
                  <a:off x="4440722"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263" name="Google Shape;1263;p75"/>
                <p:cNvSpPr/>
                <p:nvPr/>
              </p:nvSpPr>
              <p:spPr>
                <a:xfrm>
                  <a:off x="132594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264" name="Google Shape;1264;p75"/>
                <p:cNvSpPr/>
                <p:nvPr/>
              </p:nvSpPr>
              <p:spPr>
                <a:xfrm>
                  <a:off x="1770911"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265" name="Google Shape;1265;p75"/>
                <p:cNvSpPr/>
                <p:nvPr/>
              </p:nvSpPr>
              <p:spPr>
                <a:xfrm>
                  <a:off x="2215880"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266" name="Google Shape;1266;p75"/>
                <p:cNvSpPr/>
                <p:nvPr/>
              </p:nvSpPr>
              <p:spPr>
                <a:xfrm>
                  <a:off x="2660848"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267" name="Google Shape;1267;p75"/>
                <p:cNvSpPr/>
                <p:nvPr/>
              </p:nvSpPr>
              <p:spPr>
                <a:xfrm>
                  <a:off x="132594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268" name="Google Shape;1268;p75"/>
                <p:cNvSpPr/>
                <p:nvPr/>
              </p:nvSpPr>
              <p:spPr>
                <a:xfrm>
                  <a:off x="1770911"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269" name="Google Shape;1269;p75"/>
                <p:cNvSpPr/>
                <p:nvPr/>
              </p:nvSpPr>
              <p:spPr>
                <a:xfrm>
                  <a:off x="2215880"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270" name="Google Shape;1270;p75"/>
                <p:cNvSpPr/>
                <p:nvPr/>
              </p:nvSpPr>
              <p:spPr>
                <a:xfrm>
                  <a:off x="2660848"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271" name="Google Shape;1271;p75"/>
                <p:cNvSpPr/>
                <p:nvPr/>
              </p:nvSpPr>
              <p:spPr>
                <a:xfrm>
                  <a:off x="3105817"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272" name="Google Shape;1272;p75"/>
                <p:cNvSpPr/>
                <p:nvPr/>
              </p:nvSpPr>
              <p:spPr>
                <a:xfrm>
                  <a:off x="3550785"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273" name="Google Shape;1273;p75"/>
                <p:cNvSpPr/>
                <p:nvPr/>
              </p:nvSpPr>
              <p:spPr>
                <a:xfrm>
                  <a:off x="399575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274" name="Google Shape;1274;p75"/>
                <p:cNvSpPr/>
                <p:nvPr/>
              </p:nvSpPr>
              <p:spPr>
                <a:xfrm>
                  <a:off x="4440722"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275" name="Google Shape;1275;p75"/>
                <p:cNvSpPr/>
                <p:nvPr/>
              </p:nvSpPr>
              <p:spPr>
                <a:xfrm>
                  <a:off x="132594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276" name="Google Shape;1276;p75"/>
                <p:cNvSpPr/>
                <p:nvPr/>
              </p:nvSpPr>
              <p:spPr>
                <a:xfrm>
                  <a:off x="1770911"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277" name="Google Shape;1277;p75"/>
                <p:cNvSpPr/>
                <p:nvPr/>
              </p:nvSpPr>
              <p:spPr>
                <a:xfrm>
                  <a:off x="2215880"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278" name="Google Shape;1278;p75"/>
                <p:cNvSpPr/>
                <p:nvPr/>
              </p:nvSpPr>
              <p:spPr>
                <a:xfrm>
                  <a:off x="2660848"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279" name="Google Shape;1279;p75"/>
                <p:cNvSpPr/>
                <p:nvPr/>
              </p:nvSpPr>
              <p:spPr>
                <a:xfrm>
                  <a:off x="3105817"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280" name="Google Shape;1280;p75"/>
                <p:cNvSpPr/>
                <p:nvPr/>
              </p:nvSpPr>
              <p:spPr>
                <a:xfrm>
                  <a:off x="3550785"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281" name="Google Shape;1281;p75"/>
                <p:cNvSpPr/>
                <p:nvPr/>
              </p:nvSpPr>
              <p:spPr>
                <a:xfrm>
                  <a:off x="399575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282" name="Google Shape;1282;p75"/>
                <p:cNvSpPr/>
                <p:nvPr/>
              </p:nvSpPr>
              <p:spPr>
                <a:xfrm>
                  <a:off x="4440722"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283" name="Google Shape;1283;p75"/>
                <p:cNvSpPr/>
                <p:nvPr/>
              </p:nvSpPr>
              <p:spPr>
                <a:xfrm>
                  <a:off x="3105817"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284" name="Google Shape;1284;p75"/>
                <p:cNvSpPr/>
                <p:nvPr/>
              </p:nvSpPr>
              <p:spPr>
                <a:xfrm>
                  <a:off x="3550785"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285" name="Google Shape;1285;p75"/>
                <p:cNvSpPr/>
                <p:nvPr/>
              </p:nvSpPr>
              <p:spPr>
                <a:xfrm>
                  <a:off x="399575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286" name="Google Shape;1286;p75"/>
                <p:cNvSpPr/>
                <p:nvPr/>
              </p:nvSpPr>
              <p:spPr>
                <a:xfrm>
                  <a:off x="4440722"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287" name="Google Shape;1287;p75"/>
              <p:cNvGrpSpPr/>
              <p:nvPr/>
            </p:nvGrpSpPr>
            <p:grpSpPr>
              <a:xfrm>
                <a:off x="5608384" y="114140"/>
                <a:ext cx="2949827" cy="2941936"/>
                <a:chOff x="5608384" y="114140"/>
                <a:chExt cx="2949827" cy="2941936"/>
              </a:xfrm>
            </p:grpSpPr>
            <p:sp>
              <p:nvSpPr>
                <p:cNvPr id="1288" name="Google Shape;1288;p75"/>
                <p:cNvSpPr/>
                <p:nvPr/>
              </p:nvSpPr>
              <p:spPr>
                <a:xfrm>
                  <a:off x="5608384"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289" name="Google Shape;1289;p75"/>
                <p:cNvSpPr/>
                <p:nvPr/>
              </p:nvSpPr>
              <p:spPr>
                <a:xfrm>
                  <a:off x="5977112"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290" name="Google Shape;1290;p75"/>
                <p:cNvSpPr/>
                <p:nvPr/>
              </p:nvSpPr>
              <p:spPr>
                <a:xfrm>
                  <a:off x="6345841"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291" name="Google Shape;1291;p75"/>
                <p:cNvSpPr/>
                <p:nvPr/>
              </p:nvSpPr>
              <p:spPr>
                <a:xfrm>
                  <a:off x="6714569"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292" name="Google Shape;1292;p75"/>
                <p:cNvSpPr/>
                <p:nvPr/>
              </p:nvSpPr>
              <p:spPr>
                <a:xfrm>
                  <a:off x="7083298"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293" name="Google Shape;1293;p75"/>
                <p:cNvSpPr/>
                <p:nvPr/>
              </p:nvSpPr>
              <p:spPr>
                <a:xfrm>
                  <a:off x="7452026"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294" name="Google Shape;1294;p75"/>
                <p:cNvSpPr/>
                <p:nvPr/>
              </p:nvSpPr>
              <p:spPr>
                <a:xfrm>
                  <a:off x="7820754"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295" name="Google Shape;1295;p75"/>
                <p:cNvSpPr/>
                <p:nvPr/>
              </p:nvSpPr>
              <p:spPr>
                <a:xfrm>
                  <a:off x="8189483"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296" name="Google Shape;1296;p75"/>
                <p:cNvSpPr/>
                <p:nvPr/>
              </p:nvSpPr>
              <p:spPr>
                <a:xfrm>
                  <a:off x="5608384"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297" name="Google Shape;1297;p75"/>
                <p:cNvSpPr/>
                <p:nvPr/>
              </p:nvSpPr>
              <p:spPr>
                <a:xfrm>
                  <a:off x="5977112"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298" name="Google Shape;1298;p75"/>
                <p:cNvSpPr/>
                <p:nvPr/>
              </p:nvSpPr>
              <p:spPr>
                <a:xfrm>
                  <a:off x="6345841"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299" name="Google Shape;1299;p75"/>
                <p:cNvSpPr/>
                <p:nvPr/>
              </p:nvSpPr>
              <p:spPr>
                <a:xfrm>
                  <a:off x="6714569"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300" name="Google Shape;1300;p75"/>
                <p:cNvSpPr/>
                <p:nvPr/>
              </p:nvSpPr>
              <p:spPr>
                <a:xfrm>
                  <a:off x="5608384"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301" name="Google Shape;1301;p75"/>
                <p:cNvSpPr/>
                <p:nvPr/>
              </p:nvSpPr>
              <p:spPr>
                <a:xfrm>
                  <a:off x="5977112"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302" name="Google Shape;1302;p75"/>
                <p:cNvSpPr/>
                <p:nvPr/>
              </p:nvSpPr>
              <p:spPr>
                <a:xfrm>
                  <a:off x="6345841"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303" name="Google Shape;1303;p75"/>
                <p:cNvSpPr/>
                <p:nvPr/>
              </p:nvSpPr>
              <p:spPr>
                <a:xfrm>
                  <a:off x="6714569"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304" name="Google Shape;1304;p75"/>
                <p:cNvSpPr/>
                <p:nvPr/>
              </p:nvSpPr>
              <p:spPr>
                <a:xfrm>
                  <a:off x="7083298"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305" name="Google Shape;1305;p75"/>
                <p:cNvSpPr/>
                <p:nvPr/>
              </p:nvSpPr>
              <p:spPr>
                <a:xfrm>
                  <a:off x="7452026"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306" name="Google Shape;1306;p75"/>
                <p:cNvSpPr/>
                <p:nvPr/>
              </p:nvSpPr>
              <p:spPr>
                <a:xfrm>
                  <a:off x="7820754"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307" name="Google Shape;1307;p75"/>
                <p:cNvSpPr/>
                <p:nvPr/>
              </p:nvSpPr>
              <p:spPr>
                <a:xfrm>
                  <a:off x="8189483"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308" name="Google Shape;1308;p75"/>
                <p:cNvSpPr/>
                <p:nvPr/>
              </p:nvSpPr>
              <p:spPr>
                <a:xfrm>
                  <a:off x="5608384"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309" name="Google Shape;1309;p75"/>
                <p:cNvSpPr/>
                <p:nvPr/>
              </p:nvSpPr>
              <p:spPr>
                <a:xfrm>
                  <a:off x="5977112"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310" name="Google Shape;1310;p75"/>
                <p:cNvSpPr/>
                <p:nvPr/>
              </p:nvSpPr>
              <p:spPr>
                <a:xfrm>
                  <a:off x="6345841"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311" name="Google Shape;1311;p75"/>
                <p:cNvSpPr/>
                <p:nvPr/>
              </p:nvSpPr>
              <p:spPr>
                <a:xfrm>
                  <a:off x="6714569"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312" name="Google Shape;1312;p75"/>
                <p:cNvSpPr/>
                <p:nvPr/>
              </p:nvSpPr>
              <p:spPr>
                <a:xfrm>
                  <a:off x="7083298"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313" name="Google Shape;1313;p75"/>
                <p:cNvSpPr/>
                <p:nvPr/>
              </p:nvSpPr>
              <p:spPr>
                <a:xfrm>
                  <a:off x="7452026"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314" name="Google Shape;1314;p75"/>
                <p:cNvSpPr/>
                <p:nvPr/>
              </p:nvSpPr>
              <p:spPr>
                <a:xfrm>
                  <a:off x="7820754"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315" name="Google Shape;1315;p75"/>
                <p:cNvSpPr/>
                <p:nvPr/>
              </p:nvSpPr>
              <p:spPr>
                <a:xfrm>
                  <a:off x="8189483"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316" name="Google Shape;1316;p75"/>
                <p:cNvSpPr/>
                <p:nvPr/>
              </p:nvSpPr>
              <p:spPr>
                <a:xfrm>
                  <a:off x="7083298"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317" name="Google Shape;1317;p75"/>
                <p:cNvSpPr/>
                <p:nvPr/>
              </p:nvSpPr>
              <p:spPr>
                <a:xfrm>
                  <a:off x="7452026"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318" name="Google Shape;1318;p75"/>
                <p:cNvSpPr/>
                <p:nvPr/>
              </p:nvSpPr>
              <p:spPr>
                <a:xfrm>
                  <a:off x="7820754"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319" name="Google Shape;1319;p75"/>
                <p:cNvSpPr/>
                <p:nvPr/>
              </p:nvSpPr>
              <p:spPr>
                <a:xfrm>
                  <a:off x="8189483"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320" name="Google Shape;1320;p75"/>
                <p:cNvSpPr/>
                <p:nvPr/>
              </p:nvSpPr>
              <p:spPr>
                <a:xfrm>
                  <a:off x="5608384"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321" name="Google Shape;1321;p75"/>
                <p:cNvSpPr/>
                <p:nvPr/>
              </p:nvSpPr>
              <p:spPr>
                <a:xfrm>
                  <a:off x="5977112"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322" name="Google Shape;1322;p75"/>
                <p:cNvSpPr/>
                <p:nvPr/>
              </p:nvSpPr>
              <p:spPr>
                <a:xfrm>
                  <a:off x="6345841"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323" name="Google Shape;1323;p75"/>
                <p:cNvSpPr/>
                <p:nvPr/>
              </p:nvSpPr>
              <p:spPr>
                <a:xfrm>
                  <a:off x="6714569"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324" name="Google Shape;1324;p75"/>
                <p:cNvSpPr/>
                <p:nvPr/>
              </p:nvSpPr>
              <p:spPr>
                <a:xfrm>
                  <a:off x="7083298"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325" name="Google Shape;1325;p75"/>
                <p:cNvSpPr/>
                <p:nvPr/>
              </p:nvSpPr>
              <p:spPr>
                <a:xfrm>
                  <a:off x="7452026"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326" name="Google Shape;1326;p75"/>
                <p:cNvSpPr/>
                <p:nvPr/>
              </p:nvSpPr>
              <p:spPr>
                <a:xfrm>
                  <a:off x="7820754"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327" name="Google Shape;1327;p75"/>
                <p:cNvSpPr/>
                <p:nvPr/>
              </p:nvSpPr>
              <p:spPr>
                <a:xfrm>
                  <a:off x="8189483"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328" name="Google Shape;1328;p75"/>
                <p:cNvSpPr/>
                <p:nvPr/>
              </p:nvSpPr>
              <p:spPr>
                <a:xfrm>
                  <a:off x="5608384"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329" name="Google Shape;1329;p75"/>
                <p:cNvSpPr/>
                <p:nvPr/>
              </p:nvSpPr>
              <p:spPr>
                <a:xfrm>
                  <a:off x="5977112"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330" name="Google Shape;1330;p75"/>
                <p:cNvSpPr/>
                <p:nvPr/>
              </p:nvSpPr>
              <p:spPr>
                <a:xfrm>
                  <a:off x="6345841"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331" name="Google Shape;1331;p75"/>
                <p:cNvSpPr/>
                <p:nvPr/>
              </p:nvSpPr>
              <p:spPr>
                <a:xfrm>
                  <a:off x="6714569"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332" name="Google Shape;1332;p75"/>
                <p:cNvSpPr/>
                <p:nvPr/>
              </p:nvSpPr>
              <p:spPr>
                <a:xfrm>
                  <a:off x="5608384"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333" name="Google Shape;1333;p75"/>
                <p:cNvSpPr/>
                <p:nvPr/>
              </p:nvSpPr>
              <p:spPr>
                <a:xfrm>
                  <a:off x="5977112"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334" name="Google Shape;1334;p75"/>
                <p:cNvSpPr/>
                <p:nvPr/>
              </p:nvSpPr>
              <p:spPr>
                <a:xfrm>
                  <a:off x="6345841"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335" name="Google Shape;1335;p75"/>
                <p:cNvSpPr/>
                <p:nvPr/>
              </p:nvSpPr>
              <p:spPr>
                <a:xfrm>
                  <a:off x="6714569"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336" name="Google Shape;1336;p75"/>
                <p:cNvSpPr/>
                <p:nvPr/>
              </p:nvSpPr>
              <p:spPr>
                <a:xfrm>
                  <a:off x="7083298"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337" name="Google Shape;1337;p75"/>
                <p:cNvSpPr/>
                <p:nvPr/>
              </p:nvSpPr>
              <p:spPr>
                <a:xfrm>
                  <a:off x="7452026"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338" name="Google Shape;1338;p75"/>
                <p:cNvSpPr/>
                <p:nvPr/>
              </p:nvSpPr>
              <p:spPr>
                <a:xfrm>
                  <a:off x="7820754"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339" name="Google Shape;1339;p75"/>
                <p:cNvSpPr/>
                <p:nvPr/>
              </p:nvSpPr>
              <p:spPr>
                <a:xfrm>
                  <a:off x="8189483"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340" name="Google Shape;1340;p75"/>
                <p:cNvSpPr/>
                <p:nvPr/>
              </p:nvSpPr>
              <p:spPr>
                <a:xfrm>
                  <a:off x="5608384"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341" name="Google Shape;1341;p75"/>
                <p:cNvSpPr/>
                <p:nvPr/>
              </p:nvSpPr>
              <p:spPr>
                <a:xfrm>
                  <a:off x="5977112"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342" name="Google Shape;1342;p75"/>
                <p:cNvSpPr/>
                <p:nvPr/>
              </p:nvSpPr>
              <p:spPr>
                <a:xfrm>
                  <a:off x="6345841"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343" name="Google Shape;1343;p75"/>
                <p:cNvSpPr/>
                <p:nvPr/>
              </p:nvSpPr>
              <p:spPr>
                <a:xfrm>
                  <a:off x="6714569"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344" name="Google Shape;1344;p75"/>
                <p:cNvSpPr/>
                <p:nvPr/>
              </p:nvSpPr>
              <p:spPr>
                <a:xfrm>
                  <a:off x="7083298"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345" name="Google Shape;1345;p75"/>
                <p:cNvSpPr/>
                <p:nvPr/>
              </p:nvSpPr>
              <p:spPr>
                <a:xfrm>
                  <a:off x="7452026"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346" name="Google Shape;1346;p75"/>
                <p:cNvSpPr/>
                <p:nvPr/>
              </p:nvSpPr>
              <p:spPr>
                <a:xfrm>
                  <a:off x="7820754"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347" name="Google Shape;1347;p75"/>
                <p:cNvSpPr/>
                <p:nvPr/>
              </p:nvSpPr>
              <p:spPr>
                <a:xfrm>
                  <a:off x="8189483"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348" name="Google Shape;1348;p75"/>
                <p:cNvSpPr/>
                <p:nvPr/>
              </p:nvSpPr>
              <p:spPr>
                <a:xfrm>
                  <a:off x="7083298"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349" name="Google Shape;1349;p75"/>
                <p:cNvSpPr/>
                <p:nvPr/>
              </p:nvSpPr>
              <p:spPr>
                <a:xfrm>
                  <a:off x="7452026"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350" name="Google Shape;1350;p75"/>
                <p:cNvSpPr/>
                <p:nvPr/>
              </p:nvSpPr>
              <p:spPr>
                <a:xfrm>
                  <a:off x="7820754"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351" name="Google Shape;1351;p75"/>
                <p:cNvSpPr/>
                <p:nvPr/>
              </p:nvSpPr>
              <p:spPr>
                <a:xfrm>
                  <a:off x="8189483"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352" name="Google Shape;1352;p75"/>
              <p:cNvGrpSpPr/>
              <p:nvPr/>
            </p:nvGrpSpPr>
            <p:grpSpPr>
              <a:xfrm>
                <a:off x="5605352" y="3429000"/>
                <a:ext cx="2948568" cy="2949832"/>
                <a:chOff x="5605352" y="3429000"/>
                <a:chExt cx="2948568" cy="2949832"/>
              </a:xfrm>
            </p:grpSpPr>
            <p:sp>
              <p:nvSpPr>
                <p:cNvPr id="1353" name="Google Shape;1353;p75"/>
                <p:cNvSpPr/>
                <p:nvPr/>
              </p:nvSpPr>
              <p:spPr>
                <a:xfrm>
                  <a:off x="5605352" y="3429000"/>
                  <a:ext cx="368728" cy="368729"/>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4" name="Google Shape;1354;p75"/>
                <p:cNvSpPr/>
                <p:nvPr/>
              </p:nvSpPr>
              <p:spPr>
                <a:xfrm>
                  <a:off x="5974080"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5" name="Google Shape;1355;p75"/>
                <p:cNvSpPr/>
                <p:nvPr/>
              </p:nvSpPr>
              <p:spPr>
                <a:xfrm>
                  <a:off x="63428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6" name="Google Shape;1356;p75"/>
                <p:cNvSpPr/>
                <p:nvPr/>
              </p:nvSpPr>
              <p:spPr>
                <a:xfrm>
                  <a:off x="67115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7" name="Google Shape;1357;p75"/>
                <p:cNvSpPr/>
                <p:nvPr/>
              </p:nvSpPr>
              <p:spPr>
                <a:xfrm>
                  <a:off x="70790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8" name="Google Shape;1358;p75"/>
                <p:cNvSpPr/>
                <p:nvPr/>
              </p:nvSpPr>
              <p:spPr>
                <a:xfrm>
                  <a:off x="74477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59" name="Google Shape;1359;p75"/>
                <p:cNvSpPr/>
                <p:nvPr/>
              </p:nvSpPr>
              <p:spPr>
                <a:xfrm>
                  <a:off x="7816464"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0" name="Google Shape;1360;p75"/>
                <p:cNvSpPr/>
                <p:nvPr/>
              </p:nvSpPr>
              <p:spPr>
                <a:xfrm>
                  <a:off x="8185192"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1" name="Google Shape;1361;p75"/>
                <p:cNvSpPr/>
                <p:nvPr/>
              </p:nvSpPr>
              <p:spPr>
                <a:xfrm>
                  <a:off x="560535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2" name="Google Shape;1362;p75"/>
                <p:cNvSpPr/>
                <p:nvPr/>
              </p:nvSpPr>
              <p:spPr>
                <a:xfrm>
                  <a:off x="5974080"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3" name="Google Shape;1363;p75"/>
                <p:cNvSpPr/>
                <p:nvPr/>
              </p:nvSpPr>
              <p:spPr>
                <a:xfrm>
                  <a:off x="63428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4" name="Google Shape;1364;p75"/>
                <p:cNvSpPr/>
                <p:nvPr/>
              </p:nvSpPr>
              <p:spPr>
                <a:xfrm>
                  <a:off x="67115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5" name="Google Shape;1365;p75"/>
                <p:cNvSpPr/>
                <p:nvPr/>
              </p:nvSpPr>
              <p:spPr>
                <a:xfrm>
                  <a:off x="70790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6" name="Google Shape;1366;p75"/>
                <p:cNvSpPr/>
                <p:nvPr/>
              </p:nvSpPr>
              <p:spPr>
                <a:xfrm>
                  <a:off x="74477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7" name="Google Shape;1367;p75"/>
                <p:cNvSpPr/>
                <p:nvPr/>
              </p:nvSpPr>
              <p:spPr>
                <a:xfrm>
                  <a:off x="7816464"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8" name="Google Shape;1368;p75"/>
                <p:cNvSpPr/>
                <p:nvPr/>
              </p:nvSpPr>
              <p:spPr>
                <a:xfrm>
                  <a:off x="818519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69" name="Google Shape;1369;p75"/>
                <p:cNvSpPr/>
                <p:nvPr/>
              </p:nvSpPr>
              <p:spPr>
                <a:xfrm>
                  <a:off x="560535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0" name="Google Shape;1370;p75"/>
                <p:cNvSpPr/>
                <p:nvPr/>
              </p:nvSpPr>
              <p:spPr>
                <a:xfrm>
                  <a:off x="5974080"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1" name="Google Shape;1371;p75"/>
                <p:cNvSpPr/>
                <p:nvPr/>
              </p:nvSpPr>
              <p:spPr>
                <a:xfrm>
                  <a:off x="63428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2" name="Google Shape;1372;p75"/>
                <p:cNvSpPr/>
                <p:nvPr/>
              </p:nvSpPr>
              <p:spPr>
                <a:xfrm>
                  <a:off x="67115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3" name="Google Shape;1373;p75"/>
                <p:cNvSpPr/>
                <p:nvPr/>
              </p:nvSpPr>
              <p:spPr>
                <a:xfrm>
                  <a:off x="70790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4" name="Google Shape;1374;p75"/>
                <p:cNvSpPr/>
                <p:nvPr/>
              </p:nvSpPr>
              <p:spPr>
                <a:xfrm>
                  <a:off x="74477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5" name="Google Shape;1375;p75"/>
                <p:cNvSpPr/>
                <p:nvPr/>
              </p:nvSpPr>
              <p:spPr>
                <a:xfrm>
                  <a:off x="7816464"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6" name="Google Shape;1376;p75"/>
                <p:cNvSpPr/>
                <p:nvPr/>
              </p:nvSpPr>
              <p:spPr>
                <a:xfrm>
                  <a:off x="818519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7" name="Google Shape;1377;p75"/>
                <p:cNvSpPr/>
                <p:nvPr/>
              </p:nvSpPr>
              <p:spPr>
                <a:xfrm>
                  <a:off x="560535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8" name="Google Shape;1378;p75"/>
                <p:cNvSpPr/>
                <p:nvPr/>
              </p:nvSpPr>
              <p:spPr>
                <a:xfrm>
                  <a:off x="5974080"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79" name="Google Shape;1379;p75"/>
                <p:cNvSpPr/>
                <p:nvPr/>
              </p:nvSpPr>
              <p:spPr>
                <a:xfrm>
                  <a:off x="63428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0" name="Google Shape;1380;p75"/>
                <p:cNvSpPr/>
                <p:nvPr/>
              </p:nvSpPr>
              <p:spPr>
                <a:xfrm>
                  <a:off x="67115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1" name="Google Shape;1381;p75"/>
                <p:cNvSpPr/>
                <p:nvPr/>
              </p:nvSpPr>
              <p:spPr>
                <a:xfrm>
                  <a:off x="70790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2" name="Google Shape;1382;p75"/>
                <p:cNvSpPr/>
                <p:nvPr/>
              </p:nvSpPr>
              <p:spPr>
                <a:xfrm>
                  <a:off x="74477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3" name="Google Shape;1383;p75"/>
                <p:cNvSpPr/>
                <p:nvPr/>
              </p:nvSpPr>
              <p:spPr>
                <a:xfrm>
                  <a:off x="7816464"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4" name="Google Shape;1384;p75"/>
                <p:cNvSpPr/>
                <p:nvPr/>
              </p:nvSpPr>
              <p:spPr>
                <a:xfrm>
                  <a:off x="818519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5" name="Google Shape;1385;p75"/>
                <p:cNvSpPr/>
                <p:nvPr/>
              </p:nvSpPr>
              <p:spPr>
                <a:xfrm>
                  <a:off x="560535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6" name="Google Shape;1386;p75"/>
                <p:cNvSpPr/>
                <p:nvPr/>
              </p:nvSpPr>
              <p:spPr>
                <a:xfrm>
                  <a:off x="5974080"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7" name="Google Shape;1387;p75"/>
                <p:cNvSpPr/>
                <p:nvPr/>
              </p:nvSpPr>
              <p:spPr>
                <a:xfrm>
                  <a:off x="63428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8" name="Google Shape;1388;p75"/>
                <p:cNvSpPr/>
                <p:nvPr/>
              </p:nvSpPr>
              <p:spPr>
                <a:xfrm>
                  <a:off x="67115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89" name="Google Shape;1389;p75"/>
                <p:cNvSpPr/>
                <p:nvPr/>
              </p:nvSpPr>
              <p:spPr>
                <a:xfrm>
                  <a:off x="70790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0" name="Google Shape;1390;p75"/>
                <p:cNvSpPr/>
                <p:nvPr/>
              </p:nvSpPr>
              <p:spPr>
                <a:xfrm>
                  <a:off x="74477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1" name="Google Shape;1391;p75"/>
                <p:cNvSpPr/>
                <p:nvPr/>
              </p:nvSpPr>
              <p:spPr>
                <a:xfrm>
                  <a:off x="7816464"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2" name="Google Shape;1392;p75"/>
                <p:cNvSpPr/>
                <p:nvPr/>
              </p:nvSpPr>
              <p:spPr>
                <a:xfrm>
                  <a:off x="818519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3" name="Google Shape;1393;p75"/>
                <p:cNvSpPr/>
                <p:nvPr/>
              </p:nvSpPr>
              <p:spPr>
                <a:xfrm>
                  <a:off x="560535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4" name="Google Shape;1394;p75"/>
                <p:cNvSpPr/>
                <p:nvPr/>
              </p:nvSpPr>
              <p:spPr>
                <a:xfrm>
                  <a:off x="5974080"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5" name="Google Shape;1395;p75"/>
                <p:cNvSpPr/>
                <p:nvPr/>
              </p:nvSpPr>
              <p:spPr>
                <a:xfrm>
                  <a:off x="63428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6" name="Google Shape;1396;p75"/>
                <p:cNvSpPr/>
                <p:nvPr/>
              </p:nvSpPr>
              <p:spPr>
                <a:xfrm>
                  <a:off x="67115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7" name="Google Shape;1397;p75"/>
                <p:cNvSpPr/>
                <p:nvPr/>
              </p:nvSpPr>
              <p:spPr>
                <a:xfrm>
                  <a:off x="70790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8" name="Google Shape;1398;p75"/>
                <p:cNvSpPr/>
                <p:nvPr/>
              </p:nvSpPr>
              <p:spPr>
                <a:xfrm>
                  <a:off x="74477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399" name="Google Shape;1399;p75"/>
                <p:cNvSpPr/>
                <p:nvPr/>
              </p:nvSpPr>
              <p:spPr>
                <a:xfrm>
                  <a:off x="7816464"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0" name="Google Shape;1400;p75"/>
                <p:cNvSpPr/>
                <p:nvPr/>
              </p:nvSpPr>
              <p:spPr>
                <a:xfrm>
                  <a:off x="818519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1" name="Google Shape;1401;p75"/>
                <p:cNvSpPr/>
                <p:nvPr/>
              </p:nvSpPr>
              <p:spPr>
                <a:xfrm>
                  <a:off x="560535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2" name="Google Shape;1402;p75"/>
                <p:cNvSpPr/>
                <p:nvPr/>
              </p:nvSpPr>
              <p:spPr>
                <a:xfrm>
                  <a:off x="5974080"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3" name="Google Shape;1403;p75"/>
                <p:cNvSpPr/>
                <p:nvPr/>
              </p:nvSpPr>
              <p:spPr>
                <a:xfrm>
                  <a:off x="63428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4" name="Google Shape;1404;p75"/>
                <p:cNvSpPr/>
                <p:nvPr/>
              </p:nvSpPr>
              <p:spPr>
                <a:xfrm>
                  <a:off x="67115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5" name="Google Shape;1405;p75"/>
                <p:cNvSpPr/>
                <p:nvPr/>
              </p:nvSpPr>
              <p:spPr>
                <a:xfrm>
                  <a:off x="70790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6" name="Google Shape;1406;p75"/>
                <p:cNvSpPr/>
                <p:nvPr/>
              </p:nvSpPr>
              <p:spPr>
                <a:xfrm>
                  <a:off x="74477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7" name="Google Shape;1407;p75"/>
                <p:cNvSpPr/>
                <p:nvPr/>
              </p:nvSpPr>
              <p:spPr>
                <a:xfrm>
                  <a:off x="7816464"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8" name="Google Shape;1408;p75"/>
                <p:cNvSpPr/>
                <p:nvPr/>
              </p:nvSpPr>
              <p:spPr>
                <a:xfrm>
                  <a:off x="818519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09" name="Google Shape;1409;p75"/>
                <p:cNvSpPr/>
                <p:nvPr/>
              </p:nvSpPr>
              <p:spPr>
                <a:xfrm>
                  <a:off x="560535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0" name="Google Shape;1410;p75"/>
                <p:cNvSpPr/>
                <p:nvPr/>
              </p:nvSpPr>
              <p:spPr>
                <a:xfrm>
                  <a:off x="5974080"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1" name="Google Shape;1411;p75"/>
                <p:cNvSpPr/>
                <p:nvPr/>
              </p:nvSpPr>
              <p:spPr>
                <a:xfrm>
                  <a:off x="63428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2" name="Google Shape;1412;p75"/>
                <p:cNvSpPr/>
                <p:nvPr/>
              </p:nvSpPr>
              <p:spPr>
                <a:xfrm>
                  <a:off x="67115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3" name="Google Shape;1413;p75"/>
                <p:cNvSpPr/>
                <p:nvPr/>
              </p:nvSpPr>
              <p:spPr>
                <a:xfrm>
                  <a:off x="70790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4" name="Google Shape;1414;p75"/>
                <p:cNvSpPr/>
                <p:nvPr/>
              </p:nvSpPr>
              <p:spPr>
                <a:xfrm>
                  <a:off x="74477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5" name="Google Shape;1415;p75"/>
                <p:cNvSpPr/>
                <p:nvPr/>
              </p:nvSpPr>
              <p:spPr>
                <a:xfrm>
                  <a:off x="7816464"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416" name="Google Shape;1416;p75"/>
                <p:cNvSpPr/>
                <p:nvPr/>
              </p:nvSpPr>
              <p:spPr>
                <a:xfrm>
                  <a:off x="818519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grpSp>
          <p:sp>
            <p:nvSpPr>
              <p:cNvPr id="1417" name="Google Shape;1417;p75"/>
              <p:cNvSpPr/>
              <p:nvPr/>
            </p:nvSpPr>
            <p:spPr>
              <a:xfrm>
                <a:off x="1859721" y="3352800"/>
                <a:ext cx="3127513" cy="508000"/>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1418" name="Google Shape;1418;p75"/>
              <p:cNvSpPr/>
              <p:nvPr/>
            </p:nvSpPr>
            <p:spPr>
              <a:xfrm>
                <a:off x="5550452" y="64051"/>
                <a:ext cx="492540" cy="3063461"/>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grpSp>
        <p:sp>
          <p:nvSpPr>
            <p:cNvPr id="1419" name="Google Shape;1419;p75"/>
            <p:cNvSpPr txBox="1"/>
            <p:nvPr/>
          </p:nvSpPr>
          <p:spPr>
            <a:xfrm>
              <a:off x="6520070" y="437754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a:t>
              </a:r>
              <a:endParaRPr b="1" sz="1400">
                <a:solidFill>
                  <a:schemeClr val="dk1"/>
                </a:solidFill>
                <a:latin typeface="Arial"/>
                <a:ea typeface="Arial"/>
                <a:cs typeface="Arial"/>
                <a:sym typeface="Arial"/>
              </a:endParaRPr>
            </a:p>
          </p:txBody>
        </p:sp>
        <p:sp>
          <p:nvSpPr>
            <p:cNvPr id="1420" name="Google Shape;1420;p75"/>
            <p:cNvSpPr txBox="1"/>
            <p:nvPr/>
          </p:nvSpPr>
          <p:spPr>
            <a:xfrm>
              <a:off x="7809946" y="3107641"/>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sp>
          <p:nvSpPr>
            <p:cNvPr id="1421" name="Google Shape;1421;p75"/>
            <p:cNvSpPr txBox="1"/>
            <p:nvPr/>
          </p:nvSpPr>
          <p:spPr>
            <a:xfrm>
              <a:off x="10168283" y="102790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N</a:t>
              </a:r>
              <a:endParaRPr b="1" sz="1400">
                <a:solidFill>
                  <a:schemeClr val="dk1"/>
                </a:solidFill>
                <a:latin typeface="Arial"/>
                <a:ea typeface="Arial"/>
                <a:cs typeface="Arial"/>
                <a:sym typeface="Arial"/>
              </a:endParaRPr>
            </a:p>
          </p:txBody>
        </p:sp>
        <p:sp>
          <p:nvSpPr>
            <p:cNvPr id="1422" name="Google Shape;1422;p75"/>
            <p:cNvSpPr txBox="1"/>
            <p:nvPr/>
          </p:nvSpPr>
          <p:spPr>
            <a:xfrm>
              <a:off x="8854878" y="2163968"/>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grpSp>
      <p:sp>
        <p:nvSpPr>
          <p:cNvPr id="1423" name="Google Shape;1423;p75"/>
          <p:cNvSpPr/>
          <p:nvPr/>
        </p:nvSpPr>
        <p:spPr>
          <a:xfrm>
            <a:off x="629880" y="126801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24" name="Google Shape;1424;p75"/>
          <p:cNvSpPr/>
          <p:nvPr/>
        </p:nvSpPr>
        <p:spPr>
          <a:xfrm>
            <a:off x="629880" y="257501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25" name="Google Shape;1425;p75"/>
          <p:cNvSpPr/>
          <p:nvPr/>
        </p:nvSpPr>
        <p:spPr>
          <a:xfrm>
            <a:off x="629880" y="383866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26" name="Google Shape;1426;p75"/>
          <p:cNvSpPr/>
          <p:nvPr/>
        </p:nvSpPr>
        <p:spPr>
          <a:xfrm>
            <a:off x="269651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427" name="Google Shape;1427;p75"/>
          <p:cNvSpPr/>
          <p:nvPr/>
        </p:nvSpPr>
        <p:spPr>
          <a:xfrm>
            <a:off x="287411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428" name="Google Shape;1428;p75"/>
          <p:cNvSpPr/>
          <p:nvPr/>
        </p:nvSpPr>
        <p:spPr>
          <a:xfrm>
            <a:off x="305170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429" name="Google Shape;1429;p75"/>
          <p:cNvSpPr/>
          <p:nvPr/>
        </p:nvSpPr>
        <p:spPr>
          <a:xfrm>
            <a:off x="322930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430" name="Google Shape;1430;p75"/>
          <p:cNvSpPr/>
          <p:nvPr/>
        </p:nvSpPr>
        <p:spPr>
          <a:xfrm>
            <a:off x="340689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431" name="Google Shape;1431;p75"/>
          <p:cNvSpPr/>
          <p:nvPr/>
        </p:nvSpPr>
        <p:spPr>
          <a:xfrm>
            <a:off x="358449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432" name="Google Shape;1432;p75"/>
          <p:cNvSpPr/>
          <p:nvPr/>
        </p:nvSpPr>
        <p:spPr>
          <a:xfrm>
            <a:off x="376208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433" name="Google Shape;1433;p75"/>
          <p:cNvSpPr/>
          <p:nvPr/>
        </p:nvSpPr>
        <p:spPr>
          <a:xfrm>
            <a:off x="393968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434" name="Google Shape;1434;p75"/>
          <p:cNvSpPr/>
          <p:nvPr/>
        </p:nvSpPr>
        <p:spPr>
          <a:xfrm>
            <a:off x="340689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435" name="Google Shape;1435;p75"/>
          <p:cNvSpPr/>
          <p:nvPr/>
        </p:nvSpPr>
        <p:spPr>
          <a:xfrm>
            <a:off x="358449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436" name="Google Shape;1436;p75"/>
          <p:cNvSpPr/>
          <p:nvPr/>
        </p:nvSpPr>
        <p:spPr>
          <a:xfrm>
            <a:off x="376208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437" name="Google Shape;1437;p75"/>
          <p:cNvSpPr/>
          <p:nvPr/>
        </p:nvSpPr>
        <p:spPr>
          <a:xfrm>
            <a:off x="393968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438" name="Google Shape;1438;p75"/>
          <p:cNvSpPr/>
          <p:nvPr/>
        </p:nvSpPr>
        <p:spPr>
          <a:xfrm>
            <a:off x="269651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439" name="Google Shape;1439;p75"/>
          <p:cNvSpPr/>
          <p:nvPr/>
        </p:nvSpPr>
        <p:spPr>
          <a:xfrm>
            <a:off x="287411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440" name="Google Shape;1440;p75"/>
          <p:cNvSpPr/>
          <p:nvPr/>
        </p:nvSpPr>
        <p:spPr>
          <a:xfrm>
            <a:off x="305170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441" name="Google Shape;1441;p75"/>
          <p:cNvSpPr/>
          <p:nvPr/>
        </p:nvSpPr>
        <p:spPr>
          <a:xfrm>
            <a:off x="322930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442" name="Google Shape;1442;p75"/>
          <p:cNvSpPr/>
          <p:nvPr/>
        </p:nvSpPr>
        <p:spPr>
          <a:xfrm>
            <a:off x="2706317"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443" name="Google Shape;1443;p75"/>
          <p:cNvSpPr/>
          <p:nvPr/>
        </p:nvSpPr>
        <p:spPr>
          <a:xfrm>
            <a:off x="2883912"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444" name="Google Shape;1444;p75"/>
          <p:cNvSpPr/>
          <p:nvPr/>
        </p:nvSpPr>
        <p:spPr>
          <a:xfrm>
            <a:off x="3061507"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445" name="Google Shape;1445;p75"/>
          <p:cNvSpPr/>
          <p:nvPr/>
        </p:nvSpPr>
        <p:spPr>
          <a:xfrm>
            <a:off x="3239102"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446" name="Google Shape;1446;p75"/>
          <p:cNvSpPr/>
          <p:nvPr/>
        </p:nvSpPr>
        <p:spPr>
          <a:xfrm>
            <a:off x="3416698"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447" name="Google Shape;1447;p75"/>
          <p:cNvSpPr/>
          <p:nvPr/>
        </p:nvSpPr>
        <p:spPr>
          <a:xfrm>
            <a:off x="3594293"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448" name="Google Shape;1448;p75"/>
          <p:cNvSpPr/>
          <p:nvPr/>
        </p:nvSpPr>
        <p:spPr>
          <a:xfrm>
            <a:off x="3771887"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449" name="Google Shape;1449;p75"/>
          <p:cNvSpPr/>
          <p:nvPr/>
        </p:nvSpPr>
        <p:spPr>
          <a:xfrm>
            <a:off x="3949483" y="2724647"/>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450" name="Google Shape;1450;p75"/>
          <p:cNvSpPr txBox="1"/>
          <p:nvPr/>
        </p:nvSpPr>
        <p:spPr>
          <a:xfrm>
            <a:off x="778109" y="1386996"/>
            <a:ext cx="878280"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memory</a:t>
            </a:r>
            <a:endParaRPr sz="1400">
              <a:solidFill>
                <a:schemeClr val="lt1"/>
              </a:solidFill>
              <a:latin typeface="Arial"/>
              <a:ea typeface="Arial"/>
              <a:cs typeface="Arial"/>
              <a:sym typeface="Arial"/>
            </a:endParaRPr>
          </a:p>
        </p:txBody>
      </p:sp>
      <p:sp>
        <p:nvSpPr>
          <p:cNvPr id="1451" name="Google Shape;1451;p75"/>
          <p:cNvSpPr txBox="1"/>
          <p:nvPr/>
        </p:nvSpPr>
        <p:spPr>
          <a:xfrm>
            <a:off x="784918" y="2600407"/>
            <a:ext cx="878400" cy="7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L2 Cache</a:t>
            </a:r>
            <a:endParaRPr sz="1100"/>
          </a:p>
          <a:p>
            <a:pPr indent="0" lvl="0" marL="0" marR="0" rtl="0" algn="ctr">
              <a:spcBef>
                <a:spcPts val="0"/>
              </a:spcBef>
              <a:spcAft>
                <a:spcPts val="0"/>
              </a:spcAft>
              <a:buNone/>
            </a:pPr>
            <a:r>
              <a:rPr lang="en" sz="1400">
                <a:solidFill>
                  <a:schemeClr val="lt1"/>
                </a:solidFill>
                <a:latin typeface="Arial"/>
                <a:ea typeface="Arial"/>
                <a:cs typeface="Arial"/>
                <a:sym typeface="Arial"/>
              </a:rPr>
              <a:t>50MB</a:t>
            </a:r>
            <a:endParaRPr sz="1100"/>
          </a:p>
        </p:txBody>
      </p:sp>
      <p:cxnSp>
        <p:nvCxnSpPr>
          <p:cNvPr id="1452" name="Google Shape;1452;p75"/>
          <p:cNvCxnSpPr>
            <a:stCxn id="1353" idx="0"/>
            <a:endCxn id="1437" idx="3"/>
          </p:cNvCxnSpPr>
          <p:nvPr/>
        </p:nvCxnSpPr>
        <p:spPr>
          <a:xfrm rot="10800000">
            <a:off x="4117384" y="1581956"/>
            <a:ext cx="3562800" cy="1287900"/>
          </a:xfrm>
          <a:prstGeom prst="straightConnector1">
            <a:avLst/>
          </a:prstGeom>
          <a:noFill/>
          <a:ln cap="flat" cmpd="sng" w="38100">
            <a:solidFill>
              <a:schemeClr val="accent2"/>
            </a:solidFill>
            <a:prstDash val="solid"/>
            <a:miter lim="800000"/>
            <a:headEnd len="sm" w="sm" type="none"/>
            <a:tailEnd len="med" w="med" type="triangle"/>
          </a:ln>
        </p:spPr>
      </p:cxnSp>
      <p:sp>
        <p:nvSpPr>
          <p:cNvPr id="1453" name="Google Shape;1453;p75"/>
          <p:cNvSpPr/>
          <p:nvPr/>
        </p:nvSpPr>
        <p:spPr>
          <a:xfrm>
            <a:off x="2696514"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454" name="Google Shape;1454;p75"/>
          <p:cNvSpPr/>
          <p:nvPr/>
        </p:nvSpPr>
        <p:spPr>
          <a:xfrm>
            <a:off x="2874109"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455" name="Google Shape;1455;p75"/>
          <p:cNvSpPr/>
          <p:nvPr/>
        </p:nvSpPr>
        <p:spPr>
          <a:xfrm>
            <a:off x="3051704"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456" name="Google Shape;1456;p75"/>
          <p:cNvSpPr/>
          <p:nvPr/>
        </p:nvSpPr>
        <p:spPr>
          <a:xfrm>
            <a:off x="3229299"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457" name="Google Shape;1457;p75"/>
          <p:cNvSpPr/>
          <p:nvPr/>
        </p:nvSpPr>
        <p:spPr>
          <a:xfrm>
            <a:off x="3406894"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458" name="Google Shape;1458;p75"/>
          <p:cNvSpPr/>
          <p:nvPr/>
        </p:nvSpPr>
        <p:spPr>
          <a:xfrm>
            <a:off x="3584489"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459" name="Google Shape;1459;p75"/>
          <p:cNvSpPr/>
          <p:nvPr/>
        </p:nvSpPr>
        <p:spPr>
          <a:xfrm>
            <a:off x="3762084"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460" name="Google Shape;1460;p75"/>
          <p:cNvSpPr/>
          <p:nvPr/>
        </p:nvSpPr>
        <p:spPr>
          <a:xfrm>
            <a:off x="3939680"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461" name="Google Shape;1461;p75"/>
          <p:cNvSpPr txBox="1"/>
          <p:nvPr/>
        </p:nvSpPr>
        <p:spPr>
          <a:xfrm>
            <a:off x="714586" y="3965453"/>
            <a:ext cx="10189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L1/Shared Memory</a:t>
            </a:r>
            <a:endParaRPr sz="1100"/>
          </a:p>
        </p:txBody>
      </p:sp>
      <p:cxnSp>
        <p:nvCxnSpPr>
          <p:cNvPr id="1462" name="Google Shape;1462;p75"/>
          <p:cNvCxnSpPr/>
          <p:nvPr/>
        </p:nvCxnSpPr>
        <p:spPr>
          <a:xfrm rot="10800000">
            <a:off x="4123916" y="1762778"/>
            <a:ext cx="3474112" cy="1376646"/>
          </a:xfrm>
          <a:prstGeom prst="straightConnector1">
            <a:avLst/>
          </a:prstGeom>
          <a:noFill/>
          <a:ln cap="flat" cmpd="sng" w="38100">
            <a:solidFill>
              <a:schemeClr val="accent2"/>
            </a:solidFill>
            <a:prstDash val="solid"/>
            <a:miter lim="800000"/>
            <a:headEnd len="sm" w="sm" type="none"/>
            <a:tailEnd len="med" w="med" type="triangle"/>
          </a:ln>
        </p:spPr>
      </p:cxnSp>
      <p:sp>
        <p:nvSpPr>
          <p:cNvPr id="1463" name="Google Shape;1463;p75"/>
          <p:cNvSpPr/>
          <p:nvPr/>
        </p:nvSpPr>
        <p:spPr>
          <a:xfrm>
            <a:off x="3416697"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464" name="Google Shape;1464;p75"/>
          <p:cNvSpPr/>
          <p:nvPr/>
        </p:nvSpPr>
        <p:spPr>
          <a:xfrm>
            <a:off x="3594292"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465" name="Google Shape;1465;p75"/>
          <p:cNvSpPr/>
          <p:nvPr/>
        </p:nvSpPr>
        <p:spPr>
          <a:xfrm>
            <a:off x="3771886"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466" name="Google Shape;1466;p75"/>
          <p:cNvSpPr/>
          <p:nvPr/>
        </p:nvSpPr>
        <p:spPr>
          <a:xfrm>
            <a:off x="3949482"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467" name="Google Shape;1467;p75"/>
          <p:cNvSpPr/>
          <p:nvPr/>
        </p:nvSpPr>
        <p:spPr>
          <a:xfrm>
            <a:off x="2706317"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468" name="Google Shape;1468;p75"/>
          <p:cNvSpPr/>
          <p:nvPr/>
        </p:nvSpPr>
        <p:spPr>
          <a:xfrm>
            <a:off x="2883911"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469" name="Google Shape;1469;p75"/>
          <p:cNvSpPr/>
          <p:nvPr/>
        </p:nvSpPr>
        <p:spPr>
          <a:xfrm>
            <a:off x="3061507"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470" name="Google Shape;1470;p75"/>
          <p:cNvSpPr/>
          <p:nvPr/>
        </p:nvSpPr>
        <p:spPr>
          <a:xfrm>
            <a:off x="3239101" y="2900234"/>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471" name="Google Shape;1471;p75"/>
          <p:cNvSpPr/>
          <p:nvPr/>
        </p:nvSpPr>
        <p:spPr>
          <a:xfrm>
            <a:off x="3406894"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472" name="Google Shape;1472;p75"/>
          <p:cNvSpPr/>
          <p:nvPr/>
        </p:nvSpPr>
        <p:spPr>
          <a:xfrm>
            <a:off x="3584489"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473" name="Google Shape;1473;p75"/>
          <p:cNvSpPr/>
          <p:nvPr/>
        </p:nvSpPr>
        <p:spPr>
          <a:xfrm>
            <a:off x="3762084"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474" name="Google Shape;1474;p75"/>
          <p:cNvSpPr/>
          <p:nvPr/>
        </p:nvSpPr>
        <p:spPr>
          <a:xfrm>
            <a:off x="3939680"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475" name="Google Shape;1475;p75"/>
          <p:cNvSpPr/>
          <p:nvPr/>
        </p:nvSpPr>
        <p:spPr>
          <a:xfrm>
            <a:off x="2696514"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476" name="Google Shape;1476;p75"/>
          <p:cNvSpPr/>
          <p:nvPr/>
        </p:nvSpPr>
        <p:spPr>
          <a:xfrm>
            <a:off x="2874109"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477" name="Google Shape;1477;p75"/>
          <p:cNvSpPr/>
          <p:nvPr/>
        </p:nvSpPr>
        <p:spPr>
          <a:xfrm>
            <a:off x="3051704"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478" name="Google Shape;1478;p75"/>
          <p:cNvSpPr/>
          <p:nvPr/>
        </p:nvSpPr>
        <p:spPr>
          <a:xfrm>
            <a:off x="3229299" y="411268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cxnSp>
        <p:nvCxnSpPr>
          <p:cNvPr id="1479" name="Google Shape;1479;p75"/>
          <p:cNvCxnSpPr>
            <a:stCxn id="1354" idx="1"/>
            <a:endCxn id="1449" idx="3"/>
          </p:cNvCxnSpPr>
          <p:nvPr/>
        </p:nvCxnSpPr>
        <p:spPr>
          <a:xfrm rot="10800000">
            <a:off x="4126981" y="2813454"/>
            <a:ext cx="3642000" cy="145200"/>
          </a:xfrm>
          <a:prstGeom prst="straightConnector1">
            <a:avLst/>
          </a:prstGeom>
          <a:noFill/>
          <a:ln cap="flat" cmpd="sng" w="38100">
            <a:solidFill>
              <a:schemeClr val="accent2"/>
            </a:solidFill>
            <a:prstDash val="solid"/>
            <a:miter lim="800000"/>
            <a:headEnd len="sm" w="sm" type="none"/>
            <a:tailEnd len="med" w="med" type="triangle"/>
          </a:ln>
        </p:spPr>
      </p:cxnSp>
      <p:sp>
        <p:nvSpPr>
          <p:cNvPr id="1480" name="Google Shape;1480;p75"/>
          <p:cNvSpPr/>
          <p:nvPr/>
        </p:nvSpPr>
        <p:spPr>
          <a:xfrm>
            <a:off x="2696513"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481" name="Google Shape;1481;p75"/>
          <p:cNvSpPr/>
          <p:nvPr/>
        </p:nvSpPr>
        <p:spPr>
          <a:xfrm>
            <a:off x="2874108"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482" name="Google Shape;1482;p75"/>
          <p:cNvSpPr/>
          <p:nvPr/>
        </p:nvSpPr>
        <p:spPr>
          <a:xfrm>
            <a:off x="3051703"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483" name="Google Shape;1483;p75"/>
          <p:cNvSpPr/>
          <p:nvPr/>
        </p:nvSpPr>
        <p:spPr>
          <a:xfrm>
            <a:off x="3229298"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484" name="Google Shape;1484;p75"/>
          <p:cNvSpPr/>
          <p:nvPr/>
        </p:nvSpPr>
        <p:spPr>
          <a:xfrm>
            <a:off x="3406894"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485" name="Google Shape;1485;p75"/>
          <p:cNvSpPr/>
          <p:nvPr/>
        </p:nvSpPr>
        <p:spPr>
          <a:xfrm>
            <a:off x="3584488"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486" name="Google Shape;1486;p75"/>
          <p:cNvSpPr/>
          <p:nvPr/>
        </p:nvSpPr>
        <p:spPr>
          <a:xfrm>
            <a:off x="3762083"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487" name="Google Shape;1487;p75"/>
          <p:cNvSpPr/>
          <p:nvPr/>
        </p:nvSpPr>
        <p:spPr>
          <a:xfrm>
            <a:off x="3939679" y="411268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cxnSp>
        <p:nvCxnSpPr>
          <p:cNvPr id="1488" name="Google Shape;1488;p75"/>
          <p:cNvCxnSpPr/>
          <p:nvPr/>
        </p:nvCxnSpPr>
        <p:spPr>
          <a:xfrm rot="10800000">
            <a:off x="4133717" y="3017838"/>
            <a:ext cx="3641904" cy="145210"/>
          </a:xfrm>
          <a:prstGeom prst="straightConnector1">
            <a:avLst/>
          </a:prstGeom>
          <a:noFill/>
          <a:ln cap="flat" cmpd="sng" w="38100">
            <a:solidFill>
              <a:schemeClr val="accent2"/>
            </a:solidFill>
            <a:prstDash val="solid"/>
            <a:miter lim="800000"/>
            <a:headEnd len="sm" w="sm" type="none"/>
            <a:tailEnd len="med" w="med" type="triangle"/>
          </a:ln>
        </p:spPr>
      </p:cxnSp>
      <p:sp>
        <p:nvSpPr>
          <p:cNvPr id="1489" name="Google Shape;1489;p75"/>
          <p:cNvSpPr/>
          <p:nvPr/>
        </p:nvSpPr>
        <p:spPr>
          <a:xfrm>
            <a:off x="3406894"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490" name="Google Shape;1490;p75"/>
          <p:cNvSpPr/>
          <p:nvPr/>
        </p:nvSpPr>
        <p:spPr>
          <a:xfrm>
            <a:off x="3584488"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491" name="Google Shape;1491;p75"/>
          <p:cNvSpPr/>
          <p:nvPr/>
        </p:nvSpPr>
        <p:spPr>
          <a:xfrm>
            <a:off x="3762083"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492" name="Google Shape;1492;p75"/>
          <p:cNvSpPr/>
          <p:nvPr/>
        </p:nvSpPr>
        <p:spPr>
          <a:xfrm>
            <a:off x="3939679"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493" name="Google Shape;1493;p75"/>
          <p:cNvSpPr/>
          <p:nvPr/>
        </p:nvSpPr>
        <p:spPr>
          <a:xfrm>
            <a:off x="2696513"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494" name="Google Shape;1494;p75"/>
          <p:cNvSpPr/>
          <p:nvPr/>
        </p:nvSpPr>
        <p:spPr>
          <a:xfrm>
            <a:off x="2874108"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495" name="Google Shape;1495;p75"/>
          <p:cNvSpPr/>
          <p:nvPr/>
        </p:nvSpPr>
        <p:spPr>
          <a:xfrm>
            <a:off x="3051703"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496" name="Google Shape;1496;p75"/>
          <p:cNvSpPr/>
          <p:nvPr/>
        </p:nvSpPr>
        <p:spPr>
          <a:xfrm>
            <a:off x="3229298" y="4120445"/>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497" name="Google Shape;1497;p75"/>
          <p:cNvSpPr txBox="1"/>
          <p:nvPr/>
        </p:nvSpPr>
        <p:spPr>
          <a:xfrm>
            <a:off x="2551472" y="3321224"/>
            <a:ext cx="1785488"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4×8 = 32 L2 Access</a:t>
            </a:r>
            <a:endParaRPr sz="1100"/>
          </a:p>
        </p:txBody>
      </p:sp>
      <p:sp>
        <p:nvSpPr>
          <p:cNvPr id="1498" name="Google Shape;1498;p75"/>
          <p:cNvSpPr txBox="1"/>
          <p:nvPr/>
        </p:nvSpPr>
        <p:spPr>
          <a:xfrm>
            <a:off x="2414632" y="2041034"/>
            <a:ext cx="2059166"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2×8 = 16 Global Access</a:t>
            </a:r>
            <a:endParaRPr sz="1100"/>
          </a:p>
        </p:txBody>
      </p:sp>
      <p:sp>
        <p:nvSpPr>
          <p:cNvPr id="1499" name="Google Shape;1499;p75"/>
          <p:cNvSpPr txBox="1"/>
          <p:nvPr/>
        </p:nvSpPr>
        <p:spPr>
          <a:xfrm>
            <a:off x="2534260" y="4635871"/>
            <a:ext cx="1785488"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4×8 = 32 L1 Access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2"/>
                                        </p:tgtEl>
                                        <p:attrNameLst>
                                          <p:attrName>style.visibility</p:attrName>
                                        </p:attrNameLst>
                                      </p:cBhvr>
                                      <p:to>
                                        <p:strVal val="visible"/>
                                      </p:to>
                                    </p:set>
                                    <p:animEffect filter="fade" transition="in">
                                      <p:cBhvr>
                                        <p:cTn dur="500"/>
                                        <p:tgtEl>
                                          <p:spTgt spid="1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2"/>
                                        </p:tgtEl>
                                        <p:attrNameLst>
                                          <p:attrName>style.visibility</p:attrName>
                                        </p:attrNameLst>
                                      </p:cBhvr>
                                      <p:to>
                                        <p:strVal val="visible"/>
                                      </p:to>
                                    </p:set>
                                    <p:animEffect filter="fade" transition="in">
                                      <p:cBhvr>
                                        <p:cTn dur="500"/>
                                        <p:tgtEl>
                                          <p:spTgt spid="1442"/>
                                        </p:tgtEl>
                                      </p:cBhvr>
                                    </p:animEffect>
                                  </p:childTnLst>
                                </p:cTn>
                              </p:par>
                              <p:par>
                                <p:cTn fill="hold" nodeType="withEffect" presetClass="entr" presetID="10" presetSubtype="0">
                                  <p:stCondLst>
                                    <p:cond delay="0"/>
                                  </p:stCondLst>
                                  <p:childTnLst>
                                    <p:set>
                                      <p:cBhvr>
                                        <p:cTn dur="1" fill="hold">
                                          <p:stCondLst>
                                            <p:cond delay="0"/>
                                          </p:stCondLst>
                                        </p:cTn>
                                        <p:tgtEl>
                                          <p:spTgt spid="1443"/>
                                        </p:tgtEl>
                                        <p:attrNameLst>
                                          <p:attrName>style.visibility</p:attrName>
                                        </p:attrNameLst>
                                      </p:cBhvr>
                                      <p:to>
                                        <p:strVal val="visible"/>
                                      </p:to>
                                    </p:set>
                                    <p:animEffect filter="fade" transition="in">
                                      <p:cBhvr>
                                        <p:cTn dur="500"/>
                                        <p:tgtEl>
                                          <p:spTgt spid="1443"/>
                                        </p:tgtEl>
                                      </p:cBhvr>
                                    </p:animEffect>
                                  </p:childTnLst>
                                </p:cTn>
                              </p:par>
                              <p:par>
                                <p:cTn fill="hold" nodeType="with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500"/>
                                        <p:tgtEl>
                                          <p:spTgt spid="1444"/>
                                        </p:tgtEl>
                                      </p:cBhvr>
                                    </p:animEffect>
                                  </p:childTnLst>
                                </p:cTn>
                              </p:par>
                              <p:par>
                                <p:cTn fill="hold" nodeType="withEffect" presetClass="entr" presetID="10" presetSubtype="0">
                                  <p:stCondLst>
                                    <p:cond delay="0"/>
                                  </p:stCondLst>
                                  <p:childTnLst>
                                    <p:set>
                                      <p:cBhvr>
                                        <p:cTn dur="1" fill="hold">
                                          <p:stCondLst>
                                            <p:cond delay="0"/>
                                          </p:stCondLst>
                                        </p:cTn>
                                        <p:tgtEl>
                                          <p:spTgt spid="1445"/>
                                        </p:tgtEl>
                                        <p:attrNameLst>
                                          <p:attrName>style.visibility</p:attrName>
                                        </p:attrNameLst>
                                      </p:cBhvr>
                                      <p:to>
                                        <p:strVal val="visible"/>
                                      </p:to>
                                    </p:set>
                                    <p:animEffect filter="fade" transition="in">
                                      <p:cBhvr>
                                        <p:cTn dur="500"/>
                                        <p:tgtEl>
                                          <p:spTgt spid="1445"/>
                                        </p:tgtEl>
                                      </p:cBhvr>
                                    </p:animEffect>
                                  </p:childTnLst>
                                </p:cTn>
                              </p:par>
                              <p:par>
                                <p:cTn fill="hold" nodeType="withEffect" presetClass="entr" presetID="10" presetSubtype="0">
                                  <p:stCondLst>
                                    <p:cond delay="0"/>
                                  </p:stCondLst>
                                  <p:childTnLst>
                                    <p:set>
                                      <p:cBhvr>
                                        <p:cTn dur="1" fill="hold">
                                          <p:stCondLst>
                                            <p:cond delay="0"/>
                                          </p:stCondLst>
                                        </p:cTn>
                                        <p:tgtEl>
                                          <p:spTgt spid="1446"/>
                                        </p:tgtEl>
                                        <p:attrNameLst>
                                          <p:attrName>style.visibility</p:attrName>
                                        </p:attrNameLst>
                                      </p:cBhvr>
                                      <p:to>
                                        <p:strVal val="visible"/>
                                      </p:to>
                                    </p:set>
                                    <p:animEffect filter="fade" transition="in">
                                      <p:cBhvr>
                                        <p:cTn dur="500"/>
                                        <p:tgtEl>
                                          <p:spTgt spid="1446"/>
                                        </p:tgtEl>
                                      </p:cBhvr>
                                    </p:animEffect>
                                  </p:childTnLst>
                                </p:cTn>
                              </p:par>
                              <p:par>
                                <p:cTn fill="hold" nodeType="with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par>
                                <p:cTn fill="hold" nodeType="withEffect" presetClass="entr" presetID="10" presetSubtype="0">
                                  <p:stCondLst>
                                    <p:cond delay="0"/>
                                  </p:stCondLst>
                                  <p:childTnLst>
                                    <p:set>
                                      <p:cBhvr>
                                        <p:cTn dur="1" fill="hold">
                                          <p:stCondLst>
                                            <p:cond delay="0"/>
                                          </p:stCondLst>
                                        </p:cTn>
                                        <p:tgtEl>
                                          <p:spTgt spid="1448"/>
                                        </p:tgtEl>
                                        <p:attrNameLst>
                                          <p:attrName>style.visibility</p:attrName>
                                        </p:attrNameLst>
                                      </p:cBhvr>
                                      <p:to>
                                        <p:strVal val="visible"/>
                                      </p:to>
                                    </p:set>
                                    <p:animEffect filter="fade" transition="in">
                                      <p:cBhvr>
                                        <p:cTn dur="500"/>
                                        <p:tgtEl>
                                          <p:spTgt spid="1448"/>
                                        </p:tgtEl>
                                      </p:cBhvr>
                                    </p:animEffect>
                                  </p:childTnLst>
                                </p:cTn>
                              </p:par>
                              <p:par>
                                <p:cTn fill="hold" nodeType="with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500"/>
                                        <p:tgtEl>
                                          <p:spTgt spid="1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3"/>
                                        </p:tgtEl>
                                        <p:attrNameLst>
                                          <p:attrName>style.visibility</p:attrName>
                                        </p:attrNameLst>
                                      </p:cBhvr>
                                      <p:to>
                                        <p:strVal val="visible"/>
                                      </p:to>
                                    </p:set>
                                    <p:animEffect filter="fade" transition="in">
                                      <p:cBhvr>
                                        <p:cTn dur="500"/>
                                        <p:tgtEl>
                                          <p:spTgt spid="1453"/>
                                        </p:tgtEl>
                                      </p:cBhvr>
                                    </p:animEffect>
                                  </p:childTnLst>
                                </p:cTn>
                              </p:par>
                              <p:par>
                                <p:cTn fill="hold" nodeType="withEffect" presetClass="entr" presetID="10" presetSubtype="0">
                                  <p:stCondLst>
                                    <p:cond delay="0"/>
                                  </p:stCondLst>
                                  <p:childTnLst>
                                    <p:set>
                                      <p:cBhvr>
                                        <p:cTn dur="1" fill="hold">
                                          <p:stCondLst>
                                            <p:cond delay="0"/>
                                          </p:stCondLst>
                                        </p:cTn>
                                        <p:tgtEl>
                                          <p:spTgt spid="1454"/>
                                        </p:tgtEl>
                                        <p:attrNameLst>
                                          <p:attrName>style.visibility</p:attrName>
                                        </p:attrNameLst>
                                      </p:cBhvr>
                                      <p:to>
                                        <p:strVal val="visible"/>
                                      </p:to>
                                    </p:set>
                                    <p:animEffect filter="fade" transition="in">
                                      <p:cBhvr>
                                        <p:cTn dur="500"/>
                                        <p:tgtEl>
                                          <p:spTgt spid="1454"/>
                                        </p:tgtEl>
                                      </p:cBhvr>
                                    </p:animEffect>
                                  </p:childTnLst>
                                </p:cTn>
                              </p:par>
                              <p:par>
                                <p:cTn fill="hold" nodeType="withEffect" presetClass="entr" presetID="10" presetSubtype="0">
                                  <p:stCondLst>
                                    <p:cond delay="0"/>
                                  </p:stCondLst>
                                  <p:childTnLst>
                                    <p:set>
                                      <p:cBhvr>
                                        <p:cTn dur="1" fill="hold">
                                          <p:stCondLst>
                                            <p:cond delay="0"/>
                                          </p:stCondLst>
                                        </p:cTn>
                                        <p:tgtEl>
                                          <p:spTgt spid="1455"/>
                                        </p:tgtEl>
                                        <p:attrNameLst>
                                          <p:attrName>style.visibility</p:attrName>
                                        </p:attrNameLst>
                                      </p:cBhvr>
                                      <p:to>
                                        <p:strVal val="visible"/>
                                      </p:to>
                                    </p:set>
                                    <p:animEffect filter="fade" transition="in">
                                      <p:cBhvr>
                                        <p:cTn dur="500"/>
                                        <p:tgtEl>
                                          <p:spTgt spid="1455"/>
                                        </p:tgtEl>
                                      </p:cBhvr>
                                    </p:animEffect>
                                  </p:childTnLst>
                                </p:cTn>
                              </p:par>
                              <p:par>
                                <p:cTn fill="hold" nodeType="withEffect" presetClass="entr" presetID="10" presetSubtype="0">
                                  <p:stCondLst>
                                    <p:cond delay="0"/>
                                  </p:stCondLst>
                                  <p:childTnLst>
                                    <p:set>
                                      <p:cBhvr>
                                        <p:cTn dur="1" fill="hold">
                                          <p:stCondLst>
                                            <p:cond delay="0"/>
                                          </p:stCondLst>
                                        </p:cTn>
                                        <p:tgtEl>
                                          <p:spTgt spid="1456"/>
                                        </p:tgtEl>
                                        <p:attrNameLst>
                                          <p:attrName>style.visibility</p:attrName>
                                        </p:attrNameLst>
                                      </p:cBhvr>
                                      <p:to>
                                        <p:strVal val="visible"/>
                                      </p:to>
                                    </p:set>
                                    <p:animEffect filter="fade" transition="in">
                                      <p:cBhvr>
                                        <p:cTn dur="500"/>
                                        <p:tgtEl>
                                          <p:spTgt spid="1456"/>
                                        </p:tgtEl>
                                      </p:cBhvr>
                                    </p:animEffect>
                                  </p:childTnLst>
                                </p:cTn>
                              </p:par>
                              <p:par>
                                <p:cTn fill="hold" nodeType="with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par>
                                <p:cTn fill="hold" nodeType="withEffect" presetClass="entr" presetID="10" presetSubtype="0">
                                  <p:stCondLst>
                                    <p:cond delay="0"/>
                                  </p:stCondLst>
                                  <p:childTnLst>
                                    <p:set>
                                      <p:cBhvr>
                                        <p:cTn dur="1" fill="hold">
                                          <p:stCondLst>
                                            <p:cond delay="0"/>
                                          </p:stCondLst>
                                        </p:cTn>
                                        <p:tgtEl>
                                          <p:spTgt spid="1458"/>
                                        </p:tgtEl>
                                        <p:attrNameLst>
                                          <p:attrName>style.visibility</p:attrName>
                                        </p:attrNameLst>
                                      </p:cBhvr>
                                      <p:to>
                                        <p:strVal val="visible"/>
                                      </p:to>
                                    </p:set>
                                    <p:animEffect filter="fade" transition="in">
                                      <p:cBhvr>
                                        <p:cTn dur="500"/>
                                        <p:tgtEl>
                                          <p:spTgt spid="1458"/>
                                        </p:tgtEl>
                                      </p:cBhvr>
                                    </p:animEffect>
                                  </p:childTnLst>
                                </p:cTn>
                              </p:par>
                              <p:par>
                                <p:cTn fill="hold" nodeType="withEffect" presetClass="entr" presetID="10" presetSubtype="0">
                                  <p:stCondLst>
                                    <p:cond delay="0"/>
                                  </p:stCondLst>
                                  <p:childTnLst>
                                    <p:set>
                                      <p:cBhvr>
                                        <p:cTn dur="1" fill="hold">
                                          <p:stCondLst>
                                            <p:cond delay="0"/>
                                          </p:stCondLst>
                                        </p:cTn>
                                        <p:tgtEl>
                                          <p:spTgt spid="1459"/>
                                        </p:tgtEl>
                                        <p:attrNameLst>
                                          <p:attrName>style.visibility</p:attrName>
                                        </p:attrNameLst>
                                      </p:cBhvr>
                                      <p:to>
                                        <p:strVal val="visible"/>
                                      </p:to>
                                    </p:set>
                                    <p:animEffect filter="fade" transition="in">
                                      <p:cBhvr>
                                        <p:cTn dur="500"/>
                                        <p:tgtEl>
                                          <p:spTgt spid="1459"/>
                                        </p:tgtEl>
                                      </p:cBhvr>
                                    </p:animEffect>
                                  </p:childTnLst>
                                </p:cTn>
                              </p:par>
                              <p:par>
                                <p:cTn fill="hold" nodeType="with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53"/>
                                        </p:tgtEl>
                                      </p:cBhvr>
                                    </p:animEffect>
                                    <p:set>
                                      <p:cBhvr>
                                        <p:cTn dur="1" fill="hold">
                                          <p:stCondLst>
                                            <p:cond delay="500"/>
                                          </p:stCondLst>
                                        </p:cTn>
                                        <p:tgtEl>
                                          <p:spTgt spid="14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4"/>
                                        </p:tgtEl>
                                      </p:cBhvr>
                                    </p:animEffect>
                                    <p:set>
                                      <p:cBhvr>
                                        <p:cTn dur="1" fill="hold">
                                          <p:stCondLst>
                                            <p:cond delay="500"/>
                                          </p:stCondLst>
                                        </p:cTn>
                                        <p:tgtEl>
                                          <p:spTgt spid="14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5"/>
                                        </p:tgtEl>
                                      </p:cBhvr>
                                    </p:animEffect>
                                    <p:set>
                                      <p:cBhvr>
                                        <p:cTn dur="1" fill="hold">
                                          <p:stCondLst>
                                            <p:cond delay="500"/>
                                          </p:stCondLst>
                                        </p:cTn>
                                        <p:tgtEl>
                                          <p:spTgt spid="14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6"/>
                                        </p:tgtEl>
                                      </p:cBhvr>
                                    </p:animEffect>
                                    <p:set>
                                      <p:cBhvr>
                                        <p:cTn dur="1" fill="hold">
                                          <p:stCondLst>
                                            <p:cond delay="500"/>
                                          </p:stCondLst>
                                        </p:cTn>
                                        <p:tgtEl>
                                          <p:spTgt spid="14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7"/>
                                        </p:tgtEl>
                                      </p:cBhvr>
                                    </p:animEffect>
                                    <p:set>
                                      <p:cBhvr>
                                        <p:cTn dur="1" fill="hold">
                                          <p:stCondLst>
                                            <p:cond delay="500"/>
                                          </p:stCondLst>
                                        </p:cTn>
                                        <p:tgtEl>
                                          <p:spTgt spid="14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8"/>
                                        </p:tgtEl>
                                      </p:cBhvr>
                                    </p:animEffect>
                                    <p:set>
                                      <p:cBhvr>
                                        <p:cTn dur="1" fill="hold">
                                          <p:stCondLst>
                                            <p:cond delay="500"/>
                                          </p:stCondLst>
                                        </p:cTn>
                                        <p:tgtEl>
                                          <p:spTgt spid="14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59"/>
                                        </p:tgtEl>
                                      </p:cBhvr>
                                    </p:animEffect>
                                    <p:set>
                                      <p:cBhvr>
                                        <p:cTn dur="1" fill="hold">
                                          <p:stCondLst>
                                            <p:cond delay="500"/>
                                          </p:stCondLst>
                                        </p:cTn>
                                        <p:tgtEl>
                                          <p:spTgt spid="14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60"/>
                                        </p:tgtEl>
                                      </p:cBhvr>
                                    </p:animEffect>
                                    <p:set>
                                      <p:cBhvr>
                                        <p:cTn dur="1" fill="hold">
                                          <p:stCondLst>
                                            <p:cond delay="500"/>
                                          </p:stCondLst>
                                        </p:cTn>
                                        <p:tgtEl>
                                          <p:spTgt spid="14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2"/>
                                        </p:tgtEl>
                                        <p:attrNameLst>
                                          <p:attrName>style.visibility</p:attrName>
                                        </p:attrNameLst>
                                      </p:cBhvr>
                                      <p:to>
                                        <p:strVal val="visible"/>
                                      </p:to>
                                    </p:set>
                                    <p:animEffect filter="fade" transition="in">
                                      <p:cBhvr>
                                        <p:cTn dur="500"/>
                                        <p:tgtEl>
                                          <p:spTgt spid="1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500"/>
                                        <p:tgtEl>
                                          <p:spTgt spid="1463"/>
                                        </p:tgtEl>
                                      </p:cBhvr>
                                    </p:animEffect>
                                  </p:childTnLst>
                                </p:cTn>
                              </p:par>
                              <p:par>
                                <p:cTn fill="hold" nodeType="withEffect" presetClass="entr" presetID="10" presetSubtype="0">
                                  <p:stCondLst>
                                    <p:cond delay="0"/>
                                  </p:stCondLst>
                                  <p:childTnLst>
                                    <p:set>
                                      <p:cBhvr>
                                        <p:cTn dur="1" fill="hold">
                                          <p:stCondLst>
                                            <p:cond delay="0"/>
                                          </p:stCondLst>
                                        </p:cTn>
                                        <p:tgtEl>
                                          <p:spTgt spid="1464"/>
                                        </p:tgtEl>
                                        <p:attrNameLst>
                                          <p:attrName>style.visibility</p:attrName>
                                        </p:attrNameLst>
                                      </p:cBhvr>
                                      <p:to>
                                        <p:strVal val="visible"/>
                                      </p:to>
                                    </p:set>
                                    <p:animEffect filter="fade" transition="in">
                                      <p:cBhvr>
                                        <p:cTn dur="500"/>
                                        <p:tgtEl>
                                          <p:spTgt spid="1464"/>
                                        </p:tgtEl>
                                      </p:cBhvr>
                                    </p:animEffect>
                                  </p:childTnLst>
                                </p:cTn>
                              </p:par>
                              <p:par>
                                <p:cTn fill="hold" nodeType="withEffect" presetClass="entr" presetID="10" presetSubtype="0">
                                  <p:stCondLst>
                                    <p:cond delay="0"/>
                                  </p:stCondLst>
                                  <p:childTnLst>
                                    <p:set>
                                      <p:cBhvr>
                                        <p:cTn dur="1" fill="hold">
                                          <p:stCondLst>
                                            <p:cond delay="0"/>
                                          </p:stCondLst>
                                        </p:cTn>
                                        <p:tgtEl>
                                          <p:spTgt spid="1465"/>
                                        </p:tgtEl>
                                        <p:attrNameLst>
                                          <p:attrName>style.visibility</p:attrName>
                                        </p:attrNameLst>
                                      </p:cBhvr>
                                      <p:to>
                                        <p:strVal val="visible"/>
                                      </p:to>
                                    </p:set>
                                    <p:animEffect filter="fade" transition="in">
                                      <p:cBhvr>
                                        <p:cTn dur="500"/>
                                        <p:tgtEl>
                                          <p:spTgt spid="1465"/>
                                        </p:tgtEl>
                                      </p:cBhvr>
                                    </p:animEffect>
                                  </p:childTnLst>
                                </p:cTn>
                              </p:par>
                              <p:par>
                                <p:cTn fill="hold" nodeType="withEffect" presetClass="entr" presetID="10" presetSubtype="0">
                                  <p:stCondLst>
                                    <p:cond delay="0"/>
                                  </p:stCondLst>
                                  <p:childTnLst>
                                    <p:set>
                                      <p:cBhvr>
                                        <p:cTn dur="1" fill="hold">
                                          <p:stCondLst>
                                            <p:cond delay="0"/>
                                          </p:stCondLst>
                                        </p:cTn>
                                        <p:tgtEl>
                                          <p:spTgt spid="1466"/>
                                        </p:tgtEl>
                                        <p:attrNameLst>
                                          <p:attrName>style.visibility</p:attrName>
                                        </p:attrNameLst>
                                      </p:cBhvr>
                                      <p:to>
                                        <p:strVal val="visible"/>
                                      </p:to>
                                    </p:set>
                                    <p:animEffect filter="fade" transition="in">
                                      <p:cBhvr>
                                        <p:cTn dur="500"/>
                                        <p:tgtEl>
                                          <p:spTgt spid="1466"/>
                                        </p:tgtEl>
                                      </p:cBhvr>
                                    </p:animEffect>
                                  </p:childTnLst>
                                </p:cTn>
                              </p:par>
                              <p:par>
                                <p:cTn fill="hold" nodeType="withEffect" presetClass="entr" presetID="10" presetSubtype="0">
                                  <p:stCondLst>
                                    <p:cond delay="0"/>
                                  </p:stCondLst>
                                  <p:childTnLst>
                                    <p:set>
                                      <p:cBhvr>
                                        <p:cTn dur="1" fill="hold">
                                          <p:stCondLst>
                                            <p:cond delay="0"/>
                                          </p:stCondLst>
                                        </p:cTn>
                                        <p:tgtEl>
                                          <p:spTgt spid="1467"/>
                                        </p:tgtEl>
                                        <p:attrNameLst>
                                          <p:attrName>style.visibility</p:attrName>
                                        </p:attrNameLst>
                                      </p:cBhvr>
                                      <p:to>
                                        <p:strVal val="visible"/>
                                      </p:to>
                                    </p:set>
                                    <p:animEffect filter="fade" transition="in">
                                      <p:cBhvr>
                                        <p:cTn dur="500"/>
                                        <p:tgtEl>
                                          <p:spTgt spid="1467"/>
                                        </p:tgtEl>
                                      </p:cBhvr>
                                    </p:animEffect>
                                  </p:childTnLst>
                                </p:cTn>
                              </p:par>
                              <p:par>
                                <p:cTn fill="hold" nodeType="withEffect" presetClass="entr" presetID="10" presetSubtype="0">
                                  <p:stCondLst>
                                    <p:cond delay="0"/>
                                  </p:stCondLst>
                                  <p:childTnLst>
                                    <p:set>
                                      <p:cBhvr>
                                        <p:cTn dur="1" fill="hold">
                                          <p:stCondLst>
                                            <p:cond delay="0"/>
                                          </p:stCondLst>
                                        </p:cTn>
                                        <p:tgtEl>
                                          <p:spTgt spid="1468"/>
                                        </p:tgtEl>
                                        <p:attrNameLst>
                                          <p:attrName>style.visibility</p:attrName>
                                        </p:attrNameLst>
                                      </p:cBhvr>
                                      <p:to>
                                        <p:strVal val="visible"/>
                                      </p:to>
                                    </p:set>
                                    <p:animEffect filter="fade" transition="in">
                                      <p:cBhvr>
                                        <p:cTn dur="500"/>
                                        <p:tgtEl>
                                          <p:spTgt spid="1468"/>
                                        </p:tgtEl>
                                      </p:cBhvr>
                                    </p:animEffect>
                                  </p:childTnLst>
                                </p:cTn>
                              </p:par>
                              <p:par>
                                <p:cTn fill="hold" nodeType="withEffect" presetClass="entr" presetID="10" presetSubtype="0">
                                  <p:stCondLst>
                                    <p:cond delay="0"/>
                                  </p:stCondLst>
                                  <p:childTnLst>
                                    <p:set>
                                      <p:cBhvr>
                                        <p:cTn dur="1" fill="hold">
                                          <p:stCondLst>
                                            <p:cond delay="0"/>
                                          </p:stCondLst>
                                        </p:cTn>
                                        <p:tgtEl>
                                          <p:spTgt spid="1469"/>
                                        </p:tgtEl>
                                        <p:attrNameLst>
                                          <p:attrName>style.visibility</p:attrName>
                                        </p:attrNameLst>
                                      </p:cBhvr>
                                      <p:to>
                                        <p:strVal val="visible"/>
                                      </p:to>
                                    </p:set>
                                    <p:animEffect filter="fade" transition="in">
                                      <p:cBhvr>
                                        <p:cTn dur="500"/>
                                        <p:tgtEl>
                                          <p:spTgt spid="1469"/>
                                        </p:tgtEl>
                                      </p:cBhvr>
                                    </p:animEffect>
                                  </p:childTnLst>
                                </p:cTn>
                              </p:par>
                              <p:par>
                                <p:cTn fill="hold" nodeType="withEffect" presetClass="entr" presetID="10" presetSubtype="0">
                                  <p:stCondLst>
                                    <p:cond delay="0"/>
                                  </p:stCondLst>
                                  <p:childTnLst>
                                    <p:set>
                                      <p:cBhvr>
                                        <p:cTn dur="1" fill="hold">
                                          <p:stCondLst>
                                            <p:cond delay="0"/>
                                          </p:stCondLst>
                                        </p:cTn>
                                        <p:tgtEl>
                                          <p:spTgt spid="1470"/>
                                        </p:tgtEl>
                                        <p:attrNameLst>
                                          <p:attrName>style.visibility</p:attrName>
                                        </p:attrNameLst>
                                      </p:cBhvr>
                                      <p:to>
                                        <p:strVal val="visible"/>
                                      </p:to>
                                    </p:set>
                                    <p:animEffect filter="fade" transition="in">
                                      <p:cBhvr>
                                        <p:cTn dur="500"/>
                                        <p:tgtEl>
                                          <p:spTgt spid="1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1"/>
                                        </p:tgtEl>
                                        <p:attrNameLst>
                                          <p:attrName>style.visibility</p:attrName>
                                        </p:attrNameLst>
                                      </p:cBhvr>
                                      <p:to>
                                        <p:strVal val="visible"/>
                                      </p:to>
                                    </p:set>
                                    <p:animEffect filter="fade" transition="in">
                                      <p:cBhvr>
                                        <p:cTn dur="500"/>
                                        <p:tgtEl>
                                          <p:spTgt spid="1471"/>
                                        </p:tgtEl>
                                      </p:cBhvr>
                                    </p:animEffect>
                                  </p:childTnLst>
                                </p:cTn>
                              </p:par>
                              <p:par>
                                <p:cTn fill="hold" nodeType="with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500"/>
                                        <p:tgtEl>
                                          <p:spTgt spid="1472"/>
                                        </p:tgtEl>
                                      </p:cBhvr>
                                    </p:animEffect>
                                  </p:childTnLst>
                                </p:cTn>
                              </p:par>
                              <p:par>
                                <p:cTn fill="hold" nodeType="with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500"/>
                                        <p:tgtEl>
                                          <p:spTgt spid="1473"/>
                                        </p:tgtEl>
                                      </p:cBhvr>
                                    </p:animEffect>
                                  </p:childTnLst>
                                </p:cTn>
                              </p:par>
                              <p:par>
                                <p:cTn fill="hold" nodeType="withEffect" presetClass="entr" presetID="10" presetSubtype="0">
                                  <p:stCondLst>
                                    <p:cond delay="0"/>
                                  </p:stCondLst>
                                  <p:childTnLst>
                                    <p:set>
                                      <p:cBhvr>
                                        <p:cTn dur="1" fill="hold">
                                          <p:stCondLst>
                                            <p:cond delay="0"/>
                                          </p:stCondLst>
                                        </p:cTn>
                                        <p:tgtEl>
                                          <p:spTgt spid="1474"/>
                                        </p:tgtEl>
                                        <p:attrNameLst>
                                          <p:attrName>style.visibility</p:attrName>
                                        </p:attrNameLst>
                                      </p:cBhvr>
                                      <p:to>
                                        <p:strVal val="visible"/>
                                      </p:to>
                                    </p:set>
                                    <p:animEffect filter="fade" transition="in">
                                      <p:cBhvr>
                                        <p:cTn dur="500"/>
                                        <p:tgtEl>
                                          <p:spTgt spid="1474"/>
                                        </p:tgtEl>
                                      </p:cBhvr>
                                    </p:animEffect>
                                  </p:childTnLst>
                                </p:cTn>
                              </p:par>
                              <p:par>
                                <p:cTn fill="hold" nodeType="withEffect" presetClass="entr" presetID="10" presetSubtype="0">
                                  <p:stCondLst>
                                    <p:cond delay="0"/>
                                  </p:stCondLst>
                                  <p:childTnLst>
                                    <p:set>
                                      <p:cBhvr>
                                        <p:cTn dur="1" fill="hold">
                                          <p:stCondLst>
                                            <p:cond delay="0"/>
                                          </p:stCondLst>
                                        </p:cTn>
                                        <p:tgtEl>
                                          <p:spTgt spid="1475"/>
                                        </p:tgtEl>
                                        <p:attrNameLst>
                                          <p:attrName>style.visibility</p:attrName>
                                        </p:attrNameLst>
                                      </p:cBhvr>
                                      <p:to>
                                        <p:strVal val="visible"/>
                                      </p:to>
                                    </p:set>
                                    <p:animEffect filter="fade" transition="in">
                                      <p:cBhvr>
                                        <p:cTn dur="500"/>
                                        <p:tgtEl>
                                          <p:spTgt spid="1475"/>
                                        </p:tgtEl>
                                      </p:cBhvr>
                                    </p:animEffect>
                                  </p:childTnLst>
                                </p:cTn>
                              </p:par>
                              <p:par>
                                <p:cTn fill="hold" nodeType="withEffect" presetClass="entr" presetID="10" presetSubtype="0">
                                  <p:stCondLst>
                                    <p:cond delay="0"/>
                                  </p:stCondLst>
                                  <p:childTnLst>
                                    <p:set>
                                      <p:cBhvr>
                                        <p:cTn dur="1" fill="hold">
                                          <p:stCondLst>
                                            <p:cond delay="0"/>
                                          </p:stCondLst>
                                        </p:cTn>
                                        <p:tgtEl>
                                          <p:spTgt spid="1476"/>
                                        </p:tgtEl>
                                        <p:attrNameLst>
                                          <p:attrName>style.visibility</p:attrName>
                                        </p:attrNameLst>
                                      </p:cBhvr>
                                      <p:to>
                                        <p:strVal val="visible"/>
                                      </p:to>
                                    </p:set>
                                    <p:animEffect filter="fade" transition="in">
                                      <p:cBhvr>
                                        <p:cTn dur="500"/>
                                        <p:tgtEl>
                                          <p:spTgt spid="1476"/>
                                        </p:tgtEl>
                                      </p:cBhvr>
                                    </p:animEffect>
                                  </p:childTnLst>
                                </p:cTn>
                              </p:par>
                              <p:par>
                                <p:cTn fill="hold" nodeType="withEffect" presetClass="entr" presetID="10" presetSubtype="0">
                                  <p:stCondLst>
                                    <p:cond delay="0"/>
                                  </p:stCondLst>
                                  <p:childTnLst>
                                    <p:set>
                                      <p:cBhvr>
                                        <p:cTn dur="1" fill="hold">
                                          <p:stCondLst>
                                            <p:cond delay="0"/>
                                          </p:stCondLst>
                                        </p:cTn>
                                        <p:tgtEl>
                                          <p:spTgt spid="1477"/>
                                        </p:tgtEl>
                                        <p:attrNameLst>
                                          <p:attrName>style.visibility</p:attrName>
                                        </p:attrNameLst>
                                      </p:cBhvr>
                                      <p:to>
                                        <p:strVal val="visible"/>
                                      </p:to>
                                    </p:set>
                                    <p:animEffect filter="fade" transition="in">
                                      <p:cBhvr>
                                        <p:cTn dur="500"/>
                                        <p:tgtEl>
                                          <p:spTgt spid="1477"/>
                                        </p:tgtEl>
                                      </p:cBhvr>
                                    </p:animEffect>
                                  </p:childTnLst>
                                </p:cTn>
                              </p:par>
                              <p:par>
                                <p:cTn fill="hold" nodeType="with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71"/>
                                        </p:tgtEl>
                                      </p:cBhvr>
                                    </p:animEffect>
                                    <p:set>
                                      <p:cBhvr>
                                        <p:cTn dur="1" fill="hold">
                                          <p:stCondLst>
                                            <p:cond delay="500"/>
                                          </p:stCondLst>
                                        </p:cTn>
                                        <p:tgtEl>
                                          <p:spTgt spid="147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2"/>
                                        </p:tgtEl>
                                      </p:cBhvr>
                                    </p:animEffect>
                                    <p:set>
                                      <p:cBhvr>
                                        <p:cTn dur="1" fill="hold">
                                          <p:stCondLst>
                                            <p:cond delay="500"/>
                                          </p:stCondLst>
                                        </p:cTn>
                                        <p:tgtEl>
                                          <p:spTgt spid="147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3"/>
                                        </p:tgtEl>
                                      </p:cBhvr>
                                    </p:animEffect>
                                    <p:set>
                                      <p:cBhvr>
                                        <p:cTn dur="1" fill="hold">
                                          <p:stCondLst>
                                            <p:cond delay="500"/>
                                          </p:stCondLst>
                                        </p:cTn>
                                        <p:tgtEl>
                                          <p:spTgt spid="147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4"/>
                                        </p:tgtEl>
                                      </p:cBhvr>
                                    </p:animEffect>
                                    <p:set>
                                      <p:cBhvr>
                                        <p:cTn dur="1" fill="hold">
                                          <p:stCondLst>
                                            <p:cond delay="500"/>
                                          </p:stCondLst>
                                        </p:cTn>
                                        <p:tgtEl>
                                          <p:spTgt spid="147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5"/>
                                        </p:tgtEl>
                                      </p:cBhvr>
                                    </p:animEffect>
                                    <p:set>
                                      <p:cBhvr>
                                        <p:cTn dur="1" fill="hold">
                                          <p:stCondLst>
                                            <p:cond delay="500"/>
                                          </p:stCondLst>
                                        </p:cTn>
                                        <p:tgtEl>
                                          <p:spTgt spid="147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6"/>
                                        </p:tgtEl>
                                      </p:cBhvr>
                                    </p:animEffect>
                                    <p:set>
                                      <p:cBhvr>
                                        <p:cTn dur="1" fill="hold">
                                          <p:stCondLst>
                                            <p:cond delay="500"/>
                                          </p:stCondLst>
                                        </p:cTn>
                                        <p:tgtEl>
                                          <p:spTgt spid="147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7"/>
                                        </p:tgtEl>
                                      </p:cBhvr>
                                    </p:animEffect>
                                    <p:set>
                                      <p:cBhvr>
                                        <p:cTn dur="1" fill="hold">
                                          <p:stCondLst>
                                            <p:cond delay="500"/>
                                          </p:stCondLst>
                                        </p:cTn>
                                        <p:tgtEl>
                                          <p:spTgt spid="147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8"/>
                                        </p:tgtEl>
                                      </p:cBhvr>
                                    </p:animEffect>
                                    <p:set>
                                      <p:cBhvr>
                                        <p:cTn dur="1" fill="hold">
                                          <p:stCondLst>
                                            <p:cond delay="500"/>
                                          </p:stCondLst>
                                        </p:cTn>
                                        <p:tgtEl>
                                          <p:spTgt spid="14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9"/>
                                        </p:tgtEl>
                                        <p:attrNameLst>
                                          <p:attrName>style.visibility</p:attrName>
                                        </p:attrNameLst>
                                      </p:cBhvr>
                                      <p:to>
                                        <p:strVal val="visible"/>
                                      </p:to>
                                    </p:set>
                                    <p:animEffect filter="fade" transition="in">
                                      <p:cBhvr>
                                        <p:cTn dur="500"/>
                                        <p:tgtEl>
                                          <p:spTgt spid="1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0"/>
                                        </p:tgtEl>
                                        <p:attrNameLst>
                                          <p:attrName>style.visibility</p:attrName>
                                        </p:attrNameLst>
                                      </p:cBhvr>
                                      <p:to>
                                        <p:strVal val="visible"/>
                                      </p:to>
                                    </p:set>
                                    <p:animEffect filter="fade" transition="in">
                                      <p:cBhvr>
                                        <p:cTn dur="500"/>
                                        <p:tgtEl>
                                          <p:spTgt spid="1480"/>
                                        </p:tgtEl>
                                      </p:cBhvr>
                                    </p:animEffect>
                                  </p:childTnLst>
                                </p:cTn>
                              </p:par>
                              <p:par>
                                <p:cTn fill="hold" nodeType="withEffect" presetClass="entr" presetID="10" presetSubtype="0">
                                  <p:stCondLst>
                                    <p:cond delay="0"/>
                                  </p:stCondLst>
                                  <p:childTnLst>
                                    <p:set>
                                      <p:cBhvr>
                                        <p:cTn dur="1" fill="hold">
                                          <p:stCondLst>
                                            <p:cond delay="0"/>
                                          </p:stCondLst>
                                        </p:cTn>
                                        <p:tgtEl>
                                          <p:spTgt spid="1481"/>
                                        </p:tgtEl>
                                        <p:attrNameLst>
                                          <p:attrName>style.visibility</p:attrName>
                                        </p:attrNameLst>
                                      </p:cBhvr>
                                      <p:to>
                                        <p:strVal val="visible"/>
                                      </p:to>
                                    </p:set>
                                    <p:animEffect filter="fade" transition="in">
                                      <p:cBhvr>
                                        <p:cTn dur="500"/>
                                        <p:tgtEl>
                                          <p:spTgt spid="1481"/>
                                        </p:tgtEl>
                                      </p:cBhvr>
                                    </p:animEffect>
                                  </p:childTnLst>
                                </p:cTn>
                              </p:par>
                              <p:par>
                                <p:cTn fill="hold" nodeType="withEffect" presetClass="entr" presetID="10" presetSubtype="0">
                                  <p:stCondLst>
                                    <p:cond delay="0"/>
                                  </p:stCondLst>
                                  <p:childTnLst>
                                    <p:set>
                                      <p:cBhvr>
                                        <p:cTn dur="1" fill="hold">
                                          <p:stCondLst>
                                            <p:cond delay="0"/>
                                          </p:stCondLst>
                                        </p:cTn>
                                        <p:tgtEl>
                                          <p:spTgt spid="1482"/>
                                        </p:tgtEl>
                                        <p:attrNameLst>
                                          <p:attrName>style.visibility</p:attrName>
                                        </p:attrNameLst>
                                      </p:cBhvr>
                                      <p:to>
                                        <p:strVal val="visible"/>
                                      </p:to>
                                    </p:set>
                                    <p:animEffect filter="fade" transition="in">
                                      <p:cBhvr>
                                        <p:cTn dur="500"/>
                                        <p:tgtEl>
                                          <p:spTgt spid="1482"/>
                                        </p:tgtEl>
                                      </p:cBhvr>
                                    </p:animEffect>
                                  </p:childTnLst>
                                </p:cTn>
                              </p:par>
                              <p:par>
                                <p:cTn fill="hold" nodeType="withEffect" presetClass="entr" presetID="10" presetSubtype="0">
                                  <p:stCondLst>
                                    <p:cond delay="0"/>
                                  </p:stCondLst>
                                  <p:childTnLst>
                                    <p:set>
                                      <p:cBhvr>
                                        <p:cTn dur="1" fill="hold">
                                          <p:stCondLst>
                                            <p:cond delay="0"/>
                                          </p:stCondLst>
                                        </p:cTn>
                                        <p:tgtEl>
                                          <p:spTgt spid="1483"/>
                                        </p:tgtEl>
                                        <p:attrNameLst>
                                          <p:attrName>style.visibility</p:attrName>
                                        </p:attrNameLst>
                                      </p:cBhvr>
                                      <p:to>
                                        <p:strVal val="visible"/>
                                      </p:to>
                                    </p:set>
                                    <p:animEffect filter="fade" transition="in">
                                      <p:cBhvr>
                                        <p:cTn dur="500"/>
                                        <p:tgtEl>
                                          <p:spTgt spid="1483"/>
                                        </p:tgtEl>
                                      </p:cBhvr>
                                    </p:animEffect>
                                  </p:childTnLst>
                                </p:cTn>
                              </p:par>
                              <p:par>
                                <p:cTn fill="hold" nodeType="withEffect" presetClass="entr" presetID="10" presetSubtype="0">
                                  <p:stCondLst>
                                    <p:cond delay="0"/>
                                  </p:stCondLst>
                                  <p:childTnLst>
                                    <p:set>
                                      <p:cBhvr>
                                        <p:cTn dur="1" fill="hold">
                                          <p:stCondLst>
                                            <p:cond delay="0"/>
                                          </p:stCondLst>
                                        </p:cTn>
                                        <p:tgtEl>
                                          <p:spTgt spid="1484"/>
                                        </p:tgtEl>
                                        <p:attrNameLst>
                                          <p:attrName>style.visibility</p:attrName>
                                        </p:attrNameLst>
                                      </p:cBhvr>
                                      <p:to>
                                        <p:strVal val="visible"/>
                                      </p:to>
                                    </p:set>
                                    <p:animEffect filter="fade" transition="in">
                                      <p:cBhvr>
                                        <p:cTn dur="500"/>
                                        <p:tgtEl>
                                          <p:spTgt spid="1484"/>
                                        </p:tgtEl>
                                      </p:cBhvr>
                                    </p:animEffect>
                                  </p:childTnLst>
                                </p:cTn>
                              </p:par>
                              <p:par>
                                <p:cTn fill="hold" nodeType="withEffect" presetClass="entr" presetID="10" presetSubtype="0">
                                  <p:stCondLst>
                                    <p:cond delay="0"/>
                                  </p:stCondLst>
                                  <p:childTnLst>
                                    <p:set>
                                      <p:cBhvr>
                                        <p:cTn dur="1" fill="hold">
                                          <p:stCondLst>
                                            <p:cond delay="0"/>
                                          </p:stCondLst>
                                        </p:cTn>
                                        <p:tgtEl>
                                          <p:spTgt spid="1485"/>
                                        </p:tgtEl>
                                        <p:attrNameLst>
                                          <p:attrName>style.visibility</p:attrName>
                                        </p:attrNameLst>
                                      </p:cBhvr>
                                      <p:to>
                                        <p:strVal val="visible"/>
                                      </p:to>
                                    </p:set>
                                    <p:animEffect filter="fade" transition="in">
                                      <p:cBhvr>
                                        <p:cTn dur="500"/>
                                        <p:tgtEl>
                                          <p:spTgt spid="1485"/>
                                        </p:tgtEl>
                                      </p:cBhvr>
                                    </p:animEffect>
                                  </p:childTnLst>
                                </p:cTn>
                              </p:par>
                              <p:par>
                                <p:cTn fill="hold" nodeType="withEffect" presetClass="entr" presetID="10" presetSubtype="0">
                                  <p:stCondLst>
                                    <p:cond delay="0"/>
                                  </p:stCondLst>
                                  <p:childTnLst>
                                    <p:set>
                                      <p:cBhvr>
                                        <p:cTn dur="1" fill="hold">
                                          <p:stCondLst>
                                            <p:cond delay="0"/>
                                          </p:stCondLst>
                                        </p:cTn>
                                        <p:tgtEl>
                                          <p:spTgt spid="1486"/>
                                        </p:tgtEl>
                                        <p:attrNameLst>
                                          <p:attrName>style.visibility</p:attrName>
                                        </p:attrNameLst>
                                      </p:cBhvr>
                                      <p:to>
                                        <p:strVal val="visible"/>
                                      </p:to>
                                    </p:set>
                                    <p:animEffect filter="fade" transition="in">
                                      <p:cBhvr>
                                        <p:cTn dur="500"/>
                                        <p:tgtEl>
                                          <p:spTgt spid="1486"/>
                                        </p:tgtEl>
                                      </p:cBhvr>
                                    </p:animEffect>
                                  </p:childTnLst>
                                </p:cTn>
                              </p:par>
                              <p:par>
                                <p:cTn fill="hold" nodeType="withEffect" presetClass="entr" presetID="10" presetSubtype="0">
                                  <p:stCondLst>
                                    <p:cond delay="0"/>
                                  </p:stCondLst>
                                  <p:childTnLst>
                                    <p:set>
                                      <p:cBhvr>
                                        <p:cTn dur="1" fill="hold">
                                          <p:stCondLst>
                                            <p:cond delay="0"/>
                                          </p:stCondLst>
                                        </p:cTn>
                                        <p:tgtEl>
                                          <p:spTgt spid="1487"/>
                                        </p:tgtEl>
                                        <p:attrNameLst>
                                          <p:attrName>style.visibility</p:attrName>
                                        </p:attrNameLst>
                                      </p:cBhvr>
                                      <p:to>
                                        <p:strVal val="visible"/>
                                      </p:to>
                                    </p:set>
                                    <p:animEffect filter="fade" transition="in">
                                      <p:cBhvr>
                                        <p:cTn dur="500"/>
                                        <p:tgtEl>
                                          <p:spTgt spid="1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80"/>
                                        </p:tgtEl>
                                      </p:cBhvr>
                                    </p:animEffect>
                                    <p:set>
                                      <p:cBhvr>
                                        <p:cTn dur="1" fill="hold">
                                          <p:stCondLst>
                                            <p:cond delay="500"/>
                                          </p:stCondLst>
                                        </p:cTn>
                                        <p:tgtEl>
                                          <p:spTgt spid="148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1"/>
                                        </p:tgtEl>
                                      </p:cBhvr>
                                    </p:animEffect>
                                    <p:set>
                                      <p:cBhvr>
                                        <p:cTn dur="1" fill="hold">
                                          <p:stCondLst>
                                            <p:cond delay="500"/>
                                          </p:stCondLst>
                                        </p:cTn>
                                        <p:tgtEl>
                                          <p:spTgt spid="148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2"/>
                                        </p:tgtEl>
                                      </p:cBhvr>
                                    </p:animEffect>
                                    <p:set>
                                      <p:cBhvr>
                                        <p:cTn dur="1" fill="hold">
                                          <p:stCondLst>
                                            <p:cond delay="500"/>
                                          </p:stCondLst>
                                        </p:cTn>
                                        <p:tgtEl>
                                          <p:spTgt spid="148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3"/>
                                        </p:tgtEl>
                                      </p:cBhvr>
                                    </p:animEffect>
                                    <p:set>
                                      <p:cBhvr>
                                        <p:cTn dur="1" fill="hold">
                                          <p:stCondLst>
                                            <p:cond delay="500"/>
                                          </p:stCondLst>
                                        </p:cTn>
                                        <p:tgtEl>
                                          <p:spTgt spid="14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4"/>
                                        </p:tgtEl>
                                      </p:cBhvr>
                                    </p:animEffect>
                                    <p:set>
                                      <p:cBhvr>
                                        <p:cTn dur="1" fill="hold">
                                          <p:stCondLst>
                                            <p:cond delay="500"/>
                                          </p:stCondLst>
                                        </p:cTn>
                                        <p:tgtEl>
                                          <p:spTgt spid="148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5"/>
                                        </p:tgtEl>
                                      </p:cBhvr>
                                    </p:animEffect>
                                    <p:set>
                                      <p:cBhvr>
                                        <p:cTn dur="1" fill="hold">
                                          <p:stCondLst>
                                            <p:cond delay="500"/>
                                          </p:stCondLst>
                                        </p:cTn>
                                        <p:tgtEl>
                                          <p:spTgt spid="148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6"/>
                                        </p:tgtEl>
                                      </p:cBhvr>
                                    </p:animEffect>
                                    <p:set>
                                      <p:cBhvr>
                                        <p:cTn dur="1" fill="hold">
                                          <p:stCondLst>
                                            <p:cond delay="500"/>
                                          </p:stCondLst>
                                        </p:cTn>
                                        <p:tgtEl>
                                          <p:spTgt spid="14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87"/>
                                        </p:tgtEl>
                                      </p:cBhvr>
                                    </p:animEffect>
                                    <p:set>
                                      <p:cBhvr>
                                        <p:cTn dur="1" fill="hold">
                                          <p:stCondLst>
                                            <p:cond delay="500"/>
                                          </p:stCondLst>
                                        </p:cTn>
                                        <p:tgtEl>
                                          <p:spTgt spid="148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8"/>
                                        </p:tgtEl>
                                        <p:attrNameLst>
                                          <p:attrName>style.visibility</p:attrName>
                                        </p:attrNameLst>
                                      </p:cBhvr>
                                      <p:to>
                                        <p:strVal val="visible"/>
                                      </p:to>
                                    </p:set>
                                    <p:animEffect filter="fade" transition="in">
                                      <p:cBhvr>
                                        <p:cTn dur="500"/>
                                        <p:tgtEl>
                                          <p:spTgt spid="1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9"/>
                                        </p:tgtEl>
                                        <p:attrNameLst>
                                          <p:attrName>style.visibility</p:attrName>
                                        </p:attrNameLst>
                                      </p:cBhvr>
                                      <p:to>
                                        <p:strVal val="visible"/>
                                      </p:to>
                                    </p:set>
                                    <p:animEffect filter="fade" transition="in">
                                      <p:cBhvr>
                                        <p:cTn dur="500"/>
                                        <p:tgtEl>
                                          <p:spTgt spid="1489"/>
                                        </p:tgtEl>
                                      </p:cBhvr>
                                    </p:animEffect>
                                  </p:childTnLst>
                                </p:cTn>
                              </p:par>
                              <p:par>
                                <p:cTn fill="hold" nodeType="withEffect" presetClass="entr" presetID="10" presetSubtype="0">
                                  <p:stCondLst>
                                    <p:cond delay="0"/>
                                  </p:stCondLst>
                                  <p:childTnLst>
                                    <p:set>
                                      <p:cBhvr>
                                        <p:cTn dur="1" fill="hold">
                                          <p:stCondLst>
                                            <p:cond delay="0"/>
                                          </p:stCondLst>
                                        </p:cTn>
                                        <p:tgtEl>
                                          <p:spTgt spid="1490"/>
                                        </p:tgtEl>
                                        <p:attrNameLst>
                                          <p:attrName>style.visibility</p:attrName>
                                        </p:attrNameLst>
                                      </p:cBhvr>
                                      <p:to>
                                        <p:strVal val="visible"/>
                                      </p:to>
                                    </p:set>
                                    <p:animEffect filter="fade" transition="in">
                                      <p:cBhvr>
                                        <p:cTn dur="500"/>
                                        <p:tgtEl>
                                          <p:spTgt spid="1490"/>
                                        </p:tgtEl>
                                      </p:cBhvr>
                                    </p:animEffect>
                                  </p:childTnLst>
                                </p:cTn>
                              </p:par>
                              <p:par>
                                <p:cTn fill="hold" nodeType="with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par>
                                <p:cTn fill="hold" nodeType="withEffect" presetClass="entr" presetID="10" presetSubtype="0">
                                  <p:stCondLst>
                                    <p:cond delay="0"/>
                                  </p:stCondLst>
                                  <p:childTnLst>
                                    <p:set>
                                      <p:cBhvr>
                                        <p:cTn dur="1" fill="hold">
                                          <p:stCondLst>
                                            <p:cond delay="0"/>
                                          </p:stCondLst>
                                        </p:cTn>
                                        <p:tgtEl>
                                          <p:spTgt spid="1492"/>
                                        </p:tgtEl>
                                        <p:attrNameLst>
                                          <p:attrName>style.visibility</p:attrName>
                                        </p:attrNameLst>
                                      </p:cBhvr>
                                      <p:to>
                                        <p:strVal val="visible"/>
                                      </p:to>
                                    </p:set>
                                    <p:animEffect filter="fade" transition="in">
                                      <p:cBhvr>
                                        <p:cTn dur="500"/>
                                        <p:tgtEl>
                                          <p:spTgt spid="1492"/>
                                        </p:tgtEl>
                                      </p:cBhvr>
                                    </p:animEffect>
                                  </p:childTnLst>
                                </p:cTn>
                              </p:par>
                              <p:par>
                                <p:cTn fill="hold" nodeType="with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500"/>
                                        <p:tgtEl>
                                          <p:spTgt spid="1493"/>
                                        </p:tgtEl>
                                      </p:cBhvr>
                                    </p:animEffect>
                                  </p:childTnLst>
                                </p:cTn>
                              </p:par>
                              <p:par>
                                <p:cTn fill="hold" nodeType="with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500"/>
                                        <p:tgtEl>
                                          <p:spTgt spid="1494"/>
                                        </p:tgtEl>
                                      </p:cBhvr>
                                    </p:animEffect>
                                  </p:childTnLst>
                                </p:cTn>
                              </p:par>
                              <p:par>
                                <p:cTn fill="hold" nodeType="withEffect" presetClass="entr" presetID="10" presetSubtype="0">
                                  <p:stCondLst>
                                    <p:cond delay="0"/>
                                  </p:stCondLst>
                                  <p:childTnLst>
                                    <p:set>
                                      <p:cBhvr>
                                        <p:cTn dur="1" fill="hold">
                                          <p:stCondLst>
                                            <p:cond delay="0"/>
                                          </p:stCondLst>
                                        </p:cTn>
                                        <p:tgtEl>
                                          <p:spTgt spid="1495"/>
                                        </p:tgtEl>
                                        <p:attrNameLst>
                                          <p:attrName>style.visibility</p:attrName>
                                        </p:attrNameLst>
                                      </p:cBhvr>
                                      <p:to>
                                        <p:strVal val="visible"/>
                                      </p:to>
                                    </p:set>
                                    <p:animEffect filter="fade" transition="in">
                                      <p:cBhvr>
                                        <p:cTn dur="500"/>
                                        <p:tgtEl>
                                          <p:spTgt spid="1495"/>
                                        </p:tgtEl>
                                      </p:cBhvr>
                                    </p:animEffect>
                                  </p:childTnLst>
                                </p:cTn>
                              </p:par>
                              <p:par>
                                <p:cTn fill="hold" nodeType="withEffect" presetClass="entr" presetID="10" presetSubtype="0">
                                  <p:stCondLst>
                                    <p:cond delay="0"/>
                                  </p:stCondLst>
                                  <p:childTnLst>
                                    <p:set>
                                      <p:cBhvr>
                                        <p:cTn dur="1" fill="hold">
                                          <p:stCondLst>
                                            <p:cond delay="0"/>
                                          </p:stCondLst>
                                        </p:cTn>
                                        <p:tgtEl>
                                          <p:spTgt spid="1496"/>
                                        </p:tgtEl>
                                        <p:attrNameLst>
                                          <p:attrName>style.visibility</p:attrName>
                                        </p:attrNameLst>
                                      </p:cBhvr>
                                      <p:to>
                                        <p:strVal val="visible"/>
                                      </p:to>
                                    </p:set>
                                    <p:animEffect filter="fade" transition="in">
                                      <p:cBhvr>
                                        <p:cTn dur="500"/>
                                        <p:tgtEl>
                                          <p:spTgt spid="1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gtEl>
                                        <p:attrNameLst>
                                          <p:attrName>style.visibility</p:attrName>
                                        </p:attrNameLst>
                                      </p:cBhvr>
                                      <p:to>
                                        <p:strVal val="visible"/>
                                      </p:to>
                                    </p:set>
                                    <p:animEffect filter="fade" transition="in">
                                      <p:cBhvr>
                                        <p:cTn dur="500"/>
                                        <p:tgtEl>
                                          <p:spTgt spid="1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8"/>
                                        </p:tgtEl>
                                        <p:attrNameLst>
                                          <p:attrName>style.visibility</p:attrName>
                                        </p:attrNameLst>
                                      </p:cBhvr>
                                      <p:to>
                                        <p:strVal val="visible"/>
                                      </p:to>
                                    </p:set>
                                    <p:animEffect filter="fade" transition="in">
                                      <p:cBhvr>
                                        <p:cTn dur="500"/>
                                        <p:tgtEl>
                                          <p:spTgt spid="1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9"/>
                                        </p:tgtEl>
                                        <p:attrNameLst>
                                          <p:attrName>style.visibility</p:attrName>
                                        </p:attrNameLst>
                                      </p:cBhvr>
                                      <p:to>
                                        <p:strVal val="visible"/>
                                      </p:to>
                                    </p:set>
                                    <p:animEffect filter="fade" transition="in">
                                      <p:cBhvr>
                                        <p:cTn dur="500"/>
                                        <p:tgtEl>
                                          <p:spTgt spid="1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7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GEMM memory load</a:t>
            </a:r>
            <a:endParaRPr/>
          </a:p>
        </p:txBody>
      </p:sp>
      <p:sp>
        <p:nvSpPr>
          <p:cNvPr id="1506" name="Google Shape;1506;p76"/>
          <p:cNvSpPr txBox="1"/>
          <p:nvPr>
            <p:ph idx="1" type="body"/>
          </p:nvPr>
        </p:nvSpPr>
        <p:spPr>
          <a:xfrm>
            <a:off x="628650" y="1369219"/>
            <a:ext cx="4716380" cy="3263504"/>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For every output element:</a:t>
            </a:r>
            <a:endParaRPr/>
          </a:p>
          <a:p>
            <a:pPr indent="-177800" lvl="1" marL="520700" rtl="0" algn="l">
              <a:lnSpc>
                <a:spcPct val="90000"/>
              </a:lnSpc>
              <a:spcBef>
                <a:spcPts val="400"/>
              </a:spcBef>
              <a:spcAft>
                <a:spcPts val="0"/>
              </a:spcAft>
              <a:buClr>
                <a:schemeClr val="dk1"/>
              </a:buClr>
              <a:buSzPts val="1800"/>
              <a:buChar char="•"/>
            </a:pPr>
            <a:r>
              <a:rPr lang="en"/>
              <a:t>Load one row + one column</a:t>
            </a:r>
            <a:endParaRPr/>
          </a:p>
          <a:p>
            <a:pPr indent="-177800" lvl="1" marL="520700" rtl="0" algn="l">
              <a:lnSpc>
                <a:spcPct val="90000"/>
              </a:lnSpc>
              <a:spcBef>
                <a:spcPts val="400"/>
              </a:spcBef>
              <a:spcAft>
                <a:spcPts val="0"/>
              </a:spcAft>
              <a:buClr>
                <a:schemeClr val="dk1"/>
              </a:buClr>
              <a:buSzPts val="1800"/>
              <a:buChar char="•"/>
            </a:pPr>
            <a:r>
              <a:rPr lang="en"/>
              <a:t>2K elements</a:t>
            </a:r>
            <a:endParaRPr/>
          </a:p>
          <a:p>
            <a:pPr indent="-171450" lvl="0" marL="177800" rtl="0" algn="l">
              <a:lnSpc>
                <a:spcPct val="90000"/>
              </a:lnSpc>
              <a:spcBef>
                <a:spcPts val="800"/>
              </a:spcBef>
              <a:spcAft>
                <a:spcPts val="0"/>
              </a:spcAft>
              <a:buClr>
                <a:schemeClr val="dk1"/>
              </a:buClr>
              <a:buSzPts val="2100"/>
              <a:buChar char="•"/>
            </a:pPr>
            <a:r>
              <a:rPr lang="en"/>
              <a:t>In total MN output elements</a:t>
            </a:r>
            <a:endParaRPr/>
          </a:p>
          <a:p>
            <a:pPr indent="-171450" lvl="0" marL="177800" rtl="0" algn="l">
              <a:lnSpc>
                <a:spcPct val="90000"/>
              </a:lnSpc>
              <a:spcBef>
                <a:spcPts val="800"/>
              </a:spcBef>
              <a:spcAft>
                <a:spcPts val="0"/>
              </a:spcAft>
              <a:buClr>
                <a:schemeClr val="dk1"/>
              </a:buClr>
              <a:buSzPts val="2100"/>
              <a:buChar char="•"/>
            </a:pPr>
            <a:r>
              <a:rPr lang="en"/>
              <a:t>Memory load = 2MNK</a:t>
            </a:r>
            <a:endParaRPr/>
          </a:p>
          <a:p>
            <a:pPr indent="-171450" lvl="0" marL="177800" rtl="0" algn="l">
              <a:lnSpc>
                <a:spcPct val="90000"/>
              </a:lnSpc>
              <a:spcBef>
                <a:spcPts val="800"/>
              </a:spcBef>
              <a:spcAft>
                <a:spcPts val="0"/>
              </a:spcAft>
              <a:buClr>
                <a:schemeClr val="dk1"/>
              </a:buClr>
              <a:buSzPts val="2100"/>
              <a:buChar char="•"/>
            </a:pPr>
            <a:r>
              <a:rPr lang="en"/>
              <a:t>However, unique load is only </a:t>
            </a:r>
            <a:endParaRPr/>
          </a:p>
          <a:p>
            <a:pPr indent="-177800" lvl="1" marL="520700" rtl="0" algn="l">
              <a:lnSpc>
                <a:spcPct val="90000"/>
              </a:lnSpc>
              <a:spcBef>
                <a:spcPts val="400"/>
              </a:spcBef>
              <a:spcAft>
                <a:spcPts val="0"/>
              </a:spcAft>
              <a:buClr>
                <a:schemeClr val="dk1"/>
              </a:buClr>
              <a:buSzPts val="1800"/>
              <a:buChar char="•"/>
            </a:pPr>
            <a:r>
              <a:rPr lang="en"/>
              <a:t>MK + NK</a:t>
            </a:r>
            <a:endParaRPr/>
          </a:p>
          <a:p>
            <a:pPr indent="-171450" lvl="0" marL="177800" rtl="0" algn="l">
              <a:lnSpc>
                <a:spcPct val="90000"/>
              </a:lnSpc>
              <a:spcBef>
                <a:spcPts val="800"/>
              </a:spcBef>
              <a:spcAft>
                <a:spcPts val="0"/>
              </a:spcAft>
              <a:buClr>
                <a:srgbClr val="EE0000"/>
              </a:buClr>
              <a:buSzPts val="2100"/>
              <a:buChar char="•"/>
            </a:pPr>
            <a:r>
              <a:rPr lang="en">
                <a:solidFill>
                  <a:srgbClr val="EE0000"/>
                </a:solidFill>
              </a:rPr>
              <a:t>How can we reduce L2 accesses?</a:t>
            </a:r>
            <a:endParaRPr/>
          </a:p>
          <a:p>
            <a:pPr indent="-177800" lvl="1" marL="520700" rtl="0" algn="l">
              <a:lnSpc>
                <a:spcPct val="90000"/>
              </a:lnSpc>
              <a:spcBef>
                <a:spcPts val="400"/>
              </a:spcBef>
              <a:spcAft>
                <a:spcPts val="0"/>
              </a:spcAft>
              <a:buClr>
                <a:srgbClr val="EE0000"/>
              </a:buClr>
              <a:buSzPts val="1800"/>
              <a:buChar char="•"/>
            </a:pPr>
            <a:r>
              <a:rPr lang="en">
                <a:solidFill>
                  <a:srgbClr val="EE0000"/>
                </a:solidFill>
              </a:rPr>
              <a:t>Use tiling!</a:t>
            </a:r>
            <a:endParaRPr/>
          </a:p>
          <a:p>
            <a:pPr indent="-63500" lvl="1" marL="520700" rtl="0" algn="l">
              <a:lnSpc>
                <a:spcPct val="90000"/>
              </a:lnSpc>
              <a:spcBef>
                <a:spcPts val="400"/>
              </a:spcBef>
              <a:spcAft>
                <a:spcPts val="0"/>
              </a:spcAft>
              <a:buClr>
                <a:schemeClr val="dk1"/>
              </a:buClr>
              <a:buSzPts val="1800"/>
              <a:buNone/>
            </a:pPr>
            <a:r>
              <a:t/>
            </a:r>
            <a:endParaRPr/>
          </a:p>
        </p:txBody>
      </p:sp>
      <p:grpSp>
        <p:nvGrpSpPr>
          <p:cNvPr id="1507" name="Google Shape;1507;p76"/>
          <p:cNvGrpSpPr/>
          <p:nvPr/>
        </p:nvGrpSpPr>
        <p:grpSpPr>
          <a:xfrm>
            <a:off x="4890052" y="770929"/>
            <a:ext cx="3577455" cy="3294264"/>
            <a:chOff x="6520070" y="1027906"/>
            <a:chExt cx="4769940" cy="4392352"/>
          </a:xfrm>
        </p:grpSpPr>
        <p:grpSp>
          <p:nvGrpSpPr>
            <p:cNvPr id="1508" name="Google Shape;1508;p76"/>
            <p:cNvGrpSpPr/>
            <p:nvPr/>
          </p:nvGrpSpPr>
          <p:grpSpPr>
            <a:xfrm>
              <a:off x="6988312" y="1364974"/>
              <a:ext cx="4301698" cy="4055284"/>
              <a:chOff x="1859721" y="64051"/>
              <a:chExt cx="6698490" cy="6314781"/>
            </a:xfrm>
          </p:grpSpPr>
          <p:grpSp>
            <p:nvGrpSpPr>
              <p:cNvPr id="1509" name="Google Shape;1509;p76"/>
              <p:cNvGrpSpPr/>
              <p:nvPr/>
            </p:nvGrpSpPr>
            <p:grpSpPr>
              <a:xfrm>
                <a:off x="1942213" y="3429000"/>
                <a:ext cx="2949827" cy="2941936"/>
                <a:chOff x="1325943" y="3095303"/>
                <a:chExt cx="3559747" cy="3550224"/>
              </a:xfrm>
            </p:grpSpPr>
            <p:sp>
              <p:nvSpPr>
                <p:cNvPr id="1510" name="Google Shape;1510;p76"/>
                <p:cNvSpPr/>
                <p:nvPr/>
              </p:nvSpPr>
              <p:spPr>
                <a:xfrm>
                  <a:off x="132594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511" name="Google Shape;1511;p76"/>
                <p:cNvSpPr/>
                <p:nvPr/>
              </p:nvSpPr>
              <p:spPr>
                <a:xfrm>
                  <a:off x="1770911"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512" name="Google Shape;1512;p76"/>
                <p:cNvSpPr/>
                <p:nvPr/>
              </p:nvSpPr>
              <p:spPr>
                <a:xfrm>
                  <a:off x="2215880"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513" name="Google Shape;1513;p76"/>
                <p:cNvSpPr/>
                <p:nvPr/>
              </p:nvSpPr>
              <p:spPr>
                <a:xfrm>
                  <a:off x="2660848"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514" name="Google Shape;1514;p76"/>
                <p:cNvSpPr/>
                <p:nvPr/>
              </p:nvSpPr>
              <p:spPr>
                <a:xfrm>
                  <a:off x="3105817"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515" name="Google Shape;1515;p76"/>
                <p:cNvSpPr/>
                <p:nvPr/>
              </p:nvSpPr>
              <p:spPr>
                <a:xfrm>
                  <a:off x="3550785"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516" name="Google Shape;1516;p76"/>
                <p:cNvSpPr/>
                <p:nvPr/>
              </p:nvSpPr>
              <p:spPr>
                <a:xfrm>
                  <a:off x="399575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517" name="Google Shape;1517;p76"/>
                <p:cNvSpPr/>
                <p:nvPr/>
              </p:nvSpPr>
              <p:spPr>
                <a:xfrm>
                  <a:off x="4440722"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518" name="Google Shape;1518;p76"/>
                <p:cNvSpPr/>
                <p:nvPr/>
              </p:nvSpPr>
              <p:spPr>
                <a:xfrm>
                  <a:off x="132594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519" name="Google Shape;1519;p76"/>
                <p:cNvSpPr/>
                <p:nvPr/>
              </p:nvSpPr>
              <p:spPr>
                <a:xfrm>
                  <a:off x="1770911"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520" name="Google Shape;1520;p76"/>
                <p:cNvSpPr/>
                <p:nvPr/>
              </p:nvSpPr>
              <p:spPr>
                <a:xfrm>
                  <a:off x="2215880"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521" name="Google Shape;1521;p76"/>
                <p:cNvSpPr/>
                <p:nvPr/>
              </p:nvSpPr>
              <p:spPr>
                <a:xfrm>
                  <a:off x="2660848"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522" name="Google Shape;1522;p76"/>
                <p:cNvSpPr/>
                <p:nvPr/>
              </p:nvSpPr>
              <p:spPr>
                <a:xfrm>
                  <a:off x="132594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523" name="Google Shape;1523;p76"/>
                <p:cNvSpPr/>
                <p:nvPr/>
              </p:nvSpPr>
              <p:spPr>
                <a:xfrm>
                  <a:off x="1770911"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524" name="Google Shape;1524;p76"/>
                <p:cNvSpPr/>
                <p:nvPr/>
              </p:nvSpPr>
              <p:spPr>
                <a:xfrm>
                  <a:off x="2215880"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525" name="Google Shape;1525;p76"/>
                <p:cNvSpPr/>
                <p:nvPr/>
              </p:nvSpPr>
              <p:spPr>
                <a:xfrm>
                  <a:off x="2660848"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526" name="Google Shape;1526;p76"/>
                <p:cNvSpPr/>
                <p:nvPr/>
              </p:nvSpPr>
              <p:spPr>
                <a:xfrm>
                  <a:off x="3105817"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527" name="Google Shape;1527;p76"/>
                <p:cNvSpPr/>
                <p:nvPr/>
              </p:nvSpPr>
              <p:spPr>
                <a:xfrm>
                  <a:off x="3550785"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528" name="Google Shape;1528;p76"/>
                <p:cNvSpPr/>
                <p:nvPr/>
              </p:nvSpPr>
              <p:spPr>
                <a:xfrm>
                  <a:off x="399575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529" name="Google Shape;1529;p76"/>
                <p:cNvSpPr/>
                <p:nvPr/>
              </p:nvSpPr>
              <p:spPr>
                <a:xfrm>
                  <a:off x="4440722"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530" name="Google Shape;1530;p76"/>
                <p:cNvSpPr/>
                <p:nvPr/>
              </p:nvSpPr>
              <p:spPr>
                <a:xfrm>
                  <a:off x="132594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531" name="Google Shape;1531;p76"/>
                <p:cNvSpPr/>
                <p:nvPr/>
              </p:nvSpPr>
              <p:spPr>
                <a:xfrm>
                  <a:off x="1770911"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532" name="Google Shape;1532;p76"/>
                <p:cNvSpPr/>
                <p:nvPr/>
              </p:nvSpPr>
              <p:spPr>
                <a:xfrm>
                  <a:off x="2215880"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533" name="Google Shape;1533;p76"/>
                <p:cNvSpPr/>
                <p:nvPr/>
              </p:nvSpPr>
              <p:spPr>
                <a:xfrm>
                  <a:off x="2660848"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534" name="Google Shape;1534;p76"/>
                <p:cNvSpPr/>
                <p:nvPr/>
              </p:nvSpPr>
              <p:spPr>
                <a:xfrm>
                  <a:off x="3105817"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535" name="Google Shape;1535;p76"/>
                <p:cNvSpPr/>
                <p:nvPr/>
              </p:nvSpPr>
              <p:spPr>
                <a:xfrm>
                  <a:off x="3550785"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536" name="Google Shape;1536;p76"/>
                <p:cNvSpPr/>
                <p:nvPr/>
              </p:nvSpPr>
              <p:spPr>
                <a:xfrm>
                  <a:off x="399575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537" name="Google Shape;1537;p76"/>
                <p:cNvSpPr/>
                <p:nvPr/>
              </p:nvSpPr>
              <p:spPr>
                <a:xfrm>
                  <a:off x="4440722"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538" name="Google Shape;1538;p76"/>
                <p:cNvSpPr/>
                <p:nvPr/>
              </p:nvSpPr>
              <p:spPr>
                <a:xfrm>
                  <a:off x="3105817"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539" name="Google Shape;1539;p76"/>
                <p:cNvSpPr/>
                <p:nvPr/>
              </p:nvSpPr>
              <p:spPr>
                <a:xfrm>
                  <a:off x="3550785"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540" name="Google Shape;1540;p76"/>
                <p:cNvSpPr/>
                <p:nvPr/>
              </p:nvSpPr>
              <p:spPr>
                <a:xfrm>
                  <a:off x="399575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541" name="Google Shape;1541;p76"/>
                <p:cNvSpPr/>
                <p:nvPr/>
              </p:nvSpPr>
              <p:spPr>
                <a:xfrm>
                  <a:off x="4440722"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542" name="Google Shape;1542;p76"/>
                <p:cNvSpPr/>
                <p:nvPr/>
              </p:nvSpPr>
              <p:spPr>
                <a:xfrm>
                  <a:off x="132594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543" name="Google Shape;1543;p76"/>
                <p:cNvSpPr/>
                <p:nvPr/>
              </p:nvSpPr>
              <p:spPr>
                <a:xfrm>
                  <a:off x="1770911"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544" name="Google Shape;1544;p76"/>
                <p:cNvSpPr/>
                <p:nvPr/>
              </p:nvSpPr>
              <p:spPr>
                <a:xfrm>
                  <a:off x="2215880"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545" name="Google Shape;1545;p76"/>
                <p:cNvSpPr/>
                <p:nvPr/>
              </p:nvSpPr>
              <p:spPr>
                <a:xfrm>
                  <a:off x="2660848"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546" name="Google Shape;1546;p76"/>
                <p:cNvSpPr/>
                <p:nvPr/>
              </p:nvSpPr>
              <p:spPr>
                <a:xfrm>
                  <a:off x="3105817"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547" name="Google Shape;1547;p76"/>
                <p:cNvSpPr/>
                <p:nvPr/>
              </p:nvSpPr>
              <p:spPr>
                <a:xfrm>
                  <a:off x="3550785"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548" name="Google Shape;1548;p76"/>
                <p:cNvSpPr/>
                <p:nvPr/>
              </p:nvSpPr>
              <p:spPr>
                <a:xfrm>
                  <a:off x="399575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549" name="Google Shape;1549;p76"/>
                <p:cNvSpPr/>
                <p:nvPr/>
              </p:nvSpPr>
              <p:spPr>
                <a:xfrm>
                  <a:off x="4440722"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550" name="Google Shape;1550;p76"/>
                <p:cNvSpPr/>
                <p:nvPr/>
              </p:nvSpPr>
              <p:spPr>
                <a:xfrm>
                  <a:off x="132594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551" name="Google Shape;1551;p76"/>
                <p:cNvSpPr/>
                <p:nvPr/>
              </p:nvSpPr>
              <p:spPr>
                <a:xfrm>
                  <a:off x="1770911"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552" name="Google Shape;1552;p76"/>
                <p:cNvSpPr/>
                <p:nvPr/>
              </p:nvSpPr>
              <p:spPr>
                <a:xfrm>
                  <a:off x="2215880"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553" name="Google Shape;1553;p76"/>
                <p:cNvSpPr/>
                <p:nvPr/>
              </p:nvSpPr>
              <p:spPr>
                <a:xfrm>
                  <a:off x="2660848"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554" name="Google Shape;1554;p76"/>
                <p:cNvSpPr/>
                <p:nvPr/>
              </p:nvSpPr>
              <p:spPr>
                <a:xfrm>
                  <a:off x="132594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555" name="Google Shape;1555;p76"/>
                <p:cNvSpPr/>
                <p:nvPr/>
              </p:nvSpPr>
              <p:spPr>
                <a:xfrm>
                  <a:off x="1770911"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556" name="Google Shape;1556;p76"/>
                <p:cNvSpPr/>
                <p:nvPr/>
              </p:nvSpPr>
              <p:spPr>
                <a:xfrm>
                  <a:off x="2215880"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557" name="Google Shape;1557;p76"/>
                <p:cNvSpPr/>
                <p:nvPr/>
              </p:nvSpPr>
              <p:spPr>
                <a:xfrm>
                  <a:off x="2660848"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558" name="Google Shape;1558;p76"/>
                <p:cNvSpPr/>
                <p:nvPr/>
              </p:nvSpPr>
              <p:spPr>
                <a:xfrm>
                  <a:off x="3105817"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559" name="Google Shape;1559;p76"/>
                <p:cNvSpPr/>
                <p:nvPr/>
              </p:nvSpPr>
              <p:spPr>
                <a:xfrm>
                  <a:off x="3550785"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560" name="Google Shape;1560;p76"/>
                <p:cNvSpPr/>
                <p:nvPr/>
              </p:nvSpPr>
              <p:spPr>
                <a:xfrm>
                  <a:off x="399575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561" name="Google Shape;1561;p76"/>
                <p:cNvSpPr/>
                <p:nvPr/>
              </p:nvSpPr>
              <p:spPr>
                <a:xfrm>
                  <a:off x="4440722"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562" name="Google Shape;1562;p76"/>
                <p:cNvSpPr/>
                <p:nvPr/>
              </p:nvSpPr>
              <p:spPr>
                <a:xfrm>
                  <a:off x="132594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563" name="Google Shape;1563;p76"/>
                <p:cNvSpPr/>
                <p:nvPr/>
              </p:nvSpPr>
              <p:spPr>
                <a:xfrm>
                  <a:off x="1770911"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564" name="Google Shape;1564;p76"/>
                <p:cNvSpPr/>
                <p:nvPr/>
              </p:nvSpPr>
              <p:spPr>
                <a:xfrm>
                  <a:off x="2215880"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565" name="Google Shape;1565;p76"/>
                <p:cNvSpPr/>
                <p:nvPr/>
              </p:nvSpPr>
              <p:spPr>
                <a:xfrm>
                  <a:off x="2660848"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566" name="Google Shape;1566;p76"/>
                <p:cNvSpPr/>
                <p:nvPr/>
              </p:nvSpPr>
              <p:spPr>
                <a:xfrm>
                  <a:off x="3105817"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567" name="Google Shape;1567;p76"/>
                <p:cNvSpPr/>
                <p:nvPr/>
              </p:nvSpPr>
              <p:spPr>
                <a:xfrm>
                  <a:off x="3550785"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568" name="Google Shape;1568;p76"/>
                <p:cNvSpPr/>
                <p:nvPr/>
              </p:nvSpPr>
              <p:spPr>
                <a:xfrm>
                  <a:off x="399575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569" name="Google Shape;1569;p76"/>
                <p:cNvSpPr/>
                <p:nvPr/>
              </p:nvSpPr>
              <p:spPr>
                <a:xfrm>
                  <a:off x="4440722"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570" name="Google Shape;1570;p76"/>
                <p:cNvSpPr/>
                <p:nvPr/>
              </p:nvSpPr>
              <p:spPr>
                <a:xfrm>
                  <a:off x="3105817"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571" name="Google Shape;1571;p76"/>
                <p:cNvSpPr/>
                <p:nvPr/>
              </p:nvSpPr>
              <p:spPr>
                <a:xfrm>
                  <a:off x="3550785"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572" name="Google Shape;1572;p76"/>
                <p:cNvSpPr/>
                <p:nvPr/>
              </p:nvSpPr>
              <p:spPr>
                <a:xfrm>
                  <a:off x="399575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573" name="Google Shape;1573;p76"/>
                <p:cNvSpPr/>
                <p:nvPr/>
              </p:nvSpPr>
              <p:spPr>
                <a:xfrm>
                  <a:off x="4440722"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574" name="Google Shape;1574;p76"/>
              <p:cNvGrpSpPr/>
              <p:nvPr/>
            </p:nvGrpSpPr>
            <p:grpSpPr>
              <a:xfrm>
                <a:off x="5608384" y="114140"/>
                <a:ext cx="2949827" cy="2941936"/>
                <a:chOff x="5608384" y="114140"/>
                <a:chExt cx="2949827" cy="2941936"/>
              </a:xfrm>
            </p:grpSpPr>
            <p:sp>
              <p:nvSpPr>
                <p:cNvPr id="1575" name="Google Shape;1575;p76"/>
                <p:cNvSpPr/>
                <p:nvPr/>
              </p:nvSpPr>
              <p:spPr>
                <a:xfrm>
                  <a:off x="5608384"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576" name="Google Shape;1576;p76"/>
                <p:cNvSpPr/>
                <p:nvPr/>
              </p:nvSpPr>
              <p:spPr>
                <a:xfrm>
                  <a:off x="5977112"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577" name="Google Shape;1577;p76"/>
                <p:cNvSpPr/>
                <p:nvPr/>
              </p:nvSpPr>
              <p:spPr>
                <a:xfrm>
                  <a:off x="6345841"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578" name="Google Shape;1578;p76"/>
                <p:cNvSpPr/>
                <p:nvPr/>
              </p:nvSpPr>
              <p:spPr>
                <a:xfrm>
                  <a:off x="6714569"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579" name="Google Shape;1579;p76"/>
                <p:cNvSpPr/>
                <p:nvPr/>
              </p:nvSpPr>
              <p:spPr>
                <a:xfrm>
                  <a:off x="7083298"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580" name="Google Shape;1580;p76"/>
                <p:cNvSpPr/>
                <p:nvPr/>
              </p:nvSpPr>
              <p:spPr>
                <a:xfrm>
                  <a:off x="7452026"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581" name="Google Shape;1581;p76"/>
                <p:cNvSpPr/>
                <p:nvPr/>
              </p:nvSpPr>
              <p:spPr>
                <a:xfrm>
                  <a:off x="7820754"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582" name="Google Shape;1582;p76"/>
                <p:cNvSpPr/>
                <p:nvPr/>
              </p:nvSpPr>
              <p:spPr>
                <a:xfrm>
                  <a:off x="8189483"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583" name="Google Shape;1583;p76"/>
                <p:cNvSpPr/>
                <p:nvPr/>
              </p:nvSpPr>
              <p:spPr>
                <a:xfrm>
                  <a:off x="5608384"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584" name="Google Shape;1584;p76"/>
                <p:cNvSpPr/>
                <p:nvPr/>
              </p:nvSpPr>
              <p:spPr>
                <a:xfrm>
                  <a:off x="5977112"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585" name="Google Shape;1585;p76"/>
                <p:cNvSpPr/>
                <p:nvPr/>
              </p:nvSpPr>
              <p:spPr>
                <a:xfrm>
                  <a:off x="6345841"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586" name="Google Shape;1586;p76"/>
                <p:cNvSpPr/>
                <p:nvPr/>
              </p:nvSpPr>
              <p:spPr>
                <a:xfrm>
                  <a:off x="6714569"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587" name="Google Shape;1587;p76"/>
                <p:cNvSpPr/>
                <p:nvPr/>
              </p:nvSpPr>
              <p:spPr>
                <a:xfrm>
                  <a:off x="5608384"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588" name="Google Shape;1588;p76"/>
                <p:cNvSpPr/>
                <p:nvPr/>
              </p:nvSpPr>
              <p:spPr>
                <a:xfrm>
                  <a:off x="5977112"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589" name="Google Shape;1589;p76"/>
                <p:cNvSpPr/>
                <p:nvPr/>
              </p:nvSpPr>
              <p:spPr>
                <a:xfrm>
                  <a:off x="6345841"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590" name="Google Shape;1590;p76"/>
                <p:cNvSpPr/>
                <p:nvPr/>
              </p:nvSpPr>
              <p:spPr>
                <a:xfrm>
                  <a:off x="6714569"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591" name="Google Shape;1591;p76"/>
                <p:cNvSpPr/>
                <p:nvPr/>
              </p:nvSpPr>
              <p:spPr>
                <a:xfrm>
                  <a:off x="7083298"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592" name="Google Shape;1592;p76"/>
                <p:cNvSpPr/>
                <p:nvPr/>
              </p:nvSpPr>
              <p:spPr>
                <a:xfrm>
                  <a:off x="7452026"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593" name="Google Shape;1593;p76"/>
                <p:cNvSpPr/>
                <p:nvPr/>
              </p:nvSpPr>
              <p:spPr>
                <a:xfrm>
                  <a:off x="7820754"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594" name="Google Shape;1594;p76"/>
                <p:cNvSpPr/>
                <p:nvPr/>
              </p:nvSpPr>
              <p:spPr>
                <a:xfrm>
                  <a:off x="8189483"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595" name="Google Shape;1595;p76"/>
                <p:cNvSpPr/>
                <p:nvPr/>
              </p:nvSpPr>
              <p:spPr>
                <a:xfrm>
                  <a:off x="5608384"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596" name="Google Shape;1596;p76"/>
                <p:cNvSpPr/>
                <p:nvPr/>
              </p:nvSpPr>
              <p:spPr>
                <a:xfrm>
                  <a:off x="5977112"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597" name="Google Shape;1597;p76"/>
                <p:cNvSpPr/>
                <p:nvPr/>
              </p:nvSpPr>
              <p:spPr>
                <a:xfrm>
                  <a:off x="6345841"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598" name="Google Shape;1598;p76"/>
                <p:cNvSpPr/>
                <p:nvPr/>
              </p:nvSpPr>
              <p:spPr>
                <a:xfrm>
                  <a:off x="6714569"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599" name="Google Shape;1599;p76"/>
                <p:cNvSpPr/>
                <p:nvPr/>
              </p:nvSpPr>
              <p:spPr>
                <a:xfrm>
                  <a:off x="7083298"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600" name="Google Shape;1600;p76"/>
                <p:cNvSpPr/>
                <p:nvPr/>
              </p:nvSpPr>
              <p:spPr>
                <a:xfrm>
                  <a:off x="7452026"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601" name="Google Shape;1601;p76"/>
                <p:cNvSpPr/>
                <p:nvPr/>
              </p:nvSpPr>
              <p:spPr>
                <a:xfrm>
                  <a:off x="7820754"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602" name="Google Shape;1602;p76"/>
                <p:cNvSpPr/>
                <p:nvPr/>
              </p:nvSpPr>
              <p:spPr>
                <a:xfrm>
                  <a:off x="8189483"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603" name="Google Shape;1603;p76"/>
                <p:cNvSpPr/>
                <p:nvPr/>
              </p:nvSpPr>
              <p:spPr>
                <a:xfrm>
                  <a:off x="7083298"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604" name="Google Shape;1604;p76"/>
                <p:cNvSpPr/>
                <p:nvPr/>
              </p:nvSpPr>
              <p:spPr>
                <a:xfrm>
                  <a:off x="7452026"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605" name="Google Shape;1605;p76"/>
                <p:cNvSpPr/>
                <p:nvPr/>
              </p:nvSpPr>
              <p:spPr>
                <a:xfrm>
                  <a:off x="7820754"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606" name="Google Shape;1606;p76"/>
                <p:cNvSpPr/>
                <p:nvPr/>
              </p:nvSpPr>
              <p:spPr>
                <a:xfrm>
                  <a:off x="8189483"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607" name="Google Shape;1607;p76"/>
                <p:cNvSpPr/>
                <p:nvPr/>
              </p:nvSpPr>
              <p:spPr>
                <a:xfrm>
                  <a:off x="5608384"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608" name="Google Shape;1608;p76"/>
                <p:cNvSpPr/>
                <p:nvPr/>
              </p:nvSpPr>
              <p:spPr>
                <a:xfrm>
                  <a:off x="5977112"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609" name="Google Shape;1609;p76"/>
                <p:cNvSpPr/>
                <p:nvPr/>
              </p:nvSpPr>
              <p:spPr>
                <a:xfrm>
                  <a:off x="6345841"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610" name="Google Shape;1610;p76"/>
                <p:cNvSpPr/>
                <p:nvPr/>
              </p:nvSpPr>
              <p:spPr>
                <a:xfrm>
                  <a:off x="6714569"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611" name="Google Shape;1611;p76"/>
                <p:cNvSpPr/>
                <p:nvPr/>
              </p:nvSpPr>
              <p:spPr>
                <a:xfrm>
                  <a:off x="7083298"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612" name="Google Shape;1612;p76"/>
                <p:cNvSpPr/>
                <p:nvPr/>
              </p:nvSpPr>
              <p:spPr>
                <a:xfrm>
                  <a:off x="7452026"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613" name="Google Shape;1613;p76"/>
                <p:cNvSpPr/>
                <p:nvPr/>
              </p:nvSpPr>
              <p:spPr>
                <a:xfrm>
                  <a:off x="7820754"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614" name="Google Shape;1614;p76"/>
                <p:cNvSpPr/>
                <p:nvPr/>
              </p:nvSpPr>
              <p:spPr>
                <a:xfrm>
                  <a:off x="8189483"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615" name="Google Shape;1615;p76"/>
                <p:cNvSpPr/>
                <p:nvPr/>
              </p:nvSpPr>
              <p:spPr>
                <a:xfrm>
                  <a:off x="5608384"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616" name="Google Shape;1616;p76"/>
                <p:cNvSpPr/>
                <p:nvPr/>
              </p:nvSpPr>
              <p:spPr>
                <a:xfrm>
                  <a:off x="5977112"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617" name="Google Shape;1617;p76"/>
                <p:cNvSpPr/>
                <p:nvPr/>
              </p:nvSpPr>
              <p:spPr>
                <a:xfrm>
                  <a:off x="6345841"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618" name="Google Shape;1618;p76"/>
                <p:cNvSpPr/>
                <p:nvPr/>
              </p:nvSpPr>
              <p:spPr>
                <a:xfrm>
                  <a:off x="6714569"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619" name="Google Shape;1619;p76"/>
                <p:cNvSpPr/>
                <p:nvPr/>
              </p:nvSpPr>
              <p:spPr>
                <a:xfrm>
                  <a:off x="5608384"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620" name="Google Shape;1620;p76"/>
                <p:cNvSpPr/>
                <p:nvPr/>
              </p:nvSpPr>
              <p:spPr>
                <a:xfrm>
                  <a:off x="5977112"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621" name="Google Shape;1621;p76"/>
                <p:cNvSpPr/>
                <p:nvPr/>
              </p:nvSpPr>
              <p:spPr>
                <a:xfrm>
                  <a:off x="6345841"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622" name="Google Shape;1622;p76"/>
                <p:cNvSpPr/>
                <p:nvPr/>
              </p:nvSpPr>
              <p:spPr>
                <a:xfrm>
                  <a:off x="6714569"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623" name="Google Shape;1623;p76"/>
                <p:cNvSpPr/>
                <p:nvPr/>
              </p:nvSpPr>
              <p:spPr>
                <a:xfrm>
                  <a:off x="7083298"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624" name="Google Shape;1624;p76"/>
                <p:cNvSpPr/>
                <p:nvPr/>
              </p:nvSpPr>
              <p:spPr>
                <a:xfrm>
                  <a:off x="7452026"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625" name="Google Shape;1625;p76"/>
                <p:cNvSpPr/>
                <p:nvPr/>
              </p:nvSpPr>
              <p:spPr>
                <a:xfrm>
                  <a:off x="7820754"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626" name="Google Shape;1626;p76"/>
                <p:cNvSpPr/>
                <p:nvPr/>
              </p:nvSpPr>
              <p:spPr>
                <a:xfrm>
                  <a:off x="8189483"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627" name="Google Shape;1627;p76"/>
                <p:cNvSpPr/>
                <p:nvPr/>
              </p:nvSpPr>
              <p:spPr>
                <a:xfrm>
                  <a:off x="5608384"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628" name="Google Shape;1628;p76"/>
                <p:cNvSpPr/>
                <p:nvPr/>
              </p:nvSpPr>
              <p:spPr>
                <a:xfrm>
                  <a:off x="5977112"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629" name="Google Shape;1629;p76"/>
                <p:cNvSpPr/>
                <p:nvPr/>
              </p:nvSpPr>
              <p:spPr>
                <a:xfrm>
                  <a:off x="6345841"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630" name="Google Shape;1630;p76"/>
                <p:cNvSpPr/>
                <p:nvPr/>
              </p:nvSpPr>
              <p:spPr>
                <a:xfrm>
                  <a:off x="6714569"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631" name="Google Shape;1631;p76"/>
                <p:cNvSpPr/>
                <p:nvPr/>
              </p:nvSpPr>
              <p:spPr>
                <a:xfrm>
                  <a:off x="7083298"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632" name="Google Shape;1632;p76"/>
                <p:cNvSpPr/>
                <p:nvPr/>
              </p:nvSpPr>
              <p:spPr>
                <a:xfrm>
                  <a:off x="7452026"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633" name="Google Shape;1633;p76"/>
                <p:cNvSpPr/>
                <p:nvPr/>
              </p:nvSpPr>
              <p:spPr>
                <a:xfrm>
                  <a:off x="7820754"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634" name="Google Shape;1634;p76"/>
                <p:cNvSpPr/>
                <p:nvPr/>
              </p:nvSpPr>
              <p:spPr>
                <a:xfrm>
                  <a:off x="8189483"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635" name="Google Shape;1635;p76"/>
                <p:cNvSpPr/>
                <p:nvPr/>
              </p:nvSpPr>
              <p:spPr>
                <a:xfrm>
                  <a:off x="7083298"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636" name="Google Shape;1636;p76"/>
                <p:cNvSpPr/>
                <p:nvPr/>
              </p:nvSpPr>
              <p:spPr>
                <a:xfrm>
                  <a:off x="7452026"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637" name="Google Shape;1637;p76"/>
                <p:cNvSpPr/>
                <p:nvPr/>
              </p:nvSpPr>
              <p:spPr>
                <a:xfrm>
                  <a:off x="7820754"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638" name="Google Shape;1638;p76"/>
                <p:cNvSpPr/>
                <p:nvPr/>
              </p:nvSpPr>
              <p:spPr>
                <a:xfrm>
                  <a:off x="8189483"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639" name="Google Shape;1639;p76"/>
              <p:cNvGrpSpPr/>
              <p:nvPr/>
            </p:nvGrpSpPr>
            <p:grpSpPr>
              <a:xfrm>
                <a:off x="5605352" y="3429000"/>
                <a:ext cx="2948568" cy="2949832"/>
                <a:chOff x="5605352" y="3429000"/>
                <a:chExt cx="2948568" cy="2949832"/>
              </a:xfrm>
            </p:grpSpPr>
            <p:sp>
              <p:nvSpPr>
                <p:cNvPr id="1640" name="Google Shape;1640;p76"/>
                <p:cNvSpPr/>
                <p:nvPr/>
              </p:nvSpPr>
              <p:spPr>
                <a:xfrm>
                  <a:off x="5605352" y="3429000"/>
                  <a:ext cx="368728" cy="368729"/>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1" name="Google Shape;1641;p76"/>
                <p:cNvSpPr/>
                <p:nvPr/>
              </p:nvSpPr>
              <p:spPr>
                <a:xfrm>
                  <a:off x="5974080"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2" name="Google Shape;1642;p76"/>
                <p:cNvSpPr/>
                <p:nvPr/>
              </p:nvSpPr>
              <p:spPr>
                <a:xfrm>
                  <a:off x="63428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3" name="Google Shape;1643;p76"/>
                <p:cNvSpPr/>
                <p:nvPr/>
              </p:nvSpPr>
              <p:spPr>
                <a:xfrm>
                  <a:off x="67115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4" name="Google Shape;1644;p76"/>
                <p:cNvSpPr/>
                <p:nvPr/>
              </p:nvSpPr>
              <p:spPr>
                <a:xfrm>
                  <a:off x="70790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5" name="Google Shape;1645;p76"/>
                <p:cNvSpPr/>
                <p:nvPr/>
              </p:nvSpPr>
              <p:spPr>
                <a:xfrm>
                  <a:off x="74477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6" name="Google Shape;1646;p76"/>
                <p:cNvSpPr/>
                <p:nvPr/>
              </p:nvSpPr>
              <p:spPr>
                <a:xfrm>
                  <a:off x="7816464"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7" name="Google Shape;1647;p76"/>
                <p:cNvSpPr/>
                <p:nvPr/>
              </p:nvSpPr>
              <p:spPr>
                <a:xfrm>
                  <a:off x="8185192"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8" name="Google Shape;1648;p76"/>
                <p:cNvSpPr/>
                <p:nvPr/>
              </p:nvSpPr>
              <p:spPr>
                <a:xfrm>
                  <a:off x="560535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49" name="Google Shape;1649;p76"/>
                <p:cNvSpPr/>
                <p:nvPr/>
              </p:nvSpPr>
              <p:spPr>
                <a:xfrm>
                  <a:off x="5974080"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0" name="Google Shape;1650;p76"/>
                <p:cNvSpPr/>
                <p:nvPr/>
              </p:nvSpPr>
              <p:spPr>
                <a:xfrm>
                  <a:off x="63428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1" name="Google Shape;1651;p76"/>
                <p:cNvSpPr/>
                <p:nvPr/>
              </p:nvSpPr>
              <p:spPr>
                <a:xfrm>
                  <a:off x="67115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2" name="Google Shape;1652;p76"/>
                <p:cNvSpPr/>
                <p:nvPr/>
              </p:nvSpPr>
              <p:spPr>
                <a:xfrm>
                  <a:off x="70790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3" name="Google Shape;1653;p76"/>
                <p:cNvSpPr/>
                <p:nvPr/>
              </p:nvSpPr>
              <p:spPr>
                <a:xfrm>
                  <a:off x="74477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4" name="Google Shape;1654;p76"/>
                <p:cNvSpPr/>
                <p:nvPr/>
              </p:nvSpPr>
              <p:spPr>
                <a:xfrm>
                  <a:off x="7816464"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5" name="Google Shape;1655;p76"/>
                <p:cNvSpPr/>
                <p:nvPr/>
              </p:nvSpPr>
              <p:spPr>
                <a:xfrm>
                  <a:off x="818519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6" name="Google Shape;1656;p76"/>
                <p:cNvSpPr/>
                <p:nvPr/>
              </p:nvSpPr>
              <p:spPr>
                <a:xfrm>
                  <a:off x="560535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7" name="Google Shape;1657;p76"/>
                <p:cNvSpPr/>
                <p:nvPr/>
              </p:nvSpPr>
              <p:spPr>
                <a:xfrm>
                  <a:off x="5974080"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8" name="Google Shape;1658;p76"/>
                <p:cNvSpPr/>
                <p:nvPr/>
              </p:nvSpPr>
              <p:spPr>
                <a:xfrm>
                  <a:off x="63428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59" name="Google Shape;1659;p76"/>
                <p:cNvSpPr/>
                <p:nvPr/>
              </p:nvSpPr>
              <p:spPr>
                <a:xfrm>
                  <a:off x="67115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0" name="Google Shape;1660;p76"/>
                <p:cNvSpPr/>
                <p:nvPr/>
              </p:nvSpPr>
              <p:spPr>
                <a:xfrm>
                  <a:off x="70790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1" name="Google Shape;1661;p76"/>
                <p:cNvSpPr/>
                <p:nvPr/>
              </p:nvSpPr>
              <p:spPr>
                <a:xfrm>
                  <a:off x="74477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2" name="Google Shape;1662;p76"/>
                <p:cNvSpPr/>
                <p:nvPr/>
              </p:nvSpPr>
              <p:spPr>
                <a:xfrm>
                  <a:off x="7816464"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3" name="Google Shape;1663;p76"/>
                <p:cNvSpPr/>
                <p:nvPr/>
              </p:nvSpPr>
              <p:spPr>
                <a:xfrm>
                  <a:off x="818519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4" name="Google Shape;1664;p76"/>
                <p:cNvSpPr/>
                <p:nvPr/>
              </p:nvSpPr>
              <p:spPr>
                <a:xfrm>
                  <a:off x="560535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5" name="Google Shape;1665;p76"/>
                <p:cNvSpPr/>
                <p:nvPr/>
              </p:nvSpPr>
              <p:spPr>
                <a:xfrm>
                  <a:off x="5974080"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6" name="Google Shape;1666;p76"/>
                <p:cNvSpPr/>
                <p:nvPr/>
              </p:nvSpPr>
              <p:spPr>
                <a:xfrm>
                  <a:off x="63428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7" name="Google Shape;1667;p76"/>
                <p:cNvSpPr/>
                <p:nvPr/>
              </p:nvSpPr>
              <p:spPr>
                <a:xfrm>
                  <a:off x="67115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8" name="Google Shape;1668;p76"/>
                <p:cNvSpPr/>
                <p:nvPr/>
              </p:nvSpPr>
              <p:spPr>
                <a:xfrm>
                  <a:off x="70790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69" name="Google Shape;1669;p76"/>
                <p:cNvSpPr/>
                <p:nvPr/>
              </p:nvSpPr>
              <p:spPr>
                <a:xfrm>
                  <a:off x="74477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0" name="Google Shape;1670;p76"/>
                <p:cNvSpPr/>
                <p:nvPr/>
              </p:nvSpPr>
              <p:spPr>
                <a:xfrm>
                  <a:off x="7816464"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1" name="Google Shape;1671;p76"/>
                <p:cNvSpPr/>
                <p:nvPr/>
              </p:nvSpPr>
              <p:spPr>
                <a:xfrm>
                  <a:off x="818519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2" name="Google Shape;1672;p76"/>
                <p:cNvSpPr/>
                <p:nvPr/>
              </p:nvSpPr>
              <p:spPr>
                <a:xfrm>
                  <a:off x="560535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3" name="Google Shape;1673;p76"/>
                <p:cNvSpPr/>
                <p:nvPr/>
              </p:nvSpPr>
              <p:spPr>
                <a:xfrm>
                  <a:off x="5974080"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4" name="Google Shape;1674;p76"/>
                <p:cNvSpPr/>
                <p:nvPr/>
              </p:nvSpPr>
              <p:spPr>
                <a:xfrm>
                  <a:off x="63428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5" name="Google Shape;1675;p76"/>
                <p:cNvSpPr/>
                <p:nvPr/>
              </p:nvSpPr>
              <p:spPr>
                <a:xfrm>
                  <a:off x="67115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6" name="Google Shape;1676;p76"/>
                <p:cNvSpPr/>
                <p:nvPr/>
              </p:nvSpPr>
              <p:spPr>
                <a:xfrm>
                  <a:off x="70790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7" name="Google Shape;1677;p76"/>
                <p:cNvSpPr/>
                <p:nvPr/>
              </p:nvSpPr>
              <p:spPr>
                <a:xfrm>
                  <a:off x="74477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8" name="Google Shape;1678;p76"/>
                <p:cNvSpPr/>
                <p:nvPr/>
              </p:nvSpPr>
              <p:spPr>
                <a:xfrm>
                  <a:off x="7816464"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79" name="Google Shape;1679;p76"/>
                <p:cNvSpPr/>
                <p:nvPr/>
              </p:nvSpPr>
              <p:spPr>
                <a:xfrm>
                  <a:off x="818519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0" name="Google Shape;1680;p76"/>
                <p:cNvSpPr/>
                <p:nvPr/>
              </p:nvSpPr>
              <p:spPr>
                <a:xfrm>
                  <a:off x="560535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1" name="Google Shape;1681;p76"/>
                <p:cNvSpPr/>
                <p:nvPr/>
              </p:nvSpPr>
              <p:spPr>
                <a:xfrm>
                  <a:off x="5974080"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2" name="Google Shape;1682;p76"/>
                <p:cNvSpPr/>
                <p:nvPr/>
              </p:nvSpPr>
              <p:spPr>
                <a:xfrm>
                  <a:off x="63428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3" name="Google Shape;1683;p76"/>
                <p:cNvSpPr/>
                <p:nvPr/>
              </p:nvSpPr>
              <p:spPr>
                <a:xfrm>
                  <a:off x="67115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4" name="Google Shape;1684;p76"/>
                <p:cNvSpPr/>
                <p:nvPr/>
              </p:nvSpPr>
              <p:spPr>
                <a:xfrm>
                  <a:off x="70790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5" name="Google Shape;1685;p76"/>
                <p:cNvSpPr/>
                <p:nvPr/>
              </p:nvSpPr>
              <p:spPr>
                <a:xfrm>
                  <a:off x="74477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6" name="Google Shape;1686;p76"/>
                <p:cNvSpPr/>
                <p:nvPr/>
              </p:nvSpPr>
              <p:spPr>
                <a:xfrm>
                  <a:off x="7816464"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7" name="Google Shape;1687;p76"/>
                <p:cNvSpPr/>
                <p:nvPr/>
              </p:nvSpPr>
              <p:spPr>
                <a:xfrm>
                  <a:off x="818519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8" name="Google Shape;1688;p76"/>
                <p:cNvSpPr/>
                <p:nvPr/>
              </p:nvSpPr>
              <p:spPr>
                <a:xfrm>
                  <a:off x="560535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89" name="Google Shape;1689;p76"/>
                <p:cNvSpPr/>
                <p:nvPr/>
              </p:nvSpPr>
              <p:spPr>
                <a:xfrm>
                  <a:off x="5974080"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0" name="Google Shape;1690;p76"/>
                <p:cNvSpPr/>
                <p:nvPr/>
              </p:nvSpPr>
              <p:spPr>
                <a:xfrm>
                  <a:off x="63428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1" name="Google Shape;1691;p76"/>
                <p:cNvSpPr/>
                <p:nvPr/>
              </p:nvSpPr>
              <p:spPr>
                <a:xfrm>
                  <a:off x="67115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2" name="Google Shape;1692;p76"/>
                <p:cNvSpPr/>
                <p:nvPr/>
              </p:nvSpPr>
              <p:spPr>
                <a:xfrm>
                  <a:off x="70790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3" name="Google Shape;1693;p76"/>
                <p:cNvSpPr/>
                <p:nvPr/>
              </p:nvSpPr>
              <p:spPr>
                <a:xfrm>
                  <a:off x="74477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4" name="Google Shape;1694;p76"/>
                <p:cNvSpPr/>
                <p:nvPr/>
              </p:nvSpPr>
              <p:spPr>
                <a:xfrm>
                  <a:off x="7816464"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5" name="Google Shape;1695;p76"/>
                <p:cNvSpPr/>
                <p:nvPr/>
              </p:nvSpPr>
              <p:spPr>
                <a:xfrm>
                  <a:off x="818519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6" name="Google Shape;1696;p76"/>
                <p:cNvSpPr/>
                <p:nvPr/>
              </p:nvSpPr>
              <p:spPr>
                <a:xfrm>
                  <a:off x="560535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7" name="Google Shape;1697;p76"/>
                <p:cNvSpPr/>
                <p:nvPr/>
              </p:nvSpPr>
              <p:spPr>
                <a:xfrm>
                  <a:off x="5974080"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8" name="Google Shape;1698;p76"/>
                <p:cNvSpPr/>
                <p:nvPr/>
              </p:nvSpPr>
              <p:spPr>
                <a:xfrm>
                  <a:off x="63428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699" name="Google Shape;1699;p76"/>
                <p:cNvSpPr/>
                <p:nvPr/>
              </p:nvSpPr>
              <p:spPr>
                <a:xfrm>
                  <a:off x="67115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700" name="Google Shape;1700;p76"/>
                <p:cNvSpPr/>
                <p:nvPr/>
              </p:nvSpPr>
              <p:spPr>
                <a:xfrm>
                  <a:off x="70790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701" name="Google Shape;1701;p76"/>
                <p:cNvSpPr/>
                <p:nvPr/>
              </p:nvSpPr>
              <p:spPr>
                <a:xfrm>
                  <a:off x="74477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702" name="Google Shape;1702;p76"/>
                <p:cNvSpPr/>
                <p:nvPr/>
              </p:nvSpPr>
              <p:spPr>
                <a:xfrm>
                  <a:off x="7816464"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703" name="Google Shape;1703;p76"/>
                <p:cNvSpPr/>
                <p:nvPr/>
              </p:nvSpPr>
              <p:spPr>
                <a:xfrm>
                  <a:off x="818519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grpSp>
          <p:sp>
            <p:nvSpPr>
              <p:cNvPr id="1704" name="Google Shape;1704;p76"/>
              <p:cNvSpPr/>
              <p:nvPr/>
            </p:nvSpPr>
            <p:spPr>
              <a:xfrm>
                <a:off x="1859721" y="3352800"/>
                <a:ext cx="3127513" cy="508000"/>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1705" name="Google Shape;1705;p76"/>
              <p:cNvSpPr/>
              <p:nvPr/>
            </p:nvSpPr>
            <p:spPr>
              <a:xfrm>
                <a:off x="5550452" y="64051"/>
                <a:ext cx="492540" cy="3063461"/>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grpSp>
        <p:sp>
          <p:nvSpPr>
            <p:cNvPr id="1706" name="Google Shape;1706;p76"/>
            <p:cNvSpPr txBox="1"/>
            <p:nvPr/>
          </p:nvSpPr>
          <p:spPr>
            <a:xfrm>
              <a:off x="6520070" y="437754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a:t>
              </a:r>
              <a:endParaRPr b="1" sz="1400">
                <a:solidFill>
                  <a:schemeClr val="dk1"/>
                </a:solidFill>
                <a:latin typeface="Arial"/>
                <a:ea typeface="Arial"/>
                <a:cs typeface="Arial"/>
                <a:sym typeface="Arial"/>
              </a:endParaRPr>
            </a:p>
          </p:txBody>
        </p:sp>
        <p:sp>
          <p:nvSpPr>
            <p:cNvPr id="1707" name="Google Shape;1707;p76"/>
            <p:cNvSpPr txBox="1"/>
            <p:nvPr/>
          </p:nvSpPr>
          <p:spPr>
            <a:xfrm>
              <a:off x="7809946" y="3107641"/>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sp>
          <p:nvSpPr>
            <p:cNvPr id="1708" name="Google Shape;1708;p76"/>
            <p:cNvSpPr txBox="1"/>
            <p:nvPr/>
          </p:nvSpPr>
          <p:spPr>
            <a:xfrm>
              <a:off x="10168283" y="102790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N</a:t>
              </a:r>
              <a:endParaRPr b="1" sz="1400">
                <a:solidFill>
                  <a:schemeClr val="dk1"/>
                </a:solidFill>
                <a:latin typeface="Arial"/>
                <a:ea typeface="Arial"/>
                <a:cs typeface="Arial"/>
                <a:sym typeface="Arial"/>
              </a:endParaRPr>
            </a:p>
          </p:txBody>
        </p:sp>
        <p:sp>
          <p:nvSpPr>
            <p:cNvPr id="1709" name="Google Shape;1709;p76"/>
            <p:cNvSpPr txBox="1"/>
            <p:nvPr/>
          </p:nvSpPr>
          <p:spPr>
            <a:xfrm>
              <a:off x="8854878" y="2163968"/>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7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GEMM memory load pattern</a:t>
            </a:r>
            <a:endParaRPr/>
          </a:p>
        </p:txBody>
      </p:sp>
      <p:sp>
        <p:nvSpPr>
          <p:cNvPr id="1716" name="Google Shape;1716;p77"/>
          <p:cNvSpPr/>
          <p:nvPr/>
        </p:nvSpPr>
        <p:spPr>
          <a:xfrm>
            <a:off x="629880" y="126801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7" name="Google Shape;1717;p77"/>
          <p:cNvSpPr/>
          <p:nvPr/>
        </p:nvSpPr>
        <p:spPr>
          <a:xfrm>
            <a:off x="629880" y="257501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8" name="Google Shape;1718;p77"/>
          <p:cNvSpPr/>
          <p:nvPr/>
        </p:nvSpPr>
        <p:spPr>
          <a:xfrm>
            <a:off x="629880" y="3838666"/>
            <a:ext cx="4645025" cy="722709"/>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9" name="Google Shape;1719;p77"/>
          <p:cNvSpPr/>
          <p:nvPr/>
        </p:nvSpPr>
        <p:spPr>
          <a:xfrm>
            <a:off x="269651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720" name="Google Shape;1720;p77"/>
          <p:cNvSpPr/>
          <p:nvPr/>
        </p:nvSpPr>
        <p:spPr>
          <a:xfrm>
            <a:off x="287411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721" name="Google Shape;1721;p77"/>
          <p:cNvSpPr/>
          <p:nvPr/>
        </p:nvSpPr>
        <p:spPr>
          <a:xfrm>
            <a:off x="305170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722" name="Google Shape;1722;p77"/>
          <p:cNvSpPr/>
          <p:nvPr/>
        </p:nvSpPr>
        <p:spPr>
          <a:xfrm>
            <a:off x="322930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723" name="Google Shape;1723;p77"/>
          <p:cNvSpPr/>
          <p:nvPr/>
        </p:nvSpPr>
        <p:spPr>
          <a:xfrm>
            <a:off x="340689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724" name="Google Shape;1724;p77"/>
          <p:cNvSpPr/>
          <p:nvPr/>
        </p:nvSpPr>
        <p:spPr>
          <a:xfrm>
            <a:off x="358449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725" name="Google Shape;1725;p77"/>
          <p:cNvSpPr/>
          <p:nvPr/>
        </p:nvSpPr>
        <p:spPr>
          <a:xfrm>
            <a:off x="376208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726" name="Google Shape;1726;p77"/>
          <p:cNvSpPr/>
          <p:nvPr/>
        </p:nvSpPr>
        <p:spPr>
          <a:xfrm>
            <a:off x="393968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727" name="Google Shape;1727;p77"/>
          <p:cNvSpPr/>
          <p:nvPr/>
        </p:nvSpPr>
        <p:spPr>
          <a:xfrm>
            <a:off x="340689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728" name="Google Shape;1728;p77"/>
          <p:cNvSpPr/>
          <p:nvPr/>
        </p:nvSpPr>
        <p:spPr>
          <a:xfrm>
            <a:off x="358449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729" name="Google Shape;1729;p77"/>
          <p:cNvSpPr/>
          <p:nvPr/>
        </p:nvSpPr>
        <p:spPr>
          <a:xfrm>
            <a:off x="3762085"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730" name="Google Shape;1730;p77"/>
          <p:cNvSpPr/>
          <p:nvPr/>
        </p:nvSpPr>
        <p:spPr>
          <a:xfrm>
            <a:off x="3939680" y="1493210"/>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731" name="Google Shape;1731;p77"/>
          <p:cNvSpPr/>
          <p:nvPr/>
        </p:nvSpPr>
        <p:spPr>
          <a:xfrm>
            <a:off x="269651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732" name="Google Shape;1732;p77"/>
          <p:cNvSpPr/>
          <p:nvPr/>
        </p:nvSpPr>
        <p:spPr>
          <a:xfrm>
            <a:off x="287411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733" name="Google Shape;1733;p77"/>
          <p:cNvSpPr/>
          <p:nvPr/>
        </p:nvSpPr>
        <p:spPr>
          <a:xfrm>
            <a:off x="3051705"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734" name="Google Shape;1734;p77"/>
          <p:cNvSpPr/>
          <p:nvPr/>
        </p:nvSpPr>
        <p:spPr>
          <a:xfrm>
            <a:off x="3229300" y="167080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735" name="Google Shape;1735;p77"/>
          <p:cNvSpPr txBox="1"/>
          <p:nvPr/>
        </p:nvSpPr>
        <p:spPr>
          <a:xfrm>
            <a:off x="778109" y="1386996"/>
            <a:ext cx="878280"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Global memory</a:t>
            </a:r>
            <a:endParaRPr sz="1400">
              <a:solidFill>
                <a:schemeClr val="lt1"/>
              </a:solidFill>
              <a:latin typeface="Arial"/>
              <a:ea typeface="Arial"/>
              <a:cs typeface="Arial"/>
              <a:sym typeface="Arial"/>
            </a:endParaRPr>
          </a:p>
        </p:txBody>
      </p:sp>
      <p:sp>
        <p:nvSpPr>
          <p:cNvPr id="1736" name="Google Shape;1736;p77"/>
          <p:cNvSpPr txBox="1"/>
          <p:nvPr/>
        </p:nvSpPr>
        <p:spPr>
          <a:xfrm>
            <a:off x="784918" y="2724647"/>
            <a:ext cx="878280"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L2 Cache</a:t>
            </a:r>
            <a:endParaRPr sz="1100"/>
          </a:p>
          <a:p>
            <a:pPr indent="0" lvl="0" marL="0" marR="0" rtl="0" algn="ctr">
              <a:spcBef>
                <a:spcPts val="0"/>
              </a:spcBef>
              <a:spcAft>
                <a:spcPts val="0"/>
              </a:spcAft>
              <a:buNone/>
            </a:pPr>
            <a:r>
              <a:rPr lang="en" sz="1400">
                <a:solidFill>
                  <a:schemeClr val="lt1"/>
                </a:solidFill>
                <a:latin typeface="Arial"/>
                <a:ea typeface="Arial"/>
                <a:cs typeface="Arial"/>
                <a:sym typeface="Arial"/>
              </a:rPr>
              <a:t>50MB</a:t>
            </a:r>
            <a:endParaRPr sz="1100"/>
          </a:p>
        </p:txBody>
      </p:sp>
      <p:sp>
        <p:nvSpPr>
          <p:cNvPr id="1737" name="Google Shape;1737;p77"/>
          <p:cNvSpPr txBox="1"/>
          <p:nvPr/>
        </p:nvSpPr>
        <p:spPr>
          <a:xfrm>
            <a:off x="714586" y="3965453"/>
            <a:ext cx="1018942"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L1/Shared Memory</a:t>
            </a:r>
            <a:endParaRPr sz="1100"/>
          </a:p>
        </p:txBody>
      </p:sp>
      <p:grpSp>
        <p:nvGrpSpPr>
          <p:cNvPr id="1738" name="Google Shape;1738;p77"/>
          <p:cNvGrpSpPr/>
          <p:nvPr/>
        </p:nvGrpSpPr>
        <p:grpSpPr>
          <a:xfrm>
            <a:off x="5388736" y="1267111"/>
            <a:ext cx="3577455" cy="3294264"/>
            <a:chOff x="6520070" y="1027906"/>
            <a:chExt cx="4769940" cy="4392352"/>
          </a:xfrm>
        </p:grpSpPr>
        <p:grpSp>
          <p:nvGrpSpPr>
            <p:cNvPr id="1739" name="Google Shape;1739;p77"/>
            <p:cNvGrpSpPr/>
            <p:nvPr/>
          </p:nvGrpSpPr>
          <p:grpSpPr>
            <a:xfrm>
              <a:off x="6988312" y="1351722"/>
              <a:ext cx="4301698" cy="4068536"/>
              <a:chOff x="1859721" y="43416"/>
              <a:chExt cx="6698490" cy="6335416"/>
            </a:xfrm>
          </p:grpSpPr>
          <p:grpSp>
            <p:nvGrpSpPr>
              <p:cNvPr id="1740" name="Google Shape;1740;p77"/>
              <p:cNvGrpSpPr/>
              <p:nvPr/>
            </p:nvGrpSpPr>
            <p:grpSpPr>
              <a:xfrm>
                <a:off x="1942213" y="3429000"/>
                <a:ext cx="2949827" cy="2941936"/>
                <a:chOff x="1325943" y="3095303"/>
                <a:chExt cx="3559747" cy="3550224"/>
              </a:xfrm>
            </p:grpSpPr>
            <p:sp>
              <p:nvSpPr>
                <p:cNvPr id="1741" name="Google Shape;1741;p77"/>
                <p:cNvSpPr/>
                <p:nvPr/>
              </p:nvSpPr>
              <p:spPr>
                <a:xfrm>
                  <a:off x="132594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742" name="Google Shape;1742;p77"/>
                <p:cNvSpPr/>
                <p:nvPr/>
              </p:nvSpPr>
              <p:spPr>
                <a:xfrm>
                  <a:off x="1770911"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743" name="Google Shape;1743;p77"/>
                <p:cNvSpPr/>
                <p:nvPr/>
              </p:nvSpPr>
              <p:spPr>
                <a:xfrm>
                  <a:off x="2215880"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744" name="Google Shape;1744;p77"/>
                <p:cNvSpPr/>
                <p:nvPr/>
              </p:nvSpPr>
              <p:spPr>
                <a:xfrm>
                  <a:off x="2660848"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745" name="Google Shape;1745;p77"/>
                <p:cNvSpPr/>
                <p:nvPr/>
              </p:nvSpPr>
              <p:spPr>
                <a:xfrm>
                  <a:off x="3105817"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746" name="Google Shape;1746;p77"/>
                <p:cNvSpPr/>
                <p:nvPr/>
              </p:nvSpPr>
              <p:spPr>
                <a:xfrm>
                  <a:off x="3550785"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747" name="Google Shape;1747;p77"/>
                <p:cNvSpPr/>
                <p:nvPr/>
              </p:nvSpPr>
              <p:spPr>
                <a:xfrm>
                  <a:off x="399575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748" name="Google Shape;1748;p77"/>
                <p:cNvSpPr/>
                <p:nvPr/>
              </p:nvSpPr>
              <p:spPr>
                <a:xfrm>
                  <a:off x="4440722"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749" name="Google Shape;1749;p77"/>
                <p:cNvSpPr/>
                <p:nvPr/>
              </p:nvSpPr>
              <p:spPr>
                <a:xfrm>
                  <a:off x="132594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750" name="Google Shape;1750;p77"/>
                <p:cNvSpPr/>
                <p:nvPr/>
              </p:nvSpPr>
              <p:spPr>
                <a:xfrm>
                  <a:off x="1770911"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751" name="Google Shape;1751;p77"/>
                <p:cNvSpPr/>
                <p:nvPr/>
              </p:nvSpPr>
              <p:spPr>
                <a:xfrm>
                  <a:off x="2215880"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752" name="Google Shape;1752;p77"/>
                <p:cNvSpPr/>
                <p:nvPr/>
              </p:nvSpPr>
              <p:spPr>
                <a:xfrm>
                  <a:off x="2660848"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753" name="Google Shape;1753;p77"/>
                <p:cNvSpPr/>
                <p:nvPr/>
              </p:nvSpPr>
              <p:spPr>
                <a:xfrm>
                  <a:off x="132594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754" name="Google Shape;1754;p77"/>
                <p:cNvSpPr/>
                <p:nvPr/>
              </p:nvSpPr>
              <p:spPr>
                <a:xfrm>
                  <a:off x="1770911"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755" name="Google Shape;1755;p77"/>
                <p:cNvSpPr/>
                <p:nvPr/>
              </p:nvSpPr>
              <p:spPr>
                <a:xfrm>
                  <a:off x="2215880"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756" name="Google Shape;1756;p77"/>
                <p:cNvSpPr/>
                <p:nvPr/>
              </p:nvSpPr>
              <p:spPr>
                <a:xfrm>
                  <a:off x="2660848"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757" name="Google Shape;1757;p77"/>
                <p:cNvSpPr/>
                <p:nvPr/>
              </p:nvSpPr>
              <p:spPr>
                <a:xfrm>
                  <a:off x="3105817"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758" name="Google Shape;1758;p77"/>
                <p:cNvSpPr/>
                <p:nvPr/>
              </p:nvSpPr>
              <p:spPr>
                <a:xfrm>
                  <a:off x="3550785"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759" name="Google Shape;1759;p77"/>
                <p:cNvSpPr/>
                <p:nvPr/>
              </p:nvSpPr>
              <p:spPr>
                <a:xfrm>
                  <a:off x="399575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760" name="Google Shape;1760;p77"/>
                <p:cNvSpPr/>
                <p:nvPr/>
              </p:nvSpPr>
              <p:spPr>
                <a:xfrm>
                  <a:off x="4440722"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761" name="Google Shape;1761;p77"/>
                <p:cNvSpPr/>
                <p:nvPr/>
              </p:nvSpPr>
              <p:spPr>
                <a:xfrm>
                  <a:off x="132594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762" name="Google Shape;1762;p77"/>
                <p:cNvSpPr/>
                <p:nvPr/>
              </p:nvSpPr>
              <p:spPr>
                <a:xfrm>
                  <a:off x="1770911"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763" name="Google Shape;1763;p77"/>
                <p:cNvSpPr/>
                <p:nvPr/>
              </p:nvSpPr>
              <p:spPr>
                <a:xfrm>
                  <a:off x="2215880"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764" name="Google Shape;1764;p77"/>
                <p:cNvSpPr/>
                <p:nvPr/>
              </p:nvSpPr>
              <p:spPr>
                <a:xfrm>
                  <a:off x="2660848"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765" name="Google Shape;1765;p77"/>
                <p:cNvSpPr/>
                <p:nvPr/>
              </p:nvSpPr>
              <p:spPr>
                <a:xfrm>
                  <a:off x="3105817"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766" name="Google Shape;1766;p77"/>
                <p:cNvSpPr/>
                <p:nvPr/>
              </p:nvSpPr>
              <p:spPr>
                <a:xfrm>
                  <a:off x="3550785"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767" name="Google Shape;1767;p77"/>
                <p:cNvSpPr/>
                <p:nvPr/>
              </p:nvSpPr>
              <p:spPr>
                <a:xfrm>
                  <a:off x="399575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768" name="Google Shape;1768;p77"/>
                <p:cNvSpPr/>
                <p:nvPr/>
              </p:nvSpPr>
              <p:spPr>
                <a:xfrm>
                  <a:off x="4440722"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769" name="Google Shape;1769;p77"/>
                <p:cNvSpPr/>
                <p:nvPr/>
              </p:nvSpPr>
              <p:spPr>
                <a:xfrm>
                  <a:off x="3105817"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770" name="Google Shape;1770;p77"/>
                <p:cNvSpPr/>
                <p:nvPr/>
              </p:nvSpPr>
              <p:spPr>
                <a:xfrm>
                  <a:off x="3550785"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771" name="Google Shape;1771;p77"/>
                <p:cNvSpPr/>
                <p:nvPr/>
              </p:nvSpPr>
              <p:spPr>
                <a:xfrm>
                  <a:off x="399575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772" name="Google Shape;1772;p77"/>
                <p:cNvSpPr/>
                <p:nvPr/>
              </p:nvSpPr>
              <p:spPr>
                <a:xfrm>
                  <a:off x="4440722"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773" name="Google Shape;1773;p77"/>
                <p:cNvSpPr/>
                <p:nvPr/>
              </p:nvSpPr>
              <p:spPr>
                <a:xfrm>
                  <a:off x="132594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774" name="Google Shape;1774;p77"/>
                <p:cNvSpPr/>
                <p:nvPr/>
              </p:nvSpPr>
              <p:spPr>
                <a:xfrm>
                  <a:off x="1770911"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775" name="Google Shape;1775;p77"/>
                <p:cNvSpPr/>
                <p:nvPr/>
              </p:nvSpPr>
              <p:spPr>
                <a:xfrm>
                  <a:off x="2215880"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776" name="Google Shape;1776;p77"/>
                <p:cNvSpPr/>
                <p:nvPr/>
              </p:nvSpPr>
              <p:spPr>
                <a:xfrm>
                  <a:off x="2660848"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777" name="Google Shape;1777;p77"/>
                <p:cNvSpPr/>
                <p:nvPr/>
              </p:nvSpPr>
              <p:spPr>
                <a:xfrm>
                  <a:off x="3105817"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778" name="Google Shape;1778;p77"/>
                <p:cNvSpPr/>
                <p:nvPr/>
              </p:nvSpPr>
              <p:spPr>
                <a:xfrm>
                  <a:off x="3550785"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779" name="Google Shape;1779;p77"/>
                <p:cNvSpPr/>
                <p:nvPr/>
              </p:nvSpPr>
              <p:spPr>
                <a:xfrm>
                  <a:off x="399575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780" name="Google Shape;1780;p77"/>
                <p:cNvSpPr/>
                <p:nvPr/>
              </p:nvSpPr>
              <p:spPr>
                <a:xfrm>
                  <a:off x="4440722"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781" name="Google Shape;1781;p77"/>
                <p:cNvSpPr/>
                <p:nvPr/>
              </p:nvSpPr>
              <p:spPr>
                <a:xfrm>
                  <a:off x="132594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782" name="Google Shape;1782;p77"/>
                <p:cNvSpPr/>
                <p:nvPr/>
              </p:nvSpPr>
              <p:spPr>
                <a:xfrm>
                  <a:off x="1770911"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783" name="Google Shape;1783;p77"/>
                <p:cNvSpPr/>
                <p:nvPr/>
              </p:nvSpPr>
              <p:spPr>
                <a:xfrm>
                  <a:off x="2215880"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784" name="Google Shape;1784;p77"/>
                <p:cNvSpPr/>
                <p:nvPr/>
              </p:nvSpPr>
              <p:spPr>
                <a:xfrm>
                  <a:off x="2660848"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785" name="Google Shape;1785;p77"/>
                <p:cNvSpPr/>
                <p:nvPr/>
              </p:nvSpPr>
              <p:spPr>
                <a:xfrm>
                  <a:off x="132594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786" name="Google Shape;1786;p77"/>
                <p:cNvSpPr/>
                <p:nvPr/>
              </p:nvSpPr>
              <p:spPr>
                <a:xfrm>
                  <a:off x="1770911"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787" name="Google Shape;1787;p77"/>
                <p:cNvSpPr/>
                <p:nvPr/>
              </p:nvSpPr>
              <p:spPr>
                <a:xfrm>
                  <a:off x="2215880"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788" name="Google Shape;1788;p77"/>
                <p:cNvSpPr/>
                <p:nvPr/>
              </p:nvSpPr>
              <p:spPr>
                <a:xfrm>
                  <a:off x="2660848"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789" name="Google Shape;1789;p77"/>
                <p:cNvSpPr/>
                <p:nvPr/>
              </p:nvSpPr>
              <p:spPr>
                <a:xfrm>
                  <a:off x="3105817"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790" name="Google Shape;1790;p77"/>
                <p:cNvSpPr/>
                <p:nvPr/>
              </p:nvSpPr>
              <p:spPr>
                <a:xfrm>
                  <a:off x="3550785"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791" name="Google Shape;1791;p77"/>
                <p:cNvSpPr/>
                <p:nvPr/>
              </p:nvSpPr>
              <p:spPr>
                <a:xfrm>
                  <a:off x="399575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792" name="Google Shape;1792;p77"/>
                <p:cNvSpPr/>
                <p:nvPr/>
              </p:nvSpPr>
              <p:spPr>
                <a:xfrm>
                  <a:off x="4440722"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793" name="Google Shape;1793;p77"/>
                <p:cNvSpPr/>
                <p:nvPr/>
              </p:nvSpPr>
              <p:spPr>
                <a:xfrm>
                  <a:off x="132594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794" name="Google Shape;1794;p77"/>
                <p:cNvSpPr/>
                <p:nvPr/>
              </p:nvSpPr>
              <p:spPr>
                <a:xfrm>
                  <a:off x="1770911"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795" name="Google Shape;1795;p77"/>
                <p:cNvSpPr/>
                <p:nvPr/>
              </p:nvSpPr>
              <p:spPr>
                <a:xfrm>
                  <a:off x="2215880"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796" name="Google Shape;1796;p77"/>
                <p:cNvSpPr/>
                <p:nvPr/>
              </p:nvSpPr>
              <p:spPr>
                <a:xfrm>
                  <a:off x="2660848"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797" name="Google Shape;1797;p77"/>
                <p:cNvSpPr/>
                <p:nvPr/>
              </p:nvSpPr>
              <p:spPr>
                <a:xfrm>
                  <a:off x="3105817"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798" name="Google Shape;1798;p77"/>
                <p:cNvSpPr/>
                <p:nvPr/>
              </p:nvSpPr>
              <p:spPr>
                <a:xfrm>
                  <a:off x="3550785"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799" name="Google Shape;1799;p77"/>
                <p:cNvSpPr/>
                <p:nvPr/>
              </p:nvSpPr>
              <p:spPr>
                <a:xfrm>
                  <a:off x="399575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800" name="Google Shape;1800;p77"/>
                <p:cNvSpPr/>
                <p:nvPr/>
              </p:nvSpPr>
              <p:spPr>
                <a:xfrm>
                  <a:off x="4440722"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801" name="Google Shape;1801;p77"/>
                <p:cNvSpPr/>
                <p:nvPr/>
              </p:nvSpPr>
              <p:spPr>
                <a:xfrm>
                  <a:off x="3105817"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802" name="Google Shape;1802;p77"/>
                <p:cNvSpPr/>
                <p:nvPr/>
              </p:nvSpPr>
              <p:spPr>
                <a:xfrm>
                  <a:off x="3550785"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803" name="Google Shape;1803;p77"/>
                <p:cNvSpPr/>
                <p:nvPr/>
              </p:nvSpPr>
              <p:spPr>
                <a:xfrm>
                  <a:off x="399575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804" name="Google Shape;1804;p77"/>
                <p:cNvSpPr/>
                <p:nvPr/>
              </p:nvSpPr>
              <p:spPr>
                <a:xfrm>
                  <a:off x="4440722"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805" name="Google Shape;1805;p77"/>
              <p:cNvGrpSpPr/>
              <p:nvPr/>
            </p:nvGrpSpPr>
            <p:grpSpPr>
              <a:xfrm>
                <a:off x="5608384" y="114140"/>
                <a:ext cx="2949827" cy="2941936"/>
                <a:chOff x="5608384" y="114140"/>
                <a:chExt cx="2949827" cy="2941936"/>
              </a:xfrm>
            </p:grpSpPr>
            <p:sp>
              <p:nvSpPr>
                <p:cNvPr id="1806" name="Google Shape;1806;p77"/>
                <p:cNvSpPr/>
                <p:nvPr/>
              </p:nvSpPr>
              <p:spPr>
                <a:xfrm>
                  <a:off x="5608384"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807" name="Google Shape;1807;p77"/>
                <p:cNvSpPr/>
                <p:nvPr/>
              </p:nvSpPr>
              <p:spPr>
                <a:xfrm>
                  <a:off x="5977112"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808" name="Google Shape;1808;p77"/>
                <p:cNvSpPr/>
                <p:nvPr/>
              </p:nvSpPr>
              <p:spPr>
                <a:xfrm>
                  <a:off x="6345841"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809" name="Google Shape;1809;p77"/>
                <p:cNvSpPr/>
                <p:nvPr/>
              </p:nvSpPr>
              <p:spPr>
                <a:xfrm>
                  <a:off x="6714569"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810" name="Google Shape;1810;p77"/>
                <p:cNvSpPr/>
                <p:nvPr/>
              </p:nvSpPr>
              <p:spPr>
                <a:xfrm>
                  <a:off x="7083298"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811" name="Google Shape;1811;p77"/>
                <p:cNvSpPr/>
                <p:nvPr/>
              </p:nvSpPr>
              <p:spPr>
                <a:xfrm>
                  <a:off x="7452026"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812" name="Google Shape;1812;p77"/>
                <p:cNvSpPr/>
                <p:nvPr/>
              </p:nvSpPr>
              <p:spPr>
                <a:xfrm>
                  <a:off x="7820754"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813" name="Google Shape;1813;p77"/>
                <p:cNvSpPr/>
                <p:nvPr/>
              </p:nvSpPr>
              <p:spPr>
                <a:xfrm>
                  <a:off x="8189483"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814" name="Google Shape;1814;p77"/>
                <p:cNvSpPr/>
                <p:nvPr/>
              </p:nvSpPr>
              <p:spPr>
                <a:xfrm>
                  <a:off x="5608384"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815" name="Google Shape;1815;p77"/>
                <p:cNvSpPr/>
                <p:nvPr/>
              </p:nvSpPr>
              <p:spPr>
                <a:xfrm>
                  <a:off x="5977112"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1816" name="Google Shape;1816;p77"/>
                <p:cNvSpPr/>
                <p:nvPr/>
              </p:nvSpPr>
              <p:spPr>
                <a:xfrm>
                  <a:off x="6345841"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1817" name="Google Shape;1817;p77"/>
                <p:cNvSpPr/>
                <p:nvPr/>
              </p:nvSpPr>
              <p:spPr>
                <a:xfrm>
                  <a:off x="6714569"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1818" name="Google Shape;1818;p77"/>
                <p:cNvSpPr/>
                <p:nvPr/>
              </p:nvSpPr>
              <p:spPr>
                <a:xfrm>
                  <a:off x="5608384"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1819" name="Google Shape;1819;p77"/>
                <p:cNvSpPr/>
                <p:nvPr/>
              </p:nvSpPr>
              <p:spPr>
                <a:xfrm>
                  <a:off x="5977112"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1820" name="Google Shape;1820;p77"/>
                <p:cNvSpPr/>
                <p:nvPr/>
              </p:nvSpPr>
              <p:spPr>
                <a:xfrm>
                  <a:off x="6345841"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1821" name="Google Shape;1821;p77"/>
                <p:cNvSpPr/>
                <p:nvPr/>
              </p:nvSpPr>
              <p:spPr>
                <a:xfrm>
                  <a:off x="6714569"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1822" name="Google Shape;1822;p77"/>
                <p:cNvSpPr/>
                <p:nvPr/>
              </p:nvSpPr>
              <p:spPr>
                <a:xfrm>
                  <a:off x="7083298"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823" name="Google Shape;1823;p77"/>
                <p:cNvSpPr/>
                <p:nvPr/>
              </p:nvSpPr>
              <p:spPr>
                <a:xfrm>
                  <a:off x="7452026"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824" name="Google Shape;1824;p77"/>
                <p:cNvSpPr/>
                <p:nvPr/>
              </p:nvSpPr>
              <p:spPr>
                <a:xfrm>
                  <a:off x="7820754"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825" name="Google Shape;1825;p77"/>
                <p:cNvSpPr/>
                <p:nvPr/>
              </p:nvSpPr>
              <p:spPr>
                <a:xfrm>
                  <a:off x="8189483"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826" name="Google Shape;1826;p77"/>
                <p:cNvSpPr/>
                <p:nvPr/>
              </p:nvSpPr>
              <p:spPr>
                <a:xfrm>
                  <a:off x="5608384"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827" name="Google Shape;1827;p77"/>
                <p:cNvSpPr/>
                <p:nvPr/>
              </p:nvSpPr>
              <p:spPr>
                <a:xfrm>
                  <a:off x="5977112"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828" name="Google Shape;1828;p77"/>
                <p:cNvSpPr/>
                <p:nvPr/>
              </p:nvSpPr>
              <p:spPr>
                <a:xfrm>
                  <a:off x="6345841"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829" name="Google Shape;1829;p77"/>
                <p:cNvSpPr/>
                <p:nvPr/>
              </p:nvSpPr>
              <p:spPr>
                <a:xfrm>
                  <a:off x="6714569"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830" name="Google Shape;1830;p77"/>
                <p:cNvSpPr/>
                <p:nvPr/>
              </p:nvSpPr>
              <p:spPr>
                <a:xfrm>
                  <a:off x="7083298"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1831" name="Google Shape;1831;p77"/>
                <p:cNvSpPr/>
                <p:nvPr/>
              </p:nvSpPr>
              <p:spPr>
                <a:xfrm>
                  <a:off x="7452026"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1832" name="Google Shape;1832;p77"/>
                <p:cNvSpPr/>
                <p:nvPr/>
              </p:nvSpPr>
              <p:spPr>
                <a:xfrm>
                  <a:off x="7820754"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1833" name="Google Shape;1833;p77"/>
                <p:cNvSpPr/>
                <p:nvPr/>
              </p:nvSpPr>
              <p:spPr>
                <a:xfrm>
                  <a:off x="8189483"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1834" name="Google Shape;1834;p77"/>
                <p:cNvSpPr/>
                <p:nvPr/>
              </p:nvSpPr>
              <p:spPr>
                <a:xfrm>
                  <a:off x="7083298"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1835" name="Google Shape;1835;p77"/>
                <p:cNvSpPr/>
                <p:nvPr/>
              </p:nvSpPr>
              <p:spPr>
                <a:xfrm>
                  <a:off x="7452026"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1836" name="Google Shape;1836;p77"/>
                <p:cNvSpPr/>
                <p:nvPr/>
              </p:nvSpPr>
              <p:spPr>
                <a:xfrm>
                  <a:off x="7820754"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1837" name="Google Shape;1837;p77"/>
                <p:cNvSpPr/>
                <p:nvPr/>
              </p:nvSpPr>
              <p:spPr>
                <a:xfrm>
                  <a:off x="8189483"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1838" name="Google Shape;1838;p77"/>
                <p:cNvSpPr/>
                <p:nvPr/>
              </p:nvSpPr>
              <p:spPr>
                <a:xfrm>
                  <a:off x="5608384"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1839" name="Google Shape;1839;p77"/>
                <p:cNvSpPr/>
                <p:nvPr/>
              </p:nvSpPr>
              <p:spPr>
                <a:xfrm>
                  <a:off x="5977112"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1840" name="Google Shape;1840;p77"/>
                <p:cNvSpPr/>
                <p:nvPr/>
              </p:nvSpPr>
              <p:spPr>
                <a:xfrm>
                  <a:off x="6345841"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1841" name="Google Shape;1841;p77"/>
                <p:cNvSpPr/>
                <p:nvPr/>
              </p:nvSpPr>
              <p:spPr>
                <a:xfrm>
                  <a:off x="6714569"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1842" name="Google Shape;1842;p77"/>
                <p:cNvSpPr/>
                <p:nvPr/>
              </p:nvSpPr>
              <p:spPr>
                <a:xfrm>
                  <a:off x="7083298"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1843" name="Google Shape;1843;p77"/>
                <p:cNvSpPr/>
                <p:nvPr/>
              </p:nvSpPr>
              <p:spPr>
                <a:xfrm>
                  <a:off x="7452026"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1844" name="Google Shape;1844;p77"/>
                <p:cNvSpPr/>
                <p:nvPr/>
              </p:nvSpPr>
              <p:spPr>
                <a:xfrm>
                  <a:off x="7820754"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1845" name="Google Shape;1845;p77"/>
                <p:cNvSpPr/>
                <p:nvPr/>
              </p:nvSpPr>
              <p:spPr>
                <a:xfrm>
                  <a:off x="8189483"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1846" name="Google Shape;1846;p77"/>
                <p:cNvSpPr/>
                <p:nvPr/>
              </p:nvSpPr>
              <p:spPr>
                <a:xfrm>
                  <a:off x="5608384"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1847" name="Google Shape;1847;p77"/>
                <p:cNvSpPr/>
                <p:nvPr/>
              </p:nvSpPr>
              <p:spPr>
                <a:xfrm>
                  <a:off x="5977112"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1848" name="Google Shape;1848;p77"/>
                <p:cNvSpPr/>
                <p:nvPr/>
              </p:nvSpPr>
              <p:spPr>
                <a:xfrm>
                  <a:off x="6345841"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849" name="Google Shape;1849;p77"/>
                <p:cNvSpPr/>
                <p:nvPr/>
              </p:nvSpPr>
              <p:spPr>
                <a:xfrm>
                  <a:off x="6714569"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1850" name="Google Shape;1850;p77"/>
                <p:cNvSpPr/>
                <p:nvPr/>
              </p:nvSpPr>
              <p:spPr>
                <a:xfrm>
                  <a:off x="5608384"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1851" name="Google Shape;1851;p77"/>
                <p:cNvSpPr/>
                <p:nvPr/>
              </p:nvSpPr>
              <p:spPr>
                <a:xfrm>
                  <a:off x="5977112"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1852" name="Google Shape;1852;p77"/>
                <p:cNvSpPr/>
                <p:nvPr/>
              </p:nvSpPr>
              <p:spPr>
                <a:xfrm>
                  <a:off x="6345841"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1853" name="Google Shape;1853;p77"/>
                <p:cNvSpPr/>
                <p:nvPr/>
              </p:nvSpPr>
              <p:spPr>
                <a:xfrm>
                  <a:off x="6714569"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1854" name="Google Shape;1854;p77"/>
                <p:cNvSpPr/>
                <p:nvPr/>
              </p:nvSpPr>
              <p:spPr>
                <a:xfrm>
                  <a:off x="7083298"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1855" name="Google Shape;1855;p77"/>
                <p:cNvSpPr/>
                <p:nvPr/>
              </p:nvSpPr>
              <p:spPr>
                <a:xfrm>
                  <a:off x="7452026"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1856" name="Google Shape;1856;p77"/>
                <p:cNvSpPr/>
                <p:nvPr/>
              </p:nvSpPr>
              <p:spPr>
                <a:xfrm>
                  <a:off x="7820754"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1857" name="Google Shape;1857;p77"/>
                <p:cNvSpPr/>
                <p:nvPr/>
              </p:nvSpPr>
              <p:spPr>
                <a:xfrm>
                  <a:off x="8189483"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1858" name="Google Shape;1858;p77"/>
                <p:cNvSpPr/>
                <p:nvPr/>
              </p:nvSpPr>
              <p:spPr>
                <a:xfrm>
                  <a:off x="5608384"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1859" name="Google Shape;1859;p77"/>
                <p:cNvSpPr/>
                <p:nvPr/>
              </p:nvSpPr>
              <p:spPr>
                <a:xfrm>
                  <a:off x="5977112"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1860" name="Google Shape;1860;p77"/>
                <p:cNvSpPr/>
                <p:nvPr/>
              </p:nvSpPr>
              <p:spPr>
                <a:xfrm>
                  <a:off x="6345841"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1861" name="Google Shape;1861;p77"/>
                <p:cNvSpPr/>
                <p:nvPr/>
              </p:nvSpPr>
              <p:spPr>
                <a:xfrm>
                  <a:off x="6714569"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1862" name="Google Shape;1862;p77"/>
                <p:cNvSpPr/>
                <p:nvPr/>
              </p:nvSpPr>
              <p:spPr>
                <a:xfrm>
                  <a:off x="7083298"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1863" name="Google Shape;1863;p77"/>
                <p:cNvSpPr/>
                <p:nvPr/>
              </p:nvSpPr>
              <p:spPr>
                <a:xfrm>
                  <a:off x="7452026"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1864" name="Google Shape;1864;p77"/>
                <p:cNvSpPr/>
                <p:nvPr/>
              </p:nvSpPr>
              <p:spPr>
                <a:xfrm>
                  <a:off x="7820754"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1865" name="Google Shape;1865;p77"/>
                <p:cNvSpPr/>
                <p:nvPr/>
              </p:nvSpPr>
              <p:spPr>
                <a:xfrm>
                  <a:off x="8189483"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1866" name="Google Shape;1866;p77"/>
                <p:cNvSpPr/>
                <p:nvPr/>
              </p:nvSpPr>
              <p:spPr>
                <a:xfrm>
                  <a:off x="7083298"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1867" name="Google Shape;1867;p77"/>
                <p:cNvSpPr/>
                <p:nvPr/>
              </p:nvSpPr>
              <p:spPr>
                <a:xfrm>
                  <a:off x="7452026"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1868" name="Google Shape;1868;p77"/>
                <p:cNvSpPr/>
                <p:nvPr/>
              </p:nvSpPr>
              <p:spPr>
                <a:xfrm>
                  <a:off x="7820754"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1869" name="Google Shape;1869;p77"/>
                <p:cNvSpPr/>
                <p:nvPr/>
              </p:nvSpPr>
              <p:spPr>
                <a:xfrm>
                  <a:off x="8189483"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1870" name="Google Shape;1870;p77"/>
              <p:cNvGrpSpPr/>
              <p:nvPr/>
            </p:nvGrpSpPr>
            <p:grpSpPr>
              <a:xfrm>
                <a:off x="5605352" y="3429000"/>
                <a:ext cx="2948568" cy="2949832"/>
                <a:chOff x="5605352" y="3429000"/>
                <a:chExt cx="2948568" cy="2949832"/>
              </a:xfrm>
            </p:grpSpPr>
            <p:sp>
              <p:nvSpPr>
                <p:cNvPr id="1871" name="Google Shape;1871;p77"/>
                <p:cNvSpPr/>
                <p:nvPr/>
              </p:nvSpPr>
              <p:spPr>
                <a:xfrm>
                  <a:off x="5605352" y="3429000"/>
                  <a:ext cx="368728" cy="368729"/>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2" name="Google Shape;1872;p77"/>
                <p:cNvSpPr/>
                <p:nvPr/>
              </p:nvSpPr>
              <p:spPr>
                <a:xfrm>
                  <a:off x="5974080" y="3429000"/>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3" name="Google Shape;1873;p77"/>
                <p:cNvSpPr/>
                <p:nvPr/>
              </p:nvSpPr>
              <p:spPr>
                <a:xfrm>
                  <a:off x="63428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4" name="Google Shape;1874;p77"/>
                <p:cNvSpPr/>
                <p:nvPr/>
              </p:nvSpPr>
              <p:spPr>
                <a:xfrm>
                  <a:off x="67115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5" name="Google Shape;1875;p77"/>
                <p:cNvSpPr/>
                <p:nvPr/>
              </p:nvSpPr>
              <p:spPr>
                <a:xfrm>
                  <a:off x="70790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6" name="Google Shape;1876;p77"/>
                <p:cNvSpPr/>
                <p:nvPr/>
              </p:nvSpPr>
              <p:spPr>
                <a:xfrm>
                  <a:off x="74477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7" name="Google Shape;1877;p77"/>
                <p:cNvSpPr/>
                <p:nvPr/>
              </p:nvSpPr>
              <p:spPr>
                <a:xfrm>
                  <a:off x="7816464"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8" name="Google Shape;1878;p77"/>
                <p:cNvSpPr/>
                <p:nvPr/>
              </p:nvSpPr>
              <p:spPr>
                <a:xfrm>
                  <a:off x="8185192"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79" name="Google Shape;1879;p77"/>
                <p:cNvSpPr/>
                <p:nvPr/>
              </p:nvSpPr>
              <p:spPr>
                <a:xfrm>
                  <a:off x="5605352" y="3797729"/>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0" name="Google Shape;1880;p77"/>
                <p:cNvSpPr/>
                <p:nvPr/>
              </p:nvSpPr>
              <p:spPr>
                <a:xfrm>
                  <a:off x="5974080" y="3797729"/>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1" name="Google Shape;1881;p77"/>
                <p:cNvSpPr/>
                <p:nvPr/>
              </p:nvSpPr>
              <p:spPr>
                <a:xfrm>
                  <a:off x="63428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2" name="Google Shape;1882;p77"/>
                <p:cNvSpPr/>
                <p:nvPr/>
              </p:nvSpPr>
              <p:spPr>
                <a:xfrm>
                  <a:off x="67115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3" name="Google Shape;1883;p77"/>
                <p:cNvSpPr/>
                <p:nvPr/>
              </p:nvSpPr>
              <p:spPr>
                <a:xfrm>
                  <a:off x="70790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4" name="Google Shape;1884;p77"/>
                <p:cNvSpPr/>
                <p:nvPr/>
              </p:nvSpPr>
              <p:spPr>
                <a:xfrm>
                  <a:off x="74477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5" name="Google Shape;1885;p77"/>
                <p:cNvSpPr/>
                <p:nvPr/>
              </p:nvSpPr>
              <p:spPr>
                <a:xfrm>
                  <a:off x="7816464"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6" name="Google Shape;1886;p77"/>
                <p:cNvSpPr/>
                <p:nvPr/>
              </p:nvSpPr>
              <p:spPr>
                <a:xfrm>
                  <a:off x="818519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7" name="Google Shape;1887;p77"/>
                <p:cNvSpPr/>
                <p:nvPr/>
              </p:nvSpPr>
              <p:spPr>
                <a:xfrm>
                  <a:off x="560535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8" name="Google Shape;1888;p77"/>
                <p:cNvSpPr/>
                <p:nvPr/>
              </p:nvSpPr>
              <p:spPr>
                <a:xfrm>
                  <a:off x="5974080"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89" name="Google Shape;1889;p77"/>
                <p:cNvSpPr/>
                <p:nvPr/>
              </p:nvSpPr>
              <p:spPr>
                <a:xfrm>
                  <a:off x="63428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0" name="Google Shape;1890;p77"/>
                <p:cNvSpPr/>
                <p:nvPr/>
              </p:nvSpPr>
              <p:spPr>
                <a:xfrm>
                  <a:off x="67115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1" name="Google Shape;1891;p77"/>
                <p:cNvSpPr/>
                <p:nvPr/>
              </p:nvSpPr>
              <p:spPr>
                <a:xfrm>
                  <a:off x="70790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2" name="Google Shape;1892;p77"/>
                <p:cNvSpPr/>
                <p:nvPr/>
              </p:nvSpPr>
              <p:spPr>
                <a:xfrm>
                  <a:off x="74477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3" name="Google Shape;1893;p77"/>
                <p:cNvSpPr/>
                <p:nvPr/>
              </p:nvSpPr>
              <p:spPr>
                <a:xfrm>
                  <a:off x="7816464"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4" name="Google Shape;1894;p77"/>
                <p:cNvSpPr/>
                <p:nvPr/>
              </p:nvSpPr>
              <p:spPr>
                <a:xfrm>
                  <a:off x="818519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5" name="Google Shape;1895;p77"/>
                <p:cNvSpPr/>
                <p:nvPr/>
              </p:nvSpPr>
              <p:spPr>
                <a:xfrm>
                  <a:off x="560535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6" name="Google Shape;1896;p77"/>
                <p:cNvSpPr/>
                <p:nvPr/>
              </p:nvSpPr>
              <p:spPr>
                <a:xfrm>
                  <a:off x="5974080"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7" name="Google Shape;1897;p77"/>
                <p:cNvSpPr/>
                <p:nvPr/>
              </p:nvSpPr>
              <p:spPr>
                <a:xfrm>
                  <a:off x="63428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8" name="Google Shape;1898;p77"/>
                <p:cNvSpPr/>
                <p:nvPr/>
              </p:nvSpPr>
              <p:spPr>
                <a:xfrm>
                  <a:off x="67115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899" name="Google Shape;1899;p77"/>
                <p:cNvSpPr/>
                <p:nvPr/>
              </p:nvSpPr>
              <p:spPr>
                <a:xfrm>
                  <a:off x="70790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0" name="Google Shape;1900;p77"/>
                <p:cNvSpPr/>
                <p:nvPr/>
              </p:nvSpPr>
              <p:spPr>
                <a:xfrm>
                  <a:off x="74477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1" name="Google Shape;1901;p77"/>
                <p:cNvSpPr/>
                <p:nvPr/>
              </p:nvSpPr>
              <p:spPr>
                <a:xfrm>
                  <a:off x="7816464"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2" name="Google Shape;1902;p77"/>
                <p:cNvSpPr/>
                <p:nvPr/>
              </p:nvSpPr>
              <p:spPr>
                <a:xfrm>
                  <a:off x="818519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3" name="Google Shape;1903;p77"/>
                <p:cNvSpPr/>
                <p:nvPr/>
              </p:nvSpPr>
              <p:spPr>
                <a:xfrm>
                  <a:off x="560535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4" name="Google Shape;1904;p77"/>
                <p:cNvSpPr/>
                <p:nvPr/>
              </p:nvSpPr>
              <p:spPr>
                <a:xfrm>
                  <a:off x="5974080"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5" name="Google Shape;1905;p77"/>
                <p:cNvSpPr/>
                <p:nvPr/>
              </p:nvSpPr>
              <p:spPr>
                <a:xfrm>
                  <a:off x="63428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6" name="Google Shape;1906;p77"/>
                <p:cNvSpPr/>
                <p:nvPr/>
              </p:nvSpPr>
              <p:spPr>
                <a:xfrm>
                  <a:off x="67115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7" name="Google Shape;1907;p77"/>
                <p:cNvSpPr/>
                <p:nvPr/>
              </p:nvSpPr>
              <p:spPr>
                <a:xfrm>
                  <a:off x="70790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8" name="Google Shape;1908;p77"/>
                <p:cNvSpPr/>
                <p:nvPr/>
              </p:nvSpPr>
              <p:spPr>
                <a:xfrm>
                  <a:off x="74477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09" name="Google Shape;1909;p77"/>
                <p:cNvSpPr/>
                <p:nvPr/>
              </p:nvSpPr>
              <p:spPr>
                <a:xfrm>
                  <a:off x="7816464"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0" name="Google Shape;1910;p77"/>
                <p:cNvSpPr/>
                <p:nvPr/>
              </p:nvSpPr>
              <p:spPr>
                <a:xfrm>
                  <a:off x="818519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1" name="Google Shape;1911;p77"/>
                <p:cNvSpPr/>
                <p:nvPr/>
              </p:nvSpPr>
              <p:spPr>
                <a:xfrm>
                  <a:off x="560535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2" name="Google Shape;1912;p77"/>
                <p:cNvSpPr/>
                <p:nvPr/>
              </p:nvSpPr>
              <p:spPr>
                <a:xfrm>
                  <a:off x="5974080"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3" name="Google Shape;1913;p77"/>
                <p:cNvSpPr/>
                <p:nvPr/>
              </p:nvSpPr>
              <p:spPr>
                <a:xfrm>
                  <a:off x="63428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4" name="Google Shape;1914;p77"/>
                <p:cNvSpPr/>
                <p:nvPr/>
              </p:nvSpPr>
              <p:spPr>
                <a:xfrm>
                  <a:off x="67115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5" name="Google Shape;1915;p77"/>
                <p:cNvSpPr/>
                <p:nvPr/>
              </p:nvSpPr>
              <p:spPr>
                <a:xfrm>
                  <a:off x="70790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6" name="Google Shape;1916;p77"/>
                <p:cNvSpPr/>
                <p:nvPr/>
              </p:nvSpPr>
              <p:spPr>
                <a:xfrm>
                  <a:off x="74477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7" name="Google Shape;1917;p77"/>
                <p:cNvSpPr/>
                <p:nvPr/>
              </p:nvSpPr>
              <p:spPr>
                <a:xfrm>
                  <a:off x="7816464"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8" name="Google Shape;1918;p77"/>
                <p:cNvSpPr/>
                <p:nvPr/>
              </p:nvSpPr>
              <p:spPr>
                <a:xfrm>
                  <a:off x="818519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19" name="Google Shape;1919;p77"/>
                <p:cNvSpPr/>
                <p:nvPr/>
              </p:nvSpPr>
              <p:spPr>
                <a:xfrm>
                  <a:off x="560535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0" name="Google Shape;1920;p77"/>
                <p:cNvSpPr/>
                <p:nvPr/>
              </p:nvSpPr>
              <p:spPr>
                <a:xfrm>
                  <a:off x="5974080"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1" name="Google Shape;1921;p77"/>
                <p:cNvSpPr/>
                <p:nvPr/>
              </p:nvSpPr>
              <p:spPr>
                <a:xfrm>
                  <a:off x="63428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2" name="Google Shape;1922;p77"/>
                <p:cNvSpPr/>
                <p:nvPr/>
              </p:nvSpPr>
              <p:spPr>
                <a:xfrm>
                  <a:off x="67115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3" name="Google Shape;1923;p77"/>
                <p:cNvSpPr/>
                <p:nvPr/>
              </p:nvSpPr>
              <p:spPr>
                <a:xfrm>
                  <a:off x="70790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4" name="Google Shape;1924;p77"/>
                <p:cNvSpPr/>
                <p:nvPr/>
              </p:nvSpPr>
              <p:spPr>
                <a:xfrm>
                  <a:off x="74477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5" name="Google Shape;1925;p77"/>
                <p:cNvSpPr/>
                <p:nvPr/>
              </p:nvSpPr>
              <p:spPr>
                <a:xfrm>
                  <a:off x="7816464"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6" name="Google Shape;1926;p77"/>
                <p:cNvSpPr/>
                <p:nvPr/>
              </p:nvSpPr>
              <p:spPr>
                <a:xfrm>
                  <a:off x="818519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7" name="Google Shape;1927;p77"/>
                <p:cNvSpPr/>
                <p:nvPr/>
              </p:nvSpPr>
              <p:spPr>
                <a:xfrm>
                  <a:off x="560535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8" name="Google Shape;1928;p77"/>
                <p:cNvSpPr/>
                <p:nvPr/>
              </p:nvSpPr>
              <p:spPr>
                <a:xfrm>
                  <a:off x="5974080"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29" name="Google Shape;1929;p77"/>
                <p:cNvSpPr/>
                <p:nvPr/>
              </p:nvSpPr>
              <p:spPr>
                <a:xfrm>
                  <a:off x="63428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30" name="Google Shape;1930;p77"/>
                <p:cNvSpPr/>
                <p:nvPr/>
              </p:nvSpPr>
              <p:spPr>
                <a:xfrm>
                  <a:off x="67115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31" name="Google Shape;1931;p77"/>
                <p:cNvSpPr/>
                <p:nvPr/>
              </p:nvSpPr>
              <p:spPr>
                <a:xfrm>
                  <a:off x="70790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32" name="Google Shape;1932;p77"/>
                <p:cNvSpPr/>
                <p:nvPr/>
              </p:nvSpPr>
              <p:spPr>
                <a:xfrm>
                  <a:off x="74477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33" name="Google Shape;1933;p77"/>
                <p:cNvSpPr/>
                <p:nvPr/>
              </p:nvSpPr>
              <p:spPr>
                <a:xfrm>
                  <a:off x="7816464"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1934" name="Google Shape;1934;p77"/>
                <p:cNvSpPr/>
                <p:nvPr/>
              </p:nvSpPr>
              <p:spPr>
                <a:xfrm>
                  <a:off x="818519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grpSp>
          <p:sp>
            <p:nvSpPr>
              <p:cNvPr id="1935" name="Google Shape;1935;p77"/>
              <p:cNvSpPr/>
              <p:nvPr/>
            </p:nvSpPr>
            <p:spPr>
              <a:xfrm>
                <a:off x="1859721" y="3352800"/>
                <a:ext cx="1557153" cy="900345"/>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1936" name="Google Shape;1936;p77"/>
              <p:cNvSpPr/>
              <p:nvPr/>
            </p:nvSpPr>
            <p:spPr>
              <a:xfrm>
                <a:off x="5536697" y="43416"/>
                <a:ext cx="904205" cy="1547697"/>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grpSp>
        <p:sp>
          <p:nvSpPr>
            <p:cNvPr id="1937" name="Google Shape;1937;p77"/>
            <p:cNvSpPr txBox="1"/>
            <p:nvPr/>
          </p:nvSpPr>
          <p:spPr>
            <a:xfrm>
              <a:off x="6520070" y="437754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a:t>
              </a:r>
              <a:endParaRPr b="1" sz="1400">
                <a:solidFill>
                  <a:schemeClr val="dk1"/>
                </a:solidFill>
                <a:latin typeface="Arial"/>
                <a:ea typeface="Arial"/>
                <a:cs typeface="Arial"/>
                <a:sym typeface="Arial"/>
              </a:endParaRPr>
            </a:p>
          </p:txBody>
        </p:sp>
        <p:sp>
          <p:nvSpPr>
            <p:cNvPr id="1938" name="Google Shape;1938;p77"/>
            <p:cNvSpPr txBox="1"/>
            <p:nvPr/>
          </p:nvSpPr>
          <p:spPr>
            <a:xfrm>
              <a:off x="7809946" y="3107641"/>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sp>
          <p:nvSpPr>
            <p:cNvPr id="1939" name="Google Shape;1939;p77"/>
            <p:cNvSpPr txBox="1"/>
            <p:nvPr/>
          </p:nvSpPr>
          <p:spPr>
            <a:xfrm>
              <a:off x="10168283" y="102790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N</a:t>
              </a:r>
              <a:endParaRPr b="1" sz="1400">
                <a:solidFill>
                  <a:schemeClr val="dk1"/>
                </a:solidFill>
                <a:latin typeface="Arial"/>
                <a:ea typeface="Arial"/>
                <a:cs typeface="Arial"/>
                <a:sym typeface="Arial"/>
              </a:endParaRPr>
            </a:p>
          </p:txBody>
        </p:sp>
        <p:sp>
          <p:nvSpPr>
            <p:cNvPr id="1940" name="Google Shape;1940;p77"/>
            <p:cNvSpPr txBox="1"/>
            <p:nvPr/>
          </p:nvSpPr>
          <p:spPr>
            <a:xfrm>
              <a:off x="8854878" y="2163968"/>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grpSp>
      <p:sp>
        <p:nvSpPr>
          <p:cNvPr id="1941" name="Google Shape;1941;p77"/>
          <p:cNvSpPr/>
          <p:nvPr/>
        </p:nvSpPr>
        <p:spPr>
          <a:xfrm>
            <a:off x="2696515" y="2748721"/>
            <a:ext cx="177595" cy="177595"/>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942" name="Google Shape;1942;p77"/>
          <p:cNvSpPr/>
          <p:nvPr/>
        </p:nvSpPr>
        <p:spPr>
          <a:xfrm>
            <a:off x="2874110" y="2748721"/>
            <a:ext cx="177595" cy="177595"/>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943" name="Google Shape;1943;p77"/>
          <p:cNvSpPr/>
          <p:nvPr/>
        </p:nvSpPr>
        <p:spPr>
          <a:xfrm>
            <a:off x="3051705" y="2748721"/>
            <a:ext cx="177595" cy="177595"/>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944" name="Google Shape;1944;p77"/>
          <p:cNvSpPr/>
          <p:nvPr/>
        </p:nvSpPr>
        <p:spPr>
          <a:xfrm>
            <a:off x="3229300" y="2748721"/>
            <a:ext cx="177595" cy="177595"/>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945" name="Google Shape;1945;p77"/>
          <p:cNvSpPr/>
          <p:nvPr/>
        </p:nvSpPr>
        <p:spPr>
          <a:xfrm>
            <a:off x="2696515" y="292631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946" name="Google Shape;1946;p77"/>
          <p:cNvSpPr/>
          <p:nvPr/>
        </p:nvSpPr>
        <p:spPr>
          <a:xfrm>
            <a:off x="2874110" y="292631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947" name="Google Shape;1947;p77"/>
          <p:cNvSpPr/>
          <p:nvPr/>
        </p:nvSpPr>
        <p:spPr>
          <a:xfrm>
            <a:off x="3051705" y="292631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948" name="Google Shape;1948;p77"/>
          <p:cNvSpPr/>
          <p:nvPr/>
        </p:nvSpPr>
        <p:spPr>
          <a:xfrm>
            <a:off x="3229300" y="2926316"/>
            <a:ext cx="177595" cy="177595"/>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cxnSp>
        <p:nvCxnSpPr>
          <p:cNvPr id="1949" name="Google Shape;1949;p77"/>
          <p:cNvCxnSpPr>
            <a:stCxn id="1935" idx="1"/>
          </p:cNvCxnSpPr>
          <p:nvPr/>
        </p:nvCxnSpPr>
        <p:spPr>
          <a:xfrm rot="10800000">
            <a:off x="3140418" y="1857934"/>
            <a:ext cx="2599500" cy="1462800"/>
          </a:xfrm>
          <a:prstGeom prst="straightConnector1">
            <a:avLst/>
          </a:prstGeom>
          <a:noFill/>
          <a:ln cap="flat" cmpd="sng" w="38100">
            <a:solidFill>
              <a:schemeClr val="accent2"/>
            </a:solidFill>
            <a:prstDash val="solid"/>
            <a:miter lim="800000"/>
            <a:headEnd len="sm" w="sm" type="none"/>
            <a:tailEnd len="med" w="med" type="triangle"/>
          </a:ln>
        </p:spPr>
      </p:cxnSp>
      <p:sp>
        <p:nvSpPr>
          <p:cNvPr id="1950" name="Google Shape;1950;p77"/>
          <p:cNvSpPr/>
          <p:nvPr/>
        </p:nvSpPr>
        <p:spPr>
          <a:xfrm>
            <a:off x="6490738" y="3106739"/>
            <a:ext cx="749990" cy="433644"/>
          </a:xfrm>
          <a:prstGeom prst="rect">
            <a:avLst/>
          </a:prstGeom>
          <a:noFill/>
          <a:ln cap="flat" cmpd="sng" w="38100">
            <a:solidFill>
              <a:schemeClr val="dk1"/>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1951" name="Google Shape;1951;p77"/>
          <p:cNvSpPr/>
          <p:nvPr/>
        </p:nvSpPr>
        <p:spPr>
          <a:xfrm>
            <a:off x="7510904" y="2255409"/>
            <a:ext cx="435503" cy="745436"/>
          </a:xfrm>
          <a:prstGeom prst="rect">
            <a:avLst/>
          </a:prstGeom>
          <a:noFill/>
          <a:ln cap="flat" cmpd="sng" w="38100">
            <a:solidFill>
              <a:schemeClr val="dk1"/>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cxnSp>
        <p:nvCxnSpPr>
          <p:cNvPr id="1952" name="Google Shape;1952;p77"/>
          <p:cNvCxnSpPr>
            <a:stCxn id="1950" idx="0"/>
            <a:endCxn id="1725" idx="1"/>
          </p:cNvCxnSpPr>
          <p:nvPr/>
        </p:nvCxnSpPr>
        <p:spPr>
          <a:xfrm rot="10800000">
            <a:off x="3762233" y="1759739"/>
            <a:ext cx="3103500" cy="1347000"/>
          </a:xfrm>
          <a:prstGeom prst="straightConnector1">
            <a:avLst/>
          </a:prstGeom>
          <a:noFill/>
          <a:ln cap="flat" cmpd="sng" w="38100">
            <a:solidFill>
              <a:schemeClr val="accent2"/>
            </a:solidFill>
            <a:prstDash val="solid"/>
            <a:miter lim="800000"/>
            <a:headEnd len="sm" w="sm" type="none"/>
            <a:tailEnd len="med" w="med" type="triangle"/>
          </a:ln>
        </p:spPr>
      </p:cxnSp>
      <p:sp>
        <p:nvSpPr>
          <p:cNvPr id="1953" name="Google Shape;1953;p77"/>
          <p:cNvSpPr/>
          <p:nvPr/>
        </p:nvSpPr>
        <p:spPr>
          <a:xfrm>
            <a:off x="3074339" y="4052636"/>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954" name="Google Shape;1954;p77"/>
          <p:cNvSpPr/>
          <p:nvPr/>
        </p:nvSpPr>
        <p:spPr>
          <a:xfrm>
            <a:off x="3251934" y="4052636"/>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955" name="Google Shape;1955;p77"/>
          <p:cNvSpPr/>
          <p:nvPr/>
        </p:nvSpPr>
        <p:spPr>
          <a:xfrm>
            <a:off x="3429530" y="4052636"/>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956" name="Google Shape;1956;p77"/>
          <p:cNvSpPr/>
          <p:nvPr/>
        </p:nvSpPr>
        <p:spPr>
          <a:xfrm>
            <a:off x="3607124" y="4052636"/>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957" name="Google Shape;1957;p77"/>
          <p:cNvSpPr/>
          <p:nvPr/>
        </p:nvSpPr>
        <p:spPr>
          <a:xfrm>
            <a:off x="3074339" y="423023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1958" name="Google Shape;1958;p77"/>
          <p:cNvSpPr/>
          <p:nvPr/>
        </p:nvSpPr>
        <p:spPr>
          <a:xfrm>
            <a:off x="3251934" y="423023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1959" name="Google Shape;1959;p77"/>
          <p:cNvSpPr/>
          <p:nvPr/>
        </p:nvSpPr>
        <p:spPr>
          <a:xfrm>
            <a:off x="3429530" y="423023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1960" name="Google Shape;1960;p77"/>
          <p:cNvSpPr/>
          <p:nvPr/>
        </p:nvSpPr>
        <p:spPr>
          <a:xfrm>
            <a:off x="3607124" y="4230231"/>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1961" name="Google Shape;1961;p77"/>
          <p:cNvSpPr/>
          <p:nvPr/>
        </p:nvSpPr>
        <p:spPr>
          <a:xfrm>
            <a:off x="3404132" y="2924857"/>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962" name="Google Shape;1962;p77"/>
          <p:cNvSpPr/>
          <p:nvPr/>
        </p:nvSpPr>
        <p:spPr>
          <a:xfrm>
            <a:off x="3581727" y="2924857"/>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963" name="Google Shape;1963;p77"/>
          <p:cNvSpPr/>
          <p:nvPr/>
        </p:nvSpPr>
        <p:spPr>
          <a:xfrm>
            <a:off x="3759322" y="2924857"/>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964" name="Google Shape;1964;p77"/>
          <p:cNvSpPr/>
          <p:nvPr/>
        </p:nvSpPr>
        <p:spPr>
          <a:xfrm>
            <a:off x="3936917" y="2924857"/>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965" name="Google Shape;1965;p77"/>
          <p:cNvSpPr/>
          <p:nvPr/>
        </p:nvSpPr>
        <p:spPr>
          <a:xfrm>
            <a:off x="3404132" y="2747262"/>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966" name="Google Shape;1966;p77"/>
          <p:cNvSpPr/>
          <p:nvPr/>
        </p:nvSpPr>
        <p:spPr>
          <a:xfrm>
            <a:off x="3581727" y="2747262"/>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967" name="Google Shape;1967;p77"/>
          <p:cNvSpPr/>
          <p:nvPr/>
        </p:nvSpPr>
        <p:spPr>
          <a:xfrm>
            <a:off x="3759322" y="2747262"/>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968" name="Google Shape;1968;p77"/>
          <p:cNvSpPr/>
          <p:nvPr/>
        </p:nvSpPr>
        <p:spPr>
          <a:xfrm>
            <a:off x="3936917" y="2747262"/>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969" name="Google Shape;1969;p77"/>
          <p:cNvSpPr/>
          <p:nvPr/>
        </p:nvSpPr>
        <p:spPr>
          <a:xfrm>
            <a:off x="3067085" y="4226526"/>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970" name="Google Shape;1970;p77"/>
          <p:cNvSpPr/>
          <p:nvPr/>
        </p:nvSpPr>
        <p:spPr>
          <a:xfrm>
            <a:off x="3244679" y="4226526"/>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971" name="Google Shape;1971;p77"/>
          <p:cNvSpPr/>
          <p:nvPr/>
        </p:nvSpPr>
        <p:spPr>
          <a:xfrm>
            <a:off x="3422274" y="4226526"/>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972" name="Google Shape;1972;p77"/>
          <p:cNvSpPr/>
          <p:nvPr/>
        </p:nvSpPr>
        <p:spPr>
          <a:xfrm>
            <a:off x="3599869" y="4226526"/>
            <a:ext cx="177595" cy="177596"/>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973" name="Google Shape;1973;p77"/>
          <p:cNvSpPr/>
          <p:nvPr/>
        </p:nvSpPr>
        <p:spPr>
          <a:xfrm>
            <a:off x="3067085" y="404893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1974" name="Google Shape;1974;p77"/>
          <p:cNvSpPr/>
          <p:nvPr/>
        </p:nvSpPr>
        <p:spPr>
          <a:xfrm>
            <a:off x="3244679" y="404893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1975" name="Google Shape;1975;p77"/>
          <p:cNvSpPr/>
          <p:nvPr/>
        </p:nvSpPr>
        <p:spPr>
          <a:xfrm>
            <a:off x="3422274" y="404893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1976" name="Google Shape;1976;p77"/>
          <p:cNvSpPr/>
          <p:nvPr/>
        </p:nvSpPr>
        <p:spPr>
          <a:xfrm>
            <a:off x="3599869" y="4048931"/>
            <a:ext cx="177595" cy="177596"/>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1977" name="Google Shape;1977;p77"/>
          <p:cNvSpPr txBox="1"/>
          <p:nvPr/>
        </p:nvSpPr>
        <p:spPr>
          <a:xfrm>
            <a:off x="2414632" y="2041034"/>
            <a:ext cx="2059166"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2×8 = 16 Global Access</a:t>
            </a:r>
            <a:endParaRPr sz="1100"/>
          </a:p>
        </p:txBody>
      </p:sp>
      <p:sp>
        <p:nvSpPr>
          <p:cNvPr id="1978" name="Google Shape;1978;p77"/>
          <p:cNvSpPr txBox="1"/>
          <p:nvPr/>
        </p:nvSpPr>
        <p:spPr>
          <a:xfrm>
            <a:off x="2551472" y="3321224"/>
            <a:ext cx="1785488"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2×8 = 16 L2 Access</a:t>
            </a:r>
            <a:endParaRPr sz="1100"/>
          </a:p>
        </p:txBody>
      </p:sp>
      <p:sp>
        <p:nvSpPr>
          <p:cNvPr id="1979" name="Google Shape;1979;p77"/>
          <p:cNvSpPr txBox="1"/>
          <p:nvPr/>
        </p:nvSpPr>
        <p:spPr>
          <a:xfrm>
            <a:off x="2534260" y="4635871"/>
            <a:ext cx="2037740"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2×2×8 = 32 L1 Access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9"/>
                                        </p:tgtEl>
                                        <p:attrNameLst>
                                          <p:attrName>style.visibility</p:attrName>
                                        </p:attrNameLst>
                                      </p:cBhvr>
                                      <p:to>
                                        <p:strVal val="visible"/>
                                      </p:to>
                                    </p:set>
                                    <p:animEffect filter="fade" transition="in">
                                      <p:cBhvr>
                                        <p:cTn dur="500"/>
                                        <p:tgtEl>
                                          <p:spTgt spid="19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500"/>
                                        <p:tgtEl>
                                          <p:spTgt spid="1941"/>
                                        </p:tgtEl>
                                      </p:cBhvr>
                                    </p:animEffect>
                                  </p:childTnLst>
                                </p:cTn>
                              </p:par>
                              <p:par>
                                <p:cTn fill="hold" nodeType="withEffect" presetClass="entr" presetID="10" presetSubtype="0">
                                  <p:stCondLst>
                                    <p:cond delay="0"/>
                                  </p:stCondLst>
                                  <p:childTnLst>
                                    <p:set>
                                      <p:cBhvr>
                                        <p:cTn dur="1" fill="hold">
                                          <p:stCondLst>
                                            <p:cond delay="0"/>
                                          </p:stCondLst>
                                        </p:cTn>
                                        <p:tgtEl>
                                          <p:spTgt spid="1942"/>
                                        </p:tgtEl>
                                        <p:attrNameLst>
                                          <p:attrName>style.visibility</p:attrName>
                                        </p:attrNameLst>
                                      </p:cBhvr>
                                      <p:to>
                                        <p:strVal val="visible"/>
                                      </p:to>
                                    </p:set>
                                    <p:animEffect filter="fade" transition="in">
                                      <p:cBhvr>
                                        <p:cTn dur="500"/>
                                        <p:tgtEl>
                                          <p:spTgt spid="1942"/>
                                        </p:tgtEl>
                                      </p:cBhvr>
                                    </p:animEffect>
                                  </p:childTnLst>
                                </p:cTn>
                              </p:par>
                              <p:par>
                                <p:cTn fill="hold" nodeType="with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500"/>
                                        <p:tgtEl>
                                          <p:spTgt spid="1943"/>
                                        </p:tgtEl>
                                      </p:cBhvr>
                                    </p:animEffect>
                                  </p:childTnLst>
                                </p:cTn>
                              </p:par>
                              <p:par>
                                <p:cTn fill="hold" nodeType="withEffect" presetClass="entr" presetID="10" presetSubtype="0">
                                  <p:stCondLst>
                                    <p:cond delay="0"/>
                                  </p:stCondLst>
                                  <p:childTnLst>
                                    <p:set>
                                      <p:cBhvr>
                                        <p:cTn dur="1" fill="hold">
                                          <p:stCondLst>
                                            <p:cond delay="0"/>
                                          </p:stCondLst>
                                        </p:cTn>
                                        <p:tgtEl>
                                          <p:spTgt spid="1944"/>
                                        </p:tgtEl>
                                        <p:attrNameLst>
                                          <p:attrName>style.visibility</p:attrName>
                                        </p:attrNameLst>
                                      </p:cBhvr>
                                      <p:to>
                                        <p:strVal val="visible"/>
                                      </p:to>
                                    </p:set>
                                    <p:animEffect filter="fade" transition="in">
                                      <p:cBhvr>
                                        <p:cTn dur="500"/>
                                        <p:tgtEl>
                                          <p:spTgt spid="1944"/>
                                        </p:tgtEl>
                                      </p:cBhvr>
                                    </p:animEffect>
                                  </p:childTnLst>
                                </p:cTn>
                              </p:par>
                              <p:par>
                                <p:cTn fill="hold" nodeType="with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500"/>
                                        <p:tgtEl>
                                          <p:spTgt spid="1945"/>
                                        </p:tgtEl>
                                      </p:cBhvr>
                                    </p:animEffect>
                                  </p:childTnLst>
                                </p:cTn>
                              </p:par>
                              <p:par>
                                <p:cTn fill="hold" nodeType="withEffect" presetClass="entr" presetID="10" presetSubtype="0">
                                  <p:stCondLst>
                                    <p:cond delay="0"/>
                                  </p:stCondLst>
                                  <p:childTnLst>
                                    <p:set>
                                      <p:cBhvr>
                                        <p:cTn dur="1" fill="hold">
                                          <p:stCondLst>
                                            <p:cond delay="0"/>
                                          </p:stCondLst>
                                        </p:cTn>
                                        <p:tgtEl>
                                          <p:spTgt spid="1946"/>
                                        </p:tgtEl>
                                        <p:attrNameLst>
                                          <p:attrName>style.visibility</p:attrName>
                                        </p:attrNameLst>
                                      </p:cBhvr>
                                      <p:to>
                                        <p:strVal val="visible"/>
                                      </p:to>
                                    </p:set>
                                    <p:animEffect filter="fade" transition="in">
                                      <p:cBhvr>
                                        <p:cTn dur="500"/>
                                        <p:tgtEl>
                                          <p:spTgt spid="1946"/>
                                        </p:tgtEl>
                                      </p:cBhvr>
                                    </p:animEffect>
                                  </p:childTnLst>
                                </p:cTn>
                              </p:par>
                              <p:par>
                                <p:cTn fill="hold" nodeType="withEffect" presetClass="entr" presetID="10" presetSubtype="0">
                                  <p:stCondLst>
                                    <p:cond delay="0"/>
                                  </p:stCondLst>
                                  <p:childTnLst>
                                    <p:set>
                                      <p:cBhvr>
                                        <p:cTn dur="1" fill="hold">
                                          <p:stCondLst>
                                            <p:cond delay="0"/>
                                          </p:stCondLst>
                                        </p:cTn>
                                        <p:tgtEl>
                                          <p:spTgt spid="1947"/>
                                        </p:tgtEl>
                                        <p:attrNameLst>
                                          <p:attrName>style.visibility</p:attrName>
                                        </p:attrNameLst>
                                      </p:cBhvr>
                                      <p:to>
                                        <p:strVal val="visible"/>
                                      </p:to>
                                    </p:set>
                                    <p:animEffect filter="fade" transition="in">
                                      <p:cBhvr>
                                        <p:cTn dur="500"/>
                                        <p:tgtEl>
                                          <p:spTgt spid="1947"/>
                                        </p:tgtEl>
                                      </p:cBhvr>
                                    </p:animEffect>
                                  </p:childTnLst>
                                </p:cTn>
                              </p:par>
                              <p:par>
                                <p:cTn fill="hold" nodeType="withEffect" presetClass="entr" presetID="10" presetSubtype="0">
                                  <p:stCondLst>
                                    <p:cond delay="0"/>
                                  </p:stCondLst>
                                  <p:childTnLst>
                                    <p:set>
                                      <p:cBhvr>
                                        <p:cTn dur="1" fill="hold">
                                          <p:stCondLst>
                                            <p:cond delay="0"/>
                                          </p:stCondLst>
                                        </p:cTn>
                                        <p:tgtEl>
                                          <p:spTgt spid="1948"/>
                                        </p:tgtEl>
                                        <p:attrNameLst>
                                          <p:attrName>style.visibility</p:attrName>
                                        </p:attrNameLst>
                                      </p:cBhvr>
                                      <p:to>
                                        <p:strVal val="visible"/>
                                      </p:to>
                                    </p:set>
                                    <p:animEffect filter="fade" transition="in">
                                      <p:cBhvr>
                                        <p:cTn dur="500"/>
                                        <p:tgtEl>
                                          <p:spTgt spid="19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3"/>
                                        </p:tgtEl>
                                        <p:attrNameLst>
                                          <p:attrName>style.visibility</p:attrName>
                                        </p:attrNameLst>
                                      </p:cBhvr>
                                      <p:to>
                                        <p:strVal val="visible"/>
                                      </p:to>
                                    </p:set>
                                    <p:animEffect filter="fade" transition="in">
                                      <p:cBhvr>
                                        <p:cTn dur="500"/>
                                        <p:tgtEl>
                                          <p:spTgt spid="1953"/>
                                        </p:tgtEl>
                                      </p:cBhvr>
                                    </p:animEffect>
                                  </p:childTnLst>
                                </p:cTn>
                              </p:par>
                              <p:par>
                                <p:cTn fill="hold" nodeType="with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par>
                                <p:cTn fill="hold" nodeType="with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500"/>
                                        <p:tgtEl>
                                          <p:spTgt spid="1955"/>
                                        </p:tgtEl>
                                      </p:cBhvr>
                                    </p:animEffect>
                                  </p:childTnLst>
                                </p:cTn>
                              </p:par>
                              <p:par>
                                <p:cTn fill="hold" nodeType="withEffect" presetClass="entr" presetID="10" presetSubtype="0">
                                  <p:stCondLst>
                                    <p:cond delay="0"/>
                                  </p:stCondLst>
                                  <p:childTnLst>
                                    <p:set>
                                      <p:cBhvr>
                                        <p:cTn dur="1" fill="hold">
                                          <p:stCondLst>
                                            <p:cond delay="0"/>
                                          </p:stCondLst>
                                        </p:cTn>
                                        <p:tgtEl>
                                          <p:spTgt spid="1956"/>
                                        </p:tgtEl>
                                        <p:attrNameLst>
                                          <p:attrName>style.visibility</p:attrName>
                                        </p:attrNameLst>
                                      </p:cBhvr>
                                      <p:to>
                                        <p:strVal val="visible"/>
                                      </p:to>
                                    </p:set>
                                    <p:animEffect filter="fade" transition="in">
                                      <p:cBhvr>
                                        <p:cTn dur="500"/>
                                        <p:tgtEl>
                                          <p:spTgt spid="1956"/>
                                        </p:tgtEl>
                                      </p:cBhvr>
                                    </p:animEffect>
                                  </p:childTnLst>
                                </p:cTn>
                              </p:par>
                              <p:par>
                                <p:cTn fill="hold" nodeType="withEffect" presetClass="entr" presetID="10" presetSubtype="0">
                                  <p:stCondLst>
                                    <p:cond delay="0"/>
                                  </p:stCondLst>
                                  <p:childTnLst>
                                    <p:set>
                                      <p:cBhvr>
                                        <p:cTn dur="1" fill="hold">
                                          <p:stCondLst>
                                            <p:cond delay="0"/>
                                          </p:stCondLst>
                                        </p:cTn>
                                        <p:tgtEl>
                                          <p:spTgt spid="1957"/>
                                        </p:tgtEl>
                                        <p:attrNameLst>
                                          <p:attrName>style.visibility</p:attrName>
                                        </p:attrNameLst>
                                      </p:cBhvr>
                                      <p:to>
                                        <p:strVal val="visible"/>
                                      </p:to>
                                    </p:set>
                                    <p:animEffect filter="fade" transition="in">
                                      <p:cBhvr>
                                        <p:cTn dur="500"/>
                                        <p:tgtEl>
                                          <p:spTgt spid="1957"/>
                                        </p:tgtEl>
                                      </p:cBhvr>
                                    </p:animEffect>
                                  </p:childTnLst>
                                </p:cTn>
                              </p:par>
                              <p:par>
                                <p:cTn fill="hold" nodeType="withEffect" presetClass="entr" presetID="10" presetSubtype="0">
                                  <p:stCondLst>
                                    <p:cond delay="0"/>
                                  </p:stCondLst>
                                  <p:childTnLst>
                                    <p:set>
                                      <p:cBhvr>
                                        <p:cTn dur="1" fill="hold">
                                          <p:stCondLst>
                                            <p:cond delay="0"/>
                                          </p:stCondLst>
                                        </p:cTn>
                                        <p:tgtEl>
                                          <p:spTgt spid="1958"/>
                                        </p:tgtEl>
                                        <p:attrNameLst>
                                          <p:attrName>style.visibility</p:attrName>
                                        </p:attrNameLst>
                                      </p:cBhvr>
                                      <p:to>
                                        <p:strVal val="visible"/>
                                      </p:to>
                                    </p:set>
                                    <p:animEffect filter="fade" transition="in">
                                      <p:cBhvr>
                                        <p:cTn dur="500"/>
                                        <p:tgtEl>
                                          <p:spTgt spid="1958"/>
                                        </p:tgtEl>
                                      </p:cBhvr>
                                    </p:animEffect>
                                  </p:childTnLst>
                                </p:cTn>
                              </p:par>
                              <p:par>
                                <p:cTn fill="hold" nodeType="with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500"/>
                                        <p:tgtEl>
                                          <p:spTgt spid="1959"/>
                                        </p:tgtEl>
                                      </p:cBhvr>
                                    </p:animEffect>
                                  </p:childTnLst>
                                </p:cTn>
                              </p:par>
                              <p:par>
                                <p:cTn fill="hold" nodeType="withEffect" presetClass="entr" presetID="10" presetSubtype="0">
                                  <p:stCondLst>
                                    <p:cond delay="0"/>
                                  </p:stCondLst>
                                  <p:childTnLst>
                                    <p:set>
                                      <p:cBhvr>
                                        <p:cTn dur="1" fill="hold">
                                          <p:stCondLst>
                                            <p:cond delay="0"/>
                                          </p:stCondLst>
                                        </p:cTn>
                                        <p:tgtEl>
                                          <p:spTgt spid="1960"/>
                                        </p:tgtEl>
                                        <p:attrNameLst>
                                          <p:attrName>style.visibility</p:attrName>
                                        </p:attrNameLst>
                                      </p:cBhvr>
                                      <p:to>
                                        <p:strVal val="visible"/>
                                      </p:to>
                                    </p:set>
                                    <p:animEffect filter="fade" transition="in">
                                      <p:cBhvr>
                                        <p:cTn dur="500"/>
                                        <p:tgtEl>
                                          <p:spTgt spid="1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53"/>
                                        </p:tgtEl>
                                      </p:cBhvr>
                                    </p:animEffect>
                                    <p:set>
                                      <p:cBhvr>
                                        <p:cTn dur="1" fill="hold">
                                          <p:stCondLst>
                                            <p:cond delay="500"/>
                                          </p:stCondLst>
                                        </p:cTn>
                                        <p:tgtEl>
                                          <p:spTgt spid="19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4"/>
                                        </p:tgtEl>
                                      </p:cBhvr>
                                    </p:animEffect>
                                    <p:set>
                                      <p:cBhvr>
                                        <p:cTn dur="1" fill="hold">
                                          <p:stCondLst>
                                            <p:cond delay="500"/>
                                          </p:stCondLst>
                                        </p:cTn>
                                        <p:tgtEl>
                                          <p:spTgt spid="19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5"/>
                                        </p:tgtEl>
                                      </p:cBhvr>
                                    </p:animEffect>
                                    <p:set>
                                      <p:cBhvr>
                                        <p:cTn dur="1" fill="hold">
                                          <p:stCondLst>
                                            <p:cond delay="500"/>
                                          </p:stCondLst>
                                        </p:cTn>
                                        <p:tgtEl>
                                          <p:spTgt spid="19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6"/>
                                        </p:tgtEl>
                                      </p:cBhvr>
                                    </p:animEffect>
                                    <p:set>
                                      <p:cBhvr>
                                        <p:cTn dur="1" fill="hold">
                                          <p:stCondLst>
                                            <p:cond delay="500"/>
                                          </p:stCondLst>
                                        </p:cTn>
                                        <p:tgtEl>
                                          <p:spTgt spid="19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7"/>
                                        </p:tgtEl>
                                      </p:cBhvr>
                                    </p:animEffect>
                                    <p:set>
                                      <p:cBhvr>
                                        <p:cTn dur="1" fill="hold">
                                          <p:stCondLst>
                                            <p:cond delay="500"/>
                                          </p:stCondLst>
                                        </p:cTn>
                                        <p:tgtEl>
                                          <p:spTgt spid="19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8"/>
                                        </p:tgtEl>
                                      </p:cBhvr>
                                    </p:animEffect>
                                    <p:set>
                                      <p:cBhvr>
                                        <p:cTn dur="1" fill="hold">
                                          <p:stCondLst>
                                            <p:cond delay="500"/>
                                          </p:stCondLst>
                                        </p:cTn>
                                        <p:tgtEl>
                                          <p:spTgt spid="19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9"/>
                                        </p:tgtEl>
                                      </p:cBhvr>
                                    </p:animEffect>
                                    <p:set>
                                      <p:cBhvr>
                                        <p:cTn dur="1" fill="hold">
                                          <p:stCondLst>
                                            <p:cond delay="500"/>
                                          </p:stCondLst>
                                        </p:cTn>
                                        <p:tgtEl>
                                          <p:spTgt spid="19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60"/>
                                        </p:tgtEl>
                                      </p:cBhvr>
                                    </p:animEffect>
                                    <p:set>
                                      <p:cBhvr>
                                        <p:cTn dur="1" fill="hold">
                                          <p:stCondLst>
                                            <p:cond delay="500"/>
                                          </p:stCondLst>
                                        </p:cTn>
                                        <p:tgtEl>
                                          <p:spTgt spid="19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500"/>
                                        <p:tgtEl>
                                          <p:spTgt spid="1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par>
                                <p:cTn fill="hold" nodeType="with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500"/>
                                        <p:tgtEl>
                                          <p:spTgt spid="1962"/>
                                        </p:tgtEl>
                                      </p:cBhvr>
                                    </p:animEffect>
                                  </p:childTnLst>
                                </p:cTn>
                              </p:par>
                              <p:par>
                                <p:cTn fill="hold" nodeType="withEffect" presetClass="entr" presetID="10" presetSubtype="0">
                                  <p:stCondLst>
                                    <p:cond delay="0"/>
                                  </p:stCondLst>
                                  <p:childTnLst>
                                    <p:set>
                                      <p:cBhvr>
                                        <p:cTn dur="1" fill="hold">
                                          <p:stCondLst>
                                            <p:cond delay="0"/>
                                          </p:stCondLst>
                                        </p:cTn>
                                        <p:tgtEl>
                                          <p:spTgt spid="1963"/>
                                        </p:tgtEl>
                                        <p:attrNameLst>
                                          <p:attrName>style.visibility</p:attrName>
                                        </p:attrNameLst>
                                      </p:cBhvr>
                                      <p:to>
                                        <p:strVal val="visible"/>
                                      </p:to>
                                    </p:set>
                                    <p:animEffect filter="fade" transition="in">
                                      <p:cBhvr>
                                        <p:cTn dur="500"/>
                                        <p:tgtEl>
                                          <p:spTgt spid="1963"/>
                                        </p:tgtEl>
                                      </p:cBhvr>
                                    </p:animEffect>
                                  </p:childTnLst>
                                </p:cTn>
                              </p:par>
                              <p:par>
                                <p:cTn fill="hold" nodeType="withEffect" presetClass="entr" presetID="10" presetSubtype="0">
                                  <p:stCondLst>
                                    <p:cond delay="0"/>
                                  </p:stCondLst>
                                  <p:childTnLst>
                                    <p:set>
                                      <p:cBhvr>
                                        <p:cTn dur="1" fill="hold">
                                          <p:stCondLst>
                                            <p:cond delay="0"/>
                                          </p:stCondLst>
                                        </p:cTn>
                                        <p:tgtEl>
                                          <p:spTgt spid="1964"/>
                                        </p:tgtEl>
                                        <p:attrNameLst>
                                          <p:attrName>style.visibility</p:attrName>
                                        </p:attrNameLst>
                                      </p:cBhvr>
                                      <p:to>
                                        <p:strVal val="visible"/>
                                      </p:to>
                                    </p:set>
                                    <p:animEffect filter="fade" transition="in">
                                      <p:cBhvr>
                                        <p:cTn dur="500"/>
                                        <p:tgtEl>
                                          <p:spTgt spid="1964"/>
                                        </p:tgtEl>
                                      </p:cBhvr>
                                    </p:animEffect>
                                  </p:childTnLst>
                                </p:cTn>
                              </p:par>
                              <p:par>
                                <p:cTn fill="hold" nodeType="withEffect" presetClass="entr" presetID="10" presetSubtype="0">
                                  <p:stCondLst>
                                    <p:cond delay="0"/>
                                  </p:stCondLst>
                                  <p:childTnLst>
                                    <p:set>
                                      <p:cBhvr>
                                        <p:cTn dur="1" fill="hold">
                                          <p:stCondLst>
                                            <p:cond delay="0"/>
                                          </p:stCondLst>
                                        </p:cTn>
                                        <p:tgtEl>
                                          <p:spTgt spid="1965"/>
                                        </p:tgtEl>
                                        <p:attrNameLst>
                                          <p:attrName>style.visibility</p:attrName>
                                        </p:attrNameLst>
                                      </p:cBhvr>
                                      <p:to>
                                        <p:strVal val="visible"/>
                                      </p:to>
                                    </p:set>
                                    <p:animEffect filter="fade" transition="in">
                                      <p:cBhvr>
                                        <p:cTn dur="500"/>
                                        <p:tgtEl>
                                          <p:spTgt spid="1965"/>
                                        </p:tgtEl>
                                      </p:cBhvr>
                                    </p:animEffect>
                                  </p:childTnLst>
                                </p:cTn>
                              </p:par>
                              <p:par>
                                <p:cTn fill="hold" nodeType="withEffect" presetClass="entr" presetID="10" presetSubtype="0">
                                  <p:stCondLst>
                                    <p:cond delay="0"/>
                                  </p:stCondLst>
                                  <p:childTnLst>
                                    <p:set>
                                      <p:cBhvr>
                                        <p:cTn dur="1" fill="hold">
                                          <p:stCondLst>
                                            <p:cond delay="0"/>
                                          </p:stCondLst>
                                        </p:cTn>
                                        <p:tgtEl>
                                          <p:spTgt spid="1966"/>
                                        </p:tgtEl>
                                        <p:attrNameLst>
                                          <p:attrName>style.visibility</p:attrName>
                                        </p:attrNameLst>
                                      </p:cBhvr>
                                      <p:to>
                                        <p:strVal val="visible"/>
                                      </p:to>
                                    </p:set>
                                    <p:animEffect filter="fade" transition="in">
                                      <p:cBhvr>
                                        <p:cTn dur="500"/>
                                        <p:tgtEl>
                                          <p:spTgt spid="1966"/>
                                        </p:tgtEl>
                                      </p:cBhvr>
                                    </p:animEffect>
                                  </p:childTnLst>
                                </p:cTn>
                              </p:par>
                              <p:par>
                                <p:cTn fill="hold" nodeType="withEffect" presetClass="entr" presetID="10" presetSubtype="0">
                                  <p:stCondLst>
                                    <p:cond delay="0"/>
                                  </p:stCondLst>
                                  <p:childTnLst>
                                    <p:set>
                                      <p:cBhvr>
                                        <p:cTn dur="1" fill="hold">
                                          <p:stCondLst>
                                            <p:cond delay="0"/>
                                          </p:stCondLst>
                                        </p:cTn>
                                        <p:tgtEl>
                                          <p:spTgt spid="1967"/>
                                        </p:tgtEl>
                                        <p:attrNameLst>
                                          <p:attrName>style.visibility</p:attrName>
                                        </p:attrNameLst>
                                      </p:cBhvr>
                                      <p:to>
                                        <p:strVal val="visible"/>
                                      </p:to>
                                    </p:set>
                                    <p:animEffect filter="fade" transition="in">
                                      <p:cBhvr>
                                        <p:cTn dur="500"/>
                                        <p:tgtEl>
                                          <p:spTgt spid="1967"/>
                                        </p:tgtEl>
                                      </p:cBhvr>
                                    </p:animEffect>
                                  </p:childTnLst>
                                </p:cTn>
                              </p:par>
                              <p:par>
                                <p:cTn fill="hold" nodeType="withEffect" presetClass="entr" presetID="10" presetSubtype="0">
                                  <p:stCondLst>
                                    <p:cond delay="0"/>
                                  </p:stCondLst>
                                  <p:childTnLst>
                                    <p:set>
                                      <p:cBhvr>
                                        <p:cTn dur="1" fill="hold">
                                          <p:stCondLst>
                                            <p:cond delay="0"/>
                                          </p:stCondLst>
                                        </p:cTn>
                                        <p:tgtEl>
                                          <p:spTgt spid="1968"/>
                                        </p:tgtEl>
                                        <p:attrNameLst>
                                          <p:attrName>style.visibility</p:attrName>
                                        </p:attrNameLst>
                                      </p:cBhvr>
                                      <p:to>
                                        <p:strVal val="visible"/>
                                      </p:to>
                                    </p:set>
                                    <p:animEffect filter="fade" transition="in">
                                      <p:cBhvr>
                                        <p:cTn dur="500"/>
                                        <p:tgtEl>
                                          <p:spTgt spid="19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9"/>
                                        </p:tgtEl>
                                        <p:attrNameLst>
                                          <p:attrName>style.visibility</p:attrName>
                                        </p:attrNameLst>
                                      </p:cBhvr>
                                      <p:to>
                                        <p:strVal val="visible"/>
                                      </p:to>
                                    </p:set>
                                    <p:animEffect filter="fade" transition="in">
                                      <p:cBhvr>
                                        <p:cTn dur="500"/>
                                        <p:tgtEl>
                                          <p:spTgt spid="1969"/>
                                        </p:tgtEl>
                                      </p:cBhvr>
                                    </p:animEffect>
                                  </p:childTnLst>
                                </p:cTn>
                              </p:par>
                              <p:par>
                                <p:cTn fill="hold" nodeType="withEffect" presetClass="entr" presetID="10" presetSubtype="0">
                                  <p:stCondLst>
                                    <p:cond delay="0"/>
                                  </p:stCondLst>
                                  <p:childTnLst>
                                    <p:set>
                                      <p:cBhvr>
                                        <p:cTn dur="1" fill="hold">
                                          <p:stCondLst>
                                            <p:cond delay="0"/>
                                          </p:stCondLst>
                                        </p:cTn>
                                        <p:tgtEl>
                                          <p:spTgt spid="1970"/>
                                        </p:tgtEl>
                                        <p:attrNameLst>
                                          <p:attrName>style.visibility</p:attrName>
                                        </p:attrNameLst>
                                      </p:cBhvr>
                                      <p:to>
                                        <p:strVal val="visible"/>
                                      </p:to>
                                    </p:set>
                                    <p:animEffect filter="fade" transition="in">
                                      <p:cBhvr>
                                        <p:cTn dur="500"/>
                                        <p:tgtEl>
                                          <p:spTgt spid="1970"/>
                                        </p:tgtEl>
                                      </p:cBhvr>
                                    </p:animEffect>
                                  </p:childTnLst>
                                </p:cTn>
                              </p:par>
                              <p:par>
                                <p:cTn fill="hold" nodeType="withEffect" presetClass="entr" presetID="10" presetSubtype="0">
                                  <p:stCondLst>
                                    <p:cond delay="0"/>
                                  </p:stCondLst>
                                  <p:childTnLst>
                                    <p:set>
                                      <p:cBhvr>
                                        <p:cTn dur="1" fill="hold">
                                          <p:stCondLst>
                                            <p:cond delay="0"/>
                                          </p:stCondLst>
                                        </p:cTn>
                                        <p:tgtEl>
                                          <p:spTgt spid="1971"/>
                                        </p:tgtEl>
                                        <p:attrNameLst>
                                          <p:attrName>style.visibility</p:attrName>
                                        </p:attrNameLst>
                                      </p:cBhvr>
                                      <p:to>
                                        <p:strVal val="visible"/>
                                      </p:to>
                                    </p:set>
                                    <p:animEffect filter="fade" transition="in">
                                      <p:cBhvr>
                                        <p:cTn dur="500"/>
                                        <p:tgtEl>
                                          <p:spTgt spid="1971"/>
                                        </p:tgtEl>
                                      </p:cBhvr>
                                    </p:animEffect>
                                  </p:childTnLst>
                                </p:cTn>
                              </p:par>
                              <p:par>
                                <p:cTn fill="hold" nodeType="withEffect" presetClass="entr" presetID="10" presetSubtype="0">
                                  <p:stCondLst>
                                    <p:cond delay="0"/>
                                  </p:stCondLst>
                                  <p:childTnLst>
                                    <p:set>
                                      <p:cBhvr>
                                        <p:cTn dur="1" fill="hold">
                                          <p:stCondLst>
                                            <p:cond delay="0"/>
                                          </p:stCondLst>
                                        </p:cTn>
                                        <p:tgtEl>
                                          <p:spTgt spid="1972"/>
                                        </p:tgtEl>
                                        <p:attrNameLst>
                                          <p:attrName>style.visibility</p:attrName>
                                        </p:attrNameLst>
                                      </p:cBhvr>
                                      <p:to>
                                        <p:strVal val="visible"/>
                                      </p:to>
                                    </p:set>
                                    <p:animEffect filter="fade" transition="in">
                                      <p:cBhvr>
                                        <p:cTn dur="500"/>
                                        <p:tgtEl>
                                          <p:spTgt spid="1972"/>
                                        </p:tgtEl>
                                      </p:cBhvr>
                                    </p:animEffect>
                                  </p:childTnLst>
                                </p:cTn>
                              </p:par>
                              <p:par>
                                <p:cTn fill="hold" nodeType="with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500"/>
                                        <p:tgtEl>
                                          <p:spTgt spid="1973"/>
                                        </p:tgtEl>
                                      </p:cBhvr>
                                    </p:animEffect>
                                  </p:childTnLst>
                                </p:cTn>
                              </p:par>
                              <p:par>
                                <p:cTn fill="hold" nodeType="withEffect" presetClass="entr" presetID="10" presetSubtype="0">
                                  <p:stCondLst>
                                    <p:cond delay="0"/>
                                  </p:stCondLst>
                                  <p:childTnLst>
                                    <p:set>
                                      <p:cBhvr>
                                        <p:cTn dur="1" fill="hold">
                                          <p:stCondLst>
                                            <p:cond delay="0"/>
                                          </p:stCondLst>
                                        </p:cTn>
                                        <p:tgtEl>
                                          <p:spTgt spid="1974"/>
                                        </p:tgtEl>
                                        <p:attrNameLst>
                                          <p:attrName>style.visibility</p:attrName>
                                        </p:attrNameLst>
                                      </p:cBhvr>
                                      <p:to>
                                        <p:strVal val="visible"/>
                                      </p:to>
                                    </p:set>
                                    <p:animEffect filter="fade" transition="in">
                                      <p:cBhvr>
                                        <p:cTn dur="500"/>
                                        <p:tgtEl>
                                          <p:spTgt spid="1974"/>
                                        </p:tgtEl>
                                      </p:cBhvr>
                                    </p:animEffect>
                                  </p:childTnLst>
                                </p:cTn>
                              </p:par>
                              <p:par>
                                <p:cTn fill="hold" nodeType="with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par>
                                <p:cTn fill="hold" nodeType="with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7"/>
                                        </p:tgtEl>
                                        <p:attrNameLst>
                                          <p:attrName>style.visibility</p:attrName>
                                        </p:attrNameLst>
                                      </p:cBhvr>
                                      <p:to>
                                        <p:strVal val="visible"/>
                                      </p:to>
                                    </p:set>
                                    <p:animEffect filter="fade" transition="in">
                                      <p:cBhvr>
                                        <p:cTn dur="500"/>
                                        <p:tgtEl>
                                          <p:spTgt spid="19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8"/>
                                        </p:tgtEl>
                                        <p:attrNameLst>
                                          <p:attrName>style.visibility</p:attrName>
                                        </p:attrNameLst>
                                      </p:cBhvr>
                                      <p:to>
                                        <p:strVal val="visible"/>
                                      </p:to>
                                    </p:set>
                                    <p:animEffect filter="fade" transition="in">
                                      <p:cBhvr>
                                        <p:cTn dur="500"/>
                                        <p:tgtEl>
                                          <p:spTgt spid="19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500"/>
                                        <p:tgtEl>
                                          <p:spTgt spid="1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4" name="Shape 1984"/>
        <p:cNvGrpSpPr/>
        <p:nvPr/>
      </p:nvGrpSpPr>
      <p:grpSpPr>
        <a:xfrm>
          <a:off x="0" y="0"/>
          <a:ext cx="0" cy="0"/>
          <a:chOff x="0" y="0"/>
          <a:chExt cx="0" cy="0"/>
        </a:xfrm>
      </p:grpSpPr>
      <p:sp>
        <p:nvSpPr>
          <p:cNvPr id="1985" name="Google Shape;1985;p7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GEMM Tiling</a:t>
            </a:r>
            <a:endParaRPr/>
          </a:p>
        </p:txBody>
      </p:sp>
      <p:sp>
        <p:nvSpPr>
          <p:cNvPr id="1986" name="Google Shape;1986;p78"/>
          <p:cNvSpPr txBox="1"/>
          <p:nvPr>
            <p:ph idx="1" type="body"/>
          </p:nvPr>
        </p:nvSpPr>
        <p:spPr>
          <a:xfrm>
            <a:off x="378068" y="1195861"/>
            <a:ext cx="7886700" cy="3263400"/>
          </a:xfrm>
          <a:prstGeom prst="rect">
            <a:avLst/>
          </a:prstGeom>
          <a:blipFill rotWithShape="1">
            <a:blip r:embed="rId3">
              <a:alphaModFix/>
            </a:blip>
            <a:stretch>
              <a:fillRect b="0" l="-960" r="0" t="-3200"/>
            </a:stretch>
          </a:blip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None/>
            </a:pPr>
            <a:r>
              <a:rPr lang="en"/>
              <a:t> </a:t>
            </a:r>
            <a:endParaRPr/>
          </a:p>
        </p:txBody>
      </p:sp>
      <p:grpSp>
        <p:nvGrpSpPr>
          <p:cNvPr id="1987" name="Google Shape;1987;p78"/>
          <p:cNvGrpSpPr/>
          <p:nvPr/>
        </p:nvGrpSpPr>
        <p:grpSpPr>
          <a:xfrm>
            <a:off x="4890052" y="770929"/>
            <a:ext cx="3577455" cy="3294264"/>
            <a:chOff x="6520070" y="1027906"/>
            <a:chExt cx="4769940" cy="4392352"/>
          </a:xfrm>
        </p:grpSpPr>
        <p:grpSp>
          <p:nvGrpSpPr>
            <p:cNvPr id="1988" name="Google Shape;1988;p78"/>
            <p:cNvGrpSpPr/>
            <p:nvPr/>
          </p:nvGrpSpPr>
          <p:grpSpPr>
            <a:xfrm>
              <a:off x="6988312" y="1351722"/>
              <a:ext cx="4301698" cy="4068536"/>
              <a:chOff x="1859721" y="43416"/>
              <a:chExt cx="6698490" cy="6335416"/>
            </a:xfrm>
          </p:grpSpPr>
          <p:grpSp>
            <p:nvGrpSpPr>
              <p:cNvPr id="1989" name="Google Shape;1989;p78"/>
              <p:cNvGrpSpPr/>
              <p:nvPr/>
            </p:nvGrpSpPr>
            <p:grpSpPr>
              <a:xfrm>
                <a:off x="1942213" y="3429000"/>
                <a:ext cx="2949827" cy="2941936"/>
                <a:chOff x="1325943" y="3095303"/>
                <a:chExt cx="3559747" cy="3550224"/>
              </a:xfrm>
            </p:grpSpPr>
            <p:sp>
              <p:nvSpPr>
                <p:cNvPr id="1990" name="Google Shape;1990;p78"/>
                <p:cNvSpPr/>
                <p:nvPr/>
              </p:nvSpPr>
              <p:spPr>
                <a:xfrm>
                  <a:off x="132594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1991" name="Google Shape;1991;p78"/>
                <p:cNvSpPr/>
                <p:nvPr/>
              </p:nvSpPr>
              <p:spPr>
                <a:xfrm>
                  <a:off x="1770911"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1992" name="Google Shape;1992;p78"/>
                <p:cNvSpPr/>
                <p:nvPr/>
              </p:nvSpPr>
              <p:spPr>
                <a:xfrm>
                  <a:off x="2215880"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1993" name="Google Shape;1993;p78"/>
                <p:cNvSpPr/>
                <p:nvPr/>
              </p:nvSpPr>
              <p:spPr>
                <a:xfrm>
                  <a:off x="2660848"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1994" name="Google Shape;1994;p78"/>
                <p:cNvSpPr/>
                <p:nvPr/>
              </p:nvSpPr>
              <p:spPr>
                <a:xfrm>
                  <a:off x="3105817"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1995" name="Google Shape;1995;p78"/>
                <p:cNvSpPr/>
                <p:nvPr/>
              </p:nvSpPr>
              <p:spPr>
                <a:xfrm>
                  <a:off x="3550785"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1996" name="Google Shape;1996;p78"/>
                <p:cNvSpPr/>
                <p:nvPr/>
              </p:nvSpPr>
              <p:spPr>
                <a:xfrm>
                  <a:off x="399575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1997" name="Google Shape;1997;p78"/>
                <p:cNvSpPr/>
                <p:nvPr/>
              </p:nvSpPr>
              <p:spPr>
                <a:xfrm>
                  <a:off x="4440722"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1998" name="Google Shape;1998;p78"/>
                <p:cNvSpPr/>
                <p:nvPr/>
              </p:nvSpPr>
              <p:spPr>
                <a:xfrm>
                  <a:off x="132594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1999" name="Google Shape;1999;p78"/>
                <p:cNvSpPr/>
                <p:nvPr/>
              </p:nvSpPr>
              <p:spPr>
                <a:xfrm>
                  <a:off x="1770911"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2000" name="Google Shape;2000;p78"/>
                <p:cNvSpPr/>
                <p:nvPr/>
              </p:nvSpPr>
              <p:spPr>
                <a:xfrm>
                  <a:off x="2215880"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2001" name="Google Shape;2001;p78"/>
                <p:cNvSpPr/>
                <p:nvPr/>
              </p:nvSpPr>
              <p:spPr>
                <a:xfrm>
                  <a:off x="2660848"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2002" name="Google Shape;2002;p78"/>
                <p:cNvSpPr/>
                <p:nvPr/>
              </p:nvSpPr>
              <p:spPr>
                <a:xfrm>
                  <a:off x="132594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2003" name="Google Shape;2003;p78"/>
                <p:cNvSpPr/>
                <p:nvPr/>
              </p:nvSpPr>
              <p:spPr>
                <a:xfrm>
                  <a:off x="1770911"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2004" name="Google Shape;2004;p78"/>
                <p:cNvSpPr/>
                <p:nvPr/>
              </p:nvSpPr>
              <p:spPr>
                <a:xfrm>
                  <a:off x="2215880"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2005" name="Google Shape;2005;p78"/>
                <p:cNvSpPr/>
                <p:nvPr/>
              </p:nvSpPr>
              <p:spPr>
                <a:xfrm>
                  <a:off x="2660848"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2006" name="Google Shape;2006;p78"/>
                <p:cNvSpPr/>
                <p:nvPr/>
              </p:nvSpPr>
              <p:spPr>
                <a:xfrm>
                  <a:off x="3105817"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2007" name="Google Shape;2007;p78"/>
                <p:cNvSpPr/>
                <p:nvPr/>
              </p:nvSpPr>
              <p:spPr>
                <a:xfrm>
                  <a:off x="3550785"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2008" name="Google Shape;2008;p78"/>
                <p:cNvSpPr/>
                <p:nvPr/>
              </p:nvSpPr>
              <p:spPr>
                <a:xfrm>
                  <a:off x="3995753"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2009" name="Google Shape;2009;p78"/>
                <p:cNvSpPr/>
                <p:nvPr/>
              </p:nvSpPr>
              <p:spPr>
                <a:xfrm>
                  <a:off x="4440722" y="3095303"/>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2010" name="Google Shape;2010;p78"/>
                <p:cNvSpPr/>
                <p:nvPr/>
              </p:nvSpPr>
              <p:spPr>
                <a:xfrm>
                  <a:off x="1325943"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2011" name="Google Shape;2011;p78"/>
                <p:cNvSpPr/>
                <p:nvPr/>
              </p:nvSpPr>
              <p:spPr>
                <a:xfrm>
                  <a:off x="1770911"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2012" name="Google Shape;2012;p78"/>
                <p:cNvSpPr/>
                <p:nvPr/>
              </p:nvSpPr>
              <p:spPr>
                <a:xfrm>
                  <a:off x="2215880"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2013" name="Google Shape;2013;p78"/>
                <p:cNvSpPr/>
                <p:nvPr/>
              </p:nvSpPr>
              <p:spPr>
                <a:xfrm>
                  <a:off x="2660848" y="3540272"/>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2014" name="Google Shape;2014;p78"/>
                <p:cNvSpPr/>
                <p:nvPr/>
              </p:nvSpPr>
              <p:spPr>
                <a:xfrm>
                  <a:off x="3105817"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2015" name="Google Shape;2015;p78"/>
                <p:cNvSpPr/>
                <p:nvPr/>
              </p:nvSpPr>
              <p:spPr>
                <a:xfrm>
                  <a:off x="3550785"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2016" name="Google Shape;2016;p78"/>
                <p:cNvSpPr/>
                <p:nvPr/>
              </p:nvSpPr>
              <p:spPr>
                <a:xfrm>
                  <a:off x="3995753"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2017" name="Google Shape;2017;p78"/>
                <p:cNvSpPr/>
                <p:nvPr/>
              </p:nvSpPr>
              <p:spPr>
                <a:xfrm>
                  <a:off x="4440722" y="3985240"/>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2018" name="Google Shape;2018;p78"/>
                <p:cNvSpPr/>
                <p:nvPr/>
              </p:nvSpPr>
              <p:spPr>
                <a:xfrm>
                  <a:off x="3105817"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2019" name="Google Shape;2019;p78"/>
                <p:cNvSpPr/>
                <p:nvPr/>
              </p:nvSpPr>
              <p:spPr>
                <a:xfrm>
                  <a:off x="3550785"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2020" name="Google Shape;2020;p78"/>
                <p:cNvSpPr/>
                <p:nvPr/>
              </p:nvSpPr>
              <p:spPr>
                <a:xfrm>
                  <a:off x="3995753"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2021" name="Google Shape;2021;p78"/>
                <p:cNvSpPr/>
                <p:nvPr/>
              </p:nvSpPr>
              <p:spPr>
                <a:xfrm>
                  <a:off x="4440722" y="4430209"/>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2022" name="Google Shape;2022;p78"/>
                <p:cNvSpPr/>
                <p:nvPr/>
              </p:nvSpPr>
              <p:spPr>
                <a:xfrm>
                  <a:off x="132594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2023" name="Google Shape;2023;p78"/>
                <p:cNvSpPr/>
                <p:nvPr/>
              </p:nvSpPr>
              <p:spPr>
                <a:xfrm>
                  <a:off x="1770911"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2024" name="Google Shape;2024;p78"/>
                <p:cNvSpPr/>
                <p:nvPr/>
              </p:nvSpPr>
              <p:spPr>
                <a:xfrm>
                  <a:off x="2215880"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2025" name="Google Shape;2025;p78"/>
                <p:cNvSpPr/>
                <p:nvPr/>
              </p:nvSpPr>
              <p:spPr>
                <a:xfrm>
                  <a:off x="2660848"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2026" name="Google Shape;2026;p78"/>
                <p:cNvSpPr/>
                <p:nvPr/>
              </p:nvSpPr>
              <p:spPr>
                <a:xfrm>
                  <a:off x="3105817"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2027" name="Google Shape;2027;p78"/>
                <p:cNvSpPr/>
                <p:nvPr/>
              </p:nvSpPr>
              <p:spPr>
                <a:xfrm>
                  <a:off x="3550785"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2028" name="Google Shape;2028;p78"/>
                <p:cNvSpPr/>
                <p:nvPr/>
              </p:nvSpPr>
              <p:spPr>
                <a:xfrm>
                  <a:off x="399575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2029" name="Google Shape;2029;p78"/>
                <p:cNvSpPr/>
                <p:nvPr/>
              </p:nvSpPr>
              <p:spPr>
                <a:xfrm>
                  <a:off x="4440722"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2030" name="Google Shape;2030;p78"/>
                <p:cNvSpPr/>
                <p:nvPr/>
              </p:nvSpPr>
              <p:spPr>
                <a:xfrm>
                  <a:off x="132594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2031" name="Google Shape;2031;p78"/>
                <p:cNvSpPr/>
                <p:nvPr/>
              </p:nvSpPr>
              <p:spPr>
                <a:xfrm>
                  <a:off x="1770911"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2032" name="Google Shape;2032;p78"/>
                <p:cNvSpPr/>
                <p:nvPr/>
              </p:nvSpPr>
              <p:spPr>
                <a:xfrm>
                  <a:off x="2215880"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2033" name="Google Shape;2033;p78"/>
                <p:cNvSpPr/>
                <p:nvPr/>
              </p:nvSpPr>
              <p:spPr>
                <a:xfrm>
                  <a:off x="2660848"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2034" name="Google Shape;2034;p78"/>
                <p:cNvSpPr/>
                <p:nvPr/>
              </p:nvSpPr>
              <p:spPr>
                <a:xfrm>
                  <a:off x="132594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2035" name="Google Shape;2035;p78"/>
                <p:cNvSpPr/>
                <p:nvPr/>
              </p:nvSpPr>
              <p:spPr>
                <a:xfrm>
                  <a:off x="1770911"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2036" name="Google Shape;2036;p78"/>
                <p:cNvSpPr/>
                <p:nvPr/>
              </p:nvSpPr>
              <p:spPr>
                <a:xfrm>
                  <a:off x="2215880"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2037" name="Google Shape;2037;p78"/>
                <p:cNvSpPr/>
                <p:nvPr/>
              </p:nvSpPr>
              <p:spPr>
                <a:xfrm>
                  <a:off x="2660848"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2038" name="Google Shape;2038;p78"/>
                <p:cNvSpPr/>
                <p:nvPr/>
              </p:nvSpPr>
              <p:spPr>
                <a:xfrm>
                  <a:off x="3105817"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2039" name="Google Shape;2039;p78"/>
                <p:cNvSpPr/>
                <p:nvPr/>
              </p:nvSpPr>
              <p:spPr>
                <a:xfrm>
                  <a:off x="3550785"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2040" name="Google Shape;2040;p78"/>
                <p:cNvSpPr/>
                <p:nvPr/>
              </p:nvSpPr>
              <p:spPr>
                <a:xfrm>
                  <a:off x="3995753"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2041" name="Google Shape;2041;p78"/>
                <p:cNvSpPr/>
                <p:nvPr/>
              </p:nvSpPr>
              <p:spPr>
                <a:xfrm>
                  <a:off x="4440722" y="4865652"/>
                  <a:ext cx="444968" cy="44496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2042" name="Google Shape;2042;p78"/>
                <p:cNvSpPr/>
                <p:nvPr/>
              </p:nvSpPr>
              <p:spPr>
                <a:xfrm>
                  <a:off x="1325943"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2043" name="Google Shape;2043;p78"/>
                <p:cNvSpPr/>
                <p:nvPr/>
              </p:nvSpPr>
              <p:spPr>
                <a:xfrm>
                  <a:off x="1770911"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2044" name="Google Shape;2044;p78"/>
                <p:cNvSpPr/>
                <p:nvPr/>
              </p:nvSpPr>
              <p:spPr>
                <a:xfrm>
                  <a:off x="2215880"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2045" name="Google Shape;2045;p78"/>
                <p:cNvSpPr/>
                <p:nvPr/>
              </p:nvSpPr>
              <p:spPr>
                <a:xfrm>
                  <a:off x="2660848" y="5310621"/>
                  <a:ext cx="444968" cy="44496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2046" name="Google Shape;2046;p78"/>
                <p:cNvSpPr/>
                <p:nvPr/>
              </p:nvSpPr>
              <p:spPr>
                <a:xfrm>
                  <a:off x="3105817"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2047" name="Google Shape;2047;p78"/>
                <p:cNvSpPr/>
                <p:nvPr/>
              </p:nvSpPr>
              <p:spPr>
                <a:xfrm>
                  <a:off x="3550785"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2048" name="Google Shape;2048;p78"/>
                <p:cNvSpPr/>
                <p:nvPr/>
              </p:nvSpPr>
              <p:spPr>
                <a:xfrm>
                  <a:off x="3995753"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2049" name="Google Shape;2049;p78"/>
                <p:cNvSpPr/>
                <p:nvPr/>
              </p:nvSpPr>
              <p:spPr>
                <a:xfrm>
                  <a:off x="4440722" y="5755589"/>
                  <a:ext cx="444968" cy="44496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2050" name="Google Shape;2050;p78"/>
                <p:cNvSpPr/>
                <p:nvPr/>
              </p:nvSpPr>
              <p:spPr>
                <a:xfrm>
                  <a:off x="3105817"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2051" name="Google Shape;2051;p78"/>
                <p:cNvSpPr/>
                <p:nvPr/>
              </p:nvSpPr>
              <p:spPr>
                <a:xfrm>
                  <a:off x="3550785"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2052" name="Google Shape;2052;p78"/>
                <p:cNvSpPr/>
                <p:nvPr/>
              </p:nvSpPr>
              <p:spPr>
                <a:xfrm>
                  <a:off x="3995753"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2053" name="Google Shape;2053;p78"/>
                <p:cNvSpPr/>
                <p:nvPr/>
              </p:nvSpPr>
              <p:spPr>
                <a:xfrm>
                  <a:off x="4440722" y="6200558"/>
                  <a:ext cx="444968" cy="444969"/>
                </a:xfrm>
                <a:prstGeom prst="rect">
                  <a:avLst/>
                </a:prstGeom>
                <a:solidFill>
                  <a:srgbClr val="81E490"/>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2054" name="Google Shape;2054;p78"/>
              <p:cNvGrpSpPr/>
              <p:nvPr/>
            </p:nvGrpSpPr>
            <p:grpSpPr>
              <a:xfrm>
                <a:off x="5608384" y="114140"/>
                <a:ext cx="2949827" cy="2941936"/>
                <a:chOff x="5608384" y="114140"/>
                <a:chExt cx="2949827" cy="2941936"/>
              </a:xfrm>
            </p:grpSpPr>
            <p:sp>
              <p:nvSpPr>
                <p:cNvPr id="2055" name="Google Shape;2055;p78"/>
                <p:cNvSpPr/>
                <p:nvPr/>
              </p:nvSpPr>
              <p:spPr>
                <a:xfrm>
                  <a:off x="5608384"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0</a:t>
                  </a:r>
                  <a:endParaRPr b="1" sz="800">
                    <a:solidFill>
                      <a:schemeClr val="dk1"/>
                    </a:solidFill>
                    <a:latin typeface="Arial"/>
                    <a:ea typeface="Arial"/>
                    <a:cs typeface="Arial"/>
                    <a:sym typeface="Arial"/>
                  </a:endParaRPr>
                </a:p>
              </p:txBody>
            </p:sp>
            <p:sp>
              <p:nvSpPr>
                <p:cNvPr id="2056" name="Google Shape;2056;p78"/>
                <p:cNvSpPr/>
                <p:nvPr/>
              </p:nvSpPr>
              <p:spPr>
                <a:xfrm>
                  <a:off x="5977112"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a:t>
                  </a:r>
                  <a:endParaRPr b="1" sz="800">
                    <a:solidFill>
                      <a:schemeClr val="dk1"/>
                    </a:solidFill>
                    <a:latin typeface="Arial"/>
                    <a:ea typeface="Arial"/>
                    <a:cs typeface="Arial"/>
                    <a:sym typeface="Arial"/>
                  </a:endParaRPr>
                </a:p>
              </p:txBody>
            </p:sp>
            <p:sp>
              <p:nvSpPr>
                <p:cNvPr id="2057" name="Google Shape;2057;p78"/>
                <p:cNvSpPr/>
                <p:nvPr/>
              </p:nvSpPr>
              <p:spPr>
                <a:xfrm>
                  <a:off x="6345841"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a:t>
                  </a:r>
                  <a:endParaRPr b="1" sz="800">
                    <a:solidFill>
                      <a:schemeClr val="dk1"/>
                    </a:solidFill>
                    <a:latin typeface="Arial"/>
                    <a:ea typeface="Arial"/>
                    <a:cs typeface="Arial"/>
                    <a:sym typeface="Arial"/>
                  </a:endParaRPr>
                </a:p>
              </p:txBody>
            </p:sp>
            <p:sp>
              <p:nvSpPr>
                <p:cNvPr id="2058" name="Google Shape;2058;p78"/>
                <p:cNvSpPr/>
                <p:nvPr/>
              </p:nvSpPr>
              <p:spPr>
                <a:xfrm>
                  <a:off x="6714569"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a:t>
                  </a:r>
                  <a:endParaRPr b="1" sz="800">
                    <a:solidFill>
                      <a:schemeClr val="dk1"/>
                    </a:solidFill>
                    <a:latin typeface="Arial"/>
                    <a:ea typeface="Arial"/>
                    <a:cs typeface="Arial"/>
                    <a:sym typeface="Arial"/>
                  </a:endParaRPr>
                </a:p>
              </p:txBody>
            </p:sp>
            <p:sp>
              <p:nvSpPr>
                <p:cNvPr id="2059" name="Google Shape;2059;p78"/>
                <p:cNvSpPr/>
                <p:nvPr/>
              </p:nvSpPr>
              <p:spPr>
                <a:xfrm>
                  <a:off x="7083298"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12</a:t>
                  </a:r>
                  <a:endParaRPr b="1" sz="800">
                    <a:solidFill>
                      <a:schemeClr val="dk1"/>
                    </a:solidFill>
                    <a:latin typeface="Arial"/>
                    <a:ea typeface="Arial"/>
                    <a:cs typeface="Arial"/>
                    <a:sym typeface="Arial"/>
                  </a:endParaRPr>
                </a:p>
              </p:txBody>
            </p:sp>
            <p:sp>
              <p:nvSpPr>
                <p:cNvPr id="2060" name="Google Shape;2060;p78"/>
                <p:cNvSpPr/>
                <p:nvPr/>
              </p:nvSpPr>
              <p:spPr>
                <a:xfrm>
                  <a:off x="7452026"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13</a:t>
                  </a:r>
                  <a:endParaRPr b="1" sz="800">
                    <a:solidFill>
                      <a:schemeClr val="dk1"/>
                    </a:solidFill>
                    <a:latin typeface="Arial"/>
                    <a:ea typeface="Arial"/>
                    <a:cs typeface="Arial"/>
                    <a:sym typeface="Arial"/>
                  </a:endParaRPr>
                </a:p>
              </p:txBody>
            </p:sp>
            <p:sp>
              <p:nvSpPr>
                <p:cNvPr id="2061" name="Google Shape;2061;p78"/>
                <p:cNvSpPr/>
                <p:nvPr/>
              </p:nvSpPr>
              <p:spPr>
                <a:xfrm>
                  <a:off x="7820754"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14</a:t>
                  </a:r>
                  <a:endParaRPr b="1" sz="800">
                    <a:solidFill>
                      <a:schemeClr val="dk1"/>
                    </a:solidFill>
                    <a:latin typeface="Arial"/>
                    <a:ea typeface="Arial"/>
                    <a:cs typeface="Arial"/>
                    <a:sym typeface="Arial"/>
                  </a:endParaRPr>
                </a:p>
              </p:txBody>
            </p:sp>
            <p:sp>
              <p:nvSpPr>
                <p:cNvPr id="2062" name="Google Shape;2062;p78"/>
                <p:cNvSpPr/>
                <p:nvPr/>
              </p:nvSpPr>
              <p:spPr>
                <a:xfrm>
                  <a:off x="8189483"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15</a:t>
                  </a:r>
                  <a:endParaRPr b="1" sz="800">
                    <a:solidFill>
                      <a:schemeClr val="dk1"/>
                    </a:solidFill>
                    <a:latin typeface="Arial"/>
                    <a:ea typeface="Arial"/>
                    <a:cs typeface="Arial"/>
                    <a:sym typeface="Arial"/>
                  </a:endParaRPr>
                </a:p>
              </p:txBody>
            </p:sp>
            <p:sp>
              <p:nvSpPr>
                <p:cNvPr id="2063" name="Google Shape;2063;p78"/>
                <p:cNvSpPr/>
                <p:nvPr/>
              </p:nvSpPr>
              <p:spPr>
                <a:xfrm>
                  <a:off x="5608384"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16</a:t>
                  </a:r>
                  <a:endParaRPr b="1" sz="800">
                    <a:solidFill>
                      <a:schemeClr val="dk1"/>
                    </a:solidFill>
                    <a:latin typeface="Arial"/>
                    <a:ea typeface="Arial"/>
                    <a:cs typeface="Arial"/>
                    <a:sym typeface="Arial"/>
                  </a:endParaRPr>
                </a:p>
              </p:txBody>
            </p:sp>
            <p:sp>
              <p:nvSpPr>
                <p:cNvPr id="2064" name="Google Shape;2064;p78"/>
                <p:cNvSpPr/>
                <p:nvPr/>
              </p:nvSpPr>
              <p:spPr>
                <a:xfrm>
                  <a:off x="5977112"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17</a:t>
                  </a:r>
                  <a:endParaRPr b="1" sz="800">
                    <a:solidFill>
                      <a:schemeClr val="dk1"/>
                    </a:solidFill>
                    <a:latin typeface="Arial"/>
                    <a:ea typeface="Arial"/>
                    <a:cs typeface="Arial"/>
                    <a:sym typeface="Arial"/>
                  </a:endParaRPr>
                </a:p>
              </p:txBody>
            </p:sp>
            <p:sp>
              <p:nvSpPr>
                <p:cNvPr id="2065" name="Google Shape;2065;p78"/>
                <p:cNvSpPr/>
                <p:nvPr/>
              </p:nvSpPr>
              <p:spPr>
                <a:xfrm>
                  <a:off x="6345841"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18</a:t>
                  </a:r>
                  <a:endParaRPr b="1" sz="800">
                    <a:solidFill>
                      <a:schemeClr val="dk1"/>
                    </a:solidFill>
                    <a:latin typeface="Arial"/>
                    <a:ea typeface="Arial"/>
                    <a:cs typeface="Arial"/>
                    <a:sym typeface="Arial"/>
                  </a:endParaRPr>
                </a:p>
              </p:txBody>
            </p:sp>
            <p:sp>
              <p:nvSpPr>
                <p:cNvPr id="2066" name="Google Shape;2066;p78"/>
                <p:cNvSpPr/>
                <p:nvPr/>
              </p:nvSpPr>
              <p:spPr>
                <a:xfrm>
                  <a:off x="6714569"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19</a:t>
                  </a:r>
                  <a:endParaRPr b="1" sz="800">
                    <a:solidFill>
                      <a:schemeClr val="dk1"/>
                    </a:solidFill>
                    <a:latin typeface="Arial"/>
                    <a:ea typeface="Arial"/>
                    <a:cs typeface="Arial"/>
                    <a:sym typeface="Arial"/>
                  </a:endParaRPr>
                </a:p>
              </p:txBody>
            </p:sp>
            <p:sp>
              <p:nvSpPr>
                <p:cNvPr id="2067" name="Google Shape;2067;p78"/>
                <p:cNvSpPr/>
                <p:nvPr/>
              </p:nvSpPr>
              <p:spPr>
                <a:xfrm>
                  <a:off x="5608384"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24</a:t>
                  </a:r>
                  <a:endParaRPr b="1" sz="800">
                    <a:solidFill>
                      <a:schemeClr val="dk1"/>
                    </a:solidFill>
                    <a:latin typeface="Arial"/>
                    <a:ea typeface="Arial"/>
                    <a:cs typeface="Arial"/>
                    <a:sym typeface="Arial"/>
                  </a:endParaRPr>
                </a:p>
              </p:txBody>
            </p:sp>
            <p:sp>
              <p:nvSpPr>
                <p:cNvPr id="2068" name="Google Shape;2068;p78"/>
                <p:cNvSpPr/>
                <p:nvPr/>
              </p:nvSpPr>
              <p:spPr>
                <a:xfrm>
                  <a:off x="5977112"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25</a:t>
                  </a:r>
                  <a:endParaRPr b="1" sz="800">
                    <a:solidFill>
                      <a:schemeClr val="dk1"/>
                    </a:solidFill>
                    <a:latin typeface="Arial"/>
                    <a:ea typeface="Arial"/>
                    <a:cs typeface="Arial"/>
                    <a:sym typeface="Arial"/>
                  </a:endParaRPr>
                </a:p>
              </p:txBody>
            </p:sp>
            <p:sp>
              <p:nvSpPr>
                <p:cNvPr id="2069" name="Google Shape;2069;p78"/>
                <p:cNvSpPr/>
                <p:nvPr/>
              </p:nvSpPr>
              <p:spPr>
                <a:xfrm>
                  <a:off x="6345841"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26</a:t>
                  </a:r>
                  <a:endParaRPr b="1" sz="800">
                    <a:solidFill>
                      <a:schemeClr val="dk1"/>
                    </a:solidFill>
                    <a:latin typeface="Arial"/>
                    <a:ea typeface="Arial"/>
                    <a:cs typeface="Arial"/>
                    <a:sym typeface="Arial"/>
                  </a:endParaRPr>
                </a:p>
              </p:txBody>
            </p:sp>
            <p:sp>
              <p:nvSpPr>
                <p:cNvPr id="2070" name="Google Shape;2070;p78"/>
                <p:cNvSpPr/>
                <p:nvPr/>
              </p:nvSpPr>
              <p:spPr>
                <a:xfrm>
                  <a:off x="6714569"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27</a:t>
                  </a:r>
                  <a:endParaRPr b="1" sz="800">
                    <a:solidFill>
                      <a:schemeClr val="dk1"/>
                    </a:solidFill>
                    <a:latin typeface="Arial"/>
                    <a:ea typeface="Arial"/>
                    <a:cs typeface="Arial"/>
                    <a:sym typeface="Arial"/>
                  </a:endParaRPr>
                </a:p>
              </p:txBody>
            </p:sp>
            <p:sp>
              <p:nvSpPr>
                <p:cNvPr id="2071" name="Google Shape;2071;p78"/>
                <p:cNvSpPr/>
                <p:nvPr/>
              </p:nvSpPr>
              <p:spPr>
                <a:xfrm>
                  <a:off x="7083298" y="11414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a:t>
                  </a:r>
                  <a:endParaRPr b="1" sz="800">
                    <a:solidFill>
                      <a:schemeClr val="dk1"/>
                    </a:solidFill>
                    <a:latin typeface="Arial"/>
                    <a:ea typeface="Arial"/>
                    <a:cs typeface="Arial"/>
                    <a:sym typeface="Arial"/>
                  </a:endParaRPr>
                </a:p>
              </p:txBody>
            </p:sp>
            <p:sp>
              <p:nvSpPr>
                <p:cNvPr id="2072" name="Google Shape;2072;p78"/>
                <p:cNvSpPr/>
                <p:nvPr/>
              </p:nvSpPr>
              <p:spPr>
                <a:xfrm>
                  <a:off x="7452026" y="11414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a:t>
                  </a:r>
                  <a:endParaRPr b="1" sz="800">
                    <a:solidFill>
                      <a:schemeClr val="dk1"/>
                    </a:solidFill>
                    <a:latin typeface="Arial"/>
                    <a:ea typeface="Arial"/>
                    <a:cs typeface="Arial"/>
                    <a:sym typeface="Arial"/>
                  </a:endParaRPr>
                </a:p>
              </p:txBody>
            </p:sp>
            <p:sp>
              <p:nvSpPr>
                <p:cNvPr id="2073" name="Google Shape;2073;p78"/>
                <p:cNvSpPr/>
                <p:nvPr/>
              </p:nvSpPr>
              <p:spPr>
                <a:xfrm>
                  <a:off x="7820754" y="11414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a:t>
                  </a:r>
                  <a:endParaRPr b="1" sz="800">
                    <a:solidFill>
                      <a:schemeClr val="dk1"/>
                    </a:solidFill>
                    <a:latin typeface="Arial"/>
                    <a:ea typeface="Arial"/>
                    <a:cs typeface="Arial"/>
                    <a:sym typeface="Arial"/>
                  </a:endParaRPr>
                </a:p>
              </p:txBody>
            </p:sp>
            <p:sp>
              <p:nvSpPr>
                <p:cNvPr id="2074" name="Google Shape;2074;p78"/>
                <p:cNvSpPr/>
                <p:nvPr/>
              </p:nvSpPr>
              <p:spPr>
                <a:xfrm>
                  <a:off x="8189483" y="11414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7</a:t>
                  </a:r>
                  <a:endParaRPr b="1" sz="800">
                    <a:solidFill>
                      <a:schemeClr val="dk1"/>
                    </a:solidFill>
                    <a:latin typeface="Arial"/>
                    <a:ea typeface="Arial"/>
                    <a:cs typeface="Arial"/>
                    <a:sym typeface="Arial"/>
                  </a:endParaRPr>
                </a:p>
              </p:txBody>
            </p:sp>
            <p:sp>
              <p:nvSpPr>
                <p:cNvPr id="2075" name="Google Shape;2075;p78"/>
                <p:cNvSpPr/>
                <p:nvPr/>
              </p:nvSpPr>
              <p:spPr>
                <a:xfrm>
                  <a:off x="5608384" y="482869"/>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8</a:t>
                  </a:r>
                  <a:endParaRPr b="1" sz="800">
                    <a:solidFill>
                      <a:schemeClr val="dk1"/>
                    </a:solidFill>
                    <a:latin typeface="Arial"/>
                    <a:ea typeface="Arial"/>
                    <a:cs typeface="Arial"/>
                    <a:sym typeface="Arial"/>
                  </a:endParaRPr>
                </a:p>
              </p:txBody>
            </p:sp>
            <p:sp>
              <p:nvSpPr>
                <p:cNvPr id="2076" name="Google Shape;2076;p78"/>
                <p:cNvSpPr/>
                <p:nvPr/>
              </p:nvSpPr>
              <p:spPr>
                <a:xfrm>
                  <a:off x="5977112" y="482869"/>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9</a:t>
                  </a:r>
                  <a:endParaRPr b="1" sz="800">
                    <a:solidFill>
                      <a:schemeClr val="dk1"/>
                    </a:solidFill>
                    <a:latin typeface="Arial"/>
                    <a:ea typeface="Arial"/>
                    <a:cs typeface="Arial"/>
                    <a:sym typeface="Arial"/>
                  </a:endParaRPr>
                </a:p>
              </p:txBody>
            </p:sp>
            <p:sp>
              <p:nvSpPr>
                <p:cNvPr id="2077" name="Google Shape;2077;p78"/>
                <p:cNvSpPr/>
                <p:nvPr/>
              </p:nvSpPr>
              <p:spPr>
                <a:xfrm>
                  <a:off x="6345841" y="482869"/>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10</a:t>
                  </a:r>
                  <a:endParaRPr b="1" sz="800">
                    <a:solidFill>
                      <a:schemeClr val="dk1"/>
                    </a:solidFill>
                    <a:latin typeface="Arial"/>
                    <a:ea typeface="Arial"/>
                    <a:cs typeface="Arial"/>
                    <a:sym typeface="Arial"/>
                  </a:endParaRPr>
                </a:p>
              </p:txBody>
            </p:sp>
            <p:sp>
              <p:nvSpPr>
                <p:cNvPr id="2078" name="Google Shape;2078;p78"/>
                <p:cNvSpPr/>
                <p:nvPr/>
              </p:nvSpPr>
              <p:spPr>
                <a:xfrm>
                  <a:off x="6714569" y="482869"/>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11</a:t>
                  </a:r>
                  <a:endParaRPr b="1" sz="800">
                    <a:solidFill>
                      <a:schemeClr val="dk1"/>
                    </a:solidFill>
                    <a:latin typeface="Arial"/>
                    <a:ea typeface="Arial"/>
                    <a:cs typeface="Arial"/>
                    <a:sym typeface="Arial"/>
                  </a:endParaRPr>
                </a:p>
              </p:txBody>
            </p:sp>
            <p:sp>
              <p:nvSpPr>
                <p:cNvPr id="2079" name="Google Shape;2079;p78"/>
                <p:cNvSpPr/>
                <p:nvPr/>
              </p:nvSpPr>
              <p:spPr>
                <a:xfrm>
                  <a:off x="7083298" y="85159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20</a:t>
                  </a:r>
                  <a:endParaRPr b="1" sz="800">
                    <a:solidFill>
                      <a:schemeClr val="dk1"/>
                    </a:solidFill>
                    <a:latin typeface="Arial"/>
                    <a:ea typeface="Arial"/>
                    <a:cs typeface="Arial"/>
                    <a:sym typeface="Arial"/>
                  </a:endParaRPr>
                </a:p>
              </p:txBody>
            </p:sp>
            <p:sp>
              <p:nvSpPr>
                <p:cNvPr id="2080" name="Google Shape;2080;p78"/>
                <p:cNvSpPr/>
                <p:nvPr/>
              </p:nvSpPr>
              <p:spPr>
                <a:xfrm>
                  <a:off x="7452026" y="85159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21</a:t>
                  </a:r>
                  <a:endParaRPr b="1" sz="800">
                    <a:solidFill>
                      <a:schemeClr val="dk1"/>
                    </a:solidFill>
                    <a:latin typeface="Arial"/>
                    <a:ea typeface="Arial"/>
                    <a:cs typeface="Arial"/>
                    <a:sym typeface="Arial"/>
                  </a:endParaRPr>
                </a:p>
              </p:txBody>
            </p:sp>
            <p:sp>
              <p:nvSpPr>
                <p:cNvPr id="2081" name="Google Shape;2081;p78"/>
                <p:cNvSpPr/>
                <p:nvPr/>
              </p:nvSpPr>
              <p:spPr>
                <a:xfrm>
                  <a:off x="7820754" y="85159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22</a:t>
                  </a:r>
                  <a:endParaRPr b="1" sz="800">
                    <a:solidFill>
                      <a:schemeClr val="dk1"/>
                    </a:solidFill>
                    <a:latin typeface="Arial"/>
                    <a:ea typeface="Arial"/>
                    <a:cs typeface="Arial"/>
                    <a:sym typeface="Arial"/>
                  </a:endParaRPr>
                </a:p>
              </p:txBody>
            </p:sp>
            <p:sp>
              <p:nvSpPr>
                <p:cNvPr id="2082" name="Google Shape;2082;p78"/>
                <p:cNvSpPr/>
                <p:nvPr/>
              </p:nvSpPr>
              <p:spPr>
                <a:xfrm>
                  <a:off x="8189483" y="85159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23</a:t>
                  </a:r>
                  <a:endParaRPr b="1" sz="800">
                    <a:solidFill>
                      <a:schemeClr val="dk1"/>
                    </a:solidFill>
                    <a:latin typeface="Arial"/>
                    <a:ea typeface="Arial"/>
                    <a:cs typeface="Arial"/>
                    <a:sym typeface="Arial"/>
                  </a:endParaRPr>
                </a:p>
              </p:txBody>
            </p:sp>
            <p:sp>
              <p:nvSpPr>
                <p:cNvPr id="2083" name="Google Shape;2083;p78"/>
                <p:cNvSpPr/>
                <p:nvPr/>
              </p:nvSpPr>
              <p:spPr>
                <a:xfrm>
                  <a:off x="7083298" y="1220326"/>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28</a:t>
                  </a:r>
                  <a:endParaRPr b="1" sz="800">
                    <a:solidFill>
                      <a:schemeClr val="dk1"/>
                    </a:solidFill>
                    <a:latin typeface="Arial"/>
                    <a:ea typeface="Arial"/>
                    <a:cs typeface="Arial"/>
                    <a:sym typeface="Arial"/>
                  </a:endParaRPr>
                </a:p>
              </p:txBody>
            </p:sp>
            <p:sp>
              <p:nvSpPr>
                <p:cNvPr id="2084" name="Google Shape;2084;p78"/>
                <p:cNvSpPr/>
                <p:nvPr/>
              </p:nvSpPr>
              <p:spPr>
                <a:xfrm>
                  <a:off x="7452026" y="1220326"/>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29</a:t>
                  </a:r>
                  <a:endParaRPr b="1" sz="800">
                    <a:solidFill>
                      <a:schemeClr val="dk1"/>
                    </a:solidFill>
                    <a:latin typeface="Arial"/>
                    <a:ea typeface="Arial"/>
                    <a:cs typeface="Arial"/>
                    <a:sym typeface="Arial"/>
                  </a:endParaRPr>
                </a:p>
              </p:txBody>
            </p:sp>
            <p:sp>
              <p:nvSpPr>
                <p:cNvPr id="2085" name="Google Shape;2085;p78"/>
                <p:cNvSpPr/>
                <p:nvPr/>
              </p:nvSpPr>
              <p:spPr>
                <a:xfrm>
                  <a:off x="7820754" y="1220326"/>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30</a:t>
                  </a:r>
                  <a:endParaRPr b="1" sz="800">
                    <a:solidFill>
                      <a:schemeClr val="dk1"/>
                    </a:solidFill>
                    <a:latin typeface="Arial"/>
                    <a:ea typeface="Arial"/>
                    <a:cs typeface="Arial"/>
                    <a:sym typeface="Arial"/>
                  </a:endParaRPr>
                </a:p>
              </p:txBody>
            </p:sp>
            <p:sp>
              <p:nvSpPr>
                <p:cNvPr id="2086" name="Google Shape;2086;p78"/>
                <p:cNvSpPr/>
                <p:nvPr/>
              </p:nvSpPr>
              <p:spPr>
                <a:xfrm>
                  <a:off x="8189483" y="1220326"/>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31</a:t>
                  </a:r>
                  <a:endParaRPr b="1" sz="800">
                    <a:solidFill>
                      <a:schemeClr val="dk1"/>
                    </a:solidFill>
                    <a:latin typeface="Arial"/>
                    <a:ea typeface="Arial"/>
                    <a:cs typeface="Arial"/>
                    <a:sym typeface="Arial"/>
                  </a:endParaRPr>
                </a:p>
              </p:txBody>
            </p:sp>
            <p:sp>
              <p:nvSpPr>
                <p:cNvPr id="2087" name="Google Shape;2087;p78"/>
                <p:cNvSpPr/>
                <p:nvPr/>
              </p:nvSpPr>
              <p:spPr>
                <a:xfrm>
                  <a:off x="5608384"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32</a:t>
                  </a:r>
                  <a:endParaRPr b="1" sz="800">
                    <a:solidFill>
                      <a:schemeClr val="dk1"/>
                    </a:solidFill>
                    <a:latin typeface="Arial"/>
                    <a:ea typeface="Arial"/>
                    <a:cs typeface="Arial"/>
                    <a:sym typeface="Arial"/>
                  </a:endParaRPr>
                </a:p>
              </p:txBody>
            </p:sp>
            <p:sp>
              <p:nvSpPr>
                <p:cNvPr id="2088" name="Google Shape;2088;p78"/>
                <p:cNvSpPr/>
                <p:nvPr/>
              </p:nvSpPr>
              <p:spPr>
                <a:xfrm>
                  <a:off x="5977112"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33</a:t>
                  </a:r>
                  <a:endParaRPr b="1" sz="800">
                    <a:solidFill>
                      <a:schemeClr val="dk1"/>
                    </a:solidFill>
                    <a:latin typeface="Arial"/>
                    <a:ea typeface="Arial"/>
                    <a:cs typeface="Arial"/>
                    <a:sym typeface="Arial"/>
                  </a:endParaRPr>
                </a:p>
              </p:txBody>
            </p:sp>
            <p:sp>
              <p:nvSpPr>
                <p:cNvPr id="2089" name="Google Shape;2089;p78"/>
                <p:cNvSpPr/>
                <p:nvPr/>
              </p:nvSpPr>
              <p:spPr>
                <a:xfrm>
                  <a:off x="6345841"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34</a:t>
                  </a:r>
                  <a:endParaRPr b="1" sz="800">
                    <a:solidFill>
                      <a:schemeClr val="dk1"/>
                    </a:solidFill>
                    <a:latin typeface="Arial"/>
                    <a:ea typeface="Arial"/>
                    <a:cs typeface="Arial"/>
                    <a:sym typeface="Arial"/>
                  </a:endParaRPr>
                </a:p>
              </p:txBody>
            </p:sp>
            <p:sp>
              <p:nvSpPr>
                <p:cNvPr id="2090" name="Google Shape;2090;p78"/>
                <p:cNvSpPr/>
                <p:nvPr/>
              </p:nvSpPr>
              <p:spPr>
                <a:xfrm>
                  <a:off x="6714569"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35</a:t>
                  </a:r>
                  <a:endParaRPr b="1" sz="800">
                    <a:solidFill>
                      <a:schemeClr val="dk1"/>
                    </a:solidFill>
                    <a:latin typeface="Arial"/>
                    <a:ea typeface="Arial"/>
                    <a:cs typeface="Arial"/>
                    <a:sym typeface="Arial"/>
                  </a:endParaRPr>
                </a:p>
              </p:txBody>
            </p:sp>
            <p:sp>
              <p:nvSpPr>
                <p:cNvPr id="2091" name="Google Shape;2091;p78"/>
                <p:cNvSpPr/>
                <p:nvPr/>
              </p:nvSpPr>
              <p:spPr>
                <a:xfrm>
                  <a:off x="7083298"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44</a:t>
                  </a:r>
                  <a:endParaRPr b="1" sz="800">
                    <a:solidFill>
                      <a:schemeClr val="dk1"/>
                    </a:solidFill>
                    <a:latin typeface="Arial"/>
                    <a:ea typeface="Arial"/>
                    <a:cs typeface="Arial"/>
                    <a:sym typeface="Arial"/>
                  </a:endParaRPr>
                </a:p>
              </p:txBody>
            </p:sp>
            <p:sp>
              <p:nvSpPr>
                <p:cNvPr id="2092" name="Google Shape;2092;p78"/>
                <p:cNvSpPr/>
                <p:nvPr/>
              </p:nvSpPr>
              <p:spPr>
                <a:xfrm>
                  <a:off x="7452026"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45</a:t>
                  </a:r>
                  <a:endParaRPr b="1" sz="800">
                    <a:solidFill>
                      <a:schemeClr val="dk1"/>
                    </a:solidFill>
                    <a:latin typeface="Arial"/>
                    <a:ea typeface="Arial"/>
                    <a:cs typeface="Arial"/>
                    <a:sym typeface="Arial"/>
                  </a:endParaRPr>
                </a:p>
              </p:txBody>
            </p:sp>
            <p:sp>
              <p:nvSpPr>
                <p:cNvPr id="2093" name="Google Shape;2093;p78"/>
                <p:cNvSpPr/>
                <p:nvPr/>
              </p:nvSpPr>
              <p:spPr>
                <a:xfrm>
                  <a:off x="7820754"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46</a:t>
                  </a:r>
                  <a:endParaRPr b="1" sz="800">
                    <a:solidFill>
                      <a:schemeClr val="dk1"/>
                    </a:solidFill>
                    <a:latin typeface="Arial"/>
                    <a:ea typeface="Arial"/>
                    <a:cs typeface="Arial"/>
                    <a:sym typeface="Arial"/>
                  </a:endParaRPr>
                </a:p>
              </p:txBody>
            </p:sp>
            <p:sp>
              <p:nvSpPr>
                <p:cNvPr id="2094" name="Google Shape;2094;p78"/>
                <p:cNvSpPr/>
                <p:nvPr/>
              </p:nvSpPr>
              <p:spPr>
                <a:xfrm>
                  <a:off x="8189483"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47</a:t>
                  </a:r>
                  <a:endParaRPr b="1" sz="800">
                    <a:solidFill>
                      <a:schemeClr val="dk1"/>
                    </a:solidFill>
                    <a:latin typeface="Arial"/>
                    <a:ea typeface="Arial"/>
                    <a:cs typeface="Arial"/>
                    <a:sym typeface="Arial"/>
                  </a:endParaRPr>
                </a:p>
              </p:txBody>
            </p:sp>
            <p:sp>
              <p:nvSpPr>
                <p:cNvPr id="2095" name="Google Shape;2095;p78"/>
                <p:cNvSpPr/>
                <p:nvPr/>
              </p:nvSpPr>
              <p:spPr>
                <a:xfrm>
                  <a:off x="5608384"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48</a:t>
                  </a:r>
                  <a:endParaRPr b="1" sz="800">
                    <a:solidFill>
                      <a:schemeClr val="dk1"/>
                    </a:solidFill>
                    <a:latin typeface="Arial"/>
                    <a:ea typeface="Arial"/>
                    <a:cs typeface="Arial"/>
                    <a:sym typeface="Arial"/>
                  </a:endParaRPr>
                </a:p>
              </p:txBody>
            </p:sp>
            <p:sp>
              <p:nvSpPr>
                <p:cNvPr id="2096" name="Google Shape;2096;p78"/>
                <p:cNvSpPr/>
                <p:nvPr/>
              </p:nvSpPr>
              <p:spPr>
                <a:xfrm>
                  <a:off x="5977112"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49</a:t>
                  </a:r>
                  <a:endParaRPr b="1" sz="800">
                    <a:solidFill>
                      <a:schemeClr val="dk1"/>
                    </a:solidFill>
                    <a:latin typeface="Arial"/>
                    <a:ea typeface="Arial"/>
                    <a:cs typeface="Arial"/>
                    <a:sym typeface="Arial"/>
                  </a:endParaRPr>
                </a:p>
              </p:txBody>
            </p:sp>
            <p:sp>
              <p:nvSpPr>
                <p:cNvPr id="2097" name="Google Shape;2097;p78"/>
                <p:cNvSpPr/>
                <p:nvPr/>
              </p:nvSpPr>
              <p:spPr>
                <a:xfrm>
                  <a:off x="6345841"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2098" name="Google Shape;2098;p78"/>
                <p:cNvSpPr/>
                <p:nvPr/>
              </p:nvSpPr>
              <p:spPr>
                <a:xfrm>
                  <a:off x="6714569"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51</a:t>
                  </a:r>
                  <a:endParaRPr b="1" sz="800">
                    <a:solidFill>
                      <a:schemeClr val="dk1"/>
                    </a:solidFill>
                    <a:latin typeface="Arial"/>
                    <a:ea typeface="Arial"/>
                    <a:cs typeface="Arial"/>
                    <a:sym typeface="Arial"/>
                  </a:endParaRPr>
                </a:p>
              </p:txBody>
            </p:sp>
            <p:sp>
              <p:nvSpPr>
                <p:cNvPr id="2099" name="Google Shape;2099;p78"/>
                <p:cNvSpPr/>
                <p:nvPr/>
              </p:nvSpPr>
              <p:spPr>
                <a:xfrm>
                  <a:off x="5608384"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56</a:t>
                  </a:r>
                  <a:endParaRPr b="1" sz="800">
                    <a:solidFill>
                      <a:schemeClr val="dk1"/>
                    </a:solidFill>
                    <a:latin typeface="Arial"/>
                    <a:ea typeface="Arial"/>
                    <a:cs typeface="Arial"/>
                    <a:sym typeface="Arial"/>
                  </a:endParaRPr>
                </a:p>
              </p:txBody>
            </p:sp>
            <p:sp>
              <p:nvSpPr>
                <p:cNvPr id="2100" name="Google Shape;2100;p78"/>
                <p:cNvSpPr/>
                <p:nvPr/>
              </p:nvSpPr>
              <p:spPr>
                <a:xfrm>
                  <a:off x="5977112"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57</a:t>
                  </a:r>
                  <a:endParaRPr b="1" sz="800">
                    <a:solidFill>
                      <a:schemeClr val="dk1"/>
                    </a:solidFill>
                    <a:latin typeface="Arial"/>
                    <a:ea typeface="Arial"/>
                    <a:cs typeface="Arial"/>
                    <a:sym typeface="Arial"/>
                  </a:endParaRPr>
                </a:p>
              </p:txBody>
            </p:sp>
            <p:sp>
              <p:nvSpPr>
                <p:cNvPr id="2101" name="Google Shape;2101;p78"/>
                <p:cNvSpPr/>
                <p:nvPr/>
              </p:nvSpPr>
              <p:spPr>
                <a:xfrm>
                  <a:off x="6345841"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58</a:t>
                  </a:r>
                  <a:endParaRPr b="1" sz="800">
                    <a:solidFill>
                      <a:schemeClr val="dk1"/>
                    </a:solidFill>
                    <a:latin typeface="Arial"/>
                    <a:ea typeface="Arial"/>
                    <a:cs typeface="Arial"/>
                    <a:sym typeface="Arial"/>
                  </a:endParaRPr>
                </a:p>
              </p:txBody>
            </p:sp>
            <p:sp>
              <p:nvSpPr>
                <p:cNvPr id="2102" name="Google Shape;2102;p78"/>
                <p:cNvSpPr/>
                <p:nvPr/>
              </p:nvSpPr>
              <p:spPr>
                <a:xfrm>
                  <a:off x="6714569"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50</a:t>
                  </a:r>
                  <a:endParaRPr b="1" sz="800">
                    <a:solidFill>
                      <a:schemeClr val="dk1"/>
                    </a:solidFill>
                    <a:latin typeface="Arial"/>
                    <a:ea typeface="Arial"/>
                    <a:cs typeface="Arial"/>
                    <a:sym typeface="Arial"/>
                  </a:endParaRPr>
                </a:p>
              </p:txBody>
            </p:sp>
            <p:sp>
              <p:nvSpPr>
                <p:cNvPr id="2103" name="Google Shape;2103;p78"/>
                <p:cNvSpPr/>
                <p:nvPr/>
              </p:nvSpPr>
              <p:spPr>
                <a:xfrm>
                  <a:off x="7083298" y="1581161"/>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36</a:t>
                  </a:r>
                  <a:endParaRPr b="1" sz="800">
                    <a:solidFill>
                      <a:schemeClr val="dk1"/>
                    </a:solidFill>
                    <a:latin typeface="Arial"/>
                    <a:ea typeface="Arial"/>
                    <a:cs typeface="Arial"/>
                    <a:sym typeface="Arial"/>
                  </a:endParaRPr>
                </a:p>
              </p:txBody>
            </p:sp>
            <p:sp>
              <p:nvSpPr>
                <p:cNvPr id="2104" name="Google Shape;2104;p78"/>
                <p:cNvSpPr/>
                <p:nvPr/>
              </p:nvSpPr>
              <p:spPr>
                <a:xfrm>
                  <a:off x="7452026" y="1581161"/>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37</a:t>
                  </a:r>
                  <a:endParaRPr b="1" sz="800">
                    <a:solidFill>
                      <a:schemeClr val="dk1"/>
                    </a:solidFill>
                    <a:latin typeface="Arial"/>
                    <a:ea typeface="Arial"/>
                    <a:cs typeface="Arial"/>
                    <a:sym typeface="Arial"/>
                  </a:endParaRPr>
                </a:p>
              </p:txBody>
            </p:sp>
            <p:sp>
              <p:nvSpPr>
                <p:cNvPr id="2105" name="Google Shape;2105;p78"/>
                <p:cNvSpPr/>
                <p:nvPr/>
              </p:nvSpPr>
              <p:spPr>
                <a:xfrm>
                  <a:off x="7820754" y="1581161"/>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38</a:t>
                  </a:r>
                  <a:endParaRPr b="1" sz="800">
                    <a:solidFill>
                      <a:schemeClr val="dk1"/>
                    </a:solidFill>
                    <a:latin typeface="Arial"/>
                    <a:ea typeface="Arial"/>
                    <a:cs typeface="Arial"/>
                    <a:sym typeface="Arial"/>
                  </a:endParaRPr>
                </a:p>
              </p:txBody>
            </p:sp>
            <p:sp>
              <p:nvSpPr>
                <p:cNvPr id="2106" name="Google Shape;2106;p78"/>
                <p:cNvSpPr/>
                <p:nvPr/>
              </p:nvSpPr>
              <p:spPr>
                <a:xfrm>
                  <a:off x="8189483" y="1581161"/>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39</a:t>
                  </a:r>
                  <a:endParaRPr b="1" sz="800">
                    <a:solidFill>
                      <a:schemeClr val="dk1"/>
                    </a:solidFill>
                    <a:latin typeface="Arial"/>
                    <a:ea typeface="Arial"/>
                    <a:cs typeface="Arial"/>
                    <a:sym typeface="Arial"/>
                  </a:endParaRPr>
                </a:p>
              </p:txBody>
            </p:sp>
            <p:sp>
              <p:nvSpPr>
                <p:cNvPr id="2107" name="Google Shape;2107;p78"/>
                <p:cNvSpPr/>
                <p:nvPr/>
              </p:nvSpPr>
              <p:spPr>
                <a:xfrm>
                  <a:off x="5608384" y="1949890"/>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40</a:t>
                  </a:r>
                  <a:endParaRPr b="1" sz="800">
                    <a:solidFill>
                      <a:schemeClr val="dk1"/>
                    </a:solidFill>
                    <a:latin typeface="Arial"/>
                    <a:ea typeface="Arial"/>
                    <a:cs typeface="Arial"/>
                    <a:sym typeface="Arial"/>
                  </a:endParaRPr>
                </a:p>
              </p:txBody>
            </p:sp>
            <p:sp>
              <p:nvSpPr>
                <p:cNvPr id="2108" name="Google Shape;2108;p78"/>
                <p:cNvSpPr/>
                <p:nvPr/>
              </p:nvSpPr>
              <p:spPr>
                <a:xfrm>
                  <a:off x="5977112" y="1949890"/>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41</a:t>
                  </a:r>
                  <a:endParaRPr b="1" sz="800">
                    <a:solidFill>
                      <a:schemeClr val="dk1"/>
                    </a:solidFill>
                    <a:latin typeface="Arial"/>
                    <a:ea typeface="Arial"/>
                    <a:cs typeface="Arial"/>
                    <a:sym typeface="Arial"/>
                  </a:endParaRPr>
                </a:p>
              </p:txBody>
            </p:sp>
            <p:sp>
              <p:nvSpPr>
                <p:cNvPr id="2109" name="Google Shape;2109;p78"/>
                <p:cNvSpPr/>
                <p:nvPr/>
              </p:nvSpPr>
              <p:spPr>
                <a:xfrm>
                  <a:off x="6345841" y="1949890"/>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42</a:t>
                  </a:r>
                  <a:endParaRPr b="1" sz="800">
                    <a:solidFill>
                      <a:schemeClr val="dk1"/>
                    </a:solidFill>
                    <a:latin typeface="Arial"/>
                    <a:ea typeface="Arial"/>
                    <a:cs typeface="Arial"/>
                    <a:sym typeface="Arial"/>
                  </a:endParaRPr>
                </a:p>
              </p:txBody>
            </p:sp>
            <p:sp>
              <p:nvSpPr>
                <p:cNvPr id="2110" name="Google Shape;2110;p78"/>
                <p:cNvSpPr/>
                <p:nvPr/>
              </p:nvSpPr>
              <p:spPr>
                <a:xfrm>
                  <a:off x="6714569" y="1949890"/>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43</a:t>
                  </a:r>
                  <a:endParaRPr b="1" sz="800">
                    <a:solidFill>
                      <a:schemeClr val="dk1"/>
                    </a:solidFill>
                    <a:latin typeface="Arial"/>
                    <a:ea typeface="Arial"/>
                    <a:cs typeface="Arial"/>
                    <a:sym typeface="Arial"/>
                  </a:endParaRPr>
                </a:p>
              </p:txBody>
            </p:sp>
            <p:sp>
              <p:nvSpPr>
                <p:cNvPr id="2111" name="Google Shape;2111;p78"/>
                <p:cNvSpPr/>
                <p:nvPr/>
              </p:nvSpPr>
              <p:spPr>
                <a:xfrm>
                  <a:off x="7083298" y="2318618"/>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52</a:t>
                  </a:r>
                  <a:endParaRPr b="1" sz="800">
                    <a:solidFill>
                      <a:schemeClr val="dk1"/>
                    </a:solidFill>
                    <a:latin typeface="Arial"/>
                    <a:ea typeface="Arial"/>
                    <a:cs typeface="Arial"/>
                    <a:sym typeface="Arial"/>
                  </a:endParaRPr>
                </a:p>
              </p:txBody>
            </p:sp>
            <p:sp>
              <p:nvSpPr>
                <p:cNvPr id="2112" name="Google Shape;2112;p78"/>
                <p:cNvSpPr/>
                <p:nvPr/>
              </p:nvSpPr>
              <p:spPr>
                <a:xfrm>
                  <a:off x="7452026" y="2318618"/>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53</a:t>
                  </a:r>
                  <a:endParaRPr b="1" sz="800">
                    <a:solidFill>
                      <a:schemeClr val="dk1"/>
                    </a:solidFill>
                    <a:latin typeface="Arial"/>
                    <a:ea typeface="Arial"/>
                    <a:cs typeface="Arial"/>
                    <a:sym typeface="Arial"/>
                  </a:endParaRPr>
                </a:p>
              </p:txBody>
            </p:sp>
            <p:sp>
              <p:nvSpPr>
                <p:cNvPr id="2113" name="Google Shape;2113;p78"/>
                <p:cNvSpPr/>
                <p:nvPr/>
              </p:nvSpPr>
              <p:spPr>
                <a:xfrm>
                  <a:off x="7820754" y="2318618"/>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54</a:t>
                  </a:r>
                  <a:endParaRPr b="1" sz="800">
                    <a:solidFill>
                      <a:schemeClr val="dk1"/>
                    </a:solidFill>
                    <a:latin typeface="Arial"/>
                    <a:ea typeface="Arial"/>
                    <a:cs typeface="Arial"/>
                    <a:sym typeface="Arial"/>
                  </a:endParaRPr>
                </a:p>
              </p:txBody>
            </p:sp>
            <p:sp>
              <p:nvSpPr>
                <p:cNvPr id="2114" name="Google Shape;2114;p78"/>
                <p:cNvSpPr/>
                <p:nvPr/>
              </p:nvSpPr>
              <p:spPr>
                <a:xfrm>
                  <a:off x="8189483" y="2318618"/>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55</a:t>
                  </a:r>
                  <a:endParaRPr b="1" sz="800">
                    <a:solidFill>
                      <a:schemeClr val="dk1"/>
                    </a:solidFill>
                    <a:latin typeface="Arial"/>
                    <a:ea typeface="Arial"/>
                    <a:cs typeface="Arial"/>
                    <a:sym typeface="Arial"/>
                  </a:endParaRPr>
                </a:p>
              </p:txBody>
            </p:sp>
            <p:sp>
              <p:nvSpPr>
                <p:cNvPr id="2115" name="Google Shape;2115;p78"/>
                <p:cNvSpPr/>
                <p:nvPr/>
              </p:nvSpPr>
              <p:spPr>
                <a:xfrm>
                  <a:off x="7083298" y="2687347"/>
                  <a:ext cx="368728" cy="368729"/>
                </a:xfrm>
                <a:prstGeom prst="rect">
                  <a:avLst/>
                </a:prstGeom>
                <a:solidFill>
                  <a:srgbClr val="FF9999"/>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60</a:t>
                  </a:r>
                  <a:endParaRPr b="1" sz="800">
                    <a:solidFill>
                      <a:schemeClr val="dk1"/>
                    </a:solidFill>
                    <a:latin typeface="Arial"/>
                    <a:ea typeface="Arial"/>
                    <a:cs typeface="Arial"/>
                    <a:sym typeface="Arial"/>
                  </a:endParaRPr>
                </a:p>
              </p:txBody>
            </p:sp>
            <p:sp>
              <p:nvSpPr>
                <p:cNvPr id="2116" name="Google Shape;2116;p78"/>
                <p:cNvSpPr/>
                <p:nvPr/>
              </p:nvSpPr>
              <p:spPr>
                <a:xfrm>
                  <a:off x="7452026" y="2687347"/>
                  <a:ext cx="368728" cy="368729"/>
                </a:xfrm>
                <a:prstGeom prst="rect">
                  <a:avLst/>
                </a:prstGeom>
                <a:solidFill>
                  <a:srgbClr val="FFFFCC"/>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61</a:t>
                  </a:r>
                  <a:endParaRPr b="1" sz="800">
                    <a:solidFill>
                      <a:schemeClr val="dk1"/>
                    </a:solidFill>
                    <a:latin typeface="Arial"/>
                    <a:ea typeface="Arial"/>
                    <a:cs typeface="Arial"/>
                    <a:sym typeface="Arial"/>
                  </a:endParaRPr>
                </a:p>
              </p:txBody>
            </p:sp>
            <p:sp>
              <p:nvSpPr>
                <p:cNvPr id="2117" name="Google Shape;2117;p78"/>
                <p:cNvSpPr/>
                <p:nvPr/>
              </p:nvSpPr>
              <p:spPr>
                <a:xfrm>
                  <a:off x="7820754" y="2687347"/>
                  <a:ext cx="368728" cy="368729"/>
                </a:xfrm>
                <a:prstGeom prst="rect">
                  <a:avLst/>
                </a:prstGeom>
                <a:solidFill>
                  <a:srgbClr val="93DCF8"/>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62</a:t>
                  </a:r>
                  <a:endParaRPr b="1" sz="800">
                    <a:solidFill>
                      <a:schemeClr val="dk1"/>
                    </a:solidFill>
                    <a:latin typeface="Arial"/>
                    <a:ea typeface="Arial"/>
                    <a:cs typeface="Arial"/>
                    <a:sym typeface="Arial"/>
                  </a:endParaRPr>
                </a:p>
              </p:txBody>
            </p:sp>
            <p:sp>
              <p:nvSpPr>
                <p:cNvPr id="2118" name="Google Shape;2118;p78"/>
                <p:cNvSpPr/>
                <p:nvPr/>
              </p:nvSpPr>
              <p:spPr>
                <a:xfrm>
                  <a:off x="8189483" y="2687347"/>
                  <a:ext cx="368728" cy="368729"/>
                </a:xfrm>
                <a:prstGeom prst="rect">
                  <a:avLst/>
                </a:prstGeom>
                <a:solidFill>
                  <a:srgbClr val="84E291"/>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rPr b="1" lang="en" sz="800">
                      <a:solidFill>
                        <a:schemeClr val="dk1"/>
                      </a:solidFill>
                      <a:latin typeface="Arial"/>
                      <a:ea typeface="Arial"/>
                      <a:cs typeface="Arial"/>
                      <a:sym typeface="Arial"/>
                    </a:rPr>
                    <a:t>63</a:t>
                  </a:r>
                  <a:endParaRPr b="1" sz="800">
                    <a:solidFill>
                      <a:schemeClr val="dk1"/>
                    </a:solidFill>
                    <a:latin typeface="Arial"/>
                    <a:ea typeface="Arial"/>
                    <a:cs typeface="Arial"/>
                    <a:sym typeface="Arial"/>
                  </a:endParaRPr>
                </a:p>
              </p:txBody>
            </p:sp>
          </p:grpSp>
          <p:grpSp>
            <p:nvGrpSpPr>
              <p:cNvPr id="2119" name="Google Shape;2119;p78"/>
              <p:cNvGrpSpPr/>
              <p:nvPr/>
            </p:nvGrpSpPr>
            <p:grpSpPr>
              <a:xfrm>
                <a:off x="5605352" y="3429000"/>
                <a:ext cx="2948568" cy="2949832"/>
                <a:chOff x="5605352" y="3429000"/>
                <a:chExt cx="2948568" cy="2949832"/>
              </a:xfrm>
            </p:grpSpPr>
            <p:sp>
              <p:nvSpPr>
                <p:cNvPr id="2120" name="Google Shape;2120;p78"/>
                <p:cNvSpPr/>
                <p:nvPr/>
              </p:nvSpPr>
              <p:spPr>
                <a:xfrm>
                  <a:off x="5605352" y="3429000"/>
                  <a:ext cx="368728" cy="368729"/>
                </a:xfrm>
                <a:prstGeom prst="rect">
                  <a:avLst/>
                </a:prstGeom>
                <a:solidFill>
                  <a:schemeClr val="accent5"/>
                </a:solidFill>
                <a:ln cap="flat" cmpd="sng" w="19050">
                  <a:solidFill>
                    <a:srgbClr val="43123E"/>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1" name="Google Shape;2121;p78"/>
                <p:cNvSpPr/>
                <p:nvPr/>
              </p:nvSpPr>
              <p:spPr>
                <a:xfrm>
                  <a:off x="5974080" y="3429000"/>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2" name="Google Shape;2122;p78"/>
                <p:cNvSpPr/>
                <p:nvPr/>
              </p:nvSpPr>
              <p:spPr>
                <a:xfrm>
                  <a:off x="63428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3" name="Google Shape;2123;p78"/>
                <p:cNvSpPr/>
                <p:nvPr/>
              </p:nvSpPr>
              <p:spPr>
                <a:xfrm>
                  <a:off x="67115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4" name="Google Shape;2124;p78"/>
                <p:cNvSpPr/>
                <p:nvPr/>
              </p:nvSpPr>
              <p:spPr>
                <a:xfrm>
                  <a:off x="7079008"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5" name="Google Shape;2125;p78"/>
                <p:cNvSpPr/>
                <p:nvPr/>
              </p:nvSpPr>
              <p:spPr>
                <a:xfrm>
                  <a:off x="7447736"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6" name="Google Shape;2126;p78"/>
                <p:cNvSpPr/>
                <p:nvPr/>
              </p:nvSpPr>
              <p:spPr>
                <a:xfrm>
                  <a:off x="7816464"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7" name="Google Shape;2127;p78"/>
                <p:cNvSpPr/>
                <p:nvPr/>
              </p:nvSpPr>
              <p:spPr>
                <a:xfrm>
                  <a:off x="8185192" y="3429000"/>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8" name="Google Shape;2128;p78"/>
                <p:cNvSpPr/>
                <p:nvPr/>
              </p:nvSpPr>
              <p:spPr>
                <a:xfrm>
                  <a:off x="5605352" y="3797729"/>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29" name="Google Shape;2129;p78"/>
                <p:cNvSpPr/>
                <p:nvPr/>
              </p:nvSpPr>
              <p:spPr>
                <a:xfrm>
                  <a:off x="5974080" y="3797729"/>
                  <a:ext cx="368728" cy="368729"/>
                </a:xfrm>
                <a:prstGeom prst="rect">
                  <a:avLst/>
                </a:prstGeom>
                <a:solidFill>
                  <a:schemeClr val="accent5"/>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0" name="Google Shape;2130;p78"/>
                <p:cNvSpPr/>
                <p:nvPr/>
              </p:nvSpPr>
              <p:spPr>
                <a:xfrm>
                  <a:off x="63428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1" name="Google Shape;2131;p78"/>
                <p:cNvSpPr/>
                <p:nvPr/>
              </p:nvSpPr>
              <p:spPr>
                <a:xfrm>
                  <a:off x="67115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2" name="Google Shape;2132;p78"/>
                <p:cNvSpPr/>
                <p:nvPr/>
              </p:nvSpPr>
              <p:spPr>
                <a:xfrm>
                  <a:off x="7079008"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3" name="Google Shape;2133;p78"/>
                <p:cNvSpPr/>
                <p:nvPr/>
              </p:nvSpPr>
              <p:spPr>
                <a:xfrm>
                  <a:off x="7447736"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4" name="Google Shape;2134;p78"/>
                <p:cNvSpPr/>
                <p:nvPr/>
              </p:nvSpPr>
              <p:spPr>
                <a:xfrm>
                  <a:off x="7816464"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5" name="Google Shape;2135;p78"/>
                <p:cNvSpPr/>
                <p:nvPr/>
              </p:nvSpPr>
              <p:spPr>
                <a:xfrm>
                  <a:off x="8185192" y="3797729"/>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6" name="Google Shape;2136;p78"/>
                <p:cNvSpPr/>
                <p:nvPr/>
              </p:nvSpPr>
              <p:spPr>
                <a:xfrm>
                  <a:off x="560535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7" name="Google Shape;2137;p78"/>
                <p:cNvSpPr/>
                <p:nvPr/>
              </p:nvSpPr>
              <p:spPr>
                <a:xfrm>
                  <a:off x="5974080"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8" name="Google Shape;2138;p78"/>
                <p:cNvSpPr/>
                <p:nvPr/>
              </p:nvSpPr>
              <p:spPr>
                <a:xfrm>
                  <a:off x="63428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39" name="Google Shape;2139;p78"/>
                <p:cNvSpPr/>
                <p:nvPr/>
              </p:nvSpPr>
              <p:spPr>
                <a:xfrm>
                  <a:off x="67115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0" name="Google Shape;2140;p78"/>
                <p:cNvSpPr/>
                <p:nvPr/>
              </p:nvSpPr>
              <p:spPr>
                <a:xfrm>
                  <a:off x="7079008"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1" name="Google Shape;2141;p78"/>
                <p:cNvSpPr/>
                <p:nvPr/>
              </p:nvSpPr>
              <p:spPr>
                <a:xfrm>
                  <a:off x="7447736"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2" name="Google Shape;2142;p78"/>
                <p:cNvSpPr/>
                <p:nvPr/>
              </p:nvSpPr>
              <p:spPr>
                <a:xfrm>
                  <a:off x="7816464"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3" name="Google Shape;2143;p78"/>
                <p:cNvSpPr/>
                <p:nvPr/>
              </p:nvSpPr>
              <p:spPr>
                <a:xfrm>
                  <a:off x="8185192" y="4166458"/>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4" name="Google Shape;2144;p78"/>
                <p:cNvSpPr/>
                <p:nvPr/>
              </p:nvSpPr>
              <p:spPr>
                <a:xfrm>
                  <a:off x="560535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5" name="Google Shape;2145;p78"/>
                <p:cNvSpPr/>
                <p:nvPr/>
              </p:nvSpPr>
              <p:spPr>
                <a:xfrm>
                  <a:off x="5974080"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6" name="Google Shape;2146;p78"/>
                <p:cNvSpPr/>
                <p:nvPr/>
              </p:nvSpPr>
              <p:spPr>
                <a:xfrm>
                  <a:off x="63428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7" name="Google Shape;2147;p78"/>
                <p:cNvSpPr/>
                <p:nvPr/>
              </p:nvSpPr>
              <p:spPr>
                <a:xfrm>
                  <a:off x="67115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8" name="Google Shape;2148;p78"/>
                <p:cNvSpPr/>
                <p:nvPr/>
              </p:nvSpPr>
              <p:spPr>
                <a:xfrm>
                  <a:off x="7079008"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49" name="Google Shape;2149;p78"/>
                <p:cNvSpPr/>
                <p:nvPr/>
              </p:nvSpPr>
              <p:spPr>
                <a:xfrm>
                  <a:off x="7447736"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0" name="Google Shape;2150;p78"/>
                <p:cNvSpPr/>
                <p:nvPr/>
              </p:nvSpPr>
              <p:spPr>
                <a:xfrm>
                  <a:off x="7816464"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1" name="Google Shape;2151;p78"/>
                <p:cNvSpPr/>
                <p:nvPr/>
              </p:nvSpPr>
              <p:spPr>
                <a:xfrm>
                  <a:off x="8185192" y="4535187"/>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2" name="Google Shape;2152;p78"/>
                <p:cNvSpPr/>
                <p:nvPr/>
              </p:nvSpPr>
              <p:spPr>
                <a:xfrm>
                  <a:off x="560535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3" name="Google Shape;2153;p78"/>
                <p:cNvSpPr/>
                <p:nvPr/>
              </p:nvSpPr>
              <p:spPr>
                <a:xfrm>
                  <a:off x="5974080"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4" name="Google Shape;2154;p78"/>
                <p:cNvSpPr/>
                <p:nvPr/>
              </p:nvSpPr>
              <p:spPr>
                <a:xfrm>
                  <a:off x="63428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5" name="Google Shape;2155;p78"/>
                <p:cNvSpPr/>
                <p:nvPr/>
              </p:nvSpPr>
              <p:spPr>
                <a:xfrm>
                  <a:off x="67115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6" name="Google Shape;2156;p78"/>
                <p:cNvSpPr/>
                <p:nvPr/>
              </p:nvSpPr>
              <p:spPr>
                <a:xfrm>
                  <a:off x="7079008"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7" name="Google Shape;2157;p78"/>
                <p:cNvSpPr/>
                <p:nvPr/>
              </p:nvSpPr>
              <p:spPr>
                <a:xfrm>
                  <a:off x="7447736"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8" name="Google Shape;2158;p78"/>
                <p:cNvSpPr/>
                <p:nvPr/>
              </p:nvSpPr>
              <p:spPr>
                <a:xfrm>
                  <a:off x="7816464"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59" name="Google Shape;2159;p78"/>
                <p:cNvSpPr/>
                <p:nvPr/>
              </p:nvSpPr>
              <p:spPr>
                <a:xfrm>
                  <a:off x="8185192" y="4903916"/>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0" name="Google Shape;2160;p78"/>
                <p:cNvSpPr/>
                <p:nvPr/>
              </p:nvSpPr>
              <p:spPr>
                <a:xfrm>
                  <a:off x="560535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1" name="Google Shape;2161;p78"/>
                <p:cNvSpPr/>
                <p:nvPr/>
              </p:nvSpPr>
              <p:spPr>
                <a:xfrm>
                  <a:off x="5974080"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2" name="Google Shape;2162;p78"/>
                <p:cNvSpPr/>
                <p:nvPr/>
              </p:nvSpPr>
              <p:spPr>
                <a:xfrm>
                  <a:off x="63428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3" name="Google Shape;2163;p78"/>
                <p:cNvSpPr/>
                <p:nvPr/>
              </p:nvSpPr>
              <p:spPr>
                <a:xfrm>
                  <a:off x="67115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4" name="Google Shape;2164;p78"/>
                <p:cNvSpPr/>
                <p:nvPr/>
              </p:nvSpPr>
              <p:spPr>
                <a:xfrm>
                  <a:off x="7079008"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5" name="Google Shape;2165;p78"/>
                <p:cNvSpPr/>
                <p:nvPr/>
              </p:nvSpPr>
              <p:spPr>
                <a:xfrm>
                  <a:off x="7447736"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6" name="Google Shape;2166;p78"/>
                <p:cNvSpPr/>
                <p:nvPr/>
              </p:nvSpPr>
              <p:spPr>
                <a:xfrm>
                  <a:off x="7816464"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7" name="Google Shape;2167;p78"/>
                <p:cNvSpPr/>
                <p:nvPr/>
              </p:nvSpPr>
              <p:spPr>
                <a:xfrm>
                  <a:off x="8185192" y="5272645"/>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8" name="Google Shape;2168;p78"/>
                <p:cNvSpPr/>
                <p:nvPr/>
              </p:nvSpPr>
              <p:spPr>
                <a:xfrm>
                  <a:off x="560535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69" name="Google Shape;2169;p78"/>
                <p:cNvSpPr/>
                <p:nvPr/>
              </p:nvSpPr>
              <p:spPr>
                <a:xfrm>
                  <a:off x="5974080"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0" name="Google Shape;2170;p78"/>
                <p:cNvSpPr/>
                <p:nvPr/>
              </p:nvSpPr>
              <p:spPr>
                <a:xfrm>
                  <a:off x="63428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1" name="Google Shape;2171;p78"/>
                <p:cNvSpPr/>
                <p:nvPr/>
              </p:nvSpPr>
              <p:spPr>
                <a:xfrm>
                  <a:off x="67115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2" name="Google Shape;2172;p78"/>
                <p:cNvSpPr/>
                <p:nvPr/>
              </p:nvSpPr>
              <p:spPr>
                <a:xfrm>
                  <a:off x="7079008"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3" name="Google Shape;2173;p78"/>
                <p:cNvSpPr/>
                <p:nvPr/>
              </p:nvSpPr>
              <p:spPr>
                <a:xfrm>
                  <a:off x="7447736"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4" name="Google Shape;2174;p78"/>
                <p:cNvSpPr/>
                <p:nvPr/>
              </p:nvSpPr>
              <p:spPr>
                <a:xfrm>
                  <a:off x="7816464"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5" name="Google Shape;2175;p78"/>
                <p:cNvSpPr/>
                <p:nvPr/>
              </p:nvSpPr>
              <p:spPr>
                <a:xfrm>
                  <a:off x="8185192" y="5641374"/>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6" name="Google Shape;2176;p78"/>
                <p:cNvSpPr/>
                <p:nvPr/>
              </p:nvSpPr>
              <p:spPr>
                <a:xfrm>
                  <a:off x="560535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7" name="Google Shape;2177;p78"/>
                <p:cNvSpPr/>
                <p:nvPr/>
              </p:nvSpPr>
              <p:spPr>
                <a:xfrm>
                  <a:off x="5974080"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8" name="Google Shape;2178;p78"/>
                <p:cNvSpPr/>
                <p:nvPr/>
              </p:nvSpPr>
              <p:spPr>
                <a:xfrm>
                  <a:off x="63428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79" name="Google Shape;2179;p78"/>
                <p:cNvSpPr/>
                <p:nvPr/>
              </p:nvSpPr>
              <p:spPr>
                <a:xfrm>
                  <a:off x="67115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80" name="Google Shape;2180;p78"/>
                <p:cNvSpPr/>
                <p:nvPr/>
              </p:nvSpPr>
              <p:spPr>
                <a:xfrm>
                  <a:off x="7079008"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81" name="Google Shape;2181;p78"/>
                <p:cNvSpPr/>
                <p:nvPr/>
              </p:nvSpPr>
              <p:spPr>
                <a:xfrm>
                  <a:off x="7447736"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82" name="Google Shape;2182;p78"/>
                <p:cNvSpPr/>
                <p:nvPr/>
              </p:nvSpPr>
              <p:spPr>
                <a:xfrm>
                  <a:off x="7816464"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sp>
              <p:nvSpPr>
                <p:cNvPr id="2183" name="Google Shape;2183;p78"/>
                <p:cNvSpPr/>
                <p:nvPr/>
              </p:nvSpPr>
              <p:spPr>
                <a:xfrm>
                  <a:off x="8185192" y="6010103"/>
                  <a:ext cx="368728" cy="368729"/>
                </a:xfrm>
                <a:prstGeom prst="rect">
                  <a:avLst/>
                </a:prstGeom>
                <a:solidFill>
                  <a:srgbClr val="F2CDED"/>
                </a:solidFill>
                <a:ln cap="flat" cmpd="sng" w="19050">
                  <a:solidFill>
                    <a:srgbClr val="082836"/>
                  </a:solidFill>
                  <a:prstDash val="solid"/>
                  <a:miter lim="800000"/>
                  <a:headEnd len="sm" w="sm" type="none"/>
                  <a:tailEnd len="sm" w="sm" type="none"/>
                </a:ln>
              </p:spPr>
              <p:txBody>
                <a:bodyPr anchorCtr="0" anchor="ctr" bIns="34275" lIns="27000" spcFirstLastPara="1" rIns="27000" wrap="square" tIns="34275">
                  <a:noAutofit/>
                </a:bodyPr>
                <a:lstStyle/>
                <a:p>
                  <a:pPr indent="0" lvl="0" marL="0" marR="0" rtl="0" algn="ctr">
                    <a:spcBef>
                      <a:spcPts val="0"/>
                    </a:spcBef>
                    <a:spcAft>
                      <a:spcPts val="0"/>
                    </a:spcAft>
                    <a:buNone/>
                  </a:pPr>
                  <a:r>
                    <a:t/>
                  </a:r>
                  <a:endParaRPr b="1" sz="800">
                    <a:solidFill>
                      <a:schemeClr val="dk1"/>
                    </a:solidFill>
                    <a:latin typeface="Arial"/>
                    <a:ea typeface="Arial"/>
                    <a:cs typeface="Arial"/>
                    <a:sym typeface="Arial"/>
                  </a:endParaRPr>
                </a:p>
              </p:txBody>
            </p:sp>
          </p:grpSp>
          <p:sp>
            <p:nvSpPr>
              <p:cNvPr id="2184" name="Google Shape;2184;p78"/>
              <p:cNvSpPr/>
              <p:nvPr/>
            </p:nvSpPr>
            <p:spPr>
              <a:xfrm>
                <a:off x="1859721" y="3352800"/>
                <a:ext cx="1557153" cy="900345"/>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2185" name="Google Shape;2185;p78"/>
              <p:cNvSpPr/>
              <p:nvPr/>
            </p:nvSpPr>
            <p:spPr>
              <a:xfrm>
                <a:off x="5536697" y="43416"/>
                <a:ext cx="904205" cy="1547697"/>
              </a:xfrm>
              <a:prstGeom prst="rect">
                <a:avLst/>
              </a:prstGeom>
              <a:noFill/>
              <a:ln cap="flat" cmpd="sng" w="381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grpSp>
        <p:sp>
          <p:nvSpPr>
            <p:cNvPr id="2186" name="Google Shape;2186;p78"/>
            <p:cNvSpPr txBox="1"/>
            <p:nvPr/>
          </p:nvSpPr>
          <p:spPr>
            <a:xfrm>
              <a:off x="6520070" y="437754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M</a:t>
              </a:r>
              <a:endParaRPr b="1" sz="1400">
                <a:solidFill>
                  <a:schemeClr val="dk1"/>
                </a:solidFill>
                <a:latin typeface="Arial"/>
                <a:ea typeface="Arial"/>
                <a:cs typeface="Arial"/>
                <a:sym typeface="Arial"/>
              </a:endParaRPr>
            </a:p>
          </p:txBody>
        </p:sp>
        <p:sp>
          <p:nvSpPr>
            <p:cNvPr id="2187" name="Google Shape;2187;p78"/>
            <p:cNvSpPr txBox="1"/>
            <p:nvPr/>
          </p:nvSpPr>
          <p:spPr>
            <a:xfrm>
              <a:off x="7809946" y="3107641"/>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sp>
          <p:nvSpPr>
            <p:cNvPr id="2188" name="Google Shape;2188;p78"/>
            <p:cNvSpPr txBox="1"/>
            <p:nvPr/>
          </p:nvSpPr>
          <p:spPr>
            <a:xfrm>
              <a:off x="10168283" y="1027906"/>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N</a:t>
              </a:r>
              <a:endParaRPr b="1" sz="1400">
                <a:solidFill>
                  <a:schemeClr val="dk1"/>
                </a:solidFill>
                <a:latin typeface="Arial"/>
                <a:ea typeface="Arial"/>
                <a:cs typeface="Arial"/>
                <a:sym typeface="Arial"/>
              </a:endParaRPr>
            </a:p>
          </p:txBody>
        </p:sp>
        <p:sp>
          <p:nvSpPr>
            <p:cNvPr id="2189" name="Google Shape;2189;p78"/>
            <p:cNvSpPr txBox="1"/>
            <p:nvPr/>
          </p:nvSpPr>
          <p:spPr>
            <a:xfrm>
              <a:off x="8854878" y="2163968"/>
              <a:ext cx="503582" cy="3693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dk1"/>
                  </a:solidFill>
                  <a:latin typeface="Arial"/>
                  <a:ea typeface="Arial"/>
                  <a:cs typeface="Arial"/>
                  <a:sym typeface="Arial"/>
                </a:rPr>
                <a:t>K</a:t>
              </a:r>
              <a:endParaRPr b="1" sz="1400">
                <a:solidFill>
                  <a:schemeClr val="dk1"/>
                </a:solidFill>
                <a:latin typeface="Arial"/>
                <a:ea typeface="Arial"/>
                <a:cs typeface="Arial"/>
                <a:sym typeface="Arial"/>
              </a:endParaRPr>
            </a:p>
          </p:txBody>
        </p:sp>
      </p:grpSp>
      <p:sp>
        <p:nvSpPr>
          <p:cNvPr id="2190" name="Google Shape;2190;p78"/>
          <p:cNvSpPr/>
          <p:nvPr/>
        </p:nvSpPr>
        <p:spPr>
          <a:xfrm>
            <a:off x="-11624" y="4598310"/>
            <a:ext cx="9240864" cy="568469"/>
          </a:xfrm>
          <a:prstGeom prst="rect">
            <a:avLst/>
          </a:prstGeom>
          <a:solidFill>
            <a:srgbClr val="330070"/>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lt1"/>
                </a:solidFill>
                <a:latin typeface="Arial"/>
                <a:ea typeface="Arial"/>
                <a:cs typeface="Arial"/>
                <a:sym typeface="Arial"/>
              </a:rPr>
              <a:t>L2 Access reduced by a factor of tile dimension (Assuming TileM = TileN)</a:t>
            </a:r>
            <a:endParaRPr sz="1800">
              <a:solidFill>
                <a:schemeClr val="lt1"/>
              </a:solidFill>
              <a:latin typeface="Arial"/>
              <a:ea typeface="Arial"/>
              <a:cs typeface="Arial"/>
              <a:sym typeface="Arial"/>
            </a:endParaRPr>
          </a:p>
        </p:txBody>
      </p:sp>
      <p:sp>
        <p:nvSpPr>
          <p:cNvPr id="2191" name="Google Shape;2191;p78"/>
          <p:cNvSpPr/>
          <p:nvPr/>
        </p:nvSpPr>
        <p:spPr>
          <a:xfrm>
            <a:off x="5992053" y="2605070"/>
            <a:ext cx="749990" cy="433644"/>
          </a:xfrm>
          <a:prstGeom prst="rect">
            <a:avLst/>
          </a:prstGeom>
          <a:noFill/>
          <a:ln cap="flat" cmpd="sng" w="38100">
            <a:solidFill>
              <a:schemeClr val="dk1"/>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2192" name="Google Shape;2192;p78"/>
          <p:cNvSpPr/>
          <p:nvPr/>
        </p:nvSpPr>
        <p:spPr>
          <a:xfrm>
            <a:off x="7012219" y="1753739"/>
            <a:ext cx="435503" cy="745436"/>
          </a:xfrm>
          <a:prstGeom prst="rect">
            <a:avLst/>
          </a:prstGeom>
          <a:noFill/>
          <a:ln cap="flat" cmpd="sng" w="38100">
            <a:solidFill>
              <a:schemeClr val="dk1"/>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0"/>
                                        </p:tgtEl>
                                        <p:attrNameLst>
                                          <p:attrName>style.visibility</p:attrName>
                                        </p:attrNameLst>
                                      </p:cBhvr>
                                      <p:to>
                                        <p:strVal val="visible"/>
                                      </p:to>
                                    </p:set>
                                    <p:animEffect filter="fade" transition="in">
                                      <p:cBhvr>
                                        <p:cTn dur="500"/>
                                        <p:tgtEl>
                                          <p:spTgt spid="2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79"/>
          <p:cNvSpPr txBox="1"/>
          <p:nvPr>
            <p:ph type="title"/>
          </p:nvPr>
        </p:nvSpPr>
        <p:spPr>
          <a:xfrm>
            <a:off x="244098" y="238973"/>
            <a:ext cx="8844095"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Tensor Cores – Specialized for small GEMMs</a:t>
            </a:r>
            <a:endParaRPr/>
          </a:p>
        </p:txBody>
      </p:sp>
      <p:sp>
        <p:nvSpPr>
          <p:cNvPr id="2199" name="Google Shape;2199;p79"/>
          <p:cNvSpPr txBox="1"/>
          <p:nvPr>
            <p:ph idx="1" type="body"/>
          </p:nvPr>
        </p:nvSpPr>
        <p:spPr>
          <a:xfrm>
            <a:off x="628650" y="1101873"/>
            <a:ext cx="7886700" cy="326350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rPr lang="en"/>
              <a:t>What is a tensor core?</a:t>
            </a:r>
            <a:endParaRPr/>
          </a:p>
          <a:p>
            <a:pPr indent="-177800" lvl="1" marL="520700" rtl="0" algn="l">
              <a:lnSpc>
                <a:spcPct val="90000"/>
              </a:lnSpc>
              <a:spcBef>
                <a:spcPts val="400"/>
              </a:spcBef>
              <a:spcAft>
                <a:spcPts val="0"/>
              </a:spcAft>
              <a:buClr>
                <a:schemeClr val="dk1"/>
              </a:buClr>
              <a:buSzPts val="1800"/>
              <a:buChar char="•"/>
            </a:pPr>
            <a:r>
              <a:rPr lang="en"/>
              <a:t>A special hardware unit that performs a small shape GEMM</a:t>
            </a:r>
            <a:endParaRPr/>
          </a:p>
          <a:p>
            <a:pPr indent="-177800" lvl="1" marL="520700" rtl="0" algn="l">
              <a:lnSpc>
                <a:spcPct val="90000"/>
              </a:lnSpc>
              <a:spcBef>
                <a:spcPts val="400"/>
              </a:spcBef>
              <a:spcAft>
                <a:spcPts val="0"/>
              </a:spcAft>
              <a:buClr>
                <a:schemeClr val="dk1"/>
              </a:buClr>
              <a:buSzPts val="1800"/>
              <a:buChar char="•"/>
            </a:pPr>
            <a:r>
              <a:rPr lang="en"/>
              <a:t>A warp (32 threads) collectively uses the tensor core</a:t>
            </a:r>
            <a:endParaRPr/>
          </a:p>
          <a:p>
            <a:pPr indent="-38100" lvl="0" marL="177800" rtl="0" algn="l">
              <a:lnSpc>
                <a:spcPct val="90000"/>
              </a:lnSpc>
              <a:spcBef>
                <a:spcPts val="800"/>
              </a:spcBef>
              <a:spcAft>
                <a:spcPts val="0"/>
              </a:spcAft>
              <a:buClr>
                <a:schemeClr val="dk1"/>
              </a:buClr>
              <a:buSzPts val="2100"/>
              <a:buNone/>
            </a:pPr>
            <a:r>
              <a:t/>
            </a:r>
            <a:endParaRPr/>
          </a:p>
          <a:p>
            <a:pPr indent="-63500" lvl="1" marL="520700" rtl="0" algn="l">
              <a:lnSpc>
                <a:spcPct val="90000"/>
              </a:lnSpc>
              <a:spcBef>
                <a:spcPts val="400"/>
              </a:spcBef>
              <a:spcAft>
                <a:spcPts val="0"/>
              </a:spcAft>
              <a:buClr>
                <a:schemeClr val="dk1"/>
              </a:buClr>
              <a:buSzPts val="1800"/>
              <a:buNone/>
            </a:pPr>
            <a:r>
              <a:t/>
            </a:r>
            <a:endParaRPr/>
          </a:p>
          <a:p>
            <a:pPr indent="-63500" lvl="1" marL="520700" rtl="0" algn="l">
              <a:lnSpc>
                <a:spcPct val="90000"/>
              </a:lnSpc>
              <a:spcBef>
                <a:spcPts val="400"/>
              </a:spcBef>
              <a:spcAft>
                <a:spcPts val="0"/>
              </a:spcAft>
              <a:buClr>
                <a:schemeClr val="dk1"/>
              </a:buClr>
              <a:buSzPts val="1800"/>
              <a:buNone/>
            </a:pPr>
            <a:r>
              <a:t/>
            </a:r>
            <a:endParaRPr/>
          </a:p>
        </p:txBody>
      </p:sp>
      <p:sp>
        <p:nvSpPr>
          <p:cNvPr id="2200" name="Google Shape;2200;p79"/>
          <p:cNvSpPr txBox="1"/>
          <p:nvPr/>
        </p:nvSpPr>
        <p:spPr>
          <a:xfrm>
            <a:off x="149952" y="4947292"/>
            <a:ext cx="8844095"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https://developer.download.nvidia.com/video/gputechconf/gtc/2020/presentations/s21745-developing-cuda-kernels-to-push-tensor-cores-to-the-absolute-limit-on-nvidia-a100.pdf</a:t>
            </a:r>
            <a:endParaRPr sz="1100"/>
          </a:p>
        </p:txBody>
      </p:sp>
      <p:pic>
        <p:nvPicPr>
          <p:cNvPr id="2201" name="Google Shape;2201;p79"/>
          <p:cNvPicPr preferRelativeResize="0"/>
          <p:nvPr/>
        </p:nvPicPr>
        <p:blipFill rotWithShape="1">
          <a:blip r:embed="rId3">
            <a:alphaModFix/>
          </a:blip>
          <a:srcRect b="0" l="0" r="0" t="0"/>
          <a:stretch/>
        </p:blipFill>
        <p:spPr>
          <a:xfrm>
            <a:off x="988017" y="2010905"/>
            <a:ext cx="6998429" cy="29363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自定义 2">
      <a:dk1>
        <a:srgbClr val="000000"/>
      </a:dk1>
      <a:lt1>
        <a:srgbClr val="000000"/>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themeOverride>
</file>

<file path=ppt/theme/themeOverride2.xml><?xml version="1.0" encoding="utf-8"?>
<a:themeOverride xmlns:a="http://schemas.openxmlformats.org/drawingml/2006/main" xmlns:r="http://schemas.openxmlformats.org/officeDocument/2006/relationship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themeOverride>
</file>